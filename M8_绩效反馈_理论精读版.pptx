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封面页。本课程为理论精读型课件，强调反馈设计框架的建立、论证与边界条件，不含互动讨论环节。建议授课时长50-60分钟，可作为模块八的正式讲授内容，区别于配套的实战工作坊材料。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用「反馈正确但无效」的常见困惑建立认知钩子。强调这不是内容准确性的问题，而是设计的问题——这个定调为后续的归因理论和SBI模型框架做铺垫。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讲解归因理论的核心区分，建立全篇理论地基。重点强调「主管自己往往没有意识到」措辞滑向特质归因这个现象——这是后续机制解释的关键铺垫。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本页是深度版的关键页，主动指出行为归因框架的误用边界。误用一（话术包装）是最常见的浅层理解，要明确指出这是认知转变而非措辞技巧。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从社会心理学角度拆解防御机制的产生路径，给出三个具体机制名称。机制三（选择性听见）是讲授时最容易让学员产生共鸣的部分——可以举例「对方抓住一个细节反驳全部反馈」的常见场景。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具象化第3-5页的理论。核心对比点：案例A的「粗心」标签没有定位到真正的问题根源，案例B通过聚焦具体行为反而真正发现了根因——这正是行为归因比特质归因更有诊断价值的体现。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第二个核心框架。三个要素要逐一讲清楚功能，重点强调B（行为）的「可观察事实vs动机推测」区分——这是后续第8页反例和讲授时最容易引发学员讨论的环节。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反例一（动机推测）是最常见、也最容易被忽视的执行偏差，要引导学员做自检：我描述的「行为」，是双方都能确认的事实，还是我对对方想法的猜测？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呼应第7-8页的SBI框架。这个案例展示了SBI三要素之后自然过渡到面向未来讨论的完整流程——反馈不应该停留在SBI三要素，而应该顺势引向「下次怎么做」的建设性对话。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呼应第14页反馈频率理论。要强调：延迟反馈不仅效果差，还容易被解读为「凑绩效评分」，这是延迟反馈对信任基础的额外损害，不只是信息衰减的问题。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误区一（委婉=正确解法）是最常见的浅层理解，直接对应第4页误用一。误区二（小问题不值得反馈）直接对应第10、14页的及时性理论，要在讲授时回扣。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误区三（方法对但对方不高兴=对方的问题）直接对应第17页场景四的诊断设计，要预先讲清楚反馈效果的复杂性。误区四呼应第14页的反馈频率理论。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引入心理学经典理论增加理论厚度。核心是建立和第3-5页归因理论的明确呼应——这不是两个独立的理论，而是同一个洞察在不同学术脉络下的两种表达方式。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第二个跨学科延伸概念（组织行为学），明确点出与M6的方向性呼应——这是课程系列设计中一个重要的跨模块联动，要在讲授时提示学员注意这种「同一机制，相反方向」的理论迁移。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收束全篇，呼应第2页核心问题。结尾金句是M8的核心价值表达。M1-M8形成完整的认知升级链条：认知→判断→设计→边界→信任→可见性→对话杠杆→评价的成长性。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对应第7-9页SBI模型框架。
观察要点：回答是否准确区分了行为描述和动机推测。理想的B部分应该是「最近两次提交中，变量命名没有遵循团队约定的XX规范」，而不是「你不重视团队规范」或「你没有认真对待代码质量」这类动机推测。若学员在B部分写出了类似「你不在乎」「你比较随意」这样的表述，说明对行为归因和特质归因的区分还不够清晰。
场景二 —— 对应第12页误区三（方法正确但效果不佳的其他情境因素）+第13页成长型思维与固定型思维。
观察要点：理想回答应该首先不急于辩解「我已经用了正确的方法」，而是先去理解对方此刻的真实感受，并反思是否存在SBI模型之外的情境因素（语气、场合、双方此前的信任基础）影响了反馈的接收效果。同时可以借助成长型思维的语言，明确告诉对方「这次反馈是关于这件具体的事，不代表我对你整体能力的判断」。若学员的回答只是简单坚持「我用的方法是对的，是他理解有问题」，说明对反馈效果的复杂性理解不够全面。
场景三 —— 对应第10页案例对照三+第11页误区二+第14页反馈频率理论。
观察要点：理想回答应该倾向于选择更及时的反馈时机（当场或近期），并说明及时反馈对于保持情境细节清晰、避免问题累积的价值。若学员选择「攒到季度绩效面谈」，需要审视学员是否能够意识到这种选择带来的信息衰减和「秋后算账」风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跨模块呼应（反馈方法论的作用边界，类似M6场景五对汇报方法论边界的讨论）。
观察要点：这道题测试学员是否会对SBI模型产生「一次反馈就能彻底改变行为」的过度期待。理想回答应该识别出，行为改变通常不是一次反馈就能立即、完全实现的，可能需要多次跟进、了解行为背后是否存在结构性原因（比如任务分配不合理导致的时间压力），而不是简单地认为「反馈没用」或者「这个人有问题」。若学员认为「既然反馈做得标准但没用，说明这个人的问题，应该采取更严厉的措施」，说明对行为改变的渐进性和反馈作为持续过程而非一次性事件的理解不够。
场景五 —— 对应第10页及时反馈原则+第11页误区二+第14页反馈频率理论的边界。
观察要点：这是一个测试学员是否会用「为对方考虑」的理由来合理化延迟反馈的场景，呼应M6中「领导很忙所以少汇报」的误区结构。理想回答应该识别出，及时反馈和压力大小并不矛盾——使用行为归因和SBI模型的反馈，恰恰是在压力情境下更需要的清晰沟通方式，因为延迟到项目结束后反馈，会面临记忆模糊、问题失去纠偏窗口、甚至错误被重复的风险。同时，反馈本身的方式可以考虑情境，但「是否反馈」和「如何反馈」是两个不同的决策，不应该因为后者的考量而牺牲前者。若学员认为「应该等项目结束再说」，说明把「方式上的体谅」和「时机上的回避」混淆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模块八</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绩效反馈：</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把评价变成成长</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一份关于反馈设计的理论框架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全17讲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技术上准确的反馈，为什么经常没有效果</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反馈给出去了，行为却没有改变</a:t>
            </a:r>
            <a:endParaRPr lang="en-US" sz="1500" dirty="0"/>
          </a:p>
        </p:txBody>
      </p:sp>
      <p:sp>
        <p:nvSpPr>
          <p:cNvPr id="8" name="Text 6"/>
          <p:cNvSpPr/>
          <p:nvPr/>
        </p:nvSpPr>
        <p:spPr>
          <a:xfrm>
            <a:off x="548640" y="2304288"/>
            <a:ext cx="10881360" cy="86868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许多CIM主管给团队成员反馈的内容在技术判断上是准确的，但反馈给出之后，下属的行为往往没有发生预期的改变，有时甚至更糟糕：下属变得防御、情绪低落，或者表面接受但实际不认同，下一次同样的问题继续发生。主管因此困惑：「我说的明明是事实，为什么没用？」</a:t>
            </a:r>
            <a:endParaRPr lang="en-US" sz="1250" dirty="0"/>
          </a:p>
        </p:txBody>
      </p:sp>
      <p:sp>
        <p:nvSpPr>
          <p:cNvPr id="9" name="Text 7"/>
          <p:cNvSpPr/>
          <p:nvPr/>
        </p:nvSpPr>
        <p:spPr>
          <a:xfrm>
            <a:off x="548640" y="3291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5661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反馈被攒到年度绩效面谈才一次性说出</a:t>
            </a:r>
            <a:endParaRPr lang="en-US" sz="1500" dirty="0"/>
          </a:p>
        </p:txBody>
      </p:sp>
      <p:sp>
        <p:nvSpPr>
          <p:cNvPr id="11" name="Text 9"/>
          <p:cNvSpPr/>
          <p:nvPr/>
        </p:nvSpPr>
        <p:spPr>
          <a:xfrm>
            <a:off x="548640" y="3904488"/>
            <a:ext cx="10881360" cy="77724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很多问题在发生的当下没有被指出，而是攒到季度或年度绩效面谈时才集中说出来。这种「秋后算账」式的反馈方式，常常让被反馈者感到震惊和不公平——「这件事都过去三个月了，你现在才说，我已经不记得当时的具体情况了。」</a:t>
            </a:r>
            <a:endParaRPr lang="en-US" sz="1250" dirty="0"/>
          </a:p>
        </p:txBody>
      </p:sp>
      <p:sp>
        <p:nvSpPr>
          <p:cNvPr id="12" name="Shape 10"/>
          <p:cNvSpPr/>
          <p:nvPr/>
        </p:nvSpPr>
        <p:spPr>
          <a:xfrm>
            <a:off x="548640" y="4846320"/>
            <a:ext cx="0" cy="1280160"/>
          </a:xfrm>
          <a:prstGeom prst="line">
            <a:avLst/>
          </a:prstGeom>
          <a:noFill/>
          <a:ln w="38100">
            <a:solidFill>
              <a:srgbClr val="9C5536"/>
            </a:solidFill>
            <a:prstDash val="solid"/>
          </a:ln>
        </p:spPr>
      </p:sp>
      <p:sp>
        <p:nvSpPr>
          <p:cNvPr id="13" name="Text 11"/>
          <p:cNvSpPr/>
          <p:nvPr/>
        </p:nvSpPr>
        <p:spPr>
          <a:xfrm>
            <a:off x="777240" y="48463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148072"/>
            <a:ext cx="10424160" cy="914400"/>
          </a:xfrm>
          <a:prstGeom prst="rect">
            <a:avLst/>
          </a:prstGeom>
          <a:noFill/>
          <a:ln/>
        </p:spPr>
        <p:txBody>
          <a:bodyPr wrap="square" rtlCol="0" anchor="ctr"/>
          <a:lstStyle/>
          <a:p>
            <a:pPr indent="0" marL="0">
              <a:lnSpc>
                <a:spcPct val="128000"/>
              </a:lnSpc>
              <a:buNone/>
            </a:pPr>
            <a:r>
              <a:rPr lang="en-US" sz="1400" i="1" dirty="0">
                <a:solidFill>
                  <a:srgbClr val="1B2A4A"/>
                </a:solidFill>
                <a:latin typeface="Cambria" pitchFamily="34" charset="0"/>
                <a:ea typeface="Cambria" pitchFamily="34" charset="-122"/>
                <a:cs typeface="Cambria" pitchFamily="34" charset="-120"/>
              </a:rPr>
              <a:t>反馈的有效性，不取决于反馈内容是否「正确」，而取决于反馈是否被设计成「对方能够接收、并据此调整行为」的形式。技术判断的准确性是必要条件，但远不是充分条件。</a:t>
            </a:r>
            <a:endParaRPr lang="en-US" sz="14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同样的事实，两种归因方式决定了反馈的命运</a:t>
            </a:r>
            <a:endParaRPr lang="en-US" sz="2700" dirty="0"/>
          </a:p>
        </p:txBody>
      </p:sp>
      <p:sp>
        <p:nvSpPr>
          <p:cNvPr id="6" name="Text 4"/>
          <p:cNvSpPr/>
          <p:nvPr/>
        </p:nvSpPr>
        <p:spPr>
          <a:xfrm>
            <a:off x="548640" y="1691640"/>
            <a:ext cx="10881360" cy="548640"/>
          </a:xfrm>
          <a:prstGeom prst="rect">
            <a:avLst/>
          </a:prstGeom>
          <a:noFill/>
          <a:ln/>
        </p:spPr>
        <p:txBody>
          <a:bodyPr wrap="square" rtlCol="0" anchor="ctr"/>
          <a:lstStyle/>
          <a:p>
            <a:pPr indent="0" marL="0">
              <a:lnSpc>
                <a:spcPct val="128000"/>
              </a:lnSpc>
              <a:buNone/>
            </a:pPr>
            <a:r>
              <a:rPr lang="en-US" sz="1280" dirty="0">
                <a:solidFill>
                  <a:srgbClr val="2B2F36"/>
                </a:solidFill>
                <a:latin typeface="Calibri" pitchFamily="34" charset="0"/>
                <a:ea typeface="Calibri" pitchFamily="34" charset="-122"/>
                <a:cs typeface="Calibri" pitchFamily="34" charset="-120"/>
              </a:rPr>
              <a:t>归因理论（Attribution Theory）揭示：同一个反馈事实，可以被表述为「行为归因」，也可以被表述为「特质归因」，这两种表述方式会触发完全不同的心理反应。</a:t>
            </a:r>
            <a:endParaRPr lang="en-US" sz="1280" dirty="0"/>
          </a:p>
        </p:txBody>
      </p:sp>
      <p:sp>
        <p:nvSpPr>
          <p:cNvPr id="7" name="Text 5"/>
          <p:cNvSpPr/>
          <p:nvPr/>
        </p:nvSpPr>
        <p:spPr>
          <a:xfrm>
            <a:off x="548640" y="242316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行为归因</a:t>
            </a:r>
            <a:endParaRPr lang="en-US" sz="1300" dirty="0"/>
          </a:p>
        </p:txBody>
      </p:sp>
      <p:sp>
        <p:nvSpPr>
          <p:cNvPr id="8" name="Shape 6"/>
          <p:cNvSpPr/>
          <p:nvPr/>
        </p:nvSpPr>
        <p:spPr>
          <a:xfrm>
            <a:off x="548640" y="2770632"/>
            <a:ext cx="5257800" cy="0"/>
          </a:xfrm>
          <a:prstGeom prst="line">
            <a:avLst/>
          </a:prstGeom>
          <a:noFill/>
          <a:ln w="12700">
            <a:solidFill>
              <a:srgbClr val="E3E7EF"/>
            </a:solidFill>
            <a:prstDash val="solid"/>
          </a:ln>
        </p:spPr>
      </p:sp>
      <p:sp>
        <p:nvSpPr>
          <p:cNvPr id="9" name="Text 7"/>
          <p:cNvSpPr/>
          <p:nvPr/>
        </p:nvSpPr>
        <p:spPr>
          <a:xfrm>
            <a:off x="548640" y="2880360"/>
            <a:ext cx="5257800" cy="118872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「这次代码评审中，有三处边界条件没有覆盖」——聚焦在「这一次具体做了什么、产生了什么效果」。行为是可以被改变的，注意力自然导向「下次应该怎么做不同」。</a:t>
            </a:r>
            <a:endParaRPr lang="en-US" sz="1200" dirty="0"/>
          </a:p>
        </p:txBody>
      </p:sp>
      <p:sp>
        <p:nvSpPr>
          <p:cNvPr id="10" name="Shape 8"/>
          <p:cNvSpPr/>
          <p:nvPr/>
        </p:nvSpPr>
        <p:spPr>
          <a:xfrm>
            <a:off x="6080760" y="2423160"/>
            <a:ext cx="0" cy="1965960"/>
          </a:xfrm>
          <a:prstGeom prst="line">
            <a:avLst/>
          </a:prstGeom>
          <a:noFill/>
          <a:ln w="12700">
            <a:solidFill>
              <a:srgbClr val="E3E7EF"/>
            </a:solidFill>
            <a:prstDash val="solid"/>
          </a:ln>
        </p:spPr>
      </p:sp>
      <p:sp>
        <p:nvSpPr>
          <p:cNvPr id="11" name="Text 9"/>
          <p:cNvSpPr/>
          <p:nvPr/>
        </p:nvSpPr>
        <p:spPr>
          <a:xfrm>
            <a:off x="6519672" y="242316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特质归因</a:t>
            </a:r>
            <a:endParaRPr lang="en-US" sz="1300" dirty="0"/>
          </a:p>
        </p:txBody>
      </p:sp>
      <p:sp>
        <p:nvSpPr>
          <p:cNvPr id="12" name="Shape 10"/>
          <p:cNvSpPr/>
          <p:nvPr/>
        </p:nvSpPr>
        <p:spPr>
          <a:xfrm>
            <a:off x="6519672" y="2770632"/>
            <a:ext cx="5257800" cy="0"/>
          </a:xfrm>
          <a:prstGeom prst="line">
            <a:avLst/>
          </a:prstGeom>
          <a:noFill/>
          <a:ln w="12700">
            <a:solidFill>
              <a:srgbClr val="E3E7EF"/>
            </a:solidFill>
            <a:prstDash val="solid"/>
          </a:ln>
        </p:spPr>
      </p:sp>
      <p:sp>
        <p:nvSpPr>
          <p:cNvPr id="13" name="Text 11"/>
          <p:cNvSpPr/>
          <p:nvPr/>
        </p:nvSpPr>
        <p:spPr>
          <a:xfrm>
            <a:off x="6519672" y="2880360"/>
            <a:ext cx="5257800" cy="118872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「你做事不够细心」——把原因归结到被认为稳定、难以改变的个人特质上。第一反应往往是「我不是这样的人」，一种自我形象受威胁后的防御反应。</a:t>
            </a:r>
            <a:endParaRPr lang="en-US" sz="1200" dirty="0"/>
          </a:p>
        </p:txBody>
      </p:sp>
      <p:sp>
        <p:nvSpPr>
          <p:cNvPr id="14" name="Shape 12"/>
          <p:cNvSpPr/>
          <p:nvPr/>
        </p:nvSpPr>
        <p:spPr>
          <a:xfrm>
            <a:off x="548640" y="4663440"/>
            <a:ext cx="0" cy="1463040"/>
          </a:xfrm>
          <a:prstGeom prst="line">
            <a:avLst/>
          </a:prstGeom>
          <a:noFill/>
          <a:ln w="38100">
            <a:solidFill>
              <a:srgbClr val="9C5536"/>
            </a:solidFill>
            <a:prstDash val="solid"/>
          </a:ln>
        </p:spPr>
      </p:sp>
      <p:sp>
        <p:nvSpPr>
          <p:cNvPr id="15" name="Text 13"/>
          <p:cNvSpPr/>
          <p:nvPr/>
        </p:nvSpPr>
        <p:spPr>
          <a:xfrm>
            <a:off x="777240" y="46634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核心论断</a:t>
            </a:r>
            <a:endParaRPr lang="en-US" sz="1100" dirty="0"/>
          </a:p>
        </p:txBody>
      </p:sp>
      <p:sp>
        <p:nvSpPr>
          <p:cNvPr id="16" name="Text 14"/>
          <p:cNvSpPr/>
          <p:nvPr/>
        </p:nvSpPr>
        <p:spPr>
          <a:xfrm>
            <a:off x="777240" y="4965192"/>
            <a:ext cx="10424160" cy="1115568"/>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很多主管的反馈在事实层面准确，但措辞习惯性滑向特质归因，导致下属把反馈听成「对我整个人的否定」，防御心理一旦触发，反馈中原本有价值的信息会被完全淹没。</a:t>
            </a:r>
            <a:endParaRPr lang="en-US" sz="1300" dirty="0"/>
          </a:p>
        </p:txBody>
      </p:sp>
      <p:sp>
        <p:nvSpPr>
          <p:cNvPr id="17" name="Shape 15"/>
          <p:cNvSpPr/>
          <p:nvPr/>
        </p:nvSpPr>
        <p:spPr>
          <a:xfrm>
            <a:off x="548640" y="6446520"/>
            <a:ext cx="11091672" cy="0"/>
          </a:xfrm>
          <a:prstGeom prst="line">
            <a:avLst/>
          </a:prstGeom>
          <a:noFill/>
          <a:ln w="9525">
            <a:solidFill>
              <a:srgbClr val="C7CDDB"/>
            </a:solidFill>
            <a:prstDash val="solid"/>
          </a:ln>
        </p:spPr>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19" name="Text 17"/>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行为归因不是「说话技巧」，是认知框架的转变</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把「行为归因」简化为「换一种更委婉的说法」</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如果主管把这个理论理解为「我应该把『你很粗心』换成更好听的话来说同一个意思」，这是表面化误用。行为归因的核心不是语言包装，而是真正把注意力从「评判这个人」转移到「分析这件具体的事」——这是认知框架的转变，而非话术美化。如果内心仍在做特质判断，只是嘴上换了说法，被反馈者通常能察觉到这种不一致，效果同样不佳。</a:t>
            </a:r>
            <a:endParaRPr lang="en-US" sz="1250" dirty="0"/>
          </a:p>
        </p:txBody>
      </p:sp>
      <p:sp>
        <p:nvSpPr>
          <p:cNvPr id="9" name="Text 7"/>
          <p:cNvSpPr/>
          <p:nvPr/>
        </p:nvSpPr>
        <p:spPr>
          <a:xfrm>
            <a:off x="548640" y="3502152"/>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94760"/>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认为「绝对不能提及任何稳定的能力或习惯模式」</a:t>
            </a:r>
            <a:endParaRPr lang="en-US" sz="1450" dirty="0"/>
          </a:p>
        </p:txBody>
      </p:sp>
      <p:sp>
        <p:nvSpPr>
          <p:cNvPr id="11" name="Text 9"/>
          <p:cNvSpPr/>
          <p:nvPr/>
        </p:nvSpPr>
        <p:spPr>
          <a:xfrm>
            <a:off x="548640" y="4178808"/>
            <a:ext cx="10881360" cy="96012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行为归因不意味着永远不能讨论反复出现的行为模式——如果某类问题反复发生，指出这个模式本身是有价值的信息。区别在于，即使讨论反复出现的模式，依然应该聚焦在「这几次具体发生了什么」，而不是跳跃到「你就是这样的人」的结论性断言。</a:t>
            </a:r>
            <a:endParaRPr lang="en-US" sz="1250" dirty="0"/>
          </a:p>
        </p:txBody>
      </p:sp>
      <p:sp>
        <p:nvSpPr>
          <p:cNvPr id="12" name="Shape 10"/>
          <p:cNvSpPr/>
          <p:nvPr/>
        </p:nvSpPr>
        <p:spPr>
          <a:xfrm>
            <a:off x="548640" y="5358384"/>
            <a:ext cx="0" cy="1005840"/>
          </a:xfrm>
          <a:prstGeom prst="line">
            <a:avLst/>
          </a:prstGeom>
          <a:noFill/>
          <a:ln w="38100">
            <a:solidFill>
              <a:srgbClr val="9C5536"/>
            </a:solidFill>
            <a:prstDash val="solid"/>
          </a:ln>
        </p:spPr>
      </p:sp>
      <p:sp>
        <p:nvSpPr>
          <p:cNvPr id="13" name="Text 11"/>
          <p:cNvSpPr/>
          <p:nvPr/>
        </p:nvSpPr>
        <p:spPr>
          <a:xfrm>
            <a:off x="777240" y="5358384"/>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60136"/>
            <a:ext cx="10424160" cy="731520"/>
          </a:xfrm>
          <a:prstGeom prst="rect">
            <a:avLst/>
          </a:prstGeom>
          <a:noFill/>
          <a:ln/>
        </p:spPr>
        <p:txBody>
          <a:bodyPr wrap="square" rtlCol="0" anchor="ctr"/>
          <a:lstStyle/>
          <a:p>
            <a:pPr indent="0" marL="0">
              <a:lnSpc>
                <a:spcPct val="125000"/>
              </a:lnSpc>
              <a:buNone/>
            </a:pPr>
            <a:r>
              <a:rPr lang="en-US" sz="1300" i="1" dirty="0">
                <a:solidFill>
                  <a:srgbClr val="1B2A4A"/>
                </a:solidFill>
                <a:latin typeface="Cambria" pitchFamily="34" charset="0"/>
                <a:ea typeface="Cambria" pitchFamily="34" charset="-122"/>
                <a:cs typeface="Cambria" pitchFamily="34" charset="-120"/>
              </a:rPr>
              <a:t>行为归因要求反馈者真正把认知焦点放在「具体行为和后果」上，而不是简单替换措辞；同时不排斥讨论反复出现的模式，只要始终锚定在具体可观察的事实上。</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为什么特质归因会触发防御，行为归因不会</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从社会心理学角度，拆解自我威胁与防御反应</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特质归因威胁自我概念的稳定性</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0000"/>
              </a:lnSpc>
              <a:buNone/>
            </a:pPr>
            <a:r>
              <a:rPr lang="en-US" sz="1150" dirty="0">
                <a:solidFill>
                  <a:srgbClr val="2B2F36"/>
                </a:solidFill>
                <a:latin typeface="Calibri" pitchFamily="34" charset="0"/>
                <a:ea typeface="Calibri" pitchFamily="34" charset="-122"/>
                <a:cs typeface="Calibri" pitchFamily="34" charset="-120"/>
              </a:rPr>
              <a:t>自我概念（Self-Concept）研究表明，人对「我是什么样的人」有一套相对稳定的自我认知，是心理安全感的重要来源。当反馈直接挑战这套认知（「你不够细心」挑战「我是认真负责的人」），大脑会启动防御机制保护稳定的自我形象，这个防御反应的优先级往往高于「理性处理反馈信息」。</a:t>
            </a:r>
            <a:endParaRPr lang="en-US" sz="115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行为归因不触发身份威胁，信息处理通道保持开放</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0000"/>
              </a:lnSpc>
              <a:buNone/>
            </a:pPr>
            <a:r>
              <a:rPr lang="en-US" sz="1150" dirty="0">
                <a:solidFill>
                  <a:srgbClr val="2B2F36"/>
                </a:solidFill>
                <a:latin typeface="Calibri" pitchFamily="34" charset="0"/>
                <a:ea typeface="Calibri" pitchFamily="34" charset="-122"/>
                <a:cs typeface="Calibri" pitchFamily="34" charset="-120"/>
              </a:rPr>
              <a:t>当反馈聚焦具体行为（「这三处边界条件没有覆盖」），它不构成对稳定自我概念的威胁——一个认真负责的人，也完全可能在某次具体任务中犯下具体错误，两者并不矛盾。因为不触发身份威胁，被反馈者的认知资源可以正常处理反馈中的实际信息，而不是被防御反应占用。</a:t>
            </a:r>
            <a:endParaRPr lang="en-US" sz="115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防御状态下的「选择性听见」进一步扭曲了沟通效果</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0000"/>
              </a:lnSpc>
              <a:buNone/>
            </a:pPr>
            <a:r>
              <a:rPr lang="en-US" sz="1150" dirty="0">
                <a:solidFill>
                  <a:srgbClr val="2B2F36"/>
                </a:solidFill>
                <a:latin typeface="Calibri" pitchFamily="34" charset="0"/>
                <a:ea typeface="Calibri" pitchFamily="34" charset="-122"/>
                <a:cs typeface="Calibri" pitchFamily="34" charset="-120"/>
              </a:rPr>
              <a:t>一旦防御机制被触发，人会进入「选择性听见」状态——倾向于捕捉反馈中可解读为「不公平」「以偏概全」的部分并据此反驳，而忽略真正有建设性的具体信息。这意味着特质归因式反馈可能引发一场关于「我到底是不是这样的人」的无意义争论。</a:t>
            </a:r>
            <a:endParaRPr lang="en-US" sz="115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三个机制共同指向一个结论：反馈的措辞方式不是无关紧要的表达偏好，而是直接决定了反馈信息能否被对方的认知系统真正接收和处理。</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两种归因方式的真实分野</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特质归因〕</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11887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CIM组长老黄发现工程师小刘连续两次出现边界条件遗漏问题，说：「你做事情有点粗心，这种问题不应该总是出现。」小刘沉默后说「我以后会注意」，语气有些抵触。</a:t>
            </a:r>
            <a:endParaRPr lang="en-US" sz="1200" dirty="0"/>
          </a:p>
        </p:txBody>
      </p:sp>
      <p:sp>
        <p:nvSpPr>
          <p:cNvPr id="9" name="Text 7"/>
          <p:cNvSpPr/>
          <p:nvPr/>
        </p:nvSpPr>
        <p:spPr>
          <a:xfrm>
            <a:off x="548640" y="3474720"/>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结果：</a:t>
            </a:r>
            <a:endParaRPr lang="en-US" sz="1200" dirty="0"/>
          </a:p>
        </p:txBody>
      </p:sp>
      <p:sp>
        <p:nvSpPr>
          <p:cNvPr id="10" name="Text 8"/>
          <p:cNvSpPr/>
          <p:nvPr/>
        </p:nvSpPr>
        <p:spPr>
          <a:xfrm>
            <a:off x="548640" y="3767328"/>
            <a:ext cx="5257800" cy="14630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小刘变得更加谨慎，但也更犹豫不决，简单判断也开始反复确认，工作效率反而下降，根本问题——对需求文档隐含约束的识别习惯——没有被真正触及和改善。</a:t>
            </a:r>
            <a:endParaRPr lang="en-US" sz="1200" dirty="0"/>
          </a:p>
        </p:txBody>
      </p:sp>
      <p:sp>
        <p:nvSpPr>
          <p:cNvPr id="11" name="Shape 9"/>
          <p:cNvSpPr/>
          <p:nvPr/>
        </p:nvSpPr>
        <p:spPr>
          <a:xfrm>
            <a:off x="6080760" y="1691640"/>
            <a:ext cx="0" cy="425196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〔案例B · 行为归因〕</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10058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另一位组长老彭说：「我注意到最近两次开发都出现了需求文档中一个隐含约束没被处理。我们一起看看是不是有一类信息容易被忽略？」</a:t>
            </a:r>
            <a:endParaRPr lang="en-US" sz="1200" dirty="0"/>
          </a:p>
        </p:txBody>
      </p:sp>
      <p:sp>
        <p:nvSpPr>
          <p:cNvPr id="15" name="Text 13"/>
          <p:cNvSpPr/>
          <p:nvPr/>
        </p:nvSpPr>
        <p:spPr>
          <a:xfrm>
            <a:off x="6519672" y="3291840"/>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结果：</a:t>
            </a:r>
            <a:endParaRPr lang="en-US" sz="1200" dirty="0"/>
          </a:p>
        </p:txBody>
      </p:sp>
      <p:sp>
        <p:nvSpPr>
          <p:cNvPr id="16" name="Text 14"/>
          <p:cNvSpPr/>
          <p:nvPr/>
        </p:nvSpPr>
        <p:spPr>
          <a:xfrm>
            <a:off x="6519672" y="3584448"/>
            <a:ext cx="5257800" cy="16459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两人复盘发现两次遗漏的都是「文档中用举例方式提及、但没有用明确条款列出」的约束条件，约定以后专门标记这类描述核对。</a:t>
            </a:r>
            <a:endParaRPr lang="en-US" sz="1200" dirty="0"/>
          </a:p>
        </p:txBody>
      </p:sp>
      <p:sp>
        <p:nvSpPr>
          <p:cNvPr id="17" name="Shape 15"/>
          <p:cNvSpPr/>
          <p:nvPr/>
        </p:nvSpPr>
        <p:spPr>
          <a:xfrm>
            <a:off x="548640" y="6446520"/>
            <a:ext cx="11091672" cy="0"/>
          </a:xfrm>
          <a:prstGeom prst="line">
            <a:avLst/>
          </a:prstGeom>
          <a:noFill/>
          <a:ln w="9525">
            <a:solidFill>
              <a:srgbClr val="C7CDDB"/>
            </a:solidFill>
            <a:prstDash val="solid"/>
          </a:ln>
        </p:spPr>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19" name="Text 17"/>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「你最近表现不太好」为什么无法产生任何改变</a:t>
            </a:r>
            <a:endParaRPr lang="en-US" sz="2700" dirty="0"/>
          </a:p>
        </p:txBody>
      </p:sp>
      <p:sp>
        <p:nvSpPr>
          <p:cNvPr id="6" name="Text 4"/>
          <p:cNvSpPr/>
          <p:nvPr/>
        </p:nvSpPr>
        <p:spPr>
          <a:xfrm>
            <a:off x="548640" y="1691640"/>
            <a:ext cx="10881360" cy="548640"/>
          </a:xfrm>
          <a:prstGeom prst="rect">
            <a:avLst/>
          </a:prstGeom>
          <a:noFill/>
          <a:ln/>
        </p:spPr>
        <p:txBody>
          <a:bodyPr wrap="square" rtlCol="0" anchor="ctr"/>
          <a:lstStyle/>
          <a:p>
            <a:pPr indent="0" marL="0">
              <a:lnSpc>
                <a:spcPct val="128000"/>
              </a:lnSpc>
              <a:buNone/>
            </a:pPr>
            <a:r>
              <a:rPr lang="en-US" sz="1280" dirty="0">
                <a:solidFill>
                  <a:srgbClr val="2B2F36"/>
                </a:solidFill>
                <a:latin typeface="Calibri" pitchFamily="34" charset="0"/>
                <a:ea typeface="Calibri" pitchFamily="34" charset="-122"/>
                <a:cs typeface="Calibri" pitchFamily="34" charset="-120"/>
              </a:rPr>
              <a:t>即使掌握了行为归因原则，反馈仍可能因信息结构过于模糊而失效。SBI模型（情境-行为-影响）提供了一个具体结构，确保反馈包含「可定位、可验证、可改变」的完整信息：</a:t>
            </a:r>
            <a:endParaRPr lang="en-US" sz="1280" dirty="0"/>
          </a:p>
        </p:txBody>
      </p:sp>
      <p:sp>
        <p:nvSpPr>
          <p:cNvPr id="7" name="Text 5"/>
          <p:cNvSpPr/>
          <p:nvPr/>
        </p:nvSpPr>
        <p:spPr>
          <a:xfrm>
            <a:off x="548640" y="2395728"/>
            <a:ext cx="502920" cy="868680"/>
          </a:xfrm>
          <a:prstGeom prst="rect">
            <a:avLst/>
          </a:prstGeom>
          <a:noFill/>
          <a:ln/>
        </p:spPr>
        <p:txBody>
          <a:bodyPr wrap="square" rtlCol="0" anchor="ctr"/>
          <a:lstStyle/>
          <a:p>
            <a:pPr indent="0" marL="0">
              <a:buNone/>
            </a:pPr>
            <a:r>
              <a:rPr lang="en-US" sz="2200" b="1" i="1" dirty="0">
                <a:solidFill>
                  <a:srgbClr val="9C5536"/>
                </a:solidFill>
                <a:latin typeface="Cambria" pitchFamily="34" charset="0"/>
                <a:ea typeface="Cambria" pitchFamily="34" charset="-122"/>
                <a:cs typeface="Cambria" pitchFamily="34" charset="-120"/>
              </a:rPr>
              <a:t>S</a:t>
            </a:r>
            <a:endParaRPr lang="en-US" sz="2200" dirty="0"/>
          </a:p>
        </p:txBody>
      </p:sp>
      <p:sp>
        <p:nvSpPr>
          <p:cNvPr id="8" name="Text 6"/>
          <p:cNvSpPr/>
          <p:nvPr/>
        </p:nvSpPr>
        <p:spPr>
          <a:xfrm>
            <a:off x="1143000" y="2414016"/>
            <a:ext cx="27432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情境 Situation</a:t>
            </a:r>
            <a:endParaRPr lang="en-US" sz="1300" dirty="0"/>
          </a:p>
        </p:txBody>
      </p:sp>
      <p:sp>
        <p:nvSpPr>
          <p:cNvPr id="9" name="Text 7"/>
          <p:cNvSpPr/>
          <p:nvPr/>
        </p:nvSpPr>
        <p:spPr>
          <a:xfrm>
            <a:off x="1143000" y="2743200"/>
            <a:ext cx="10058400" cy="713232"/>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这件事发生在什么具体情境中？——给出明确的时间和场景锚点，避免反馈被泛化为「你总是……」。</a:t>
            </a:r>
            <a:endParaRPr lang="en-US" sz="1180" dirty="0"/>
          </a:p>
        </p:txBody>
      </p:sp>
      <p:sp>
        <p:nvSpPr>
          <p:cNvPr id="10" name="Text 8"/>
          <p:cNvSpPr/>
          <p:nvPr/>
        </p:nvSpPr>
        <p:spPr>
          <a:xfrm>
            <a:off x="548640" y="3474720"/>
            <a:ext cx="502920" cy="868680"/>
          </a:xfrm>
          <a:prstGeom prst="rect">
            <a:avLst/>
          </a:prstGeom>
          <a:noFill/>
          <a:ln/>
        </p:spPr>
        <p:txBody>
          <a:bodyPr wrap="square" rtlCol="0" anchor="ctr"/>
          <a:lstStyle/>
          <a:p>
            <a:pPr indent="0" marL="0">
              <a:buNone/>
            </a:pPr>
            <a:r>
              <a:rPr lang="en-US" sz="2200" b="1" i="1" dirty="0">
                <a:solidFill>
                  <a:srgbClr val="9C5536"/>
                </a:solidFill>
                <a:latin typeface="Cambria" pitchFamily="34" charset="0"/>
                <a:ea typeface="Cambria" pitchFamily="34" charset="-122"/>
                <a:cs typeface="Cambria" pitchFamily="34" charset="-120"/>
              </a:rPr>
              <a:t>B</a:t>
            </a:r>
            <a:endParaRPr lang="en-US" sz="2200" dirty="0"/>
          </a:p>
        </p:txBody>
      </p:sp>
      <p:sp>
        <p:nvSpPr>
          <p:cNvPr id="11" name="Text 9"/>
          <p:cNvSpPr/>
          <p:nvPr/>
        </p:nvSpPr>
        <p:spPr>
          <a:xfrm>
            <a:off x="1143000" y="3493008"/>
            <a:ext cx="27432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行为 Behavior</a:t>
            </a:r>
            <a:endParaRPr lang="en-US" sz="1300" dirty="0"/>
          </a:p>
        </p:txBody>
      </p:sp>
      <p:sp>
        <p:nvSpPr>
          <p:cNvPr id="12" name="Text 10"/>
          <p:cNvSpPr/>
          <p:nvPr/>
        </p:nvSpPr>
        <p:spPr>
          <a:xfrm>
            <a:off x="1143000" y="3822192"/>
            <a:ext cx="10058400" cy="713232"/>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具体观察到的行为是什么？——必须是「可观察的事实」而非动机推测。可观察事实更容易被认同，动机推测容易引发争议。</a:t>
            </a:r>
            <a:endParaRPr lang="en-US" sz="1180" dirty="0"/>
          </a:p>
        </p:txBody>
      </p:sp>
      <p:sp>
        <p:nvSpPr>
          <p:cNvPr id="13" name="Text 11"/>
          <p:cNvSpPr/>
          <p:nvPr/>
        </p:nvSpPr>
        <p:spPr>
          <a:xfrm>
            <a:off x="548640" y="4553712"/>
            <a:ext cx="502920" cy="868680"/>
          </a:xfrm>
          <a:prstGeom prst="rect">
            <a:avLst/>
          </a:prstGeom>
          <a:noFill/>
          <a:ln/>
        </p:spPr>
        <p:txBody>
          <a:bodyPr wrap="square" rtlCol="0" anchor="ctr"/>
          <a:lstStyle/>
          <a:p>
            <a:pPr indent="0" marL="0">
              <a:buNone/>
            </a:pPr>
            <a:r>
              <a:rPr lang="en-US" sz="2200" b="1" i="1" dirty="0">
                <a:solidFill>
                  <a:srgbClr val="9C5536"/>
                </a:solidFill>
                <a:latin typeface="Cambria" pitchFamily="34" charset="0"/>
                <a:ea typeface="Cambria" pitchFamily="34" charset="-122"/>
                <a:cs typeface="Cambria" pitchFamily="34" charset="-120"/>
              </a:rPr>
              <a:t>I</a:t>
            </a:r>
            <a:endParaRPr lang="en-US" sz="2200" dirty="0"/>
          </a:p>
        </p:txBody>
      </p:sp>
      <p:sp>
        <p:nvSpPr>
          <p:cNvPr id="14" name="Text 12"/>
          <p:cNvSpPr/>
          <p:nvPr/>
        </p:nvSpPr>
        <p:spPr>
          <a:xfrm>
            <a:off x="1143000" y="4572000"/>
            <a:ext cx="27432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影响 Impact</a:t>
            </a:r>
            <a:endParaRPr lang="en-US" sz="1300" dirty="0"/>
          </a:p>
        </p:txBody>
      </p:sp>
      <p:sp>
        <p:nvSpPr>
          <p:cNvPr id="15" name="Text 13"/>
          <p:cNvSpPr/>
          <p:nvPr/>
        </p:nvSpPr>
        <p:spPr>
          <a:xfrm>
            <a:off x="1143000" y="4901184"/>
            <a:ext cx="10058400" cy="713232"/>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这个行为产生了什么具体影响？——把因果关系清楚呈现，让对方理解「为什么这件事值得被指出」，而不只是「为什么你要批评我」。</a:t>
            </a:r>
            <a:endParaRPr lang="en-US" sz="1180" dirty="0"/>
          </a:p>
        </p:txBody>
      </p:sp>
      <p:sp>
        <p:nvSpPr>
          <p:cNvPr id="16" name="Shape 14"/>
          <p:cNvSpPr/>
          <p:nvPr/>
        </p:nvSpPr>
        <p:spPr>
          <a:xfrm>
            <a:off x="548640" y="5678424"/>
            <a:ext cx="10881360" cy="0"/>
          </a:xfrm>
          <a:prstGeom prst="line">
            <a:avLst/>
          </a:prstGeom>
          <a:noFill/>
          <a:ln w="12700">
            <a:solidFill>
              <a:srgbClr val="E3E7EF"/>
            </a:solidFill>
            <a:prstDash val="solid"/>
          </a:ln>
        </p:spPr>
      </p:sp>
      <p:sp>
        <p:nvSpPr>
          <p:cNvPr id="17" name="Text 15"/>
          <p:cNvSpPr/>
          <p:nvPr/>
        </p:nvSpPr>
        <p:spPr>
          <a:xfrm>
            <a:off x="548640" y="5769864"/>
            <a:ext cx="10881360" cy="384048"/>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三个要素组合在一起，把「你最近表现不太好」这种无法被执行的模糊判断，转化成了指向「下次可以怎么做不同」的完整信息链条。</a:t>
            </a:r>
            <a:endParaRPr lang="en-US" sz="120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SBI模型的两种执行偏差</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把「行为」描述成「动机推测」</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SBI模型中最容易出错的环节是B（行为）——很多人在描述「行为」时，实际上描述的是自己对对方动机的猜测。「你不重视这个评审会」是动机推测，「你在评审中没有就接口兼容性提出疑虑」才是行为描述。动机推测几乎必然引发对方反驳（「我怎么不重视了」），因为动机无法被外部观察验证，而行为是双方都可以确认的客观事实。</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只给S和B，省略I（影响），导致反馈停留在「指出问题」</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如果反馈只停留在「你在评审会上没提疑虑」，被反馈者可能会觉得「那又怎样」。只有补充了「这导致了什么具体后果」，对方才能真正理解这件事的重要性，也才更有动力调整行为——人对「不调整会有什么后果」的认知，是行为改变的关键驱动力之一，省略影响描述会让反馈停留在表面。</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SBI模型有效执行的核心是「B必须是可观察的事实而非动机推测」，以及「I必须被清楚说明而非省略」。这两个条件确保反馈不仅指出了发生了什么，还说明了为什么这件事重要。</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二（SBI模型实际运用）</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一次完整SBI反馈的真实样态</a:t>
            </a:r>
            <a:endParaRPr lang="en-US" sz="2700" dirty="0"/>
          </a:p>
        </p:txBody>
      </p:sp>
      <p:sp>
        <p:nvSpPr>
          <p:cNvPr id="6" name="Text 4"/>
          <p:cNvSpPr/>
          <p:nvPr/>
        </p:nvSpPr>
        <p:spPr>
          <a:xfrm>
            <a:off x="548640" y="1691640"/>
            <a:ext cx="10881360" cy="530352"/>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某次产线变更窗口结束后，组长需要反馈：变更本身顺利完成，但工程师小郑没有按约定流程及时通知相关产线确认状态。</a:t>
            </a:r>
            <a:endParaRPr lang="en-US" sz="1250" dirty="0"/>
          </a:p>
        </p:txBody>
      </p:sp>
      <p:sp>
        <p:nvSpPr>
          <p:cNvPr id="7" name="Text 5"/>
          <p:cNvSpPr/>
          <p:nvPr/>
        </p:nvSpPr>
        <p:spPr>
          <a:xfrm>
            <a:off x="548640" y="2286000"/>
            <a:ext cx="457200" cy="685800"/>
          </a:xfrm>
          <a:prstGeom prst="rect">
            <a:avLst/>
          </a:prstGeom>
          <a:noFill/>
          <a:ln/>
        </p:spPr>
        <p:txBody>
          <a:bodyPr wrap="square" rtlCol="0" anchor="ctr"/>
          <a:lstStyle/>
          <a:p>
            <a:pPr indent="0" marL="0">
              <a:buNone/>
            </a:pPr>
            <a:r>
              <a:rPr lang="en-US" sz="1800" b="1" i="1" dirty="0">
                <a:solidFill>
                  <a:srgbClr val="9C5536"/>
                </a:solidFill>
                <a:latin typeface="Cambria" pitchFamily="34" charset="0"/>
                <a:ea typeface="Cambria" pitchFamily="34" charset="-122"/>
                <a:cs typeface="Cambria" pitchFamily="34" charset="-120"/>
              </a:rPr>
              <a:t>S</a:t>
            </a:r>
            <a:endParaRPr lang="en-US" sz="1800" dirty="0"/>
          </a:p>
        </p:txBody>
      </p:sp>
      <p:sp>
        <p:nvSpPr>
          <p:cNvPr id="8" name="Text 6"/>
          <p:cNvSpPr/>
          <p:nvPr/>
        </p:nvSpPr>
        <p:spPr>
          <a:xfrm>
            <a:off x="1097280" y="2286000"/>
            <a:ext cx="10058400" cy="68580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「上周二凌晨那次系统变更，原计划是2点到4点的窗口。」</a:t>
            </a:r>
            <a:endParaRPr lang="en-US" sz="1200" dirty="0"/>
          </a:p>
        </p:txBody>
      </p:sp>
      <p:sp>
        <p:nvSpPr>
          <p:cNvPr id="9" name="Text 7"/>
          <p:cNvSpPr/>
          <p:nvPr/>
        </p:nvSpPr>
        <p:spPr>
          <a:xfrm>
            <a:off x="548640" y="3063240"/>
            <a:ext cx="457200" cy="685800"/>
          </a:xfrm>
          <a:prstGeom prst="rect">
            <a:avLst/>
          </a:prstGeom>
          <a:noFill/>
          <a:ln/>
        </p:spPr>
        <p:txBody>
          <a:bodyPr wrap="square" rtlCol="0" anchor="ctr"/>
          <a:lstStyle/>
          <a:p>
            <a:pPr indent="0" marL="0">
              <a:buNone/>
            </a:pPr>
            <a:r>
              <a:rPr lang="en-US" sz="1800" b="1" i="1" dirty="0">
                <a:solidFill>
                  <a:srgbClr val="9C5536"/>
                </a:solidFill>
                <a:latin typeface="Cambria" pitchFamily="34" charset="0"/>
                <a:ea typeface="Cambria" pitchFamily="34" charset="-122"/>
                <a:cs typeface="Cambria" pitchFamily="34" charset="-120"/>
              </a:rPr>
              <a:t>B</a:t>
            </a:r>
            <a:endParaRPr lang="en-US" sz="1800" dirty="0"/>
          </a:p>
        </p:txBody>
      </p:sp>
      <p:sp>
        <p:nvSpPr>
          <p:cNvPr id="10" name="Text 8"/>
          <p:cNvSpPr/>
          <p:nvPr/>
        </p:nvSpPr>
        <p:spPr>
          <a:xfrm>
            <a:off x="1097280" y="3063240"/>
            <a:ext cx="10058400" cy="68580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「变更在3点40分就完成了，但你是在早上8点产线班组长来问的时候，才确认系统状态正常，中间这四个多小时没有主动同步。」</a:t>
            </a:r>
            <a:endParaRPr lang="en-US" sz="1200" dirty="0"/>
          </a:p>
        </p:txBody>
      </p:sp>
      <p:sp>
        <p:nvSpPr>
          <p:cNvPr id="11" name="Text 9"/>
          <p:cNvSpPr/>
          <p:nvPr/>
        </p:nvSpPr>
        <p:spPr>
          <a:xfrm>
            <a:off x="548640" y="3840480"/>
            <a:ext cx="457200" cy="685800"/>
          </a:xfrm>
          <a:prstGeom prst="rect">
            <a:avLst/>
          </a:prstGeom>
          <a:noFill/>
          <a:ln/>
        </p:spPr>
        <p:txBody>
          <a:bodyPr wrap="square" rtlCol="0" anchor="ctr"/>
          <a:lstStyle/>
          <a:p>
            <a:pPr indent="0" marL="0">
              <a:buNone/>
            </a:pPr>
            <a:r>
              <a:rPr lang="en-US" sz="1800" b="1" i="1" dirty="0">
                <a:solidFill>
                  <a:srgbClr val="9C5536"/>
                </a:solidFill>
                <a:latin typeface="Cambria" pitchFamily="34" charset="0"/>
                <a:ea typeface="Cambria" pitchFamily="34" charset="-122"/>
                <a:cs typeface="Cambria" pitchFamily="34" charset="-120"/>
              </a:rPr>
              <a:t>I</a:t>
            </a:r>
            <a:endParaRPr lang="en-US" sz="1800" dirty="0"/>
          </a:p>
        </p:txBody>
      </p:sp>
      <p:sp>
        <p:nvSpPr>
          <p:cNvPr id="12" name="Text 10"/>
          <p:cNvSpPr/>
          <p:nvPr/>
        </p:nvSpPr>
        <p:spPr>
          <a:xfrm>
            <a:off x="1097280" y="3840480"/>
            <a:ext cx="10058400" cy="68580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「这导致产线在不确定系统状态的情况下，多等待了将近四个小时才敢按计划安排新批次的自动派工。如果当时变更出了问题，我们也错过了第一时间发现的窗口。」</a:t>
            </a:r>
            <a:endParaRPr lang="en-US" sz="1200" dirty="0"/>
          </a:p>
        </p:txBody>
      </p:sp>
      <p:sp>
        <p:nvSpPr>
          <p:cNvPr id="13" name="Text 11"/>
          <p:cNvSpPr/>
          <p:nvPr/>
        </p:nvSpPr>
        <p:spPr>
          <a:xfrm>
            <a:off x="548640" y="4709160"/>
            <a:ext cx="10881360" cy="777240"/>
          </a:xfrm>
          <a:prstGeom prst="rect">
            <a:avLst/>
          </a:prstGeom>
          <a:noFill/>
          <a:ln/>
        </p:spPr>
        <p:txBody>
          <a:bodyPr wrap="square" rtlCol="0" anchor="ctr"/>
          <a:lstStyle/>
          <a:p>
            <a:pPr indent="0" marL="0">
              <a:lnSpc>
                <a:spcPct val="125000"/>
              </a:lnSpc>
              <a:buNone/>
            </a:pPr>
            <a:r>
              <a:rPr lang="en-US" sz="1180" i="1" dirty="0">
                <a:solidFill>
                  <a:srgbClr val="5B6270"/>
                </a:solidFill>
                <a:latin typeface="Calibri" pitchFamily="34" charset="0"/>
                <a:ea typeface="Calibri" pitchFamily="34" charset="-122"/>
                <a:cs typeface="Calibri" pitchFamily="34" charset="-120"/>
              </a:rPr>
              <a:t>组长接着说：「我知道变更本身做得很好，这次想聊聊后续确认和同步这个环节，下次可以怎么安排？」小郑回应：「下次我会在变更完成后，无论时间早晚，先发一条确认消息。」</a:t>
            </a:r>
            <a:endParaRPr lang="en-US" sz="1180" dirty="0"/>
          </a:p>
        </p:txBody>
      </p:sp>
      <p:sp>
        <p:nvSpPr>
          <p:cNvPr id="14" name="Shape 12"/>
          <p:cNvSpPr/>
          <p:nvPr/>
        </p:nvSpPr>
        <p:spPr>
          <a:xfrm>
            <a:off x="548640" y="5577840"/>
            <a:ext cx="0" cy="658368"/>
          </a:xfrm>
          <a:prstGeom prst="line">
            <a:avLst/>
          </a:prstGeom>
          <a:noFill/>
          <a:ln w="38100">
            <a:solidFill>
              <a:srgbClr val="1B2A4A"/>
            </a:solidFill>
            <a:prstDash val="solid"/>
          </a:ln>
        </p:spPr>
      </p:sp>
      <p:sp>
        <p:nvSpPr>
          <p:cNvPr id="15" name="Text 13"/>
          <p:cNvSpPr/>
          <p:nvPr/>
        </p:nvSpPr>
        <p:spPr>
          <a:xfrm>
            <a:off x="777240" y="5577840"/>
            <a:ext cx="10424160" cy="658368"/>
          </a:xfrm>
          <a:prstGeom prst="rect">
            <a:avLst/>
          </a:prstGeom>
          <a:noFill/>
          <a:ln/>
        </p:spPr>
        <p:txBody>
          <a:bodyPr wrap="square" rtlCol="0" anchor="ctr"/>
          <a:lstStyle/>
          <a:p>
            <a:pPr indent="0" marL="0">
              <a:lnSpc>
                <a:spcPct val="122000"/>
              </a:lnSpc>
              <a:buNone/>
            </a:pPr>
            <a:r>
              <a:rPr lang="en-US" sz="1200" i="1" dirty="0">
                <a:solidFill>
                  <a:srgbClr val="1B2A4A"/>
                </a:solidFill>
                <a:latin typeface="Cambria" pitchFamily="34" charset="0"/>
                <a:ea typeface="Cambria" pitchFamily="34" charset="-122"/>
                <a:cs typeface="Cambria" pitchFamily="34" charset="-120"/>
              </a:rPr>
              <a:t>完整的SBI反馈不仅指出了问题，还清晰建立了「为什么这件事值得改进」的认知基础，并自然过渡到了面向未来的改进讨论。</a:t>
            </a:r>
            <a:endParaRPr lang="en-US" sz="1200" dirty="0"/>
          </a:p>
        </p:txBody>
      </p:sp>
      <p:sp>
        <p:nvSpPr>
          <p:cNvPr id="16" name="Shape 14"/>
          <p:cNvSpPr/>
          <p:nvPr/>
        </p:nvSpPr>
        <p:spPr>
          <a:xfrm>
            <a:off x="548640" y="6446520"/>
            <a:ext cx="11091672" cy="0"/>
          </a:xfrm>
          <a:prstGeom prst="line">
            <a:avLst/>
          </a:prstGeom>
          <a:noFill/>
          <a:ln w="9525">
            <a:solidFill>
              <a:srgbClr val="C7CDDB"/>
            </a:solidFill>
            <a:prstDash val="solid"/>
          </a:ln>
        </p:spPr>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SBI模型实际运用</a:t>
            </a:r>
            <a:endParaRPr lang="en-US" sz="9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三（反馈的及时性）</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当场反馈 vs 攒到绩效面谈，效果的真实差距</a:t>
            </a:r>
            <a:endParaRPr lang="en-US" sz="2700" dirty="0"/>
          </a:p>
        </p:txBody>
      </p:sp>
      <p:sp>
        <p:nvSpPr>
          <p:cNvPr id="6" name="Text 4"/>
          <p:cNvSpPr/>
          <p:nvPr/>
        </p:nvSpPr>
        <p:spPr>
          <a:xfrm>
            <a:off x="548640" y="1691640"/>
            <a:ext cx="10881360" cy="5029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场景：工程师小杨在跨部门会议上发言方式有些生硬，让工艺部同事感到不太舒服，但没有造成严重后果。</a:t>
            </a:r>
            <a:endParaRPr lang="en-US" sz="1250" dirty="0"/>
          </a:p>
        </p:txBody>
      </p:sp>
      <p:sp>
        <p:nvSpPr>
          <p:cNvPr id="7" name="Text 5"/>
          <p:cNvSpPr/>
          <p:nvPr/>
        </p:nvSpPr>
        <p:spPr>
          <a:xfrm>
            <a:off x="548640" y="228600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〔方式A · 攒到季度面谈〕</a:t>
            </a:r>
            <a:endParaRPr lang="en-US" sz="1100" dirty="0"/>
          </a:p>
        </p:txBody>
      </p:sp>
      <p:sp>
        <p:nvSpPr>
          <p:cNvPr id="8" name="Shape 6"/>
          <p:cNvSpPr/>
          <p:nvPr/>
        </p:nvSpPr>
        <p:spPr>
          <a:xfrm>
            <a:off x="548640" y="2651760"/>
            <a:ext cx="5257800" cy="0"/>
          </a:xfrm>
          <a:prstGeom prst="line">
            <a:avLst/>
          </a:prstGeom>
          <a:noFill/>
          <a:ln w="19050">
            <a:solidFill>
              <a:srgbClr val="9C5536"/>
            </a:solidFill>
            <a:prstDash val="solid"/>
          </a:ln>
        </p:spPr>
      </p:sp>
      <p:sp>
        <p:nvSpPr>
          <p:cNvPr id="9" name="Text 7"/>
          <p:cNvSpPr/>
          <p:nvPr/>
        </p:nvSpPr>
        <p:spPr>
          <a:xfrm>
            <a:off x="548640" y="2788920"/>
            <a:ext cx="5257800" cy="1280160"/>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三个月后才提：「上次跟工艺部那次会议，你说话方式有点冲，以后注意一下。」小杨努力回忆，已经记不清具体是哪次会议，反馈最终变成一句模糊的「记下了」。</a:t>
            </a:r>
            <a:endParaRPr lang="en-US" sz="1180" dirty="0"/>
          </a:p>
        </p:txBody>
      </p:sp>
      <p:sp>
        <p:nvSpPr>
          <p:cNvPr id="10" name="Text 8"/>
          <p:cNvSpPr/>
          <p:nvPr/>
        </p:nvSpPr>
        <p:spPr>
          <a:xfrm>
            <a:off x="548640" y="4114800"/>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心理感受：</a:t>
            </a:r>
            <a:endParaRPr lang="en-US" sz="1200" dirty="0"/>
          </a:p>
        </p:txBody>
      </p:sp>
      <p:sp>
        <p:nvSpPr>
          <p:cNvPr id="11" name="Text 9"/>
          <p:cNvSpPr/>
          <p:nvPr/>
        </p:nvSpPr>
        <p:spPr>
          <a:xfrm>
            <a:off x="548640" y="4407408"/>
            <a:ext cx="5257800" cy="1280160"/>
          </a:xfrm>
          <a:prstGeom prst="rect">
            <a:avLst/>
          </a:prstGeom>
          <a:noFill/>
          <a:ln/>
        </p:spPr>
        <p:txBody>
          <a:bodyPr wrap="square" rtlCol="0" anchor="ctr"/>
          <a:lstStyle/>
          <a:p>
            <a:pPr indent="0" marL="0">
              <a:lnSpc>
                <a:spcPct val="125000"/>
              </a:lnSpc>
              <a:buNone/>
            </a:pPr>
            <a:r>
              <a:rPr lang="en-US" sz="1180" i="1" dirty="0">
                <a:solidFill>
                  <a:srgbClr val="2B2F36"/>
                </a:solidFill>
                <a:latin typeface="Calibri" pitchFamily="34" charset="0"/>
                <a:ea typeface="Calibri" pitchFamily="34" charset="-122"/>
                <a:cs typeface="Calibri" pitchFamily="34" charset="-120"/>
              </a:rPr>
              <a:t>「这种事都过去三个月了，现在才说，是不是因为绩效要打分了才想起来凑数？」</a:t>
            </a:r>
            <a:endParaRPr lang="en-US" sz="1180" dirty="0"/>
          </a:p>
        </p:txBody>
      </p:sp>
      <p:sp>
        <p:nvSpPr>
          <p:cNvPr id="12" name="Shape 10"/>
          <p:cNvSpPr/>
          <p:nvPr/>
        </p:nvSpPr>
        <p:spPr>
          <a:xfrm>
            <a:off x="6080760" y="2286000"/>
            <a:ext cx="0" cy="3657600"/>
          </a:xfrm>
          <a:prstGeom prst="line">
            <a:avLst/>
          </a:prstGeom>
          <a:noFill/>
          <a:ln w="12700">
            <a:solidFill>
              <a:srgbClr val="E3E7EF"/>
            </a:solidFill>
            <a:prstDash val="solid"/>
          </a:ln>
        </p:spPr>
      </p:sp>
      <p:sp>
        <p:nvSpPr>
          <p:cNvPr id="13" name="Text 11"/>
          <p:cNvSpPr/>
          <p:nvPr/>
        </p:nvSpPr>
        <p:spPr>
          <a:xfrm>
            <a:off x="6519672" y="228600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〔方式B · 当天及时反馈〕</a:t>
            </a:r>
            <a:endParaRPr lang="en-US" sz="1100" dirty="0"/>
          </a:p>
        </p:txBody>
      </p:sp>
      <p:sp>
        <p:nvSpPr>
          <p:cNvPr id="14" name="Shape 12"/>
          <p:cNvSpPr/>
          <p:nvPr/>
        </p:nvSpPr>
        <p:spPr>
          <a:xfrm>
            <a:off x="6519672" y="2651760"/>
            <a:ext cx="5257800" cy="0"/>
          </a:xfrm>
          <a:prstGeom prst="line">
            <a:avLst/>
          </a:prstGeom>
          <a:noFill/>
          <a:ln w="19050">
            <a:solidFill>
              <a:srgbClr val="4F6F52"/>
            </a:solidFill>
            <a:prstDash val="solid"/>
          </a:ln>
        </p:spPr>
      </p:sp>
      <p:sp>
        <p:nvSpPr>
          <p:cNvPr id="15" name="Text 13"/>
          <p:cNvSpPr/>
          <p:nvPr/>
        </p:nvSpPr>
        <p:spPr>
          <a:xfrm>
            <a:off x="6519672" y="2788920"/>
            <a:ext cx="5257800" cy="1280160"/>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当天就说：「刚才那个会上，老张提了个问题，你回答时语气有点急，他后来说感觉被怼了。可以试试先确认对方疑虑具体是什么，再回应。」</a:t>
            </a:r>
            <a:endParaRPr lang="en-US" sz="1180" dirty="0"/>
          </a:p>
        </p:txBody>
      </p:sp>
      <p:sp>
        <p:nvSpPr>
          <p:cNvPr id="16" name="Text 14"/>
          <p:cNvSpPr/>
          <p:nvPr/>
        </p:nvSpPr>
        <p:spPr>
          <a:xfrm>
            <a:off x="6519672" y="4114800"/>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结果：</a:t>
            </a:r>
            <a:endParaRPr lang="en-US" sz="1200" dirty="0"/>
          </a:p>
        </p:txBody>
      </p:sp>
      <p:sp>
        <p:nvSpPr>
          <p:cNvPr id="17" name="Text 15"/>
          <p:cNvSpPr/>
          <p:nvPr/>
        </p:nvSpPr>
        <p:spPr>
          <a:xfrm>
            <a:off x="6519672" y="4407408"/>
            <a:ext cx="5257800" cy="1280160"/>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小杨当场就能回忆起具体场景，理解问题所在，调整的动力和具体性都更强。</a:t>
            </a:r>
            <a:endParaRPr lang="en-US" sz="118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反馈的及时性</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绩效反馈中最常见的认知误区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「反馈要委婉一点，直接说事实会让对方难以接受」</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委婉」和「行为归因」两个不同的解决方案。问题的根源不在于「事实说得太直接」，而在于「事实被包装成了对人的整体评判」。真正的解决方案不是把事实说得含糊其辞（这反而会让反馈失去SBI模型要求的具体性），而是确保反馈聚焦在具体行为和影响上，而非滑向特质判断。一个清晰、具体、聚焦行为的反馈，即使语气直接，也比一个含糊但暗含特质判断的反馈更容易被接受。</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「这件事不大，没必要专门反馈，下次注意一下就行了」</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低估了「小问题不及时反馈」的累积效应。很多在绩效面谈中被认为是「大问题」的状况，往往是多个未被及时反馈的「小问题」反复发生、逐渐累积的结果。如果每一次小的偏差都因为「不大」而被搁置，到了正式反馈的时点，问题已经变得更难处理。及时反馈小问题，恰恰是避免问题累积成大问题的关键机制。</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绩效反馈中最常见的认知误区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「我已经用了SBI模型，描述得很客观，但对方还是不高兴，说明这个人就是听不进反馈」</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这种认知在确认「方法正确」之后，把效果不佳的原因完全归咎于对方，但忽略了一个可能性：即使S、B、I三个要素在形式上都具备，如果反馈的语气、时机、或者背景信任关系存在问题，效果依然会打折扣。比如，如果反馈是在很多人面前公开给出的，即使内容完全符合SBI结构，被反馈者依然会因为「当众」这个情境因素而产生防御反应。SBI模型解决的是信息结构问题，但反馈的有效性还受到其他情境因素的影响。</a:t>
            </a:r>
            <a:endParaRPr lang="en-US" sz="118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「绩效反馈是绩效面谈那天的事，平时不需要刻意做」</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这种认知把反馈等同于一个孤立的、周期性的正式仪式，但忽略了及时性原则。如果反馈只发生在正式的绩效面谈场合，相当于把全年的问题都积压到一个时间点才说，这种模式从根本上违反了「及时反馈才能保持细节清晰、改进及时」的原则。真正有效的绩效管理，应该是持续的、日常化的反馈积累，而绩效面谈更应该是对这些持续反馈的阶段性总结，而不是反馈本身第一次发生的场合。</a:t>
            </a:r>
            <a:endParaRPr lang="en-US" sz="118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反馈的措辞如何影响对方如何理解「自己是谁」</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Carol Dweck的成长型思维（Growth Mindset）研究</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〔核心区分〕</a:t>
            </a:r>
            <a:endParaRPr lang="en-US" sz="1100" dirty="0"/>
          </a:p>
        </p:txBody>
      </p:sp>
      <p:sp>
        <p:nvSpPr>
          <p:cNvPr id="8" name="Text 6"/>
          <p:cNvSpPr/>
          <p:nvPr/>
        </p:nvSpPr>
        <p:spPr>
          <a:xfrm>
            <a:off x="548640" y="2240280"/>
            <a:ext cx="10881360" cy="1078992"/>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固定型思维（Fixed Mindset）认为能力是相对固定、难以改变的特质——持有这种思维的人，会把每一次反馈都解读为「对我能力的最终判定」，倾向于回避暴露不足的情境，对负面反馈表现出强烈防御性。成长型思维（Growth Mindset）则认为能力可以通过努力和正确方法持续发展，更容易把反馈视为「帮助我变得更好的信息」。</a:t>
            </a:r>
            <a:endParaRPr lang="en-US" sz="1230" dirty="0"/>
          </a:p>
        </p:txBody>
      </p:sp>
      <p:sp>
        <p:nvSpPr>
          <p:cNvPr id="9" name="Shape 7"/>
          <p:cNvSpPr/>
          <p:nvPr/>
        </p:nvSpPr>
        <p:spPr>
          <a:xfrm>
            <a:off x="548640" y="3456432"/>
            <a:ext cx="10881360" cy="0"/>
          </a:xfrm>
          <a:prstGeom prst="line">
            <a:avLst/>
          </a:prstGeom>
          <a:noFill/>
          <a:ln w="12700">
            <a:solidFill>
              <a:srgbClr val="E3E7EF"/>
            </a:solidFill>
            <a:prstDash val="solid"/>
          </a:ln>
        </p:spPr>
      </p:sp>
      <p:sp>
        <p:nvSpPr>
          <p:cNvPr id="10" name="Text 8"/>
          <p:cNvSpPr/>
          <p:nvPr/>
        </p:nvSpPr>
        <p:spPr>
          <a:xfrm>
            <a:off x="548640" y="3611880"/>
            <a:ext cx="1088136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与归因理论的呼应</a:t>
            </a:r>
            <a:endParaRPr lang="en-US" sz="1300" dirty="0"/>
          </a:p>
        </p:txBody>
      </p:sp>
      <p:sp>
        <p:nvSpPr>
          <p:cNvPr id="11" name="Text 9"/>
          <p:cNvSpPr/>
          <p:nvPr/>
        </p:nvSpPr>
        <p:spPr>
          <a:xfrm>
            <a:off x="548640" y="3931920"/>
            <a:ext cx="10881360" cy="10058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特质归因式反馈（「你做事不细心」），实际上是在用固定型思维的语言框架与对方互动——隐含假设是「细心与否」是稳定难变的属性。行为归因式反馈（「这次有三处边界条件没有覆盖」），则天然契合成长型思维框架——隐含假设是「这是一次具体的、可以通过调整方法来改善的行为表现」。</a:t>
            </a:r>
            <a:endParaRPr lang="en-US" sz="1230" dirty="0"/>
          </a:p>
        </p:txBody>
      </p:sp>
      <p:sp>
        <p:nvSpPr>
          <p:cNvPr id="12" name="Shape 10"/>
          <p:cNvSpPr/>
          <p:nvPr/>
        </p:nvSpPr>
        <p:spPr>
          <a:xfrm>
            <a:off x="548640" y="5029200"/>
            <a:ext cx="0" cy="1051560"/>
          </a:xfrm>
          <a:prstGeom prst="line">
            <a:avLst/>
          </a:prstGeom>
          <a:noFill/>
          <a:ln w="38100">
            <a:solidFill>
              <a:srgbClr val="9C5536"/>
            </a:solidFill>
            <a:prstDash val="solid"/>
          </a:ln>
        </p:spPr>
      </p:sp>
      <p:sp>
        <p:nvSpPr>
          <p:cNvPr id="13" name="Text 11"/>
          <p:cNvSpPr/>
          <p:nvPr/>
        </p:nvSpPr>
        <p:spPr>
          <a:xfrm>
            <a:off x="777240" y="5029200"/>
            <a:ext cx="10424160" cy="1005840"/>
          </a:xfrm>
          <a:prstGeom prst="rect">
            <a:avLst/>
          </a:prstGeom>
          <a:noFill/>
          <a:ln/>
        </p:spPr>
        <p:txBody>
          <a:bodyPr wrap="square" rtlCol="0" anchor="ctr"/>
          <a:lstStyle/>
          <a:p>
            <a:pPr indent="0" marL="0">
              <a:lnSpc>
                <a:spcPct val="125000"/>
              </a:lnSpc>
              <a:buNone/>
            </a:pPr>
            <a:r>
              <a:rPr lang="en-US" sz="1230" i="1" dirty="0">
                <a:solidFill>
                  <a:srgbClr val="1B2A4A"/>
                </a:solidFill>
                <a:latin typeface="Cambria" pitchFamily="34" charset="0"/>
                <a:ea typeface="Cambria" pitchFamily="34" charset="-122"/>
                <a:cs typeface="Cambria" pitchFamily="34" charset="-120"/>
              </a:rPr>
              <a:t>主管在反馈中持续使用行为归因的语言，不仅是在解决单次反馈的有效性问题，更是在潜移默化地塑造团队成员对「能力是否可以发展」这个根本问题的认知框架。</a:t>
            </a:r>
            <a:endParaRPr lang="en-US" sz="123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成长型思维与固定型思维</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为什么把所有反馈都攒到年度面谈，是一种结构性失败</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反馈与被反馈行为之间的时间间隔效应</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〔与M6的方向性呼应〕</a:t>
            </a:r>
            <a:endParaRPr lang="en-US" sz="1100" dirty="0"/>
          </a:p>
        </p:txBody>
      </p:sp>
      <p:sp>
        <p:nvSpPr>
          <p:cNvPr id="8" name="Text 6"/>
          <p:cNvSpPr/>
          <p:nvPr/>
        </p:nvSpPr>
        <p:spPr>
          <a:xfrm>
            <a:off x="548640" y="2240280"/>
            <a:ext cx="108813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这个延伸视角和M6中讨论的「向上汇报的及时性」形成了一个有趣的方向性呼应——M6讨论的是下属如何及时向上同步信息，这里讨论的是反方向：主管如何及时向下同步反馈，但底层的心理学机制是相通的。</a:t>
            </a:r>
            <a:endParaRPr lang="en-US" sz="1230" dirty="0"/>
          </a:p>
        </p:txBody>
      </p:sp>
      <p:sp>
        <p:nvSpPr>
          <p:cNvPr id="9" name="Text 7"/>
          <p:cNvSpPr/>
          <p:nvPr/>
        </p:nvSpPr>
        <p:spPr>
          <a:xfrm>
            <a:off x="548640" y="3127248"/>
            <a:ext cx="10881360" cy="292608"/>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两个交织的衰减机制：</a:t>
            </a:r>
            <a:endParaRPr lang="en-US" sz="1280" dirty="0"/>
          </a:p>
        </p:txBody>
      </p:sp>
      <p:sp>
        <p:nvSpPr>
          <p:cNvPr id="10" name="Text 8"/>
          <p:cNvSpPr/>
          <p:nvPr/>
        </p:nvSpPr>
        <p:spPr>
          <a:xfrm>
            <a:off x="548640" y="3438144"/>
            <a:ext cx="10881360" cy="86868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记忆衰减机制——随着时间推移，情境细节变得模糊，直接削弱SBI模型中S和B的清晰度；「最近行为锚定」机制——绩效面谈中的评价天然更多受面谈前最近表现的影响，攒到年底的问题如果最近表现良好，反而容易被淡化遗忘。</a:t>
            </a:r>
            <a:endParaRPr lang="en-US" sz="1230" dirty="0"/>
          </a:p>
        </p:txBody>
      </p:sp>
      <p:sp>
        <p:nvSpPr>
          <p:cNvPr id="11" name="Shape 9"/>
          <p:cNvSpPr/>
          <p:nvPr/>
        </p:nvSpPr>
        <p:spPr>
          <a:xfrm>
            <a:off x="548640" y="4480560"/>
            <a:ext cx="0" cy="1627632"/>
          </a:xfrm>
          <a:prstGeom prst="line">
            <a:avLst/>
          </a:prstGeom>
          <a:noFill/>
          <a:ln w="38100">
            <a:solidFill>
              <a:srgbClr val="1B2A4A"/>
            </a:solidFill>
            <a:prstDash val="solid"/>
          </a:ln>
        </p:spPr>
      </p:sp>
      <p:sp>
        <p:nvSpPr>
          <p:cNvPr id="12" name="Text 10"/>
          <p:cNvSpPr/>
          <p:nvPr/>
        </p:nvSpPr>
        <p:spPr>
          <a:xfrm>
            <a:off x="777240" y="4480560"/>
            <a:ext cx="10424160" cy="1572768"/>
          </a:xfrm>
          <a:prstGeom prst="rect">
            <a:avLst/>
          </a:prstGeom>
          <a:noFill/>
          <a:ln/>
        </p:spPr>
        <p:txBody>
          <a:bodyPr wrap="square" rtlCol="0" anchor="ctr"/>
          <a:lstStyle/>
          <a:p>
            <a:pPr indent="0" marL="0">
              <a:lnSpc>
                <a:spcPct val="125000"/>
              </a:lnSpc>
              <a:buNone/>
            </a:pPr>
            <a:r>
              <a:rPr lang="en-US" sz="1230" i="1" dirty="0">
                <a:solidFill>
                  <a:srgbClr val="1B2A4A"/>
                </a:solidFill>
                <a:latin typeface="Cambria" pitchFamily="34" charset="0"/>
                <a:ea typeface="Cambria" pitchFamily="34" charset="-122"/>
                <a:cs typeface="Cambria" pitchFamily="34" charset="-120"/>
              </a:rPr>
              <a:t>「把反馈攒到年度绩效面谈」不是「集中处理」的效率提升，而是一种结构性的信息损耗——它系统性地降低了反馈的具体性、准确性和及时性。真正有效的绩效管理体系，应该把绩效面谈定位为「对持续反馈的阶段性总结与确认」，而不是「反馈本身唯一发生的时间点」。</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反馈频率与绩效面谈的关系</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从评判到成长</a:t>
            </a:r>
            <a:endParaRPr lang="en-US" sz="3200" dirty="0"/>
          </a:p>
        </p:txBody>
      </p:sp>
      <p:sp>
        <p:nvSpPr>
          <p:cNvPr id="5" name="Text 3"/>
          <p:cNvSpPr/>
          <p:nvPr/>
        </p:nvSpPr>
        <p:spPr>
          <a:xfrm>
            <a:off x="1188720" y="1783080"/>
            <a:ext cx="9875520" cy="77724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回到第2页提出的核心问题：技术上准确的反馈，为什么经常没有效果。把评价真正转化为成长，建立在三层结构之上：</a:t>
            </a:r>
            <a:endParaRPr lang="en-US" sz="1300" dirty="0"/>
          </a:p>
        </p:txBody>
      </p:sp>
      <p:sp>
        <p:nvSpPr>
          <p:cNvPr id="6" name="Text 4"/>
          <p:cNvSpPr/>
          <p:nvPr/>
        </p:nvSpPr>
        <p:spPr>
          <a:xfrm>
            <a:off x="1188720" y="2651760"/>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651760"/>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(归因的结构)</a:t>
            </a:r>
            <a:endParaRPr lang="en-US" sz="1300" dirty="0"/>
          </a:p>
        </p:txBody>
      </p:sp>
      <p:sp>
        <p:nvSpPr>
          <p:cNvPr id="8" name="Text 6"/>
          <p:cNvSpPr/>
          <p:nvPr/>
        </p:nvSpPr>
        <p:spPr>
          <a:xfrm>
            <a:off x="4800600" y="2670048"/>
            <a:ext cx="6263640" cy="685800"/>
          </a:xfrm>
          <a:prstGeom prst="rect">
            <a:avLst/>
          </a:prstGeom>
          <a:noFill/>
          <a:ln/>
        </p:spPr>
        <p:txBody>
          <a:bodyPr wrap="square" rtlCol="0" anchor="ctr"/>
          <a:lstStyle/>
          <a:p>
            <a:pPr indent="0" marL="0">
              <a:lnSpc>
                <a:spcPct val="120000"/>
              </a:lnSpc>
              <a:buNone/>
            </a:pPr>
            <a:r>
              <a:rPr lang="en-US" sz="1180" dirty="0">
                <a:solidFill>
                  <a:srgbClr val="2B2F36"/>
                </a:solidFill>
                <a:latin typeface="Calibri" pitchFamily="34" charset="0"/>
                <a:ea typeface="Calibri" pitchFamily="34" charset="-122"/>
                <a:cs typeface="Calibri" pitchFamily="34" charset="-120"/>
              </a:rPr>
              <a:t>行为归因聚焦「具体做了什么」而非「这个人是什么样的人」——特质归因会触发自我威胁和防御反应，使信息无法被接收</a:t>
            </a:r>
            <a:endParaRPr lang="en-US" sz="1180" dirty="0"/>
          </a:p>
        </p:txBody>
      </p:sp>
      <p:sp>
        <p:nvSpPr>
          <p:cNvPr id="9" name="Text 7"/>
          <p:cNvSpPr/>
          <p:nvPr/>
        </p:nvSpPr>
        <p:spPr>
          <a:xfrm>
            <a:off x="1188720" y="3456432"/>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456432"/>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(信息的完整性)</a:t>
            </a:r>
            <a:endParaRPr lang="en-US" sz="1300" dirty="0"/>
          </a:p>
        </p:txBody>
      </p:sp>
      <p:sp>
        <p:nvSpPr>
          <p:cNvPr id="11" name="Text 9"/>
          <p:cNvSpPr/>
          <p:nvPr/>
        </p:nvSpPr>
        <p:spPr>
          <a:xfrm>
            <a:off x="4800600" y="3474720"/>
            <a:ext cx="6263640" cy="685800"/>
          </a:xfrm>
          <a:prstGeom prst="rect">
            <a:avLst/>
          </a:prstGeom>
          <a:noFill/>
          <a:ln/>
        </p:spPr>
        <p:txBody>
          <a:bodyPr wrap="square" rtlCol="0" anchor="ctr"/>
          <a:lstStyle/>
          <a:p>
            <a:pPr indent="0" marL="0">
              <a:lnSpc>
                <a:spcPct val="120000"/>
              </a:lnSpc>
              <a:buNone/>
            </a:pPr>
            <a:r>
              <a:rPr lang="en-US" sz="1180" dirty="0">
                <a:solidFill>
                  <a:srgbClr val="2B2F36"/>
                </a:solidFill>
                <a:latin typeface="Calibri" pitchFamily="34" charset="0"/>
                <a:ea typeface="Calibri" pitchFamily="34" charset="-122"/>
                <a:cs typeface="Calibri" pitchFamily="34" charset="-120"/>
              </a:rPr>
              <a:t>用SBI模型（情境-行为-影响）确保反馈包含可定位、可验证、可改变的完整信息，避免停留在模糊判断</a:t>
            </a:r>
            <a:endParaRPr lang="en-US" sz="1180" dirty="0"/>
          </a:p>
        </p:txBody>
      </p:sp>
      <p:sp>
        <p:nvSpPr>
          <p:cNvPr id="12" name="Text 10"/>
          <p:cNvSpPr/>
          <p:nvPr/>
        </p:nvSpPr>
        <p:spPr>
          <a:xfrm>
            <a:off x="1188720" y="4261104"/>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4261104"/>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(时机与认知的塑造)</a:t>
            </a:r>
            <a:endParaRPr lang="en-US" sz="1300" dirty="0"/>
          </a:p>
        </p:txBody>
      </p:sp>
      <p:sp>
        <p:nvSpPr>
          <p:cNvPr id="14" name="Text 12"/>
          <p:cNvSpPr/>
          <p:nvPr/>
        </p:nvSpPr>
        <p:spPr>
          <a:xfrm>
            <a:off x="4800600" y="4279392"/>
            <a:ext cx="6263640" cy="685800"/>
          </a:xfrm>
          <a:prstGeom prst="rect">
            <a:avLst/>
          </a:prstGeom>
          <a:noFill/>
          <a:ln/>
        </p:spPr>
        <p:txBody>
          <a:bodyPr wrap="square" rtlCol="0" anchor="ctr"/>
          <a:lstStyle/>
          <a:p>
            <a:pPr indent="0" marL="0">
              <a:lnSpc>
                <a:spcPct val="120000"/>
              </a:lnSpc>
              <a:buNone/>
            </a:pPr>
            <a:r>
              <a:rPr lang="en-US" sz="1180" dirty="0">
                <a:solidFill>
                  <a:srgbClr val="2B2F36"/>
                </a:solidFill>
                <a:latin typeface="Calibri" pitchFamily="34" charset="0"/>
                <a:ea typeface="Calibri" pitchFamily="34" charset="-122"/>
                <a:cs typeface="Calibri" pitchFamily="34" charset="-120"/>
              </a:rPr>
              <a:t>及时反馈相对延迟反馈有结构性优势，行为归因式的反馈环境本身在培养团队的成长型思维</a:t>
            </a:r>
            <a:endParaRPr lang="en-US" sz="1180" dirty="0"/>
          </a:p>
        </p:txBody>
      </p:sp>
      <p:sp>
        <p:nvSpPr>
          <p:cNvPr id="15" name="Text 13"/>
          <p:cNvSpPr/>
          <p:nvPr/>
        </p:nvSpPr>
        <p:spPr>
          <a:xfrm>
            <a:off x="1188720" y="5074920"/>
            <a:ext cx="9875520" cy="658368"/>
          </a:xfrm>
          <a:prstGeom prst="rect">
            <a:avLst/>
          </a:prstGeom>
          <a:noFill/>
          <a:ln/>
        </p:spPr>
        <p:txBody>
          <a:bodyPr wrap="square" rtlCol="0" anchor="ctr"/>
          <a:lstStyle/>
          <a:p>
            <a:pPr indent="0" marL="0">
              <a:lnSpc>
                <a:spcPct val="122000"/>
              </a:lnSpc>
              <a:buNone/>
            </a:pPr>
            <a:r>
              <a:rPr lang="en-US" sz="1220" dirty="0">
                <a:solidFill>
                  <a:srgbClr val="2B2F36"/>
                </a:solidFill>
                <a:latin typeface="Calibri" pitchFamily="34" charset="0"/>
                <a:ea typeface="Calibri" pitchFamily="34" charset="-122"/>
                <a:cs typeface="Calibri" pitchFamily="34" charset="-120"/>
              </a:rPr>
              <a:t>这三层结构共同回答了「为什么技术上准确的反馈经常没有效果」——准确性只是必要条件，反馈是否能驱动成长，取决于它是否被设计成对方的认知系统能够接收、处理并转化为行动的形式。</a:t>
            </a:r>
            <a:endParaRPr lang="en-US" sz="1220" dirty="0"/>
          </a:p>
        </p:txBody>
      </p:sp>
      <p:sp>
        <p:nvSpPr>
          <p:cNvPr id="16" name="Shape 14"/>
          <p:cNvSpPr/>
          <p:nvPr/>
        </p:nvSpPr>
        <p:spPr>
          <a:xfrm>
            <a:off x="1188720" y="5779008"/>
            <a:ext cx="3657600" cy="0"/>
          </a:xfrm>
          <a:prstGeom prst="line">
            <a:avLst/>
          </a:prstGeom>
          <a:noFill/>
          <a:ln w="12700">
            <a:solidFill>
              <a:srgbClr val="C7CDDB"/>
            </a:solidFill>
            <a:prstDash val="solid"/>
          </a:ln>
        </p:spPr>
      </p:sp>
      <p:sp>
        <p:nvSpPr>
          <p:cNvPr id="17" name="Text 15"/>
          <p:cNvSpPr/>
          <p:nvPr/>
        </p:nvSpPr>
        <p:spPr>
          <a:xfrm>
            <a:off x="1188720" y="5897880"/>
            <a:ext cx="9692640" cy="411480"/>
          </a:xfrm>
          <a:prstGeom prst="rect">
            <a:avLst/>
          </a:prstGeom>
          <a:noFill/>
          <a:ln/>
        </p:spPr>
        <p:txBody>
          <a:bodyPr wrap="square" rtlCol="0" anchor="ctr"/>
          <a:lstStyle/>
          <a:p>
            <a:pPr indent="0" marL="0">
              <a:buNone/>
            </a:pPr>
            <a:r>
              <a:rPr lang="en-US" sz="1500" b="1" i="1" dirty="0">
                <a:solidFill>
                  <a:srgbClr val="1B2A4A"/>
                </a:solidFill>
                <a:latin typeface="Cambria" pitchFamily="34" charset="0"/>
                <a:ea typeface="Cambria" pitchFamily="34" charset="-122"/>
                <a:cs typeface="Cambria" pitchFamily="34" charset="-120"/>
              </a:rPr>
              <a:t>好的反馈不是评判一个人，而是帮一个人看清下一步。</a:t>
            </a:r>
            <a:endParaRPr lang="en-US" sz="15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发现团队中一名工程师在最近两次的代码提交中，都没有按照团队约定的命名规范来命名变量，你打算就此给他一次反馈。请用SBI模型写出你的反馈内容（包含S、B、I三个要素），并说明你是如何确保B（行为）部分是「可观察的事实」而不是「动机推测」的。</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你的下属在一次反馈后说：「你是不是觉得我能力不行？」即使你认为自己已经尽量做到了行为归因和SBI结构，对方仍然产生了这种「被否定整个人」的感受。你会如何理解和回应这个反馈？</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你注意到一名工程师本周在一次小组讨论中打断了同事的发言两次，这件事不算严重，但你觉得值得提一下。你会选择当场反馈、还是等到下次1on1、还是攒到季度绩效面谈？请说明你的判断依据。</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模块八 · 绩效反馈</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按照SBI模型，对一名工程师连续三次迟到提交工单的情况做了反馈，三个要素都很完整、具体，对方也表示理解并承诺改进。但接下来两周，这名工程师又出现了一次迟到提交。你感到困惑：「反馈做得很标准，为什么行为还是没有改变？」这说明了什么问题？</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团队最近压力很大，项目进度紧张。一名平时表现很好的工程师这周犯了一个不该犯的低级错误。你犹豫要不要在这个时间点给他反馈，担心「他压力已经很大了，现在说会不会让他更难受，干脆这次先不说，等项目结束后再说」。这个想法是否合理？请结合本讲内容分析。</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绩效反馈：把评价变成成长 · 理论精读版</dc:title>
  <dc:subject>PptxGenJS Presentation</dc:subject>
  <dc:creator>PptxGenJS</dc:creator>
  <cp:lastModifiedBy>PptxGenJS</cp:lastModifiedBy>
  <cp:revision>1</cp:revision>
  <dcterms:created xsi:type="dcterms:W3CDTF">2026-06-20T10:10:07Z</dcterms:created>
  <dcterms:modified xsi:type="dcterms:W3CDTF">2026-06-20T10:10:07Z</dcterms:modified>
</cp:coreProperties>
</file>