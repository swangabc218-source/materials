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景一（对应理论框架一）诊断指引：考察学员能否区分行为的表面形式与行为的杠杆来源。正确回答应指出该行为之所以是/不是高杠杆，关键在于它是否减少了他人未来重复试错的需要，而不在于这个行为本身看起来是否重要或耗时。
场景二（对应理论框架二）诊断指引：这是形式化信息传递的标准陷阱题。能答对的学员应指出：覆盖人数不等于信息被吸收，需要看是否有机制确认对方真正理解并能执行。答错的学员往往会用「已经覆盖了所有人」作为高杠杆的论据，这正是误区一在场景中的复现。
场景三（对应边界反例）诊断指引：考察学员是否把杠杆率框架当成了不分情境的教条。理想回答应提到信息完整度、后果可逆性、时间窗口这几个维度，而不是简单套用「经理不该亲自下场」这条规则。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场景四（对应延伸视角一）诊断指引：考察学员能否从具体行为反推背后的杠杆率来源类型。证据应聚焦于这个行为在经理不在场时是否还能持续起作用，而不是行为本身的勤奋程度或细致程度。
场景五（综合场景）诊断指引：本模块难度最高的诊断题，检验学员是否把「危机时该不该亲自下场」和「杠杆率管理的完整闭环」割裂理解了。正确回答应指出：亲自下场处理危机本身没有问题，问题出在危机解决后没有完成从一次性救火到系统化预防的转化——这正是「层级跃迁」框架里人盯人与系统设计两种模式的分界点，经理在最后一步没有完成跃迁，导致这次高强度投入只换来一次性产出，没有沉淀为可持续的杠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C7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管理杠杆率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部门经理的产出公式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786384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461772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经理的产出，不是他做了多少，而是他撬动了多少。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两位经理，同样的投入，悬殊的产出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A经理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89120" y="198424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9842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低杠杆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工作十二小时以上，邮件秒回，几乎所有重要会议亲自到场，任何技术争议都要他出面裁决，下属遇到问题第一反应是来找他。季度评估：部门按时交付率排名靠后，A经理本人长期疲惫，团队却抱怨「什么都要等经理拍板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B经理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04120" y="198424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4F6F5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04120" y="19842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高杠杆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入时间与A经理相差无几，但很少亲自「救火」。大量时间用于和骨干一对一辅导、跨部门协调、打磨部门决策授权规则。季度评估：部门交付稳定，他休假两周期间团队运转如常，两名下属在晋升评审中成为新的技术骨干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5166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两人的时间投入、个人能力、岗位职责几乎相同，为什么产出差距如此悬殊？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到了部门经理这一层，「亲自做对」已经不是答案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十五到二十年经验的部门经理，技术能力和判断力早已不是短板。但相当一部分人，仍然带着资深工程师的勤奋模型在管理岗位上工作——把「亲自把事情做对」当成自己价值的主要来源。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971800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模块要建立的认知：到了部门经理这一层，经理个人能完成的工作量，相对整个部门的产出基数已经微不足道。真正决定部门产出的，是经理的管理行为能撬动多少他人的、团队的、系统的产出——这就是杠杆率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本讲将回答三个问题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420624" cy="420624"/>
          </a:xfrm>
          <a:prstGeom prst="ellipse">
            <a:avLst/>
          </a:prstGeom>
          <a:solidFill>
            <a:srgbClr val="9C553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54456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哪些管理行为是真正的高杠杆行为，哪些只是看起来忙却撬不动产出？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248656"/>
            <a:ext cx="420624" cy="420624"/>
          </a:xfrm>
          <a:prstGeom prst="ellipse">
            <a:avLst/>
          </a:prstGeom>
          <a:solidFill>
            <a:srgbClr val="9C553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248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522122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杠杆率思维本身的边界在哪里，什么时候应该暂时搁置它？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925312"/>
            <a:ext cx="420624" cy="420624"/>
          </a:xfrm>
          <a:prstGeom prst="ellipse">
            <a:avLst/>
          </a:prstGeom>
          <a:solidFill>
            <a:srgbClr val="9C553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925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58978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为什么经验越丰富的经理，反而越容易在压力下退回低杠杆行为？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杠杆率公式与三类高杠杆活动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007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部门产出 = 经理个人直接产出 + 经理管理行为撬动的他人产出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在部门经理这一层，第一项的权重已趋近于零，真正决定部门产出的是第二项——杠杆率：单位管理行为撬动的组织产出倍数。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20040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20040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决策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2971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尤其是影响多人执行方向、且难以撤回的决策。一次清晰的优先级判断，可以让几十人不必各自摸索方向。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292608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320040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93792" y="320040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信息传递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9432" y="3840480"/>
            <a:ext cx="2971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把一个关键信息讲清楚一次，省下的是每个接收者各自摸索、各自试错、各自回来确认的总时间。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292608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5904" y="320040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70264" y="320040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培训与示范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5904" y="3840480"/>
            <a:ext cx="2971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教会一个人独立做出合格判断，等于把自己的判断力复制了一份，且这份复制会持续产生收益，不随时间衰减。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虚假杠杆的识别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不是所有「看起来影响了很多人」的管理行为都是高杠杆。三种常见的虚假杠杆陷阱，共同特征是把行为的覆盖广度误当成了撬动深度。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70632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70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2715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形式化信息传递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开会传达、群发通知，覆盖了人头数，但信息没有被真正吸收消化——零杠杆甚至负杠杆，因为它制造了「我已经说过了」的错觉，掩盖了真正的执行偏差。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4233672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33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4178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失联式授权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5994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把任务交出去之后不再追踪校准，看似一次投入换持续产出的高杠杆，实则杠杆率会随时间衰减为负值，因为执行已偏离方向却没人发现。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44068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5696712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967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5641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替代性救火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606247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经理亲自下场解决问题，看似当下解决了问题，实际上让团队产生路径依赖，降低团队未来独立处理同类问题的能力。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边界反例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杠杆率判断本身，也有边界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系统在凌晨触发跨产线紧急停线，影响多条产线在制品。按「杠杆率优先」的教条，经理此时应委派给一线值班工程师处理、自己只做决策仲裁。但现实是，这类信息高度不完整、后果不可逆的罕见危机中，信息逐级传递的损耗速度可能快过授权决策带来的正确性收益——部门经理需要亲自介入，第一时间掌握一手信息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杠杆率框架不是要求经理永远不做执行性工作，而是要求经理对「何时该用杠杆率思维、何时该暂时搁置它亲自下场」做出有意识的判断。把杠杆率本身当成不分情境的金科玉律，就是另一种新的教条主义。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跨模块呼应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513892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这一点与层级一M2《技术判断力》中「风险=概率×后果」的分级判断框架在逻辑上是相通的：两个框架都拒绝一刀切，要求管理者根据具体情境校准判断尺度。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机制解释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为什么资深经理最容易退行到低杠杆行为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专业认同陷阱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670048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五到二十年经验的部门经理，职业身份认同长期建立在「我能把技术问题搞定」之上。亲自下场解决问题能带来即时的能力确认和心理安慰，而设计系统、做决策这类高杠杆行为往往要等数周甚至数月才能看到效果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103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反馈延迟差异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670048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大脑对即时反馈的行为有天然偏好，这是时间贴现效应在管理行为选择上的体现。这解释了一个反直觉的现象——越是经验丰富、技术功底越深厚的经理，越容易在压力情境下不自觉地退回低杠杆的执行性行为。这不是能力问题，而是反馈结构在系统性地诱导这种退行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识别这种退行冲动本身，是管理杠杆率这件事真正的起点。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用两周的系统设计，换一个季度的杠杆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4F6F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正面案例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1460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CIM部门经理在季度产能爬坡期，没有亲自跟进每条产线进度，而是投入两周设计产能爬坡周报模板和异常升级触发规则——什么程度的偏差需要谁在多长时间内响应，全部写成明确规则。此后整个季度，他每周只需十五分钟回顾系统自动汇总的异常清单。对比同期事必躬亲的经理，两个部门产能爬坡速度持平，但这位经理多出的时间投入到三个跨部门战略项目中，部门产出边界因此被拓宽，而不只是被维持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把每个方案改三遍的经理，正在制造一支不会断奶的团队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9C55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反面案例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1460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部门经理事无巨细地审核所有下属的技术方案，平均每份方案要改三到四轮才放行。团队逐渐对经理的判断产生重度依赖，新人独立成长速度明显慢于同级部门，骨干工程师因为「自己的方案总被推翻、缺乏成就感」提出调岗申请。这是典型的低杠杆与负向人才杠杆的双重损耗：经理消耗大量时间在执行性审核上，团队的判断力却没有因此增长，反而在萎缩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从信任团队到亲自下场，七十二小时里的一次必要转向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8A6D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边界场景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1460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次新设备导入出现批量良率异常，部门经理起初按杠杆率思维处理——信任团队，只做远程决策支持，不过度干预。七十二小时后良率持续恶化，他判断这已不是常规问题而是危机，随即调整策略亲自下场协调跨部门技术攻关，三十六小时内问题解决。这个案例展示的是杠杆率思维与危机判断之间的动态切换能力，而不是机械套用某一种框架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误区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「授权=高杠杆」的简单化理解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经理认为只要把任务交出去就是在做高杠杆管理，但没有建立校准机制的授权，本质上只是责任的转移，而不是产出的撬动。杠杆率的关键不在于谁来执行任务，而在于经理的判断力和系统设计是否在持续起作用——这正是「失联式授权」这种虚假杠杆最容易被误判为真正高杠杆行为的地方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误区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「越忙等于越有产出」的时间幻觉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资深经理把日程排满、随时在线当作敬业和高产出的证明。但杠杆率框架明确指出，时间投入和产出之间不是线性关系——一个被填满的日程，往往意味着低杠杆行为占据了高杠杆行为本该有的思考空间。这也是为什么很多看起来很忙的经理，部门产出反而平平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杠杆率来源的层级跃迁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层级一形成跨层呼应：初任主管的杠杆率主要来自「我监督了多少人、抓了多少执行细节」，这是人盯人模式，杠杆率上限受经理个人精力天花板约束。部门经理的杠杆率应来自「我设计了什么决策规则、建立了什么信息流转机制」，这是系统盯人模式，理论上不受经理个人精力直接约束，因为系统在经理不介入时依然持续产生效果。很多资深管理者职业生涯中长期没有完成这次认知升级——他们的管理方式，其实只是初任主管阶段的放大版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杠杆率的反脆弱检验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用「反脆弱」概念作为检验工具：检验一个部门经理的杠杆率是否真正转化成系统能力，最简单的方法是看部门在经理休假或临时缺席两周时的运转状态。如果部门产出明显下滑、决策大量积压等待经理回来处理，说明这位经理建立的更多是个人权威的杠杆，会随经理在场与否剧烈波动；如果部门运转基本如常，说明真正建立的是系统能力的杠杆，具有持续性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三层框架回顾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1388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1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19656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杠杆率公式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0" y="17830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部门产出主要由经理的管理行为撬动的他人产出决定，决策、信息传递、培训是三类公认的高杠杆行为。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086100"/>
            <a:ext cx="420624" cy="420624"/>
          </a:xfrm>
          <a:prstGeom prst="ellipse">
            <a:avLst/>
          </a:prstGeom>
          <a:solidFill>
            <a:srgbClr val="9C553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861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944368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杠杆率边界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290779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警惕三种虚假杠杆（形式化信息传递、失联式授权、替代性救火），杠杆率思维本身也有边界，真正的危机情境需要有意识地暂时搁置它。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2EE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10812"/>
            <a:ext cx="420624" cy="420624"/>
          </a:xfrm>
          <a:prstGeom prst="ellipse">
            <a:avLst/>
          </a:prstGeom>
          <a:solidFill>
            <a:srgbClr val="4F6F5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069080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杠杆率跃迁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403250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从人盯人的监督模式，跃迁到系统设计的机制模式，是部门经理这一层级最核心的认知升级。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经理的产出，不是他做了多少，而是他撬动了多少。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课后诊断 · 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课后诊断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892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对应理论框架一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描述一位经理在产线异常处理中的具体行为，要求判断该行为属于决策、信息传递、培训中的哪一类，还是属于虚假杠杆，并说明判断依据。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36976"/>
            <a:ext cx="1106424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438144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34381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对应理论框架二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803904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描述一位经理「群发一份详尽的流程说明文档并要求全员阅读确认」的行为，要求判断这是否是虚假杠杆，并说明诊断依据。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82312"/>
            <a:ext cx="1106424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98348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83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4983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对应边界反例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515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描述一个介于日常问题与真正危机之间的模糊场景，要求判断此时经理该用杠杆率思维（委派+决策仲裁）还是该暂时搁置它亲自下场，并说明判断标准。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课后诊断 · 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237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课后诊断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场景四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892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对应延伸视角一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10515600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列出某位经理近期的若干管理行为，要求判断这位经理的杠杆率来源主要还停留在人盯人模式，还是已经跃迁到系统设计模式，并指出具体证据。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09644"/>
            <a:ext cx="11064240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4210812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108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42108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综合场景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576572"/>
            <a:ext cx="10515600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一位经理在一次具体危机中前期处理正确（判断情境已升级为危机，暂时搁置杠杆率思维亲自下场处理），但危机解决后没有把这次处理经验转化为新的预警规则或流程改进，导致类似问题大概率会再次发生。要求判断这位经理在杠杆率框架的哪个环节出现了缺口。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CIM管理者培训体系 · 层级二 · 部门经理  ·  M1 管理杠杆率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管理杠杆率</dc:title>
  <dc:subject>PptxGenJS Presentation</dc:subject>
  <dc:creator>CIM管理者培训体系</dc:creator>
  <cp:lastModifiedBy>CIM管理者培训体系</cp:lastModifiedBy>
  <cp:revision>1</cp:revision>
  <dcterms:created xsi:type="dcterms:W3CDTF">2026-06-21T08:22:26Z</dcterms:created>
  <dcterms:modified xsi:type="dcterms:W3CDTF">2026-06-21T08:22:26Z</dcterms:modified>
</cp:coreProperties>
</file>