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场景一（对应理论框架一）诊断指引：考察学员能否识别阈值效应和责任稀释两个机制。正确回答应指出平均分配很可能让所有项目都落在最低有效投入阈值以下，且没有人能为最终的失败负责，对应反面案例的负面机制。
场景二（对应理论框架二）诊断指引：正确回答应指出缺少管理被拒绝方的预期与关系这一步，讲清依据只是第二步，没有后续跟进容易让对方认为这件事被永久搁置，这正是误区二的典型复现。
场景三（对应边界反例）诊断指引：考察学员是否把仲裁框架当成了不分情境的教条。理想回答应提到自己掌握的信息是否足够支撑这次裁决这一核心判断维度，并能提出应对方式（暂缓裁决、向上确认）。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场景四（对应延伸视角一）诊断指引：考察学员能否区分管理单一请求的入口和管理多个请求之间的竞争关系这两种不同复杂度的能力。正确回答应指出单一需求场景下的方法不足以处理多方资源竞争，后者需要额外的排序和非对称分配机制。
场景五（综合场景）诊断指引：本模块难度最高的诊断题，检验学员是否理解了程序正义的核心——仲裁标准如果只是在结果公布时才说明，而不是从一开始就公开评分维度和规则，会让整个过程显得像是先有结论再找理由，即使依据本身合理，也很难被感知为公正透明，这正是程序正义和事后解释之间的关键差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1005840"/>
            <a:ext cx="10515600" cy="365760"/>
          </a:xfrm>
          <a:prstGeom prst="rect">
            <a:avLst/>
          </a:prstGeom>
          <a:noFill/>
          <a:ln/>
        </p:spPr>
        <p:txBody>
          <a:bodyPr wrap="square" lIns="0" tIns="0" rIns="0" bIns="0" rtlCol="0" anchor="ctr"/>
          <a:lstStyle/>
          <a:p>
            <a:pPr indent="0" marL="0">
              <a:buNone/>
            </a:pPr>
            <a:r>
              <a:rPr lang="en-US" sz="1400" b="1" spc="200" kern="0" dirty="0">
                <a:solidFill>
                  <a:srgbClr val="9C5536"/>
                </a:solidFill>
                <a:latin typeface="Calibri" pitchFamily="34" charset="0"/>
                <a:ea typeface="Calibri" pitchFamily="34" charset="-122"/>
                <a:cs typeface="Calibri" pitchFamily="34" charset="-120"/>
              </a:rPr>
              <a:t>CIM管理者培训体系 · 层级二 · 部门经理</a:t>
            </a:r>
            <a:endParaRPr lang="en-US" sz="1400" dirty="0"/>
          </a:p>
        </p:txBody>
      </p:sp>
      <p:sp>
        <p:nvSpPr>
          <p:cNvPr id="3" name="Text 1"/>
          <p:cNvSpPr/>
          <p:nvPr/>
        </p:nvSpPr>
        <p:spPr>
          <a:xfrm>
            <a:off x="822960" y="1417320"/>
            <a:ext cx="3657600" cy="457200"/>
          </a:xfrm>
          <a:prstGeom prst="rect">
            <a:avLst/>
          </a:prstGeom>
          <a:noFill/>
          <a:ln/>
        </p:spPr>
        <p:txBody>
          <a:bodyPr wrap="square" lIns="0" tIns="0" rIns="0" bIns="0" rtlCol="0" anchor="ctr"/>
          <a:lstStyle/>
          <a:p>
            <a:pPr indent="0" marL="0">
              <a:buNone/>
            </a:pPr>
            <a:r>
              <a:rPr lang="en-US" sz="2000" dirty="0">
                <a:solidFill>
                  <a:srgbClr val="7C7F84"/>
                </a:solidFill>
                <a:latin typeface="Cambria" pitchFamily="34" charset="0"/>
                <a:ea typeface="Cambria" pitchFamily="34" charset="-122"/>
                <a:cs typeface="Cambria" pitchFamily="34" charset="-120"/>
              </a:rPr>
              <a:t>M5</a:t>
            </a:r>
            <a:endParaRPr lang="en-US" sz="2000" dirty="0"/>
          </a:p>
        </p:txBody>
      </p:sp>
      <p:sp>
        <p:nvSpPr>
          <p:cNvPr id="4" name="Text 2"/>
          <p:cNvSpPr/>
          <p:nvPr/>
        </p:nvSpPr>
        <p:spPr>
          <a:xfrm>
            <a:off x="822960" y="2286000"/>
            <a:ext cx="10515600" cy="1463040"/>
          </a:xfrm>
          <a:prstGeom prst="rect">
            <a:avLst/>
          </a:prstGeom>
          <a:noFill/>
          <a:ln/>
        </p:spPr>
        <p:txBody>
          <a:bodyPr wrap="square" lIns="0" tIns="0" rIns="0" bIns="0" rtlCol="0" anchor="ctr"/>
          <a:lstStyle/>
          <a:p>
            <a:pPr indent="0" marL="0">
              <a:buNone/>
            </a:pPr>
            <a:r>
              <a:rPr lang="en-US" sz="5600" b="1" dirty="0">
                <a:solidFill>
                  <a:srgbClr val="1B2A4A"/>
                </a:solidFill>
                <a:latin typeface="Cambria" pitchFamily="34" charset="0"/>
                <a:ea typeface="Cambria" pitchFamily="34" charset="-122"/>
                <a:cs typeface="Cambria" pitchFamily="34" charset="-120"/>
              </a:rPr>
              <a:t>需求仲裁</a:t>
            </a:r>
            <a:endParaRPr lang="en-US" sz="5600" dirty="0"/>
          </a:p>
        </p:txBody>
      </p:sp>
      <p:sp>
        <p:nvSpPr>
          <p:cNvPr id="5" name="Text 3"/>
          <p:cNvSpPr/>
          <p:nvPr/>
        </p:nvSpPr>
        <p:spPr>
          <a:xfrm>
            <a:off x="822960" y="3703320"/>
            <a:ext cx="10515600" cy="548640"/>
          </a:xfrm>
          <a:prstGeom prst="rect">
            <a:avLst/>
          </a:prstGeom>
          <a:noFill/>
          <a:ln/>
        </p:spPr>
        <p:txBody>
          <a:bodyPr wrap="square" lIns="0" tIns="0" rIns="0" bIns="0" rtlCol="0" anchor="ctr"/>
          <a:lstStyle/>
          <a:p>
            <a:pPr indent="0" marL="0">
              <a:buNone/>
            </a:pPr>
            <a:r>
              <a:rPr lang="en-US" sz="2200" i="1" dirty="0">
                <a:solidFill>
                  <a:srgbClr val="9C5536"/>
                </a:solidFill>
                <a:latin typeface="Cambria" pitchFamily="34" charset="0"/>
                <a:ea typeface="Cambria" pitchFamily="34" charset="-122"/>
                <a:cs typeface="Cambria" pitchFamily="34" charset="-120"/>
              </a:rPr>
              <a:t>让所有人看懂你为什么这样决定</a:t>
            </a:r>
            <a:endParaRPr lang="en-US" sz="2200" dirty="0"/>
          </a:p>
        </p:txBody>
      </p:sp>
      <p:sp>
        <p:nvSpPr>
          <p:cNvPr id="6" name="Shape 4"/>
          <p:cNvSpPr/>
          <p:nvPr/>
        </p:nvSpPr>
        <p:spPr>
          <a:xfrm>
            <a:off x="822960" y="4617720"/>
            <a:ext cx="7863840" cy="1280160"/>
          </a:xfrm>
          <a:prstGeom prst="roundRect">
            <a:avLst>
              <a:gd name="adj" fmla="val 5714"/>
            </a:avLst>
          </a:prstGeom>
          <a:solidFill>
            <a:srgbClr val="EEF1F6"/>
          </a:solidFill>
          <a:ln/>
          <a:effectLst>
            <a:outerShdw sx="100000" sy="100000" kx="0" ky="0" algn="bl" rotWithShape="0" blurRad="101600" dist="38100" dir="5400000">
              <a:srgbClr val="1B2A4A">
                <a:alpha val="10000"/>
              </a:srgbClr>
            </a:outerShdw>
          </a:effectLst>
        </p:spPr>
      </p:sp>
      <p:sp>
        <p:nvSpPr>
          <p:cNvPr id="7" name="Text 5"/>
          <p:cNvSpPr/>
          <p:nvPr/>
        </p:nvSpPr>
        <p:spPr>
          <a:xfrm>
            <a:off x="1143000" y="4617720"/>
            <a:ext cx="7223760" cy="1280160"/>
          </a:xfrm>
          <a:prstGeom prst="rect">
            <a:avLst/>
          </a:prstGeom>
          <a:noFill/>
          <a:ln/>
        </p:spPr>
        <p:txBody>
          <a:bodyPr wrap="square" lIns="0" tIns="0" rIns="0" bIns="0" rtlCol="0" anchor="ctr"/>
          <a:lstStyle/>
          <a:p>
            <a:pPr algn="l" indent="0" marL="0">
              <a:buNone/>
            </a:pPr>
            <a:r>
              <a:rPr lang="en-US" sz="1800" i="1" dirty="0">
                <a:solidFill>
                  <a:srgbClr val="1B2A4A"/>
                </a:solidFill>
                <a:latin typeface="Cambria" pitchFamily="34" charset="0"/>
                <a:ea typeface="Cambria" pitchFamily="34" charset="-122"/>
                <a:cs typeface="Cambria" pitchFamily="34" charset="-120"/>
              </a:rPr>
              <a:t>仲裁不是让所有人都满意，而是让所有人都看懂你为什么这样决定。</a:t>
            </a:r>
            <a:endParaRPr lang="en-US" sz="1800" dirty="0"/>
          </a:p>
        </p:txBody>
      </p:sp>
      <p:sp>
        <p:nvSpPr>
          <p:cNvPr id="8" name="Text 6"/>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M5 需求仲裁</a:t>
            </a:r>
            <a:endParaRPr lang="en-US" sz="900" dirty="0"/>
          </a:p>
        </p:txBody>
      </p:sp>
      <p:sp>
        <p:nvSpPr>
          <p:cNvPr id="9" name="Text 7"/>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 / 17</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现象</a:t>
            </a:r>
            <a:endParaRPr lang="en-US" sz="1300" dirty="0"/>
          </a:p>
        </p:txBody>
      </p:sp>
      <p:sp>
        <p:nvSpPr>
          <p:cNvPr id="3" name="Text 1"/>
          <p:cNvSpPr/>
          <p:nvPr/>
        </p:nvSpPr>
        <p:spPr>
          <a:xfrm>
            <a:off x="548640" y="722376"/>
            <a:ext cx="11064240" cy="777240"/>
          </a:xfrm>
          <a:prstGeom prst="rect">
            <a:avLst/>
          </a:prstGeom>
          <a:noFill/>
          <a:ln/>
        </p:spPr>
        <p:txBody>
          <a:bodyPr wrap="square" lIns="0" tIns="0" rIns="0" bIns="0" rtlCol="0" anchor="ctr"/>
          <a:lstStyle/>
          <a:p>
            <a:pPr indent="0" marL="0">
              <a:buNone/>
            </a:pPr>
            <a:r>
              <a:rPr lang="en-US" sz="2600" b="1" dirty="0">
                <a:solidFill>
                  <a:srgbClr val="1B2A4A"/>
                </a:solidFill>
                <a:latin typeface="Cambria" pitchFamily="34" charset="0"/>
                <a:ea typeface="Cambria" pitchFamily="34" charset="-122"/>
                <a:cs typeface="Cambria" pitchFamily="34" charset="-120"/>
              </a:rPr>
              <a:t>同样面对三个抢资源的需求方，结局完全相反</a:t>
            </a:r>
            <a:endParaRPr lang="en-US" sz="2600" dirty="0"/>
          </a:p>
        </p:txBody>
      </p:sp>
      <p:sp>
        <p:nvSpPr>
          <p:cNvPr id="4" name="Shape 2"/>
          <p:cNvSpPr/>
          <p:nvPr/>
        </p:nvSpPr>
        <p:spPr>
          <a:xfrm>
            <a:off x="548640" y="1691640"/>
            <a:ext cx="5349240" cy="3246120"/>
          </a:xfrm>
          <a:prstGeom prst="roundRect">
            <a:avLst>
              <a:gd name="adj" fmla="val 2254"/>
            </a:avLst>
          </a:prstGeom>
          <a:solidFill>
            <a:srgbClr val="F5EEEA"/>
          </a:solidFill>
          <a:ln/>
          <a:effectLst>
            <a:outerShdw sx="100000" sy="100000" kx="0" ky="0" algn="bl" rotWithShape="0" blurRad="101600" dist="38100" dir="5400000">
              <a:srgbClr val="1B2A4A">
                <a:alpha val="10000"/>
              </a:srgbClr>
            </a:outerShdw>
          </a:effectLst>
        </p:spPr>
      </p:sp>
      <p:sp>
        <p:nvSpPr>
          <p:cNvPr id="5" name="Text 3"/>
          <p:cNvSpPr/>
          <p:nvPr/>
        </p:nvSpPr>
        <p:spPr>
          <a:xfrm>
            <a:off x="868680" y="1965960"/>
            <a:ext cx="2743200" cy="411480"/>
          </a:xfrm>
          <a:prstGeom prst="rect">
            <a:avLst/>
          </a:prstGeom>
          <a:noFill/>
          <a:ln/>
        </p:spPr>
        <p:txBody>
          <a:bodyPr wrap="square" lIns="0" tIns="0" rIns="0" bIns="0" rtlCol="0" anchor="ctr"/>
          <a:lstStyle/>
          <a:p>
            <a:pPr indent="0" marL="0">
              <a:buNone/>
            </a:pPr>
            <a:r>
              <a:rPr lang="en-US" sz="2000" b="1" dirty="0">
                <a:solidFill>
                  <a:srgbClr val="1B2A4A"/>
                </a:solidFill>
                <a:latin typeface="Cambria" pitchFamily="34" charset="0"/>
                <a:ea typeface="Cambria" pitchFamily="34" charset="-122"/>
                <a:cs typeface="Cambria" pitchFamily="34" charset="-120"/>
              </a:rPr>
              <a:t>I经理</a:t>
            </a:r>
            <a:endParaRPr lang="en-US" sz="2000" dirty="0"/>
          </a:p>
        </p:txBody>
      </p:sp>
      <p:sp>
        <p:nvSpPr>
          <p:cNvPr id="6" name="Shape 4"/>
          <p:cNvSpPr/>
          <p:nvPr/>
        </p:nvSpPr>
        <p:spPr>
          <a:xfrm>
            <a:off x="4389120" y="1984248"/>
            <a:ext cx="1188720" cy="292608"/>
          </a:xfrm>
          <a:prstGeom prst="roundRect">
            <a:avLst>
              <a:gd name="adj" fmla="val 18750"/>
            </a:avLst>
          </a:prstGeom>
          <a:solidFill>
            <a:srgbClr val="9C5536"/>
          </a:solidFill>
          <a:ln/>
        </p:spPr>
      </p:sp>
      <p:sp>
        <p:nvSpPr>
          <p:cNvPr id="7" name="Text 5"/>
          <p:cNvSpPr/>
          <p:nvPr/>
        </p:nvSpPr>
        <p:spPr>
          <a:xfrm>
            <a:off x="4389120" y="1984248"/>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平均分配</a:t>
            </a:r>
            <a:endParaRPr lang="en-US" sz="1100" dirty="0"/>
          </a:p>
        </p:txBody>
      </p:sp>
      <p:sp>
        <p:nvSpPr>
          <p:cNvPr id="8" name="Text 6"/>
          <p:cNvSpPr/>
          <p:nvPr/>
        </p:nvSpPr>
        <p:spPr>
          <a:xfrm>
            <a:off x="868680" y="2560320"/>
            <a:ext cx="4709160" cy="2103120"/>
          </a:xfrm>
          <a:prstGeom prst="rect">
            <a:avLst/>
          </a:prstGeom>
          <a:noFill/>
          <a:ln/>
        </p:spPr>
        <p:txBody>
          <a:bodyPr wrap="square" lIns="0" tIns="0" rIns="0" bIns="0" rtlCol="0" anchor="t"/>
          <a:lstStyle/>
          <a:p>
            <a:pPr algn="l" indent="0" marL="0">
              <a:lnSpc>
                <a:spcPct val="125000"/>
              </a:lnSpc>
              <a:buNone/>
            </a:pPr>
            <a:r>
              <a:rPr lang="en-US" sz="1350" dirty="0">
                <a:solidFill>
                  <a:srgbClr val="33363B"/>
                </a:solidFill>
                <a:latin typeface="Calibri" pitchFamily="34" charset="0"/>
                <a:ea typeface="Calibri" pitchFamily="34" charset="-122"/>
                <a:cs typeface="Calibri" pitchFamily="34" charset="-120"/>
              </a:rPr>
              <a:t>面对三个跨部门同时提出的紧急需求，把现有产能平均分给三方，每个需求大约分到三分之一资源。两个月后，三个项目全部延期，没有一个达到可用标准，三个需求方都不满意，都觉得自己的项目明明该优先却被拖累。</a:t>
            </a:r>
            <a:endParaRPr lang="en-US" sz="1350" dirty="0"/>
          </a:p>
        </p:txBody>
      </p:sp>
      <p:sp>
        <p:nvSpPr>
          <p:cNvPr id="9" name="Shape 7"/>
          <p:cNvSpPr/>
          <p:nvPr/>
        </p:nvSpPr>
        <p:spPr>
          <a:xfrm>
            <a:off x="6263640" y="1691640"/>
            <a:ext cx="5349240" cy="3246120"/>
          </a:xfrm>
          <a:prstGeom prst="roundRect">
            <a:avLst>
              <a:gd name="adj" fmla="val 2254"/>
            </a:avLst>
          </a:prstGeom>
          <a:solidFill>
            <a:srgbClr val="EEF2EE"/>
          </a:solidFill>
          <a:ln/>
          <a:effectLst>
            <a:outerShdw sx="100000" sy="100000" kx="0" ky="0" algn="bl" rotWithShape="0" blurRad="101600" dist="38100" dir="5400000">
              <a:srgbClr val="1B2A4A">
                <a:alpha val="10000"/>
              </a:srgbClr>
            </a:outerShdw>
          </a:effectLst>
        </p:spPr>
      </p:sp>
      <p:sp>
        <p:nvSpPr>
          <p:cNvPr id="10" name="Text 8"/>
          <p:cNvSpPr/>
          <p:nvPr/>
        </p:nvSpPr>
        <p:spPr>
          <a:xfrm>
            <a:off x="6583680" y="1965960"/>
            <a:ext cx="2743200" cy="411480"/>
          </a:xfrm>
          <a:prstGeom prst="rect">
            <a:avLst/>
          </a:prstGeom>
          <a:noFill/>
          <a:ln/>
        </p:spPr>
        <p:txBody>
          <a:bodyPr wrap="square" lIns="0" tIns="0" rIns="0" bIns="0" rtlCol="0" anchor="ctr"/>
          <a:lstStyle/>
          <a:p>
            <a:pPr indent="0" marL="0">
              <a:buNone/>
            </a:pPr>
            <a:r>
              <a:rPr lang="en-US" sz="2000" b="1" dirty="0">
                <a:solidFill>
                  <a:srgbClr val="1B2A4A"/>
                </a:solidFill>
                <a:latin typeface="Cambria" pitchFamily="34" charset="0"/>
                <a:ea typeface="Cambria" pitchFamily="34" charset="-122"/>
                <a:cs typeface="Cambria" pitchFamily="34" charset="-120"/>
              </a:rPr>
              <a:t>J经理</a:t>
            </a:r>
            <a:endParaRPr lang="en-US" sz="2000" dirty="0"/>
          </a:p>
        </p:txBody>
      </p:sp>
      <p:sp>
        <p:nvSpPr>
          <p:cNvPr id="11" name="Shape 9"/>
          <p:cNvSpPr/>
          <p:nvPr/>
        </p:nvSpPr>
        <p:spPr>
          <a:xfrm>
            <a:off x="10104120" y="1984248"/>
            <a:ext cx="1188720" cy="292608"/>
          </a:xfrm>
          <a:prstGeom prst="roundRect">
            <a:avLst>
              <a:gd name="adj" fmla="val 18750"/>
            </a:avLst>
          </a:prstGeom>
          <a:solidFill>
            <a:srgbClr val="4F6F52"/>
          </a:solidFill>
          <a:ln/>
        </p:spPr>
      </p:sp>
      <p:sp>
        <p:nvSpPr>
          <p:cNvPr id="12" name="Text 10"/>
          <p:cNvSpPr/>
          <p:nvPr/>
        </p:nvSpPr>
        <p:spPr>
          <a:xfrm>
            <a:off x="10104120" y="1984248"/>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明确取舍</a:t>
            </a:r>
            <a:endParaRPr lang="en-US" sz="1100" dirty="0"/>
          </a:p>
        </p:txBody>
      </p:sp>
      <p:sp>
        <p:nvSpPr>
          <p:cNvPr id="13" name="Text 11"/>
          <p:cNvSpPr/>
          <p:nvPr/>
        </p:nvSpPr>
        <p:spPr>
          <a:xfrm>
            <a:off x="6583680" y="2560320"/>
            <a:ext cx="4709160" cy="2103120"/>
          </a:xfrm>
          <a:prstGeom prst="rect">
            <a:avLst/>
          </a:prstGeom>
          <a:noFill/>
          <a:ln/>
        </p:spPr>
        <p:txBody>
          <a:bodyPr wrap="square" lIns="0" tIns="0" rIns="0" bIns="0" rtlCol="0" anchor="t"/>
          <a:lstStyle/>
          <a:p>
            <a:pPr algn="l" indent="0" marL="0">
              <a:lnSpc>
                <a:spcPct val="125000"/>
              </a:lnSpc>
              <a:buNone/>
            </a:pPr>
            <a:r>
              <a:rPr lang="en-US" sz="1350" dirty="0">
                <a:solidFill>
                  <a:srgbClr val="33363B"/>
                </a:solidFill>
                <a:latin typeface="Calibri" pitchFamily="34" charset="0"/>
                <a:ea typeface="Calibri" pitchFamily="34" charset="-122"/>
                <a:cs typeface="Calibri" pitchFamily="34" charset="-120"/>
              </a:rPr>
              <a:t>面对同样的局面，用统一标准给三个需求打分排序，决定全力支持其中一个，明确告知另外两个需求方现在的资源状况和预计窗口，并约定了下次评估时间点。两个月后，被优先支持的项目按时交付，另外两个需求方虽然这次没被满足，但表示理解。</a:t>
            </a:r>
            <a:endParaRPr lang="en-US" sz="1350" dirty="0"/>
          </a:p>
        </p:txBody>
      </p:sp>
      <p:sp>
        <p:nvSpPr>
          <p:cNvPr id="14" name="Shape 12"/>
          <p:cNvSpPr/>
          <p:nvPr/>
        </p:nvSpPr>
        <p:spPr>
          <a:xfrm>
            <a:off x="548640" y="5166360"/>
            <a:ext cx="11064240" cy="914400"/>
          </a:xfrm>
          <a:prstGeom prst="roundRect">
            <a:avLst>
              <a:gd name="adj" fmla="val 8000"/>
            </a:avLst>
          </a:prstGeom>
          <a:solidFill>
            <a:srgbClr val="EEF1F6"/>
          </a:solidFill>
          <a:ln/>
          <a:effectLst>
            <a:outerShdw sx="100000" sy="100000" kx="0" ky="0" algn="bl" rotWithShape="0" blurRad="101600" dist="38100" dir="5400000">
              <a:srgbClr val="1B2A4A">
                <a:alpha val="10000"/>
              </a:srgbClr>
            </a:outerShdw>
          </a:effectLst>
        </p:spPr>
      </p:sp>
      <p:sp>
        <p:nvSpPr>
          <p:cNvPr id="15" name="Text 13"/>
          <p:cNvSpPr/>
          <p:nvPr/>
        </p:nvSpPr>
        <p:spPr>
          <a:xfrm>
            <a:off x="868680" y="5166360"/>
            <a:ext cx="10424160" cy="914400"/>
          </a:xfrm>
          <a:prstGeom prst="rect">
            <a:avLst/>
          </a:prstGeom>
          <a:noFill/>
          <a:ln/>
        </p:spPr>
        <p:txBody>
          <a:bodyPr wrap="square" lIns="0" tIns="0" rIns="0" bIns="0" rtlCol="0" anchor="ctr"/>
          <a:lstStyle/>
          <a:p>
            <a:pPr algn="l" indent="0" marL="0">
              <a:buNone/>
            </a:pPr>
            <a:r>
              <a:rPr lang="en-US" sz="1550" i="1" dirty="0">
                <a:solidFill>
                  <a:srgbClr val="1B2A4A"/>
                </a:solidFill>
                <a:latin typeface="Cambria" pitchFamily="34" charset="0"/>
                <a:ea typeface="Cambria" pitchFamily="34" charset="-122"/>
                <a:cs typeface="Cambria" pitchFamily="34" charset="-120"/>
              </a:rPr>
              <a:t>两人都想尽量满足所有人，为什么最后的满意度和实际产出完全相反？</a:t>
            </a:r>
            <a:endParaRPr lang="en-US" sz="1550" dirty="0"/>
          </a:p>
        </p:txBody>
      </p:sp>
      <p:sp>
        <p:nvSpPr>
          <p:cNvPr id="16" name="Text 14"/>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M5 需求仲裁</a:t>
            </a:r>
            <a:endParaRPr lang="en-US" sz="900" dirty="0"/>
          </a:p>
        </p:txBody>
      </p:sp>
      <p:sp>
        <p:nvSpPr>
          <p:cNvPr id="17" name="Text 15"/>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2 / 17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问题</a:t>
            </a:r>
            <a:endParaRPr lang="en-US" sz="1300" dirty="0"/>
          </a:p>
        </p:txBody>
      </p:sp>
      <p:sp>
        <p:nvSpPr>
          <p:cNvPr id="3" name="Text 1"/>
          <p:cNvSpPr/>
          <p:nvPr/>
        </p:nvSpPr>
        <p:spPr>
          <a:xfrm>
            <a:off x="548640" y="722376"/>
            <a:ext cx="11064240" cy="914400"/>
          </a:xfrm>
          <a:prstGeom prst="rect">
            <a:avLst/>
          </a:prstGeom>
          <a:noFill/>
          <a:ln/>
        </p:spPr>
        <p:txBody>
          <a:bodyPr wrap="square" lIns="0" tIns="0" rIns="0" bIns="0" rtlCol="0" anchor="ctr"/>
          <a:lstStyle/>
          <a:p>
            <a:pPr indent="0" marL="0">
              <a:buNone/>
            </a:pPr>
            <a:r>
              <a:rPr lang="en-US" sz="2500" b="1" dirty="0">
                <a:solidFill>
                  <a:srgbClr val="1B2A4A"/>
                </a:solidFill>
                <a:latin typeface="Cambria" pitchFamily="34" charset="0"/>
                <a:ea typeface="Cambria" pitchFamily="34" charset="-122"/>
                <a:cs typeface="Cambria" pitchFamily="34" charset="-120"/>
              </a:rPr>
              <a:t>仲裁的难点不是「该选谁」，而是「敢不敢选」</a:t>
            </a:r>
            <a:endParaRPr lang="en-US" sz="2500" dirty="0"/>
          </a:p>
        </p:txBody>
      </p:sp>
      <p:sp>
        <p:nvSpPr>
          <p:cNvPr id="4" name="Text 2"/>
          <p:cNvSpPr/>
          <p:nvPr/>
        </p:nvSpPr>
        <p:spPr>
          <a:xfrm>
            <a:off x="548640" y="1783080"/>
            <a:ext cx="11064240" cy="960120"/>
          </a:xfrm>
          <a:prstGeom prst="rect">
            <a:avLst/>
          </a:prstGeom>
          <a:noFill/>
          <a:ln/>
        </p:spPr>
        <p:txBody>
          <a:bodyPr wrap="square" lIns="0" tIns="0" rIns="0" bIns="0" rtlCol="0" anchor="ctr"/>
          <a:lstStyle/>
          <a:p>
            <a:pPr indent="0" marL="0">
              <a:lnSpc>
                <a:spcPct val="130000"/>
              </a:lnSpc>
              <a:buNone/>
            </a:pPr>
            <a:r>
              <a:rPr lang="en-US" sz="1400" dirty="0">
                <a:solidFill>
                  <a:srgbClr val="33363B"/>
                </a:solidFill>
                <a:latin typeface="Calibri" pitchFamily="34" charset="0"/>
                <a:ea typeface="Calibri" pitchFamily="34" charset="-122"/>
                <a:cs typeface="Calibri" pitchFamily="34" charset="-120"/>
              </a:rPr>
              <a:t>部门经理面对多个竞争性需求时，最大的心理障碍不是缺乏判断标准，而是不敢做出明确的取舍——因为明确拒绝某个需求方，意味着要直接承受对方的不满和后续的人际摩擦，而平均分配可以把这种摩擦延后、分散、模糊化。</a:t>
            </a:r>
            <a:endParaRPr lang="en-US" sz="1400" dirty="0"/>
          </a:p>
        </p:txBody>
      </p:sp>
      <p:sp>
        <p:nvSpPr>
          <p:cNvPr id="5" name="Shape 3"/>
          <p:cNvSpPr/>
          <p:nvPr/>
        </p:nvSpPr>
        <p:spPr>
          <a:xfrm>
            <a:off x="548640" y="2834640"/>
            <a:ext cx="11064240" cy="1143000"/>
          </a:xfrm>
          <a:prstGeom prst="roundRect">
            <a:avLst>
              <a:gd name="adj" fmla="val 6400"/>
            </a:avLst>
          </a:prstGeom>
          <a:solidFill>
            <a:srgbClr val="EEF1F6"/>
          </a:solidFill>
          <a:ln/>
          <a:effectLst>
            <a:outerShdw sx="100000" sy="100000" kx="0" ky="0" algn="bl" rotWithShape="0" blurRad="101600" dist="38100" dir="5400000">
              <a:srgbClr val="1B2A4A">
                <a:alpha val="10000"/>
              </a:srgbClr>
            </a:outerShdw>
          </a:effectLst>
        </p:spPr>
      </p:sp>
      <p:sp>
        <p:nvSpPr>
          <p:cNvPr id="6" name="Text 4"/>
          <p:cNvSpPr/>
          <p:nvPr/>
        </p:nvSpPr>
        <p:spPr>
          <a:xfrm>
            <a:off x="868680" y="2971800"/>
            <a:ext cx="10424160" cy="896112"/>
          </a:xfrm>
          <a:prstGeom prst="rect">
            <a:avLst/>
          </a:prstGeom>
          <a:noFill/>
          <a:ln/>
        </p:spPr>
        <p:txBody>
          <a:bodyPr wrap="square" lIns="0" tIns="0" rIns="0" bIns="0" rtlCol="0" anchor="ctr"/>
          <a:lstStyle/>
          <a:p>
            <a:pPr indent="0" marL="0">
              <a:lnSpc>
                <a:spcPct val="120000"/>
              </a:lnSpc>
              <a:buNone/>
            </a:pPr>
            <a:r>
              <a:rPr lang="en-US" sz="1450" i="1" dirty="0">
                <a:solidFill>
                  <a:srgbClr val="1B2A4A"/>
                </a:solidFill>
                <a:latin typeface="Cambria" pitchFamily="34" charset="0"/>
                <a:ea typeface="Cambria" pitchFamily="34" charset="-122"/>
                <a:cs typeface="Cambria" pitchFamily="34" charset="-120"/>
              </a:rPr>
              <a:t>本模块要建立的认知：仲裁的价值恰恰在于显性化稀缺性——让所有需求方都清楚地看到资源是有限的、取舍是必然的，而不是用平均分配制造资源好像够用的错觉。</a:t>
            </a:r>
            <a:endParaRPr lang="en-US" sz="1450" dirty="0"/>
          </a:p>
        </p:txBody>
      </p:sp>
      <p:sp>
        <p:nvSpPr>
          <p:cNvPr id="7" name="Text 5"/>
          <p:cNvSpPr/>
          <p:nvPr/>
        </p:nvSpPr>
        <p:spPr>
          <a:xfrm>
            <a:off x="548640" y="4206240"/>
            <a:ext cx="5486400" cy="320040"/>
          </a:xfrm>
          <a:prstGeom prst="rect">
            <a:avLst/>
          </a:prstGeom>
          <a:noFill/>
          <a:ln/>
        </p:spPr>
        <p:txBody>
          <a:bodyPr wrap="square" lIns="0" tIns="0" rIns="0" bIns="0" rtlCol="0" anchor="ctr"/>
          <a:lstStyle/>
          <a:p>
            <a:pPr indent="0" marL="0">
              <a:buNone/>
            </a:pPr>
            <a:r>
              <a:rPr lang="en-US" sz="1250" b="1" spc="100" kern="0" dirty="0">
                <a:solidFill>
                  <a:srgbClr val="9C5536"/>
                </a:solidFill>
                <a:latin typeface="Calibri" pitchFamily="34" charset="0"/>
                <a:ea typeface="Calibri" pitchFamily="34" charset="-122"/>
                <a:cs typeface="Calibri" pitchFamily="34" charset="-120"/>
              </a:rPr>
              <a:t>本讲将回答三个问题</a:t>
            </a:r>
            <a:endParaRPr lang="en-US" sz="1250" dirty="0"/>
          </a:p>
        </p:txBody>
      </p:sp>
      <p:sp>
        <p:nvSpPr>
          <p:cNvPr id="8" name="Shape 6"/>
          <p:cNvSpPr/>
          <p:nvPr/>
        </p:nvSpPr>
        <p:spPr>
          <a:xfrm>
            <a:off x="548640" y="4572000"/>
            <a:ext cx="420624" cy="420624"/>
          </a:xfrm>
          <a:prstGeom prst="ellipse">
            <a:avLst/>
          </a:prstGeom>
          <a:solidFill>
            <a:srgbClr val="9C5536"/>
          </a:solidFill>
          <a:ln/>
        </p:spPr>
      </p:sp>
      <p:sp>
        <p:nvSpPr>
          <p:cNvPr id="9" name="Text 7"/>
          <p:cNvSpPr/>
          <p:nvPr/>
        </p:nvSpPr>
        <p:spPr>
          <a:xfrm>
            <a:off x="548640" y="4572000"/>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10" name="Text 8"/>
          <p:cNvSpPr/>
          <p:nvPr/>
        </p:nvSpPr>
        <p:spPr>
          <a:xfrm>
            <a:off x="1143000" y="4544568"/>
            <a:ext cx="10424160" cy="621792"/>
          </a:xfrm>
          <a:prstGeom prst="rect">
            <a:avLst/>
          </a:prstGeom>
          <a:noFill/>
          <a:ln/>
        </p:spPr>
        <p:txBody>
          <a:bodyPr wrap="square" lIns="0" tIns="0" rIns="0" bIns="0" rtlCol="0" anchor="ctr"/>
          <a:lstStyle/>
          <a:p>
            <a:pPr indent="0" marL="0">
              <a:buNone/>
            </a:pPr>
            <a:r>
              <a:rPr lang="en-US" sz="1350" dirty="0">
                <a:solidFill>
                  <a:srgbClr val="33363B"/>
                </a:solidFill>
                <a:latin typeface="Calibri" pitchFamily="34" charset="0"/>
                <a:ea typeface="Calibri" pitchFamily="34" charset="-122"/>
                <a:cs typeface="Calibri" pitchFamily="34" charset="-120"/>
              </a:rPr>
              <a:t>为什么平均分配看起来公平，实际上是对所有需求方都不负责任？</a:t>
            </a:r>
            <a:endParaRPr lang="en-US" sz="1350" dirty="0"/>
          </a:p>
        </p:txBody>
      </p:sp>
      <p:sp>
        <p:nvSpPr>
          <p:cNvPr id="11" name="Shape 9"/>
          <p:cNvSpPr/>
          <p:nvPr/>
        </p:nvSpPr>
        <p:spPr>
          <a:xfrm>
            <a:off x="548640" y="5248656"/>
            <a:ext cx="420624" cy="420624"/>
          </a:xfrm>
          <a:prstGeom prst="ellipse">
            <a:avLst/>
          </a:prstGeom>
          <a:solidFill>
            <a:srgbClr val="9C5536"/>
          </a:solidFill>
          <a:ln/>
        </p:spPr>
      </p:sp>
      <p:sp>
        <p:nvSpPr>
          <p:cNvPr id="12" name="Text 10"/>
          <p:cNvSpPr/>
          <p:nvPr/>
        </p:nvSpPr>
        <p:spPr>
          <a:xfrm>
            <a:off x="548640" y="5248656"/>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1143000" y="5221224"/>
            <a:ext cx="10424160" cy="621792"/>
          </a:xfrm>
          <a:prstGeom prst="rect">
            <a:avLst/>
          </a:prstGeom>
          <a:noFill/>
          <a:ln/>
        </p:spPr>
        <p:txBody>
          <a:bodyPr wrap="square" lIns="0" tIns="0" rIns="0" bIns="0" rtlCol="0" anchor="ctr"/>
          <a:lstStyle/>
          <a:p>
            <a:pPr indent="0" marL="0">
              <a:buNone/>
            </a:pPr>
            <a:r>
              <a:rPr lang="en-US" sz="1350" dirty="0">
                <a:solidFill>
                  <a:srgbClr val="33363B"/>
                </a:solidFill>
                <a:latin typeface="Calibri" pitchFamily="34" charset="0"/>
                <a:ea typeface="Calibri" pitchFamily="34" charset="-122"/>
                <a:cs typeface="Calibri" pitchFamily="34" charset="-120"/>
              </a:rPr>
              <a:t>仲裁具体该怎么操作，才能既做出明确取舍又不激化矛盾？</a:t>
            </a:r>
            <a:endParaRPr lang="en-US" sz="1350" dirty="0"/>
          </a:p>
        </p:txBody>
      </p:sp>
      <p:sp>
        <p:nvSpPr>
          <p:cNvPr id="14" name="Shape 12"/>
          <p:cNvSpPr/>
          <p:nvPr/>
        </p:nvSpPr>
        <p:spPr>
          <a:xfrm>
            <a:off x="548640" y="5925312"/>
            <a:ext cx="420624" cy="420624"/>
          </a:xfrm>
          <a:prstGeom prst="ellipse">
            <a:avLst/>
          </a:prstGeom>
          <a:solidFill>
            <a:srgbClr val="9C5536"/>
          </a:solidFill>
          <a:ln/>
        </p:spPr>
      </p:sp>
      <p:sp>
        <p:nvSpPr>
          <p:cNvPr id="15" name="Text 13"/>
          <p:cNvSpPr/>
          <p:nvPr/>
        </p:nvSpPr>
        <p:spPr>
          <a:xfrm>
            <a:off x="548640" y="5925312"/>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6" name="Text 14"/>
          <p:cNvSpPr/>
          <p:nvPr/>
        </p:nvSpPr>
        <p:spPr>
          <a:xfrm>
            <a:off x="1143000" y="5897880"/>
            <a:ext cx="10424160" cy="621792"/>
          </a:xfrm>
          <a:prstGeom prst="rect">
            <a:avLst/>
          </a:prstGeom>
          <a:noFill/>
          <a:ln/>
        </p:spPr>
        <p:txBody>
          <a:bodyPr wrap="square" lIns="0" tIns="0" rIns="0" bIns="0" rtlCol="0" anchor="ctr"/>
          <a:lstStyle/>
          <a:p>
            <a:pPr indent="0" marL="0">
              <a:buNone/>
            </a:pPr>
            <a:r>
              <a:rPr lang="en-US" sz="1350" dirty="0">
                <a:solidFill>
                  <a:srgbClr val="33363B"/>
                </a:solidFill>
                <a:latin typeface="Calibri" pitchFamily="34" charset="0"/>
                <a:ea typeface="Calibri" pitchFamily="34" charset="-122"/>
                <a:cs typeface="Calibri" pitchFamily="34" charset="-120"/>
              </a:rPr>
              <a:t>什么时候不该完全按自己的判断标准仲裁，而应该暂缓或上报？</a:t>
            </a:r>
            <a:endParaRPr lang="en-US" sz="1350" dirty="0"/>
          </a:p>
        </p:txBody>
      </p:sp>
      <p:sp>
        <p:nvSpPr>
          <p:cNvPr id="17" name="Text 15"/>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M5 需求仲裁</a:t>
            </a:r>
            <a:endParaRPr lang="en-US" sz="900" dirty="0"/>
          </a:p>
        </p:txBody>
      </p:sp>
      <p:sp>
        <p:nvSpPr>
          <p:cNvPr id="18" name="Text 16"/>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3 / 17</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理论框架一</a:t>
            </a:r>
            <a:endParaRPr lang="en-US" sz="1300" dirty="0"/>
          </a:p>
        </p:txBody>
      </p:sp>
      <p:sp>
        <p:nvSpPr>
          <p:cNvPr id="3" name="Text 1"/>
          <p:cNvSpPr/>
          <p:nvPr/>
        </p:nvSpPr>
        <p:spPr>
          <a:xfrm>
            <a:off x="548640" y="722376"/>
            <a:ext cx="11064240" cy="777240"/>
          </a:xfrm>
          <a:prstGeom prst="rect">
            <a:avLst/>
          </a:prstGeom>
          <a:noFill/>
          <a:ln/>
        </p:spPr>
        <p:txBody>
          <a:bodyPr wrap="square" lIns="0" tIns="0" rIns="0" bIns="0"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仲裁的隐性成本——平均分配等于系统性失败</a:t>
            </a:r>
            <a:endParaRPr lang="en-US" sz="2700" dirty="0"/>
          </a:p>
        </p:txBody>
      </p:sp>
      <p:sp>
        <p:nvSpPr>
          <p:cNvPr id="4" name="Shape 2"/>
          <p:cNvSpPr/>
          <p:nvPr/>
        </p:nvSpPr>
        <p:spPr>
          <a:xfrm>
            <a:off x="548640" y="1627632"/>
            <a:ext cx="11064240" cy="1051560"/>
          </a:xfrm>
          <a:prstGeom prst="roundRect">
            <a:avLst>
              <a:gd name="adj" fmla="val 6957"/>
            </a:avLst>
          </a:prstGeom>
          <a:solidFill>
            <a:srgbClr val="EEF1F6"/>
          </a:solidFill>
          <a:ln/>
          <a:effectLst>
            <a:outerShdw sx="100000" sy="100000" kx="0" ky="0" algn="bl" rotWithShape="0" blurRad="101600" dist="38100" dir="5400000">
              <a:srgbClr val="1B2A4A">
                <a:alpha val="10000"/>
              </a:srgbClr>
            </a:outerShdw>
          </a:effectLst>
        </p:spPr>
      </p:sp>
      <p:sp>
        <p:nvSpPr>
          <p:cNvPr id="5" name="Text 3"/>
          <p:cNvSpPr/>
          <p:nvPr/>
        </p:nvSpPr>
        <p:spPr>
          <a:xfrm>
            <a:off x="868680" y="1700784"/>
            <a:ext cx="10424160" cy="502920"/>
          </a:xfrm>
          <a:prstGeom prst="rect">
            <a:avLst/>
          </a:prstGeom>
          <a:noFill/>
          <a:ln/>
        </p:spPr>
        <p:txBody>
          <a:bodyPr wrap="square" lIns="0" tIns="0" rIns="0" bIns="0" rtlCol="0" anchor="ctr"/>
          <a:lstStyle/>
          <a:p>
            <a:pPr indent="0" marL="0">
              <a:buNone/>
            </a:pPr>
            <a:r>
              <a:rPr lang="en-US" sz="1700" b="1" dirty="0">
                <a:solidFill>
                  <a:srgbClr val="1B2A4A"/>
                </a:solidFill>
                <a:latin typeface="Cambria" pitchFamily="34" charset="0"/>
                <a:ea typeface="Cambria" pitchFamily="34" charset="-122"/>
                <a:cs typeface="Cambria" pitchFamily="34" charset="-120"/>
              </a:rPr>
              <a:t>雨露均沾式平均分配：每个需求方当下都不被直接拒绝，冲突最小化</a:t>
            </a:r>
            <a:endParaRPr lang="en-US" sz="1700" dirty="0"/>
          </a:p>
        </p:txBody>
      </p:sp>
      <p:sp>
        <p:nvSpPr>
          <p:cNvPr id="6" name="Text 4"/>
          <p:cNvSpPr/>
          <p:nvPr/>
        </p:nvSpPr>
        <p:spPr>
          <a:xfrm>
            <a:off x="868680" y="2176272"/>
            <a:ext cx="10424160" cy="457200"/>
          </a:xfrm>
          <a:prstGeom prst="rect">
            <a:avLst/>
          </a:prstGeom>
          <a:noFill/>
          <a:ln/>
        </p:spPr>
        <p:txBody>
          <a:bodyPr wrap="square" lIns="0" tIns="0" rIns="0" bIns="0" rtlCol="0" anchor="ctr"/>
          <a:lstStyle/>
          <a:p>
            <a:pPr indent="0" marL="0">
              <a:buNone/>
            </a:pPr>
            <a:r>
              <a:rPr lang="en-US" sz="1200" i="1" dirty="0">
                <a:solidFill>
                  <a:srgbClr val="7C7F84"/>
                </a:solidFill>
                <a:latin typeface="Calibri" pitchFamily="34" charset="0"/>
                <a:ea typeface="Calibri" pitchFamily="34" charset="-122"/>
                <a:cs typeface="Calibri" pitchFamily="34" charset="-120"/>
              </a:rPr>
              <a:t>但这种策略隐藏了真正的代价——它不是没有取舍，只是把取舍伪装成了没有取舍。</a:t>
            </a:r>
            <a:endParaRPr lang="en-US" sz="1200" dirty="0"/>
          </a:p>
        </p:txBody>
      </p:sp>
      <p:sp>
        <p:nvSpPr>
          <p:cNvPr id="7" name="Shape 5"/>
          <p:cNvSpPr/>
          <p:nvPr/>
        </p:nvSpPr>
        <p:spPr>
          <a:xfrm>
            <a:off x="548640" y="2926080"/>
            <a:ext cx="5404104" cy="3154680"/>
          </a:xfrm>
          <a:prstGeom prst="roundRect">
            <a:avLst>
              <a:gd name="adj" fmla="val 2319"/>
            </a:avLst>
          </a:prstGeom>
          <a:solidFill>
            <a:srgbClr val="FFFFFF"/>
          </a:solidFill>
          <a:ln/>
          <a:effectLst>
            <a:outerShdw sx="100000" sy="100000" kx="0" ky="0" algn="bl" rotWithShape="0" blurRad="101600" dist="38100" dir="5400000">
              <a:srgbClr val="1B2A4A">
                <a:alpha val="10000"/>
              </a:srgbClr>
            </a:outerShdw>
          </a:effectLst>
        </p:spPr>
      </p:sp>
      <p:sp>
        <p:nvSpPr>
          <p:cNvPr id="8" name="Shape 6"/>
          <p:cNvSpPr/>
          <p:nvPr/>
        </p:nvSpPr>
        <p:spPr>
          <a:xfrm>
            <a:off x="822960" y="3200400"/>
            <a:ext cx="420624" cy="420624"/>
          </a:xfrm>
          <a:prstGeom prst="ellipse">
            <a:avLst/>
          </a:prstGeom>
          <a:solidFill>
            <a:srgbClr val="1B2A4A"/>
          </a:solidFill>
          <a:ln/>
        </p:spPr>
      </p:sp>
      <p:sp>
        <p:nvSpPr>
          <p:cNvPr id="9" name="Text 7"/>
          <p:cNvSpPr/>
          <p:nvPr/>
        </p:nvSpPr>
        <p:spPr>
          <a:xfrm>
            <a:off x="822960" y="3200400"/>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10" name="Text 8"/>
          <p:cNvSpPr/>
          <p:nvPr/>
        </p:nvSpPr>
        <p:spPr>
          <a:xfrm>
            <a:off x="1417320" y="3200400"/>
            <a:ext cx="4306824" cy="420624"/>
          </a:xfrm>
          <a:prstGeom prst="rect">
            <a:avLst/>
          </a:prstGeom>
          <a:noFill/>
          <a:ln/>
        </p:spPr>
        <p:txBody>
          <a:bodyPr wrap="square" lIns="0" tIns="0" rIns="0" bIns="0" rtlCol="0" anchor="ctr"/>
          <a:lstStyle/>
          <a:p>
            <a:pPr indent="0" marL="0">
              <a:buNone/>
            </a:pPr>
            <a:r>
              <a:rPr lang="en-US" sz="1600" b="1" dirty="0">
                <a:solidFill>
                  <a:srgbClr val="1B2A4A"/>
                </a:solidFill>
                <a:latin typeface="Cambria" pitchFamily="34" charset="0"/>
                <a:ea typeface="Cambria" pitchFamily="34" charset="-122"/>
                <a:cs typeface="Cambria" pitchFamily="34" charset="-120"/>
              </a:rPr>
              <a:t>阈值效应</a:t>
            </a:r>
            <a:endParaRPr lang="en-US" sz="1600" dirty="0"/>
          </a:p>
        </p:txBody>
      </p:sp>
      <p:sp>
        <p:nvSpPr>
          <p:cNvPr id="11" name="Text 9"/>
          <p:cNvSpPr/>
          <p:nvPr/>
        </p:nvSpPr>
        <p:spPr>
          <a:xfrm>
            <a:off x="822960" y="3840480"/>
            <a:ext cx="4855464" cy="1965960"/>
          </a:xfrm>
          <a:prstGeom prst="rect">
            <a:avLst/>
          </a:prstGeom>
          <a:noFill/>
          <a:ln/>
        </p:spPr>
        <p:txBody>
          <a:bodyPr wrap="square" lIns="0" tIns="0" rIns="0" bIns="0" rtlCol="0" anchor="t"/>
          <a:lstStyle/>
          <a:p>
            <a:pPr indent="0" marL="0">
              <a:lnSpc>
                <a:spcPct val="125000"/>
              </a:lnSpc>
              <a:buNone/>
            </a:pPr>
            <a:r>
              <a:rPr lang="en-US" sz="1200" dirty="0">
                <a:solidFill>
                  <a:srgbClr val="33363B"/>
                </a:solidFill>
                <a:latin typeface="Calibri" pitchFamily="34" charset="0"/>
                <a:ea typeface="Calibri" pitchFamily="34" charset="-122"/>
                <a:cs typeface="Calibri" pitchFamily="34" charset="-120"/>
              </a:rPr>
              <a:t>大多数任务存在最低有效投入阈值，低于这个阈值的资源投入几乎产生不出可用产出，平均分配很容易让所有项目都落在阈值以下。</a:t>
            </a:r>
            <a:endParaRPr lang="en-US" sz="1200" dirty="0"/>
          </a:p>
        </p:txBody>
      </p:sp>
      <p:sp>
        <p:nvSpPr>
          <p:cNvPr id="12" name="Shape 10"/>
          <p:cNvSpPr/>
          <p:nvPr/>
        </p:nvSpPr>
        <p:spPr>
          <a:xfrm>
            <a:off x="6208776" y="2926080"/>
            <a:ext cx="5404104" cy="3154680"/>
          </a:xfrm>
          <a:prstGeom prst="roundRect">
            <a:avLst>
              <a:gd name="adj" fmla="val 2319"/>
            </a:avLst>
          </a:prstGeom>
          <a:solidFill>
            <a:srgbClr val="FFFFFF"/>
          </a:solidFill>
          <a:ln/>
          <a:effectLst>
            <a:outerShdw sx="100000" sy="100000" kx="0" ky="0" algn="bl" rotWithShape="0" blurRad="101600" dist="38100" dir="5400000">
              <a:srgbClr val="1B2A4A">
                <a:alpha val="10000"/>
              </a:srgbClr>
            </a:outerShdw>
          </a:effectLst>
        </p:spPr>
      </p:sp>
      <p:sp>
        <p:nvSpPr>
          <p:cNvPr id="13" name="Shape 11"/>
          <p:cNvSpPr/>
          <p:nvPr/>
        </p:nvSpPr>
        <p:spPr>
          <a:xfrm>
            <a:off x="6483096" y="3200400"/>
            <a:ext cx="420624" cy="420624"/>
          </a:xfrm>
          <a:prstGeom prst="ellipse">
            <a:avLst/>
          </a:prstGeom>
          <a:solidFill>
            <a:srgbClr val="1B2A4A"/>
          </a:solidFill>
          <a:ln/>
        </p:spPr>
      </p:sp>
      <p:sp>
        <p:nvSpPr>
          <p:cNvPr id="14" name="Text 12"/>
          <p:cNvSpPr/>
          <p:nvPr/>
        </p:nvSpPr>
        <p:spPr>
          <a:xfrm>
            <a:off x="6483096" y="3200400"/>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5" name="Text 13"/>
          <p:cNvSpPr/>
          <p:nvPr/>
        </p:nvSpPr>
        <p:spPr>
          <a:xfrm>
            <a:off x="7077456" y="3200400"/>
            <a:ext cx="4306824" cy="420624"/>
          </a:xfrm>
          <a:prstGeom prst="rect">
            <a:avLst/>
          </a:prstGeom>
          <a:noFill/>
          <a:ln/>
        </p:spPr>
        <p:txBody>
          <a:bodyPr wrap="square" lIns="0" tIns="0" rIns="0" bIns="0" rtlCol="0" anchor="ctr"/>
          <a:lstStyle/>
          <a:p>
            <a:pPr indent="0" marL="0">
              <a:buNone/>
            </a:pPr>
            <a:r>
              <a:rPr lang="en-US" sz="1600" b="1" dirty="0">
                <a:solidFill>
                  <a:srgbClr val="1B2A4A"/>
                </a:solidFill>
                <a:latin typeface="Cambria" pitchFamily="34" charset="0"/>
                <a:ea typeface="Cambria" pitchFamily="34" charset="-122"/>
                <a:cs typeface="Cambria" pitchFamily="34" charset="-120"/>
              </a:rPr>
              <a:t>责任稀释</a:t>
            </a:r>
            <a:endParaRPr lang="en-US" sz="1600" dirty="0"/>
          </a:p>
        </p:txBody>
      </p:sp>
      <p:sp>
        <p:nvSpPr>
          <p:cNvPr id="16" name="Text 14"/>
          <p:cNvSpPr/>
          <p:nvPr/>
        </p:nvSpPr>
        <p:spPr>
          <a:xfrm>
            <a:off x="6483096" y="3840480"/>
            <a:ext cx="4855464" cy="1965960"/>
          </a:xfrm>
          <a:prstGeom prst="rect">
            <a:avLst/>
          </a:prstGeom>
          <a:noFill/>
          <a:ln/>
        </p:spPr>
        <p:txBody>
          <a:bodyPr wrap="square" lIns="0" tIns="0" rIns="0" bIns="0" rtlCol="0" anchor="t"/>
          <a:lstStyle/>
          <a:p>
            <a:pPr indent="0" marL="0">
              <a:lnSpc>
                <a:spcPct val="125000"/>
              </a:lnSpc>
              <a:buNone/>
            </a:pPr>
            <a:r>
              <a:rPr lang="en-US" sz="1200" dirty="0">
                <a:solidFill>
                  <a:srgbClr val="33363B"/>
                </a:solidFill>
                <a:latin typeface="Calibri" pitchFamily="34" charset="0"/>
                <a:ea typeface="Calibri" pitchFamily="34" charset="-122"/>
                <a:cs typeface="Calibri" pitchFamily="34" charset="-120"/>
              </a:rPr>
              <a:t>平均分配看似公平，实际上是把「明确拒绝几个需求」伪装成了「谁都没拒绝」，代价是所有需求都不上不下，责任也被分散得无法追溯。</a:t>
            </a:r>
            <a:endParaRPr lang="en-US" sz="1200" dirty="0"/>
          </a:p>
        </p:txBody>
      </p:sp>
      <p:sp>
        <p:nvSpPr>
          <p:cNvPr id="17" name="Text 15"/>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M5 需求仲裁</a:t>
            </a:r>
            <a:endParaRPr lang="en-US" sz="900" dirty="0"/>
          </a:p>
        </p:txBody>
      </p:sp>
      <p:sp>
        <p:nvSpPr>
          <p:cNvPr id="18" name="Text 16"/>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4 / 17</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理论框架二</a:t>
            </a:r>
            <a:endParaRPr lang="en-US" sz="1300" dirty="0"/>
          </a:p>
        </p:txBody>
      </p:sp>
      <p:sp>
        <p:nvSpPr>
          <p:cNvPr id="3" name="Text 1"/>
          <p:cNvSpPr/>
          <p:nvPr/>
        </p:nvSpPr>
        <p:spPr>
          <a:xfrm>
            <a:off x="548640" y="722376"/>
            <a:ext cx="11064240" cy="777240"/>
          </a:xfrm>
          <a:prstGeom prst="rect">
            <a:avLst/>
          </a:prstGeom>
          <a:noFill/>
          <a:ln/>
        </p:spPr>
        <p:txBody>
          <a:bodyPr wrap="square" lIns="0" tIns="0" rIns="0" bIns="0"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仲裁的三个动作</a:t>
            </a:r>
            <a:endParaRPr lang="en-US" sz="2700" dirty="0"/>
          </a:p>
        </p:txBody>
      </p:sp>
      <p:sp>
        <p:nvSpPr>
          <p:cNvPr id="4" name="Text 2"/>
          <p:cNvSpPr/>
          <p:nvPr/>
        </p:nvSpPr>
        <p:spPr>
          <a:xfrm>
            <a:off x="548640" y="1627632"/>
            <a:ext cx="11064240" cy="777240"/>
          </a:xfrm>
          <a:prstGeom prst="rect">
            <a:avLst/>
          </a:prstGeom>
          <a:noFill/>
          <a:ln/>
        </p:spPr>
        <p:txBody>
          <a:bodyPr wrap="square" lIns="0" tIns="0" rIns="0" bIns="0" rtlCol="0" anchor="ctr"/>
          <a:lstStyle/>
          <a:p>
            <a:pPr indent="0" marL="0">
              <a:lnSpc>
                <a:spcPct val="125000"/>
              </a:lnSpc>
              <a:buNone/>
            </a:pPr>
            <a:r>
              <a:rPr lang="en-US" sz="1350" dirty="0">
                <a:solidFill>
                  <a:srgbClr val="33363B"/>
                </a:solidFill>
                <a:latin typeface="Calibri" pitchFamily="34" charset="0"/>
                <a:ea typeface="Calibri" pitchFamily="34" charset="-122"/>
                <a:cs typeface="Calibri" pitchFamily="34" charset="-120"/>
              </a:rPr>
              <a:t>仲裁不是凭感觉做选择，而是一个结构化的三步，每一步都对应着把隐性的资源稀缺转化为显性的、可被理解的决策的具体动作。</a:t>
            </a:r>
            <a:endParaRPr lang="en-US" sz="1350" dirty="0"/>
          </a:p>
        </p:txBody>
      </p:sp>
      <p:sp>
        <p:nvSpPr>
          <p:cNvPr id="5" name="Shape 3"/>
          <p:cNvSpPr/>
          <p:nvPr/>
        </p:nvSpPr>
        <p:spPr>
          <a:xfrm>
            <a:off x="548640" y="2514600"/>
            <a:ext cx="11064240" cy="1298448"/>
          </a:xfrm>
          <a:prstGeom prst="roundRect">
            <a:avLst>
              <a:gd name="adj" fmla="val 5634"/>
            </a:avLst>
          </a:prstGeom>
          <a:solidFill>
            <a:srgbClr val="F5EEEA"/>
          </a:solidFill>
          <a:ln/>
          <a:effectLst>
            <a:outerShdw sx="100000" sy="100000" kx="0" ky="0" algn="bl" rotWithShape="0" blurRad="101600" dist="38100" dir="5400000">
              <a:srgbClr val="1B2A4A">
                <a:alpha val="10000"/>
              </a:srgbClr>
            </a:outerShdw>
          </a:effectLst>
        </p:spPr>
      </p:sp>
      <p:sp>
        <p:nvSpPr>
          <p:cNvPr id="6" name="Shape 4"/>
          <p:cNvSpPr/>
          <p:nvPr/>
        </p:nvSpPr>
        <p:spPr>
          <a:xfrm>
            <a:off x="822960" y="2770632"/>
            <a:ext cx="1188720" cy="292608"/>
          </a:xfrm>
          <a:prstGeom prst="roundRect">
            <a:avLst>
              <a:gd name="adj" fmla="val 18750"/>
            </a:avLst>
          </a:prstGeom>
          <a:solidFill>
            <a:srgbClr val="9C5536"/>
          </a:solidFill>
          <a:ln/>
        </p:spPr>
      </p:sp>
      <p:sp>
        <p:nvSpPr>
          <p:cNvPr id="7" name="Text 5"/>
          <p:cNvSpPr/>
          <p:nvPr/>
        </p:nvSpPr>
        <p:spPr>
          <a:xfrm>
            <a:off x="822960" y="2770632"/>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动作 1</a:t>
            </a:r>
            <a:endParaRPr lang="en-US" sz="1100" dirty="0"/>
          </a:p>
        </p:txBody>
      </p:sp>
      <p:sp>
        <p:nvSpPr>
          <p:cNvPr id="8" name="Text 6"/>
          <p:cNvSpPr/>
          <p:nvPr/>
        </p:nvSpPr>
        <p:spPr>
          <a:xfrm>
            <a:off x="2240280" y="2715768"/>
            <a:ext cx="3931920" cy="411480"/>
          </a:xfrm>
          <a:prstGeom prst="rect">
            <a:avLst/>
          </a:prstGeom>
          <a:noFill/>
          <a:ln/>
        </p:spPr>
        <p:txBody>
          <a:bodyPr wrap="square" lIns="0" tIns="0" rIns="0" bIns="0" rtlCol="0" anchor="ctr"/>
          <a:lstStyle/>
          <a:p>
            <a:pPr indent="0" marL="0">
              <a:buNone/>
            </a:pPr>
            <a:r>
              <a:rPr lang="en-US" sz="1500" b="1" dirty="0">
                <a:solidFill>
                  <a:srgbClr val="1B2A4A"/>
                </a:solidFill>
                <a:latin typeface="Cambria" pitchFamily="34" charset="0"/>
                <a:ea typeface="Cambria" pitchFamily="34" charset="-122"/>
                <a:cs typeface="Cambria" pitchFamily="34" charset="-120"/>
              </a:rPr>
              <a:t>隐性优先级显性化</a:t>
            </a:r>
            <a:endParaRPr lang="en-US" sz="1500" dirty="0"/>
          </a:p>
        </p:txBody>
      </p:sp>
      <p:sp>
        <p:nvSpPr>
          <p:cNvPr id="9" name="Text 7"/>
          <p:cNvSpPr/>
          <p:nvPr/>
        </p:nvSpPr>
        <p:spPr>
          <a:xfrm>
            <a:off x="822960" y="3136392"/>
            <a:ext cx="10515600" cy="566928"/>
          </a:xfrm>
          <a:prstGeom prst="rect">
            <a:avLst/>
          </a:prstGeom>
          <a:noFill/>
          <a:ln/>
        </p:spPr>
        <p:txBody>
          <a:bodyPr wrap="square" lIns="0" tIns="0" rIns="0" bIns="0" rtlCol="0" anchor="t"/>
          <a:lstStyle/>
          <a:p>
            <a:pPr indent="0" marL="0">
              <a:lnSpc>
                <a:spcPct val="120000"/>
              </a:lnSpc>
              <a:buNone/>
            </a:pPr>
            <a:r>
              <a:rPr lang="en-US" sz="1200" dirty="0">
                <a:solidFill>
                  <a:srgbClr val="33363B"/>
                </a:solidFill>
                <a:latin typeface="Calibri" pitchFamily="34" charset="0"/>
                <a:ea typeface="Calibri" pitchFamily="34" charset="-122"/>
                <a:cs typeface="Calibri" pitchFamily="34" charset="-120"/>
              </a:rPr>
              <a:t>用统一标准（紧急度、影响范围、不响应的代价）给所有竞争需求打分排序，而不是凭感觉或者谁声音大。</a:t>
            </a:r>
            <a:endParaRPr lang="en-US" sz="1200" dirty="0"/>
          </a:p>
        </p:txBody>
      </p:sp>
      <p:sp>
        <p:nvSpPr>
          <p:cNvPr id="10" name="Shape 8"/>
          <p:cNvSpPr/>
          <p:nvPr/>
        </p:nvSpPr>
        <p:spPr>
          <a:xfrm>
            <a:off x="548640" y="3977640"/>
            <a:ext cx="11064240" cy="1298448"/>
          </a:xfrm>
          <a:prstGeom prst="roundRect">
            <a:avLst>
              <a:gd name="adj" fmla="val 5634"/>
            </a:avLst>
          </a:prstGeom>
          <a:solidFill>
            <a:srgbClr val="F5EEEA"/>
          </a:solidFill>
          <a:ln/>
          <a:effectLst>
            <a:outerShdw sx="100000" sy="100000" kx="0" ky="0" algn="bl" rotWithShape="0" blurRad="101600" dist="38100" dir="5400000">
              <a:srgbClr val="1B2A4A">
                <a:alpha val="10000"/>
              </a:srgbClr>
            </a:outerShdw>
          </a:effectLst>
        </p:spPr>
      </p:sp>
      <p:sp>
        <p:nvSpPr>
          <p:cNvPr id="11" name="Shape 9"/>
          <p:cNvSpPr/>
          <p:nvPr/>
        </p:nvSpPr>
        <p:spPr>
          <a:xfrm>
            <a:off x="822960" y="4233672"/>
            <a:ext cx="1188720" cy="292608"/>
          </a:xfrm>
          <a:prstGeom prst="roundRect">
            <a:avLst>
              <a:gd name="adj" fmla="val 18750"/>
            </a:avLst>
          </a:prstGeom>
          <a:solidFill>
            <a:srgbClr val="9C5536"/>
          </a:solidFill>
          <a:ln/>
        </p:spPr>
      </p:sp>
      <p:sp>
        <p:nvSpPr>
          <p:cNvPr id="12" name="Text 10"/>
          <p:cNvSpPr/>
          <p:nvPr/>
        </p:nvSpPr>
        <p:spPr>
          <a:xfrm>
            <a:off x="822960" y="4233672"/>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动作 2</a:t>
            </a:r>
            <a:endParaRPr lang="en-US" sz="1100" dirty="0"/>
          </a:p>
        </p:txBody>
      </p:sp>
      <p:sp>
        <p:nvSpPr>
          <p:cNvPr id="13" name="Text 11"/>
          <p:cNvSpPr/>
          <p:nvPr/>
        </p:nvSpPr>
        <p:spPr>
          <a:xfrm>
            <a:off x="2240280" y="4178808"/>
            <a:ext cx="3931920" cy="411480"/>
          </a:xfrm>
          <a:prstGeom prst="rect">
            <a:avLst/>
          </a:prstGeom>
          <a:noFill/>
          <a:ln/>
        </p:spPr>
        <p:txBody>
          <a:bodyPr wrap="square" lIns="0" tIns="0" rIns="0" bIns="0" rtlCol="0" anchor="ctr"/>
          <a:lstStyle/>
          <a:p>
            <a:pPr indent="0" marL="0">
              <a:buNone/>
            </a:pPr>
            <a:r>
              <a:rPr lang="en-US" sz="1500" b="1" dirty="0">
                <a:solidFill>
                  <a:srgbClr val="1B2A4A"/>
                </a:solidFill>
                <a:latin typeface="Cambria" pitchFamily="34" charset="0"/>
                <a:ea typeface="Cambria" pitchFamily="34" charset="-122"/>
                <a:cs typeface="Cambria" pitchFamily="34" charset="-120"/>
              </a:rPr>
              <a:t>做出非对称分配并说明依据</a:t>
            </a:r>
            <a:endParaRPr lang="en-US" sz="1500" dirty="0"/>
          </a:p>
        </p:txBody>
      </p:sp>
      <p:sp>
        <p:nvSpPr>
          <p:cNvPr id="14" name="Text 12"/>
          <p:cNvSpPr/>
          <p:nvPr/>
        </p:nvSpPr>
        <p:spPr>
          <a:xfrm>
            <a:off x="822960" y="4599432"/>
            <a:ext cx="10515600" cy="566928"/>
          </a:xfrm>
          <a:prstGeom prst="rect">
            <a:avLst/>
          </a:prstGeom>
          <a:noFill/>
          <a:ln/>
        </p:spPr>
        <p:txBody>
          <a:bodyPr wrap="square" lIns="0" tIns="0" rIns="0" bIns="0" rtlCol="0" anchor="t"/>
          <a:lstStyle/>
          <a:p>
            <a:pPr indent="0" marL="0">
              <a:lnSpc>
                <a:spcPct val="120000"/>
              </a:lnSpc>
              <a:buNone/>
            </a:pPr>
            <a:r>
              <a:rPr lang="en-US" sz="1200" dirty="0">
                <a:solidFill>
                  <a:srgbClr val="33363B"/>
                </a:solidFill>
                <a:latin typeface="Calibri" pitchFamily="34" charset="0"/>
                <a:ea typeface="Calibri" pitchFamily="34" charset="-122"/>
                <a:cs typeface="Calibri" pitchFamily="34" charset="-120"/>
              </a:rPr>
              <a:t>给真正达到有效阈值的需求方足够资源，对暂时不能满足的需求明确告知，而不是含糊其辞。</a:t>
            </a:r>
            <a:endParaRPr lang="en-US" sz="1200" dirty="0"/>
          </a:p>
        </p:txBody>
      </p:sp>
      <p:sp>
        <p:nvSpPr>
          <p:cNvPr id="15" name="Shape 13"/>
          <p:cNvSpPr/>
          <p:nvPr/>
        </p:nvSpPr>
        <p:spPr>
          <a:xfrm>
            <a:off x="548640" y="5440680"/>
            <a:ext cx="11064240" cy="1298448"/>
          </a:xfrm>
          <a:prstGeom prst="roundRect">
            <a:avLst>
              <a:gd name="adj" fmla="val 5634"/>
            </a:avLst>
          </a:prstGeom>
          <a:solidFill>
            <a:srgbClr val="F5EEEA"/>
          </a:solidFill>
          <a:ln/>
          <a:effectLst>
            <a:outerShdw sx="100000" sy="100000" kx="0" ky="0" algn="bl" rotWithShape="0" blurRad="101600" dist="38100" dir="5400000">
              <a:srgbClr val="1B2A4A">
                <a:alpha val="10000"/>
              </a:srgbClr>
            </a:outerShdw>
          </a:effectLst>
        </p:spPr>
      </p:sp>
      <p:sp>
        <p:nvSpPr>
          <p:cNvPr id="16" name="Shape 14"/>
          <p:cNvSpPr/>
          <p:nvPr/>
        </p:nvSpPr>
        <p:spPr>
          <a:xfrm>
            <a:off x="822960" y="5696712"/>
            <a:ext cx="1188720" cy="292608"/>
          </a:xfrm>
          <a:prstGeom prst="roundRect">
            <a:avLst>
              <a:gd name="adj" fmla="val 18750"/>
            </a:avLst>
          </a:prstGeom>
          <a:solidFill>
            <a:srgbClr val="9C5536"/>
          </a:solidFill>
          <a:ln/>
        </p:spPr>
      </p:sp>
      <p:sp>
        <p:nvSpPr>
          <p:cNvPr id="17" name="Text 15"/>
          <p:cNvSpPr/>
          <p:nvPr/>
        </p:nvSpPr>
        <p:spPr>
          <a:xfrm>
            <a:off x="822960" y="5696712"/>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动作 3</a:t>
            </a:r>
            <a:endParaRPr lang="en-US" sz="1100" dirty="0"/>
          </a:p>
        </p:txBody>
      </p:sp>
      <p:sp>
        <p:nvSpPr>
          <p:cNvPr id="18" name="Text 16"/>
          <p:cNvSpPr/>
          <p:nvPr/>
        </p:nvSpPr>
        <p:spPr>
          <a:xfrm>
            <a:off x="2240280" y="5641848"/>
            <a:ext cx="3931920" cy="411480"/>
          </a:xfrm>
          <a:prstGeom prst="rect">
            <a:avLst/>
          </a:prstGeom>
          <a:noFill/>
          <a:ln/>
        </p:spPr>
        <p:txBody>
          <a:bodyPr wrap="square" lIns="0" tIns="0" rIns="0" bIns="0" rtlCol="0" anchor="ctr"/>
          <a:lstStyle/>
          <a:p>
            <a:pPr indent="0" marL="0">
              <a:buNone/>
            </a:pPr>
            <a:r>
              <a:rPr lang="en-US" sz="1500" b="1" dirty="0">
                <a:solidFill>
                  <a:srgbClr val="1B2A4A"/>
                </a:solidFill>
                <a:latin typeface="Cambria" pitchFamily="34" charset="0"/>
                <a:ea typeface="Cambria" pitchFamily="34" charset="-122"/>
                <a:cs typeface="Cambria" pitchFamily="34" charset="-120"/>
              </a:rPr>
              <a:t>管理被拒绝方的预期与关系</a:t>
            </a:r>
            <a:endParaRPr lang="en-US" sz="1500" dirty="0"/>
          </a:p>
        </p:txBody>
      </p:sp>
      <p:sp>
        <p:nvSpPr>
          <p:cNvPr id="19" name="Text 17"/>
          <p:cNvSpPr/>
          <p:nvPr/>
        </p:nvSpPr>
        <p:spPr>
          <a:xfrm>
            <a:off x="822960" y="6062472"/>
            <a:ext cx="10515600" cy="566928"/>
          </a:xfrm>
          <a:prstGeom prst="rect">
            <a:avLst/>
          </a:prstGeom>
          <a:noFill/>
          <a:ln/>
        </p:spPr>
        <p:txBody>
          <a:bodyPr wrap="square" lIns="0" tIns="0" rIns="0" bIns="0" rtlCol="0" anchor="t"/>
          <a:lstStyle/>
          <a:p>
            <a:pPr indent="0" marL="0">
              <a:lnSpc>
                <a:spcPct val="120000"/>
              </a:lnSpc>
              <a:buNone/>
            </a:pPr>
            <a:r>
              <a:rPr lang="en-US" sz="1200" dirty="0">
                <a:solidFill>
                  <a:srgbClr val="33363B"/>
                </a:solidFill>
                <a:latin typeface="Calibri" pitchFamily="34" charset="0"/>
                <a:ea typeface="Calibri" pitchFamily="34" charset="-122"/>
                <a:cs typeface="Calibri" pitchFamily="34" charset="-120"/>
              </a:rPr>
              <a:t>仲裁结果不利的一方，需要经理主动解释决策依据、给出未来的窗口或路径，而不是冷处理任由对方猜测或抱怨。</a:t>
            </a:r>
            <a:endParaRPr lang="en-US" sz="1200" dirty="0"/>
          </a:p>
        </p:txBody>
      </p:sp>
      <p:sp>
        <p:nvSpPr>
          <p:cNvPr id="20" name="Text 18"/>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M5 需求仲裁</a:t>
            </a:r>
            <a:endParaRPr lang="en-US" sz="900" dirty="0"/>
          </a:p>
        </p:txBody>
      </p:sp>
      <p:sp>
        <p:nvSpPr>
          <p:cNvPr id="21" name="Text 19"/>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5 / 17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边界反例</a:t>
            </a:r>
            <a:endParaRPr lang="en-US" sz="1300" dirty="0"/>
          </a:p>
        </p:txBody>
      </p:sp>
      <p:sp>
        <p:nvSpPr>
          <p:cNvPr id="3" name="Text 1"/>
          <p:cNvSpPr/>
          <p:nvPr/>
        </p:nvSpPr>
        <p:spPr>
          <a:xfrm>
            <a:off x="548640" y="722376"/>
            <a:ext cx="11064240" cy="777240"/>
          </a:xfrm>
          <a:prstGeom prst="rect">
            <a:avLst/>
          </a:prstGeom>
          <a:noFill/>
          <a:ln/>
        </p:spPr>
        <p:txBody>
          <a:bodyPr wrap="square" lIns="0" tIns="0" rIns="0" bIns="0"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什么时候不该完全按自己的判断标准仲裁</a:t>
            </a:r>
            <a:endParaRPr lang="en-US" sz="2700" dirty="0"/>
          </a:p>
        </p:txBody>
      </p:sp>
      <p:sp>
        <p:nvSpPr>
          <p:cNvPr id="4" name="Shape 2"/>
          <p:cNvSpPr/>
          <p:nvPr/>
        </p:nvSpPr>
        <p:spPr>
          <a:xfrm>
            <a:off x="548640" y="1627632"/>
            <a:ext cx="11064240" cy="1691640"/>
          </a:xfrm>
          <a:prstGeom prst="roundRect">
            <a:avLst>
              <a:gd name="adj" fmla="val 4324"/>
            </a:avLst>
          </a:prstGeom>
          <a:solidFill>
            <a:srgbClr val="EEF2EE"/>
          </a:solidFill>
          <a:ln/>
          <a:effectLst>
            <a:outerShdw sx="100000" sy="100000" kx="0" ky="0" algn="bl" rotWithShape="0" blurRad="101600" dist="38100" dir="5400000">
              <a:srgbClr val="1B2A4A">
                <a:alpha val="10000"/>
              </a:srgbClr>
            </a:outerShdw>
          </a:effectLst>
        </p:spPr>
      </p:sp>
      <p:sp>
        <p:nvSpPr>
          <p:cNvPr id="5" name="Text 3"/>
          <p:cNvSpPr/>
          <p:nvPr/>
        </p:nvSpPr>
        <p:spPr>
          <a:xfrm>
            <a:off x="868680" y="1783080"/>
            <a:ext cx="1828800" cy="320040"/>
          </a:xfrm>
          <a:prstGeom prst="rect">
            <a:avLst/>
          </a:prstGeom>
          <a:noFill/>
          <a:ln/>
        </p:spPr>
        <p:txBody>
          <a:bodyPr wrap="square" lIns="0" tIns="0" rIns="0" bIns="0" rtlCol="0" anchor="ctr"/>
          <a:lstStyle/>
          <a:p>
            <a:pPr indent="0" marL="0">
              <a:buNone/>
            </a:pPr>
            <a:r>
              <a:rPr lang="en-US" sz="1200" b="1" spc="100" kern="0" dirty="0">
                <a:solidFill>
                  <a:srgbClr val="4F6F52"/>
                </a:solidFill>
                <a:latin typeface="Calibri" pitchFamily="34" charset="0"/>
                <a:ea typeface="Calibri" pitchFamily="34" charset="-122"/>
                <a:cs typeface="Calibri" pitchFamily="34" charset="-120"/>
              </a:rPr>
              <a:t>场景</a:t>
            </a:r>
            <a:endParaRPr lang="en-US" sz="1200" dirty="0"/>
          </a:p>
        </p:txBody>
      </p:sp>
      <p:sp>
        <p:nvSpPr>
          <p:cNvPr id="6" name="Text 4"/>
          <p:cNvSpPr/>
          <p:nvPr/>
        </p:nvSpPr>
        <p:spPr>
          <a:xfrm>
            <a:off x="868680" y="2103120"/>
            <a:ext cx="10424160" cy="1143000"/>
          </a:xfrm>
          <a:prstGeom prst="rect">
            <a:avLst/>
          </a:prstGeom>
          <a:noFill/>
          <a:ln/>
        </p:spPr>
        <p:txBody>
          <a:bodyPr wrap="square" lIns="0" tIns="0" rIns="0" bIns="0" rtlCol="0" anchor="t"/>
          <a:lstStyle/>
          <a:p>
            <a:pPr indent="0" marL="0">
              <a:lnSpc>
                <a:spcPct val="125000"/>
              </a:lnSpc>
              <a:buNone/>
            </a:pPr>
            <a:r>
              <a:rPr lang="en-US" sz="1300" dirty="0">
                <a:solidFill>
                  <a:srgbClr val="33363B"/>
                </a:solidFill>
                <a:latin typeface="Calibri" pitchFamily="34" charset="0"/>
                <a:ea typeface="Calibri" pitchFamily="34" charset="-122"/>
                <a:cs typeface="Calibri" pitchFamily="34" charset="-120"/>
              </a:rPr>
              <a:t>某次资源仲裁中，一个看起来优先级不高的需求方，实际上背后牵涉的是一项尚未公开的战略合作，这项信息部门经理本人并不知情。如果完全按自己掌握的标准打分，很可能会把这个需求排在末位，做出与组织真实利益相悖的决定。</a:t>
            </a:r>
            <a:endParaRPr lang="en-US" sz="1300" dirty="0"/>
          </a:p>
        </p:txBody>
      </p:sp>
      <p:sp>
        <p:nvSpPr>
          <p:cNvPr id="7" name="Text 5"/>
          <p:cNvSpPr/>
          <p:nvPr/>
        </p:nvSpPr>
        <p:spPr>
          <a:xfrm>
            <a:off x="548640" y="3520440"/>
            <a:ext cx="11064240" cy="1005840"/>
          </a:xfrm>
          <a:prstGeom prst="rect">
            <a:avLst/>
          </a:prstGeom>
          <a:noFill/>
          <a:ln/>
        </p:spPr>
        <p:txBody>
          <a:bodyPr wrap="square" lIns="0" tIns="0" rIns="0" bIns="0" rtlCol="0" anchor="ctr"/>
          <a:lstStyle/>
          <a:p>
            <a:pPr indent="0" marL="0">
              <a:lnSpc>
                <a:spcPct val="130000"/>
              </a:lnSpc>
              <a:buNone/>
            </a:pPr>
            <a:r>
              <a:rPr lang="en-US" sz="1400" i="1" dirty="0">
                <a:solidFill>
                  <a:srgbClr val="1B2A4A"/>
                </a:solidFill>
                <a:latin typeface="Cambria" pitchFamily="34" charset="0"/>
                <a:ea typeface="Cambria" pitchFamily="34" charset="-122"/>
                <a:cs typeface="Cambria" pitchFamily="34" charset="-120"/>
              </a:rPr>
              <a:t>仲裁框架不是要求经理在任何情境下都完全依赖自己的判断模型独立裁决，而是要求经理对「自己掌握的信息是否足够支撑这次裁决」保持警觉。当某个需求方明显处于更高的权力层级，或经理能感觉到背后可能有未掌握的更大考量时，承认信息不对称、向上请教或暂缓裁决，比教条地坚持自己的仲裁模型更负责任。</a:t>
            </a:r>
            <a:endParaRPr lang="en-US" sz="1400" dirty="0"/>
          </a:p>
        </p:txBody>
      </p:sp>
      <p:sp>
        <p:nvSpPr>
          <p:cNvPr id="8" name="Shape 6"/>
          <p:cNvSpPr/>
          <p:nvPr/>
        </p:nvSpPr>
        <p:spPr>
          <a:xfrm>
            <a:off x="548640" y="4709160"/>
            <a:ext cx="11064240" cy="1188720"/>
          </a:xfrm>
          <a:prstGeom prst="roundRect">
            <a:avLst>
              <a:gd name="adj" fmla="val 6154"/>
            </a:avLst>
          </a:prstGeom>
          <a:solidFill>
            <a:srgbClr val="EEF1F6"/>
          </a:solidFill>
          <a:ln/>
          <a:effectLst>
            <a:outerShdw sx="100000" sy="100000" kx="0" ky="0" algn="bl" rotWithShape="0" blurRad="101600" dist="38100" dir="5400000">
              <a:srgbClr val="1B2A4A">
                <a:alpha val="10000"/>
              </a:srgbClr>
            </a:outerShdw>
          </a:effectLst>
        </p:spPr>
      </p:sp>
      <p:sp>
        <p:nvSpPr>
          <p:cNvPr id="9" name="Text 7"/>
          <p:cNvSpPr/>
          <p:nvPr/>
        </p:nvSpPr>
        <p:spPr>
          <a:xfrm>
            <a:off x="868680" y="4846320"/>
            <a:ext cx="3657600" cy="274320"/>
          </a:xfrm>
          <a:prstGeom prst="rect">
            <a:avLst/>
          </a:prstGeom>
          <a:noFill/>
          <a:ln/>
        </p:spPr>
        <p:txBody>
          <a:bodyPr wrap="square" lIns="0" tIns="0" rIns="0" bIns="0" rtlCol="0" anchor="ctr"/>
          <a:lstStyle/>
          <a:p>
            <a:pPr indent="0" marL="0">
              <a:buNone/>
            </a:pPr>
            <a:r>
              <a:rPr lang="en-US" sz="1100" b="1" spc="100" kern="0" dirty="0">
                <a:solidFill>
                  <a:srgbClr val="9C5536"/>
                </a:solidFill>
                <a:latin typeface="Calibri" pitchFamily="34" charset="0"/>
                <a:ea typeface="Calibri" pitchFamily="34" charset="-122"/>
                <a:cs typeface="Calibri" pitchFamily="34" charset="-120"/>
              </a:rPr>
              <a:t>跨模块呼应</a:t>
            </a:r>
            <a:endParaRPr lang="en-US" sz="1100" dirty="0"/>
          </a:p>
        </p:txBody>
      </p:sp>
      <p:sp>
        <p:nvSpPr>
          <p:cNvPr id="10" name="Text 8"/>
          <p:cNvSpPr/>
          <p:nvPr/>
        </p:nvSpPr>
        <p:spPr>
          <a:xfrm>
            <a:off x="868680" y="5138928"/>
            <a:ext cx="10424160" cy="713232"/>
          </a:xfrm>
          <a:prstGeom prst="rect">
            <a:avLst/>
          </a:prstGeom>
          <a:noFill/>
          <a:ln/>
        </p:spPr>
        <p:txBody>
          <a:bodyPr wrap="square" lIns="0" tIns="0" rIns="0" bIns="0" rtlCol="0" anchor="t"/>
          <a:lstStyle/>
          <a:p>
            <a:pPr indent="0" marL="0">
              <a:lnSpc>
                <a:spcPct val="120000"/>
              </a:lnSpc>
              <a:buNone/>
            </a:pPr>
            <a:r>
              <a:rPr lang="en-US" sz="1250" dirty="0">
                <a:solidFill>
                  <a:srgbClr val="33363B"/>
                </a:solidFill>
                <a:latin typeface="Calibri" pitchFamily="34" charset="0"/>
                <a:ea typeface="Calibri" pitchFamily="34" charset="-122"/>
                <a:cs typeface="Calibri" pitchFamily="34" charset="-120"/>
              </a:rPr>
              <a:t>这一点也是层级二M6《战略对齐》要展开的内容的前奏——部门层面的资源仲裁，最终需要服从于组织更高层面的战略取舍，这正是部门经理向上理解战略意图的起点。</a:t>
            </a:r>
            <a:endParaRPr lang="en-US" sz="1250" dirty="0"/>
          </a:p>
        </p:txBody>
      </p:sp>
      <p:sp>
        <p:nvSpPr>
          <p:cNvPr id="11" name="Text 9"/>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M5 需求仲裁</a:t>
            </a:r>
            <a:endParaRPr lang="en-US" sz="900" dirty="0"/>
          </a:p>
        </p:txBody>
      </p:sp>
      <p:sp>
        <p:nvSpPr>
          <p:cNvPr id="12" name="Text 10"/>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6 / 17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机制解释</a:t>
            </a:r>
            <a:endParaRPr lang="en-US" sz="1300" dirty="0"/>
          </a:p>
        </p:txBody>
      </p:sp>
      <p:sp>
        <p:nvSpPr>
          <p:cNvPr id="3" name="Text 1"/>
          <p:cNvSpPr/>
          <p:nvPr/>
        </p:nvSpPr>
        <p:spPr>
          <a:xfrm>
            <a:off x="548640" y="722376"/>
            <a:ext cx="11064240" cy="914400"/>
          </a:xfrm>
          <a:prstGeom prst="rect">
            <a:avLst/>
          </a:prstGeom>
          <a:noFill/>
          <a:ln/>
        </p:spPr>
        <p:txBody>
          <a:bodyPr wrap="square" lIns="0" tIns="0" rIns="0" bIns="0" rtlCol="0" anchor="ctr"/>
          <a:lstStyle/>
          <a:p>
            <a:pPr indent="0" marL="0">
              <a:buNone/>
            </a:pPr>
            <a:r>
              <a:rPr lang="en-US" sz="2500" b="1" dirty="0">
                <a:solidFill>
                  <a:srgbClr val="1B2A4A"/>
                </a:solidFill>
                <a:latin typeface="Cambria" pitchFamily="34" charset="0"/>
                <a:ea typeface="Cambria" pitchFamily="34" charset="-122"/>
                <a:cs typeface="Cambria" pitchFamily="34" charset="-120"/>
              </a:rPr>
              <a:t>为什么经理本能地倾向回避明确的取舍</a:t>
            </a:r>
            <a:endParaRPr lang="en-US" sz="2500" dirty="0"/>
          </a:p>
        </p:txBody>
      </p:sp>
      <p:sp>
        <p:nvSpPr>
          <p:cNvPr id="4" name="Shape 2"/>
          <p:cNvSpPr/>
          <p:nvPr/>
        </p:nvSpPr>
        <p:spPr>
          <a:xfrm>
            <a:off x="548640" y="1828800"/>
            <a:ext cx="5349240" cy="2834640"/>
          </a:xfrm>
          <a:prstGeom prst="roundRect">
            <a:avLst>
              <a:gd name="adj" fmla="val 2581"/>
            </a:avLst>
          </a:prstGeom>
          <a:solidFill>
            <a:srgbClr val="F5EEEA"/>
          </a:solidFill>
          <a:ln/>
          <a:effectLst>
            <a:outerShdw sx="100000" sy="100000" kx="0" ky="0" algn="bl" rotWithShape="0" blurRad="101600" dist="38100" dir="5400000">
              <a:srgbClr val="1B2A4A">
                <a:alpha val="10000"/>
              </a:srgbClr>
            </a:outerShdw>
          </a:effectLst>
        </p:spPr>
      </p:sp>
      <p:sp>
        <p:nvSpPr>
          <p:cNvPr id="5" name="Text 3"/>
          <p:cNvSpPr/>
          <p:nvPr/>
        </p:nvSpPr>
        <p:spPr>
          <a:xfrm>
            <a:off x="868680" y="2103120"/>
            <a:ext cx="4709160" cy="457200"/>
          </a:xfrm>
          <a:prstGeom prst="rect">
            <a:avLst/>
          </a:prstGeom>
          <a:noFill/>
          <a:ln/>
        </p:spPr>
        <p:txBody>
          <a:bodyPr wrap="square" lIns="0" tIns="0" rIns="0" bIns="0" rtlCol="0" anchor="ctr"/>
          <a:lstStyle/>
          <a:p>
            <a:pPr indent="0" marL="0">
              <a:buNone/>
            </a:pPr>
            <a:r>
              <a:rPr lang="en-US" sz="1700" b="1" dirty="0">
                <a:solidFill>
                  <a:srgbClr val="9C5536"/>
                </a:solidFill>
                <a:latin typeface="Cambria" pitchFamily="34" charset="0"/>
                <a:ea typeface="Cambria" pitchFamily="34" charset="-122"/>
                <a:cs typeface="Cambria" pitchFamily="34" charset="-120"/>
              </a:rPr>
              <a:t>冲突规避的即时收益</a:t>
            </a:r>
            <a:endParaRPr lang="en-US" sz="1700" dirty="0"/>
          </a:p>
        </p:txBody>
      </p:sp>
      <p:sp>
        <p:nvSpPr>
          <p:cNvPr id="6" name="Text 4"/>
          <p:cNvSpPr/>
          <p:nvPr/>
        </p:nvSpPr>
        <p:spPr>
          <a:xfrm>
            <a:off x="868680" y="2670048"/>
            <a:ext cx="4709160" cy="1737360"/>
          </a:xfrm>
          <a:prstGeom prst="rect">
            <a:avLst/>
          </a:prstGeom>
          <a:noFill/>
          <a:ln/>
        </p:spPr>
        <p:txBody>
          <a:bodyPr wrap="square" lIns="0" tIns="0" rIns="0" bIns="0" rtlCol="0" anchor="t"/>
          <a:lstStyle/>
          <a:p>
            <a:pPr indent="0" marL="0">
              <a:lnSpc>
                <a:spcPct val="128000"/>
              </a:lnSpc>
              <a:buNone/>
            </a:pPr>
            <a:r>
              <a:rPr lang="en-US" sz="1250" dirty="0">
                <a:solidFill>
                  <a:srgbClr val="33363B"/>
                </a:solidFill>
                <a:latin typeface="Calibri" pitchFamily="34" charset="0"/>
                <a:ea typeface="Calibri" pitchFamily="34" charset="-122"/>
                <a:cs typeface="Calibri" pitchFamily="34" charset="-120"/>
              </a:rPr>
              <a:t>明确拒绝某个需求方，会立刻引发对方当下的不满和摩擦；而平均分配可以让这种不满被推迟、被分散到未来。规避冲突带来的心理舒适感是即时且确定的，而平均分配导致的项目失败是延迟且模糊的，这种时间结构上的不对称，与层级二M1机制解释中的「反馈延迟差异」是同一类心理结构。</a:t>
            </a:r>
            <a:endParaRPr lang="en-US" sz="1250" dirty="0"/>
          </a:p>
        </p:txBody>
      </p:sp>
      <p:sp>
        <p:nvSpPr>
          <p:cNvPr id="7" name="Shape 5"/>
          <p:cNvSpPr/>
          <p:nvPr/>
        </p:nvSpPr>
        <p:spPr>
          <a:xfrm>
            <a:off x="6263640" y="1828800"/>
            <a:ext cx="5349240" cy="2834640"/>
          </a:xfrm>
          <a:prstGeom prst="roundRect">
            <a:avLst>
              <a:gd name="adj" fmla="val 2581"/>
            </a:avLst>
          </a:prstGeom>
          <a:solidFill>
            <a:srgbClr val="EEF1F6"/>
          </a:solidFill>
          <a:ln/>
          <a:effectLst>
            <a:outerShdw sx="100000" sy="100000" kx="0" ky="0" algn="bl" rotWithShape="0" blurRad="101600" dist="38100" dir="5400000">
              <a:srgbClr val="1B2A4A">
                <a:alpha val="10000"/>
              </a:srgbClr>
            </a:outerShdw>
          </a:effectLst>
        </p:spPr>
      </p:sp>
      <p:sp>
        <p:nvSpPr>
          <p:cNvPr id="8" name="Text 6"/>
          <p:cNvSpPr/>
          <p:nvPr/>
        </p:nvSpPr>
        <p:spPr>
          <a:xfrm>
            <a:off x="6583680" y="2103120"/>
            <a:ext cx="4709160" cy="457200"/>
          </a:xfrm>
          <a:prstGeom prst="rect">
            <a:avLst/>
          </a:prstGeom>
          <a:noFill/>
          <a:ln/>
        </p:spPr>
        <p:txBody>
          <a:bodyPr wrap="square" lIns="0" tIns="0" rIns="0" bIns="0" rtlCol="0" anchor="ctr"/>
          <a:lstStyle/>
          <a:p>
            <a:pPr indent="0" marL="0">
              <a:buNone/>
            </a:pPr>
            <a:r>
              <a:rPr lang="en-US" sz="1700" b="1" dirty="0">
                <a:solidFill>
                  <a:srgbClr val="1B2A4A"/>
                </a:solidFill>
                <a:latin typeface="Cambria" pitchFamily="34" charset="0"/>
                <a:ea typeface="Cambria" pitchFamily="34" charset="-122"/>
                <a:cs typeface="Cambria" pitchFamily="34" charset="-120"/>
              </a:rPr>
              <a:t>公平的误解</a:t>
            </a:r>
            <a:endParaRPr lang="en-US" sz="1700" dirty="0"/>
          </a:p>
        </p:txBody>
      </p:sp>
      <p:sp>
        <p:nvSpPr>
          <p:cNvPr id="9" name="Text 7"/>
          <p:cNvSpPr/>
          <p:nvPr/>
        </p:nvSpPr>
        <p:spPr>
          <a:xfrm>
            <a:off x="6583680" y="2670048"/>
            <a:ext cx="4709160" cy="1737360"/>
          </a:xfrm>
          <a:prstGeom prst="rect">
            <a:avLst/>
          </a:prstGeom>
          <a:noFill/>
          <a:ln/>
        </p:spPr>
        <p:txBody>
          <a:bodyPr wrap="square" lIns="0" tIns="0" rIns="0" bIns="0" rtlCol="0" anchor="t"/>
          <a:lstStyle/>
          <a:p>
            <a:pPr indent="0" marL="0">
              <a:lnSpc>
                <a:spcPct val="128000"/>
              </a:lnSpc>
              <a:buNone/>
            </a:pPr>
            <a:r>
              <a:rPr lang="en-US" sz="1250" dirty="0">
                <a:solidFill>
                  <a:srgbClr val="33363B"/>
                </a:solidFill>
                <a:latin typeface="Calibri" pitchFamily="34" charset="0"/>
                <a:ea typeface="Calibri" pitchFamily="34" charset="-122"/>
                <a:cs typeface="Calibri" pitchFamily="34" charset="-120"/>
              </a:rPr>
              <a:t>很多经理把公平等同于过程上一视同仁，却忽略了公平更应该体现在裁决依据是否经得起检验，这种对公平概念的误读，让平均分配在直觉上显得比明确取舍更正确，即使它的实际后果更糟。</a:t>
            </a:r>
            <a:endParaRPr lang="en-US" sz="1250" dirty="0"/>
          </a:p>
        </p:txBody>
      </p:sp>
      <p:sp>
        <p:nvSpPr>
          <p:cNvPr id="10" name="Text 8"/>
          <p:cNvSpPr/>
          <p:nvPr/>
        </p:nvSpPr>
        <p:spPr>
          <a:xfrm>
            <a:off x="548640" y="4892040"/>
            <a:ext cx="11064240" cy="640080"/>
          </a:xfrm>
          <a:prstGeom prst="rect">
            <a:avLst/>
          </a:prstGeom>
          <a:noFill/>
          <a:ln/>
        </p:spPr>
        <p:txBody>
          <a:bodyPr wrap="square" lIns="0" tIns="0" rIns="0" bIns="0" rtlCol="0" anchor="ctr"/>
          <a:lstStyle/>
          <a:p>
            <a:pPr algn="l" indent="0" marL="0">
              <a:buNone/>
            </a:pPr>
            <a:r>
              <a:rPr lang="en-US" sz="1550" b="1" i="1" dirty="0">
                <a:solidFill>
                  <a:srgbClr val="1B2A4A"/>
                </a:solidFill>
                <a:latin typeface="Cambria" pitchFamily="34" charset="0"/>
                <a:ea typeface="Cambria" pitchFamily="34" charset="-122"/>
                <a:cs typeface="Cambria" pitchFamily="34" charset="-120"/>
              </a:rPr>
              <a:t>识别这种对公平的误读本身，是需求仲裁这件事真正的起点。</a:t>
            </a:r>
            <a:endParaRPr lang="en-US" sz="1550" dirty="0"/>
          </a:p>
        </p:txBody>
      </p:sp>
      <p:sp>
        <p:nvSpPr>
          <p:cNvPr id="11" name="Text 9"/>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M5 需求仲裁</a:t>
            </a:r>
            <a:endParaRPr lang="en-US" sz="900" dirty="0"/>
          </a:p>
        </p:txBody>
      </p:sp>
      <p:sp>
        <p:nvSpPr>
          <p:cNvPr id="12" name="Text 10"/>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7 / 17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案例 1</a:t>
            </a:r>
            <a:endParaRPr lang="en-US" sz="1300" dirty="0"/>
          </a:p>
        </p:txBody>
      </p:sp>
      <p:sp>
        <p:nvSpPr>
          <p:cNvPr id="3" name="Text 1"/>
          <p:cNvSpPr/>
          <p:nvPr/>
        </p:nvSpPr>
        <p:spPr>
          <a:xfrm>
            <a:off x="548640" y="722376"/>
            <a:ext cx="11064240" cy="914400"/>
          </a:xfrm>
          <a:prstGeom prst="rect">
            <a:avLst/>
          </a:prstGeom>
          <a:noFill/>
          <a:ln/>
        </p:spPr>
        <p:txBody>
          <a:bodyPr wrap="square" lIns="0" tIns="0" rIns="0" bIns="0" rtlCol="0" anchor="ctr"/>
          <a:lstStyle/>
          <a:p>
            <a:pPr indent="0" marL="0">
              <a:buNone/>
            </a:pPr>
            <a:r>
              <a:rPr lang="en-US" sz="2300" b="1" dirty="0">
                <a:solidFill>
                  <a:srgbClr val="1B2A4A"/>
                </a:solidFill>
                <a:latin typeface="Cambria" pitchFamily="34" charset="0"/>
                <a:ea typeface="Cambria" pitchFamily="34" charset="-122"/>
                <a:cs typeface="Cambria" pitchFamily="34" charset="-120"/>
              </a:rPr>
              <a:t>把三个需求摆在同一张表上打分</a:t>
            </a:r>
            <a:endParaRPr lang="en-US" sz="2300" dirty="0"/>
          </a:p>
        </p:txBody>
      </p:sp>
      <p:sp>
        <p:nvSpPr>
          <p:cNvPr id="4" name="Shape 2"/>
          <p:cNvSpPr/>
          <p:nvPr/>
        </p:nvSpPr>
        <p:spPr>
          <a:xfrm>
            <a:off x="548640" y="1737360"/>
            <a:ext cx="1188720" cy="292608"/>
          </a:xfrm>
          <a:prstGeom prst="roundRect">
            <a:avLst>
              <a:gd name="adj" fmla="val 18750"/>
            </a:avLst>
          </a:prstGeom>
          <a:solidFill>
            <a:srgbClr val="4F6F52"/>
          </a:solidFill>
          <a:ln/>
        </p:spPr>
      </p:sp>
      <p:sp>
        <p:nvSpPr>
          <p:cNvPr id="5" name="Text 3"/>
          <p:cNvSpPr/>
          <p:nvPr/>
        </p:nvSpPr>
        <p:spPr>
          <a:xfrm>
            <a:off x="548640" y="1737360"/>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正面案例</a:t>
            </a:r>
            <a:endParaRPr lang="en-US" sz="1100" dirty="0"/>
          </a:p>
        </p:txBody>
      </p:sp>
      <p:sp>
        <p:nvSpPr>
          <p:cNvPr id="6" name="Shape 4"/>
          <p:cNvSpPr/>
          <p:nvPr/>
        </p:nvSpPr>
        <p:spPr>
          <a:xfrm>
            <a:off x="548640" y="2240280"/>
            <a:ext cx="11064240" cy="3840480"/>
          </a:xfrm>
          <a:prstGeom prst="roundRect">
            <a:avLst>
              <a:gd name="adj" fmla="val 1905"/>
            </a:avLst>
          </a:prstGeom>
          <a:solidFill>
            <a:srgbClr val="FFFFFF"/>
          </a:solidFill>
          <a:ln/>
          <a:effectLst>
            <a:outerShdw sx="100000" sy="100000" kx="0" ky="0" algn="bl" rotWithShape="0" blurRad="101600" dist="38100" dir="5400000">
              <a:srgbClr val="1B2A4A">
                <a:alpha val="10000"/>
              </a:srgbClr>
            </a:outerShdw>
          </a:effectLst>
        </p:spPr>
      </p:sp>
      <p:sp>
        <p:nvSpPr>
          <p:cNvPr id="7" name="Text 5"/>
          <p:cNvSpPr/>
          <p:nvPr/>
        </p:nvSpPr>
        <p:spPr>
          <a:xfrm>
            <a:off x="914400" y="2514600"/>
            <a:ext cx="10332720" cy="3291840"/>
          </a:xfrm>
          <a:prstGeom prst="rect">
            <a:avLst/>
          </a:prstGeom>
          <a:noFill/>
          <a:ln/>
        </p:spPr>
        <p:txBody>
          <a:bodyPr wrap="square" lIns="0" tIns="0" rIns="0" bIns="0" rtlCol="0" anchor="t"/>
          <a:lstStyle/>
          <a:p>
            <a:pPr indent="0" marL="0">
              <a:lnSpc>
                <a:spcPct val="140000"/>
              </a:lnSpc>
              <a:buNone/>
            </a:pPr>
            <a:r>
              <a:rPr lang="en-US" sz="1450" dirty="0">
                <a:solidFill>
                  <a:srgbClr val="33363B"/>
                </a:solidFill>
                <a:latin typeface="Calibri" pitchFamily="34" charset="0"/>
                <a:ea typeface="Calibri" pitchFamily="34" charset="-122"/>
                <a:cs typeface="Calibri" pitchFamily="34" charset="-120"/>
              </a:rPr>
              <a:t>某部门经理面对三个同时提出的产线改造需求，用紧急度、影响范围、不响应代价三个维度给每个需求打分，最终决定全力支持其中一个、明确告知另外两个需求方现在的资源状况，并约定了下次评估的时间点。被优先支持的项目按时交付，另外两个需求方虽然这次没被满足，但表示理解，团队对经理的仲裁方式给出了正面反馈。</a:t>
            </a:r>
            <a:endParaRPr lang="en-US" sz="1450" dirty="0"/>
          </a:p>
        </p:txBody>
      </p:sp>
      <p:sp>
        <p:nvSpPr>
          <p:cNvPr id="8" name="Text 6"/>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M5 需求仲裁</a:t>
            </a:r>
            <a:endParaRPr lang="en-US" sz="900" dirty="0"/>
          </a:p>
        </p:txBody>
      </p:sp>
      <p:sp>
        <p:nvSpPr>
          <p:cNvPr id="9" name="Text 7"/>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8 / 17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案例 2</a:t>
            </a:r>
            <a:endParaRPr lang="en-US" sz="1300" dirty="0"/>
          </a:p>
        </p:txBody>
      </p:sp>
      <p:sp>
        <p:nvSpPr>
          <p:cNvPr id="3" name="Text 1"/>
          <p:cNvSpPr/>
          <p:nvPr/>
        </p:nvSpPr>
        <p:spPr>
          <a:xfrm>
            <a:off x="548640" y="722376"/>
            <a:ext cx="11064240" cy="914400"/>
          </a:xfrm>
          <a:prstGeom prst="rect">
            <a:avLst/>
          </a:prstGeom>
          <a:noFill/>
          <a:ln/>
        </p:spPr>
        <p:txBody>
          <a:bodyPr wrap="square" lIns="0" tIns="0" rIns="0" bIns="0" rtlCol="0" anchor="ctr"/>
          <a:lstStyle/>
          <a:p>
            <a:pPr indent="0" marL="0">
              <a:buNone/>
            </a:pPr>
            <a:r>
              <a:rPr lang="en-US" sz="2300" b="1" dirty="0">
                <a:solidFill>
                  <a:srgbClr val="1B2A4A"/>
                </a:solidFill>
                <a:latin typeface="Cambria" pitchFamily="34" charset="0"/>
                <a:ea typeface="Cambria" pitchFamily="34" charset="-122"/>
                <a:cs typeface="Cambria" pitchFamily="34" charset="-120"/>
              </a:rPr>
              <a:t>三个项目都做了，三个项目都没做完</a:t>
            </a:r>
            <a:endParaRPr lang="en-US" sz="2300" dirty="0"/>
          </a:p>
        </p:txBody>
      </p:sp>
      <p:sp>
        <p:nvSpPr>
          <p:cNvPr id="4" name="Shape 2"/>
          <p:cNvSpPr/>
          <p:nvPr/>
        </p:nvSpPr>
        <p:spPr>
          <a:xfrm>
            <a:off x="548640" y="1737360"/>
            <a:ext cx="1188720" cy="292608"/>
          </a:xfrm>
          <a:prstGeom prst="roundRect">
            <a:avLst>
              <a:gd name="adj" fmla="val 18750"/>
            </a:avLst>
          </a:prstGeom>
          <a:solidFill>
            <a:srgbClr val="9C5536"/>
          </a:solidFill>
          <a:ln/>
        </p:spPr>
      </p:sp>
      <p:sp>
        <p:nvSpPr>
          <p:cNvPr id="5" name="Text 3"/>
          <p:cNvSpPr/>
          <p:nvPr/>
        </p:nvSpPr>
        <p:spPr>
          <a:xfrm>
            <a:off x="548640" y="1737360"/>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反面案例</a:t>
            </a:r>
            <a:endParaRPr lang="en-US" sz="1100" dirty="0"/>
          </a:p>
        </p:txBody>
      </p:sp>
      <p:sp>
        <p:nvSpPr>
          <p:cNvPr id="6" name="Shape 4"/>
          <p:cNvSpPr/>
          <p:nvPr/>
        </p:nvSpPr>
        <p:spPr>
          <a:xfrm>
            <a:off x="548640" y="2240280"/>
            <a:ext cx="11064240" cy="3840480"/>
          </a:xfrm>
          <a:prstGeom prst="roundRect">
            <a:avLst>
              <a:gd name="adj" fmla="val 1905"/>
            </a:avLst>
          </a:prstGeom>
          <a:solidFill>
            <a:srgbClr val="FFFFFF"/>
          </a:solidFill>
          <a:ln/>
          <a:effectLst>
            <a:outerShdw sx="100000" sy="100000" kx="0" ky="0" algn="bl" rotWithShape="0" blurRad="101600" dist="38100" dir="5400000">
              <a:srgbClr val="1B2A4A">
                <a:alpha val="10000"/>
              </a:srgbClr>
            </a:outerShdw>
          </a:effectLst>
        </p:spPr>
      </p:sp>
      <p:sp>
        <p:nvSpPr>
          <p:cNvPr id="7" name="Text 5"/>
          <p:cNvSpPr/>
          <p:nvPr/>
        </p:nvSpPr>
        <p:spPr>
          <a:xfrm>
            <a:off x="914400" y="2514600"/>
            <a:ext cx="10332720" cy="3291840"/>
          </a:xfrm>
          <a:prstGeom prst="rect">
            <a:avLst/>
          </a:prstGeom>
          <a:noFill/>
          <a:ln/>
        </p:spPr>
        <p:txBody>
          <a:bodyPr wrap="square" lIns="0" tIns="0" rIns="0" bIns="0" rtlCol="0" anchor="t"/>
          <a:lstStyle/>
          <a:p>
            <a:pPr indent="0" marL="0">
              <a:lnSpc>
                <a:spcPct val="140000"/>
              </a:lnSpc>
              <a:buNone/>
            </a:pPr>
            <a:r>
              <a:rPr lang="en-US" sz="1450" dirty="0">
                <a:solidFill>
                  <a:srgbClr val="33363B"/>
                </a:solidFill>
                <a:latin typeface="Calibri" pitchFamily="34" charset="0"/>
                <a:ea typeface="Calibri" pitchFamily="34" charset="-122"/>
                <a:cs typeface="Calibri" pitchFamily="34" charset="-120"/>
              </a:rPr>
              <a:t>某部门经理面对类似局面，选择把现有产能平均分给三个需求方，两个月后三个项目全部延期，没有一个达到可用标准，三个需求方都不满意，都认为自己的项目明明该优先却被拖累，团队也因为同时打三场仗而疲惫不堪，士气明显下降。</a:t>
            </a:r>
            <a:endParaRPr lang="en-US" sz="1450" dirty="0"/>
          </a:p>
        </p:txBody>
      </p:sp>
      <p:sp>
        <p:nvSpPr>
          <p:cNvPr id="8" name="Text 6"/>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M5 需求仲裁</a:t>
            </a:r>
            <a:endParaRPr lang="en-US" sz="900" dirty="0"/>
          </a:p>
        </p:txBody>
      </p:sp>
      <p:sp>
        <p:nvSpPr>
          <p:cNvPr id="9" name="Text 7"/>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9 / 17</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案例 3</a:t>
            </a:r>
            <a:endParaRPr lang="en-US" sz="1300" dirty="0"/>
          </a:p>
        </p:txBody>
      </p:sp>
      <p:sp>
        <p:nvSpPr>
          <p:cNvPr id="3" name="Text 1"/>
          <p:cNvSpPr/>
          <p:nvPr/>
        </p:nvSpPr>
        <p:spPr>
          <a:xfrm>
            <a:off x="548640" y="722376"/>
            <a:ext cx="11064240" cy="914400"/>
          </a:xfrm>
          <a:prstGeom prst="rect">
            <a:avLst/>
          </a:prstGeom>
          <a:noFill/>
          <a:ln/>
        </p:spPr>
        <p:txBody>
          <a:bodyPr wrap="square" lIns="0" tIns="0" rIns="0" bIns="0" rtlCol="0" anchor="ctr"/>
          <a:lstStyle/>
          <a:p>
            <a:pPr indent="0" marL="0">
              <a:buNone/>
            </a:pPr>
            <a:r>
              <a:rPr lang="en-US" sz="2300" b="1" dirty="0">
                <a:solidFill>
                  <a:srgbClr val="1B2A4A"/>
                </a:solidFill>
                <a:latin typeface="Cambria" pitchFamily="34" charset="0"/>
                <a:ea typeface="Cambria" pitchFamily="34" charset="-122"/>
                <a:cs typeface="Cambria" pitchFamily="34" charset="-120"/>
              </a:rPr>
              <a:t>差点排错序的那一次</a:t>
            </a:r>
            <a:endParaRPr lang="en-US" sz="2300" dirty="0"/>
          </a:p>
        </p:txBody>
      </p:sp>
      <p:sp>
        <p:nvSpPr>
          <p:cNvPr id="4" name="Shape 2"/>
          <p:cNvSpPr/>
          <p:nvPr/>
        </p:nvSpPr>
        <p:spPr>
          <a:xfrm>
            <a:off x="548640" y="1737360"/>
            <a:ext cx="1188720" cy="292608"/>
          </a:xfrm>
          <a:prstGeom prst="roundRect">
            <a:avLst>
              <a:gd name="adj" fmla="val 18750"/>
            </a:avLst>
          </a:prstGeom>
          <a:solidFill>
            <a:srgbClr val="8A6D1F"/>
          </a:solidFill>
          <a:ln/>
        </p:spPr>
      </p:sp>
      <p:sp>
        <p:nvSpPr>
          <p:cNvPr id="5" name="Text 3"/>
          <p:cNvSpPr/>
          <p:nvPr/>
        </p:nvSpPr>
        <p:spPr>
          <a:xfrm>
            <a:off x="548640" y="1737360"/>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边界场景</a:t>
            </a:r>
            <a:endParaRPr lang="en-US" sz="1100" dirty="0"/>
          </a:p>
        </p:txBody>
      </p:sp>
      <p:sp>
        <p:nvSpPr>
          <p:cNvPr id="6" name="Shape 4"/>
          <p:cNvSpPr/>
          <p:nvPr/>
        </p:nvSpPr>
        <p:spPr>
          <a:xfrm>
            <a:off x="548640" y="2240280"/>
            <a:ext cx="11064240" cy="3840480"/>
          </a:xfrm>
          <a:prstGeom prst="roundRect">
            <a:avLst>
              <a:gd name="adj" fmla="val 1905"/>
            </a:avLst>
          </a:prstGeom>
          <a:solidFill>
            <a:srgbClr val="FFFFFF"/>
          </a:solidFill>
          <a:ln/>
          <a:effectLst>
            <a:outerShdw sx="100000" sy="100000" kx="0" ky="0" algn="bl" rotWithShape="0" blurRad="101600" dist="38100" dir="5400000">
              <a:srgbClr val="1B2A4A">
                <a:alpha val="10000"/>
              </a:srgbClr>
            </a:outerShdw>
          </a:effectLst>
        </p:spPr>
      </p:sp>
      <p:sp>
        <p:nvSpPr>
          <p:cNvPr id="7" name="Text 5"/>
          <p:cNvSpPr/>
          <p:nvPr/>
        </p:nvSpPr>
        <p:spPr>
          <a:xfrm>
            <a:off x="914400" y="2514600"/>
            <a:ext cx="10332720" cy="3291840"/>
          </a:xfrm>
          <a:prstGeom prst="rect">
            <a:avLst/>
          </a:prstGeom>
          <a:noFill/>
          <a:ln/>
        </p:spPr>
        <p:txBody>
          <a:bodyPr wrap="square" lIns="0" tIns="0" rIns="0" bIns="0" rtlCol="0" anchor="t"/>
          <a:lstStyle/>
          <a:p>
            <a:pPr indent="0" marL="0">
              <a:lnSpc>
                <a:spcPct val="140000"/>
              </a:lnSpc>
              <a:buNone/>
            </a:pPr>
            <a:r>
              <a:rPr lang="en-US" sz="1450" dirty="0">
                <a:solidFill>
                  <a:srgbClr val="33363B"/>
                </a:solidFill>
                <a:latin typeface="Calibri" pitchFamily="34" charset="0"/>
                <a:ea typeface="Calibri" pitchFamily="34" charset="-122"/>
                <a:cs typeface="Calibri" pitchFamily="34" charset="-120"/>
              </a:rPr>
              <a:t>某次资源仲裁中，部门经理按自己掌握的标准准备把一个需求排在末位，临时听说这个需求背后牵涉一项尚未公开的战略合作，于是暂缓了最终裁决，先向上级确认情况，最终调整了优先级排序，避免了一次可能损害组织真实利益的决定。</a:t>
            </a:r>
            <a:endParaRPr lang="en-US" sz="1450" dirty="0"/>
          </a:p>
        </p:txBody>
      </p:sp>
      <p:sp>
        <p:nvSpPr>
          <p:cNvPr id="8" name="Text 6"/>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M5 需求仲裁</a:t>
            </a:r>
            <a:endParaRPr lang="en-US" sz="900" dirty="0"/>
          </a:p>
        </p:txBody>
      </p:sp>
      <p:sp>
        <p:nvSpPr>
          <p:cNvPr id="9" name="Text 7"/>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10 / 17</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误区 1</a:t>
            </a:r>
            <a:endParaRPr lang="en-US" sz="1300" dirty="0"/>
          </a:p>
        </p:txBody>
      </p:sp>
      <p:sp>
        <p:nvSpPr>
          <p:cNvPr id="3" name="Text 1"/>
          <p:cNvSpPr/>
          <p:nvPr/>
        </p:nvSpPr>
        <p:spPr>
          <a:xfrm>
            <a:off x="548640" y="722376"/>
            <a:ext cx="11064240" cy="914400"/>
          </a:xfrm>
          <a:prstGeom prst="rect">
            <a:avLst/>
          </a:prstGeom>
          <a:noFill/>
          <a:ln/>
        </p:spPr>
        <p:txBody>
          <a:bodyPr wrap="square" lIns="0" tIns="0" rIns="0" bIns="0" rtlCol="0" anchor="ctr"/>
          <a:lstStyle/>
          <a:p>
            <a:pPr indent="0" marL="0">
              <a:buNone/>
            </a:pPr>
            <a:r>
              <a:rPr lang="en-US" sz="2600" b="1" dirty="0">
                <a:solidFill>
                  <a:srgbClr val="1B2A4A"/>
                </a:solidFill>
                <a:latin typeface="Cambria" pitchFamily="34" charset="0"/>
                <a:ea typeface="Cambria" pitchFamily="34" charset="-122"/>
                <a:cs typeface="Cambria" pitchFamily="34" charset="-120"/>
              </a:rPr>
              <a:t>「平均分配」=公平</a:t>
            </a:r>
            <a:endParaRPr lang="en-US" sz="2600" dirty="0"/>
          </a:p>
        </p:txBody>
      </p:sp>
      <p:sp>
        <p:nvSpPr>
          <p:cNvPr id="4" name="Shape 2"/>
          <p:cNvSpPr/>
          <p:nvPr/>
        </p:nvSpPr>
        <p:spPr>
          <a:xfrm>
            <a:off x="548640" y="1828800"/>
            <a:ext cx="11064240" cy="3291840"/>
          </a:xfrm>
          <a:prstGeom prst="roundRect">
            <a:avLst>
              <a:gd name="adj" fmla="val 2222"/>
            </a:avLst>
          </a:prstGeom>
          <a:solidFill>
            <a:srgbClr val="F5EEEA"/>
          </a:solidFill>
          <a:ln/>
          <a:effectLst>
            <a:outerShdw sx="100000" sy="100000" kx="0" ky="0" algn="bl" rotWithShape="0" blurRad="101600" dist="38100" dir="5400000">
              <a:srgbClr val="1B2A4A">
                <a:alpha val="10000"/>
              </a:srgbClr>
            </a:outerShdw>
          </a:effectLst>
        </p:spPr>
      </p:sp>
      <p:sp>
        <p:nvSpPr>
          <p:cNvPr id="5" name="Text 3"/>
          <p:cNvSpPr/>
          <p:nvPr/>
        </p:nvSpPr>
        <p:spPr>
          <a:xfrm>
            <a:off x="914400" y="2148840"/>
            <a:ext cx="10332720" cy="2697480"/>
          </a:xfrm>
          <a:prstGeom prst="rect">
            <a:avLst/>
          </a:prstGeom>
          <a:noFill/>
          <a:ln/>
        </p:spPr>
        <p:txBody>
          <a:bodyPr wrap="square" lIns="0" tIns="0" rIns="0" bIns="0" rtlCol="0" anchor="t"/>
          <a:lstStyle/>
          <a:p>
            <a:pPr indent="0" marL="0">
              <a:lnSpc>
                <a:spcPct val="140000"/>
              </a:lnSpc>
              <a:buNone/>
            </a:pPr>
            <a:r>
              <a:rPr lang="en-US" sz="1450" dirty="0">
                <a:solidFill>
                  <a:srgbClr val="33363B"/>
                </a:solidFill>
                <a:latin typeface="Calibri" pitchFamily="34" charset="0"/>
                <a:ea typeface="Calibri" pitchFamily="34" charset="-122"/>
                <a:cs typeface="Calibri" pitchFamily="34" charset="-120"/>
              </a:rPr>
              <a:t>很多经理把平均分配当成最安全、最公平的处理方式，但理论框架一已经说明，平均分配很容易让所有项目都落在最低有效投入阈值以下，看似没有明确拒绝任何人，实际上是对所有需求方都不负责任，这正是反面案例的负面机制。</a:t>
            </a:r>
            <a:endParaRPr lang="en-US" sz="1450" dirty="0"/>
          </a:p>
        </p:txBody>
      </p:sp>
      <p:sp>
        <p:nvSpPr>
          <p:cNvPr id="6" name="Text 4"/>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M5 需求仲裁</a:t>
            </a:r>
            <a:endParaRPr lang="en-US" sz="900" dirty="0"/>
          </a:p>
        </p:txBody>
      </p:sp>
      <p:sp>
        <p:nvSpPr>
          <p:cNvPr id="7" name="Text 5"/>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11 / 17</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误区 2</a:t>
            </a:r>
            <a:endParaRPr lang="en-US" sz="1300" dirty="0"/>
          </a:p>
        </p:txBody>
      </p:sp>
      <p:sp>
        <p:nvSpPr>
          <p:cNvPr id="3" name="Text 1"/>
          <p:cNvSpPr/>
          <p:nvPr/>
        </p:nvSpPr>
        <p:spPr>
          <a:xfrm>
            <a:off x="548640" y="722376"/>
            <a:ext cx="11064240" cy="914400"/>
          </a:xfrm>
          <a:prstGeom prst="rect">
            <a:avLst/>
          </a:prstGeom>
          <a:noFill/>
          <a:ln/>
        </p:spPr>
        <p:txBody>
          <a:bodyPr wrap="square" lIns="0" tIns="0" rIns="0" bIns="0" rtlCol="0" anchor="ctr"/>
          <a:lstStyle/>
          <a:p>
            <a:pPr indent="0" marL="0">
              <a:buNone/>
            </a:pPr>
            <a:r>
              <a:rPr lang="en-US" sz="2600" b="1" dirty="0">
                <a:solidFill>
                  <a:srgbClr val="1B2A4A"/>
                </a:solidFill>
                <a:latin typeface="Cambria" pitchFamily="34" charset="0"/>
                <a:ea typeface="Cambria" pitchFamily="34" charset="-122"/>
                <a:cs typeface="Cambria" pitchFamily="34" charset="-120"/>
              </a:rPr>
              <a:t>把仲裁结果说清楚就等于完成了</a:t>
            </a:r>
            <a:endParaRPr lang="en-US" sz="2600" dirty="0"/>
          </a:p>
        </p:txBody>
      </p:sp>
      <p:sp>
        <p:nvSpPr>
          <p:cNvPr id="4" name="Shape 2"/>
          <p:cNvSpPr/>
          <p:nvPr/>
        </p:nvSpPr>
        <p:spPr>
          <a:xfrm>
            <a:off x="548640" y="1828800"/>
            <a:ext cx="11064240" cy="3291840"/>
          </a:xfrm>
          <a:prstGeom prst="roundRect">
            <a:avLst>
              <a:gd name="adj" fmla="val 2222"/>
            </a:avLst>
          </a:prstGeom>
          <a:solidFill>
            <a:srgbClr val="F5EEEA"/>
          </a:solidFill>
          <a:ln/>
          <a:effectLst>
            <a:outerShdw sx="100000" sy="100000" kx="0" ky="0" algn="bl" rotWithShape="0" blurRad="101600" dist="38100" dir="5400000">
              <a:srgbClr val="1B2A4A">
                <a:alpha val="10000"/>
              </a:srgbClr>
            </a:outerShdw>
          </a:effectLst>
        </p:spPr>
      </p:sp>
      <p:sp>
        <p:nvSpPr>
          <p:cNvPr id="5" name="Text 3"/>
          <p:cNvSpPr/>
          <p:nvPr/>
        </p:nvSpPr>
        <p:spPr>
          <a:xfrm>
            <a:off x="914400" y="2148840"/>
            <a:ext cx="10332720" cy="2697480"/>
          </a:xfrm>
          <a:prstGeom prst="rect">
            <a:avLst/>
          </a:prstGeom>
          <a:noFill/>
          <a:ln/>
        </p:spPr>
        <p:txBody>
          <a:bodyPr wrap="square" lIns="0" tIns="0" rIns="0" bIns="0" rtlCol="0" anchor="t"/>
          <a:lstStyle/>
          <a:p>
            <a:pPr indent="0" marL="0">
              <a:lnSpc>
                <a:spcPct val="140000"/>
              </a:lnSpc>
              <a:buNone/>
            </a:pPr>
            <a:r>
              <a:rPr lang="en-US" sz="1450" dirty="0">
                <a:solidFill>
                  <a:srgbClr val="33363B"/>
                </a:solidFill>
                <a:latin typeface="Calibri" pitchFamily="34" charset="0"/>
                <a:ea typeface="Calibri" pitchFamily="34" charset="-122"/>
                <a:cs typeface="Calibri" pitchFamily="34" charset="-120"/>
              </a:rPr>
              <a:t>一些经理认为只要把「为什么这样决定」讲清楚，仲裁这件事就完成了，但理论框架二明确指出，仲裁还包括对被拒绝方后续预期与关系的管理——给出未来的窗口或路径，而不是讲完依据就不再跟进，否则被拒绝方容易认为这件事被永久搁置，反而加剧不满。</a:t>
            </a:r>
            <a:endParaRPr lang="en-US" sz="1450" dirty="0"/>
          </a:p>
        </p:txBody>
      </p:sp>
      <p:sp>
        <p:nvSpPr>
          <p:cNvPr id="6" name="Text 4"/>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M5 需求仲裁</a:t>
            </a:r>
            <a:endParaRPr lang="en-US" sz="900" dirty="0"/>
          </a:p>
        </p:txBody>
      </p:sp>
      <p:sp>
        <p:nvSpPr>
          <p:cNvPr id="7" name="Text 5"/>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12 / 17</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延伸视角 1</a:t>
            </a:r>
            <a:endParaRPr lang="en-US" sz="1300" dirty="0"/>
          </a:p>
        </p:txBody>
      </p:sp>
      <p:sp>
        <p:nvSpPr>
          <p:cNvPr id="3" name="Text 1"/>
          <p:cNvSpPr/>
          <p:nvPr/>
        </p:nvSpPr>
        <p:spPr>
          <a:xfrm>
            <a:off x="548640" y="722376"/>
            <a:ext cx="11064240" cy="914400"/>
          </a:xfrm>
          <a:prstGeom prst="rect">
            <a:avLst/>
          </a:prstGeom>
          <a:noFill/>
          <a:ln/>
        </p:spPr>
        <p:txBody>
          <a:bodyPr wrap="square" lIns="0" tIns="0" rIns="0" bIns="0" rtlCol="0" anchor="ctr"/>
          <a:lstStyle/>
          <a:p>
            <a:pPr indent="0" marL="0">
              <a:buNone/>
            </a:pPr>
            <a:r>
              <a:rPr lang="en-US" sz="2500" b="1" dirty="0">
                <a:solidFill>
                  <a:srgbClr val="1B2A4A"/>
                </a:solidFill>
                <a:latin typeface="Cambria" pitchFamily="34" charset="0"/>
                <a:ea typeface="Cambria" pitchFamily="34" charset="-122"/>
                <a:cs typeface="Cambria" pitchFamily="34" charset="-120"/>
              </a:rPr>
              <a:t>与层级一防火墙和跨部门沟通的跨层呼应</a:t>
            </a:r>
            <a:endParaRPr lang="en-US" sz="2500" dirty="0"/>
          </a:p>
        </p:txBody>
      </p:sp>
      <p:sp>
        <p:nvSpPr>
          <p:cNvPr id="4" name="Shape 2"/>
          <p:cNvSpPr/>
          <p:nvPr/>
        </p:nvSpPr>
        <p:spPr>
          <a:xfrm>
            <a:off x="548640" y="1828800"/>
            <a:ext cx="11064240" cy="3291840"/>
          </a:xfrm>
          <a:prstGeom prst="roundRect">
            <a:avLst>
              <a:gd name="adj" fmla="val 2222"/>
            </a:avLst>
          </a:prstGeom>
          <a:solidFill>
            <a:srgbClr val="EEF2EE"/>
          </a:solidFill>
          <a:ln/>
          <a:effectLst>
            <a:outerShdw sx="100000" sy="100000" kx="0" ky="0" algn="bl" rotWithShape="0" blurRad="101600" dist="38100" dir="5400000">
              <a:srgbClr val="1B2A4A">
                <a:alpha val="10000"/>
              </a:srgbClr>
            </a:outerShdw>
          </a:effectLst>
        </p:spPr>
      </p:sp>
      <p:sp>
        <p:nvSpPr>
          <p:cNvPr id="5" name="Text 3"/>
          <p:cNvSpPr/>
          <p:nvPr/>
        </p:nvSpPr>
        <p:spPr>
          <a:xfrm>
            <a:off x="914400" y="2148840"/>
            <a:ext cx="10332720" cy="2697480"/>
          </a:xfrm>
          <a:prstGeom prst="rect">
            <a:avLst/>
          </a:prstGeom>
          <a:noFill/>
          <a:ln/>
        </p:spPr>
        <p:txBody>
          <a:bodyPr wrap="square" lIns="0" tIns="0" rIns="0" bIns="0" rtlCol="0" anchor="t"/>
          <a:lstStyle/>
          <a:p>
            <a:pPr indent="0" marL="0">
              <a:lnSpc>
                <a:spcPct val="140000"/>
              </a:lnSpc>
              <a:buNone/>
            </a:pPr>
            <a:r>
              <a:rPr lang="en-US" sz="1450" dirty="0">
                <a:solidFill>
                  <a:srgbClr val="33363B"/>
                </a:solidFill>
                <a:latin typeface="Calibri" pitchFamily="34" charset="0"/>
                <a:ea typeface="Calibri" pitchFamily="34" charset="-122"/>
                <a:cs typeface="Calibri" pitchFamily="34" charset="-120"/>
              </a:rPr>
              <a:t>层级一M4《防火墙》教的是如何过滤进来的口头需求，M5《跨部门沟通》教的是如何向外部清晰传递信息，而层级二的需求仲裁，处理的是当多个已经过滤、已经沟通清楚的正式需求同时摆在桌面上时，经理该如何做出取舍——这是从「管理单一请求的入口」升级到「管理多个请求之间的竞争关系」，是同一种能力在更高复杂度场景下的延伸。</a:t>
            </a:r>
            <a:endParaRPr lang="en-US" sz="1450" dirty="0"/>
          </a:p>
        </p:txBody>
      </p:sp>
      <p:sp>
        <p:nvSpPr>
          <p:cNvPr id="6" name="Text 4"/>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M5 需求仲裁</a:t>
            </a:r>
            <a:endParaRPr lang="en-US" sz="900" dirty="0"/>
          </a:p>
        </p:txBody>
      </p:sp>
      <p:sp>
        <p:nvSpPr>
          <p:cNvPr id="7" name="Text 5"/>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13 / 17</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延伸视角 2</a:t>
            </a:r>
            <a:endParaRPr lang="en-US" sz="1300" dirty="0"/>
          </a:p>
        </p:txBody>
      </p:sp>
      <p:sp>
        <p:nvSpPr>
          <p:cNvPr id="3" name="Text 1"/>
          <p:cNvSpPr/>
          <p:nvPr/>
        </p:nvSpPr>
        <p:spPr>
          <a:xfrm>
            <a:off x="548640" y="722376"/>
            <a:ext cx="11064240" cy="914400"/>
          </a:xfrm>
          <a:prstGeom prst="rect">
            <a:avLst/>
          </a:prstGeom>
          <a:noFill/>
          <a:ln/>
        </p:spPr>
        <p:txBody>
          <a:bodyPr wrap="square" lIns="0" tIns="0" rIns="0" bIns="0" rtlCol="0" anchor="ctr"/>
          <a:lstStyle/>
          <a:p>
            <a:pPr indent="0" marL="0">
              <a:buNone/>
            </a:pPr>
            <a:r>
              <a:rPr lang="en-US" sz="2500" b="1" dirty="0">
                <a:solidFill>
                  <a:srgbClr val="1B2A4A"/>
                </a:solidFill>
                <a:latin typeface="Cambria" pitchFamily="34" charset="0"/>
                <a:ea typeface="Cambria" pitchFamily="34" charset="-122"/>
                <a:cs typeface="Cambria" pitchFamily="34" charset="-120"/>
              </a:rPr>
              <a:t>程序正义——仲裁结果的接受度，取决于过程是否被看见</a:t>
            </a:r>
            <a:endParaRPr lang="en-US" sz="2500" dirty="0"/>
          </a:p>
        </p:txBody>
      </p:sp>
      <p:sp>
        <p:nvSpPr>
          <p:cNvPr id="4" name="Shape 2"/>
          <p:cNvSpPr/>
          <p:nvPr/>
        </p:nvSpPr>
        <p:spPr>
          <a:xfrm>
            <a:off x="548640" y="1828800"/>
            <a:ext cx="11064240" cy="3291840"/>
          </a:xfrm>
          <a:prstGeom prst="roundRect">
            <a:avLst>
              <a:gd name="adj" fmla="val 2222"/>
            </a:avLst>
          </a:prstGeom>
          <a:solidFill>
            <a:srgbClr val="EEF2EE"/>
          </a:solidFill>
          <a:ln/>
          <a:effectLst>
            <a:outerShdw sx="100000" sy="100000" kx="0" ky="0" algn="bl" rotWithShape="0" blurRad="101600" dist="38100" dir="5400000">
              <a:srgbClr val="1B2A4A">
                <a:alpha val="10000"/>
              </a:srgbClr>
            </a:outerShdw>
          </a:effectLst>
        </p:spPr>
      </p:sp>
      <p:sp>
        <p:nvSpPr>
          <p:cNvPr id="5" name="Text 3"/>
          <p:cNvSpPr/>
          <p:nvPr/>
        </p:nvSpPr>
        <p:spPr>
          <a:xfrm>
            <a:off x="914400" y="2148840"/>
            <a:ext cx="10332720" cy="2697480"/>
          </a:xfrm>
          <a:prstGeom prst="rect">
            <a:avLst/>
          </a:prstGeom>
          <a:noFill/>
          <a:ln/>
        </p:spPr>
        <p:txBody>
          <a:bodyPr wrap="square" lIns="0" tIns="0" rIns="0" bIns="0" rtlCol="0" anchor="t"/>
          <a:lstStyle/>
          <a:p>
            <a:pPr indent="0" marL="0">
              <a:lnSpc>
                <a:spcPct val="140000"/>
              </a:lnSpc>
              <a:buNone/>
            </a:pPr>
            <a:r>
              <a:rPr lang="en-US" sz="1450" dirty="0">
                <a:solidFill>
                  <a:srgbClr val="33363B"/>
                </a:solidFill>
                <a:latin typeface="Calibri" pitchFamily="34" charset="0"/>
                <a:ea typeface="Calibri" pitchFamily="34" charset="-122"/>
                <a:cs typeface="Calibri" pitchFamily="34" charset="-120"/>
              </a:rPr>
              <a:t>仲裁结果的接受度，很大程度上不取决于结果是否对自己有利，而取决于仲裁过程是否被感知为公正、透明、有据可循，这是组织行为学中「程序正义」的核心观点。即使某个需求方这次没被优先满足，只要看到了清晰的排序依据和未来窗口，抵触情绪也会显著降低；反之，即使分配结果客观合理，如果过程是黑箱的，仍然会引发强烈不满。</a:t>
            </a:r>
            <a:endParaRPr lang="en-US" sz="1450" dirty="0"/>
          </a:p>
        </p:txBody>
      </p:sp>
      <p:sp>
        <p:nvSpPr>
          <p:cNvPr id="6" name="Text 4"/>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M5 需求仲裁</a:t>
            </a:r>
            <a:endParaRPr lang="en-US" sz="900" dirty="0"/>
          </a:p>
        </p:txBody>
      </p:sp>
      <p:sp>
        <p:nvSpPr>
          <p:cNvPr id="7" name="Text 5"/>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14 / 17</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总结</a:t>
            </a:r>
            <a:endParaRPr lang="en-US" sz="1300" dirty="0"/>
          </a:p>
        </p:txBody>
      </p:sp>
      <p:sp>
        <p:nvSpPr>
          <p:cNvPr id="3" name="Text 1"/>
          <p:cNvSpPr/>
          <p:nvPr/>
        </p:nvSpPr>
        <p:spPr>
          <a:xfrm>
            <a:off x="548640" y="722376"/>
            <a:ext cx="11064240" cy="777240"/>
          </a:xfrm>
          <a:prstGeom prst="rect">
            <a:avLst/>
          </a:prstGeom>
          <a:noFill/>
          <a:ln/>
        </p:spPr>
        <p:txBody>
          <a:bodyPr wrap="square" lIns="0" tIns="0" rIns="0" bIns="0"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三层框架回顾</a:t>
            </a:r>
            <a:endParaRPr lang="en-US" sz="2700" dirty="0"/>
          </a:p>
        </p:txBody>
      </p:sp>
      <p:sp>
        <p:nvSpPr>
          <p:cNvPr id="4" name="Shape 2"/>
          <p:cNvSpPr/>
          <p:nvPr/>
        </p:nvSpPr>
        <p:spPr>
          <a:xfrm>
            <a:off x="548640" y="1691640"/>
            <a:ext cx="11064240" cy="960120"/>
          </a:xfrm>
          <a:prstGeom prst="roundRect">
            <a:avLst>
              <a:gd name="adj" fmla="val 7619"/>
            </a:avLst>
          </a:prstGeom>
          <a:solidFill>
            <a:srgbClr val="EEF1F6"/>
          </a:solidFill>
          <a:ln/>
          <a:effectLst>
            <a:outerShdw sx="100000" sy="100000" kx="0" ky="0" algn="bl" rotWithShape="0" blurRad="101600" dist="38100" dir="5400000">
              <a:srgbClr val="1B2A4A">
                <a:alpha val="10000"/>
              </a:srgbClr>
            </a:outerShdw>
          </a:effectLst>
        </p:spPr>
      </p:sp>
      <p:sp>
        <p:nvSpPr>
          <p:cNvPr id="5" name="Shape 3"/>
          <p:cNvSpPr/>
          <p:nvPr/>
        </p:nvSpPr>
        <p:spPr>
          <a:xfrm>
            <a:off x="822960" y="1961388"/>
            <a:ext cx="420624" cy="420624"/>
          </a:xfrm>
          <a:prstGeom prst="ellipse">
            <a:avLst/>
          </a:prstGeom>
          <a:solidFill>
            <a:srgbClr val="1B2A4A"/>
          </a:solidFill>
          <a:ln/>
        </p:spPr>
      </p:sp>
      <p:sp>
        <p:nvSpPr>
          <p:cNvPr id="6" name="Text 4"/>
          <p:cNvSpPr/>
          <p:nvPr/>
        </p:nvSpPr>
        <p:spPr>
          <a:xfrm>
            <a:off x="822960" y="196138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1508760" y="1819656"/>
            <a:ext cx="2377440" cy="704088"/>
          </a:xfrm>
          <a:prstGeom prst="rect">
            <a:avLst/>
          </a:prstGeom>
          <a:noFill/>
          <a:ln/>
        </p:spPr>
        <p:txBody>
          <a:bodyPr wrap="square" lIns="0" tIns="0" rIns="0" bIns="0" rtlCol="0" anchor="ctr"/>
          <a:lstStyle/>
          <a:p>
            <a:pPr indent="0" marL="0">
              <a:buNone/>
            </a:pPr>
            <a:r>
              <a:rPr lang="en-US" sz="1600" b="1" dirty="0">
                <a:solidFill>
                  <a:srgbClr val="1B2A4A"/>
                </a:solidFill>
                <a:latin typeface="Cambria" pitchFamily="34" charset="0"/>
                <a:ea typeface="Cambria" pitchFamily="34" charset="-122"/>
                <a:cs typeface="Cambria" pitchFamily="34" charset="-120"/>
              </a:rPr>
              <a:t>仲裁的隐性成本</a:t>
            </a:r>
            <a:endParaRPr lang="en-US" sz="1600" dirty="0"/>
          </a:p>
        </p:txBody>
      </p:sp>
      <p:sp>
        <p:nvSpPr>
          <p:cNvPr id="8" name="Text 6"/>
          <p:cNvSpPr/>
          <p:nvPr/>
        </p:nvSpPr>
        <p:spPr>
          <a:xfrm>
            <a:off x="4023360" y="1783080"/>
            <a:ext cx="7223760" cy="777240"/>
          </a:xfrm>
          <a:prstGeom prst="rect">
            <a:avLst/>
          </a:prstGeom>
          <a:noFill/>
          <a:ln/>
        </p:spPr>
        <p:txBody>
          <a:bodyPr wrap="square" lIns="0" tIns="0" rIns="0" bIns="0" rtlCol="0" anchor="ctr"/>
          <a:lstStyle/>
          <a:p>
            <a:pPr indent="0" marL="0">
              <a:lnSpc>
                <a:spcPct val="118000"/>
              </a:lnSpc>
              <a:buNone/>
            </a:pPr>
            <a:r>
              <a:rPr lang="en-US" sz="1200" dirty="0">
                <a:solidFill>
                  <a:srgbClr val="33363B"/>
                </a:solidFill>
                <a:latin typeface="Calibri" pitchFamily="34" charset="0"/>
                <a:ea typeface="Calibri" pitchFamily="34" charset="-122"/>
                <a:cs typeface="Calibri" pitchFamily="34" charset="-120"/>
              </a:rPr>
              <a:t>平均分配看似公平，实则因为阈值效应让所有项目都失败，并通过责任稀释掩盖了真正的决策失误。</a:t>
            </a:r>
            <a:endParaRPr lang="en-US" sz="1200" dirty="0"/>
          </a:p>
        </p:txBody>
      </p:sp>
      <p:sp>
        <p:nvSpPr>
          <p:cNvPr id="9" name="Shape 7"/>
          <p:cNvSpPr/>
          <p:nvPr/>
        </p:nvSpPr>
        <p:spPr>
          <a:xfrm>
            <a:off x="548640" y="2816352"/>
            <a:ext cx="11064240" cy="960120"/>
          </a:xfrm>
          <a:prstGeom prst="roundRect">
            <a:avLst>
              <a:gd name="adj" fmla="val 7619"/>
            </a:avLst>
          </a:prstGeom>
          <a:solidFill>
            <a:srgbClr val="F5EEEA"/>
          </a:solidFill>
          <a:ln/>
          <a:effectLst>
            <a:outerShdw sx="100000" sy="100000" kx="0" ky="0" algn="bl" rotWithShape="0" blurRad="101600" dist="38100" dir="5400000">
              <a:srgbClr val="1B2A4A">
                <a:alpha val="10000"/>
              </a:srgbClr>
            </a:outerShdw>
          </a:effectLst>
        </p:spPr>
      </p:sp>
      <p:sp>
        <p:nvSpPr>
          <p:cNvPr id="10" name="Shape 8"/>
          <p:cNvSpPr/>
          <p:nvPr/>
        </p:nvSpPr>
        <p:spPr>
          <a:xfrm>
            <a:off x="822960" y="3086100"/>
            <a:ext cx="420624" cy="420624"/>
          </a:xfrm>
          <a:prstGeom prst="ellipse">
            <a:avLst/>
          </a:prstGeom>
          <a:solidFill>
            <a:srgbClr val="9C5536"/>
          </a:solidFill>
          <a:ln/>
        </p:spPr>
      </p:sp>
      <p:sp>
        <p:nvSpPr>
          <p:cNvPr id="11" name="Text 9"/>
          <p:cNvSpPr/>
          <p:nvPr/>
        </p:nvSpPr>
        <p:spPr>
          <a:xfrm>
            <a:off x="822960" y="3086100"/>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1508760" y="2944368"/>
            <a:ext cx="2377440" cy="704088"/>
          </a:xfrm>
          <a:prstGeom prst="rect">
            <a:avLst/>
          </a:prstGeom>
          <a:noFill/>
          <a:ln/>
        </p:spPr>
        <p:txBody>
          <a:bodyPr wrap="square" lIns="0" tIns="0" rIns="0" bIns="0" rtlCol="0" anchor="ctr"/>
          <a:lstStyle/>
          <a:p>
            <a:pPr indent="0" marL="0">
              <a:buNone/>
            </a:pPr>
            <a:r>
              <a:rPr lang="en-US" sz="1600" b="1" dirty="0">
                <a:solidFill>
                  <a:srgbClr val="9C5536"/>
                </a:solidFill>
                <a:latin typeface="Cambria" pitchFamily="34" charset="0"/>
                <a:ea typeface="Cambria" pitchFamily="34" charset="-122"/>
                <a:cs typeface="Cambria" pitchFamily="34" charset="-120"/>
              </a:rPr>
              <a:t>三个操作动作</a:t>
            </a:r>
            <a:endParaRPr lang="en-US" sz="1600" dirty="0"/>
          </a:p>
        </p:txBody>
      </p:sp>
      <p:sp>
        <p:nvSpPr>
          <p:cNvPr id="13" name="Text 11"/>
          <p:cNvSpPr/>
          <p:nvPr/>
        </p:nvSpPr>
        <p:spPr>
          <a:xfrm>
            <a:off x="4023360" y="2907792"/>
            <a:ext cx="7223760" cy="777240"/>
          </a:xfrm>
          <a:prstGeom prst="rect">
            <a:avLst/>
          </a:prstGeom>
          <a:noFill/>
          <a:ln/>
        </p:spPr>
        <p:txBody>
          <a:bodyPr wrap="square" lIns="0" tIns="0" rIns="0" bIns="0" rtlCol="0" anchor="ctr"/>
          <a:lstStyle/>
          <a:p>
            <a:pPr indent="0" marL="0">
              <a:lnSpc>
                <a:spcPct val="118000"/>
              </a:lnSpc>
              <a:buNone/>
            </a:pPr>
            <a:r>
              <a:rPr lang="en-US" sz="1200" dirty="0">
                <a:solidFill>
                  <a:srgbClr val="33363B"/>
                </a:solidFill>
                <a:latin typeface="Calibri" pitchFamily="34" charset="0"/>
                <a:ea typeface="Calibri" pitchFamily="34" charset="-122"/>
                <a:cs typeface="Calibri" pitchFamily="34" charset="-120"/>
              </a:rPr>
              <a:t>把隐性优先级显性化、做出非对称分配并说明依据、管理被拒绝方的预期与关系，三步缺一不可。</a:t>
            </a:r>
            <a:endParaRPr lang="en-US" sz="1200" dirty="0"/>
          </a:p>
        </p:txBody>
      </p:sp>
      <p:sp>
        <p:nvSpPr>
          <p:cNvPr id="14" name="Shape 12"/>
          <p:cNvSpPr/>
          <p:nvPr/>
        </p:nvSpPr>
        <p:spPr>
          <a:xfrm>
            <a:off x="548640" y="3941064"/>
            <a:ext cx="11064240" cy="960120"/>
          </a:xfrm>
          <a:prstGeom prst="roundRect">
            <a:avLst>
              <a:gd name="adj" fmla="val 7619"/>
            </a:avLst>
          </a:prstGeom>
          <a:solidFill>
            <a:srgbClr val="EEF2EE"/>
          </a:solidFill>
          <a:ln/>
          <a:effectLst>
            <a:outerShdw sx="100000" sy="100000" kx="0" ky="0" algn="bl" rotWithShape="0" blurRad="101600" dist="38100" dir="5400000">
              <a:srgbClr val="1B2A4A">
                <a:alpha val="10000"/>
              </a:srgbClr>
            </a:outerShdw>
          </a:effectLst>
        </p:spPr>
      </p:sp>
      <p:sp>
        <p:nvSpPr>
          <p:cNvPr id="15" name="Shape 13"/>
          <p:cNvSpPr/>
          <p:nvPr/>
        </p:nvSpPr>
        <p:spPr>
          <a:xfrm>
            <a:off x="822960" y="4210812"/>
            <a:ext cx="420624" cy="420624"/>
          </a:xfrm>
          <a:prstGeom prst="ellipse">
            <a:avLst/>
          </a:prstGeom>
          <a:solidFill>
            <a:srgbClr val="4F6F52"/>
          </a:solidFill>
          <a:ln/>
        </p:spPr>
      </p:sp>
      <p:sp>
        <p:nvSpPr>
          <p:cNvPr id="16" name="Text 14"/>
          <p:cNvSpPr/>
          <p:nvPr/>
        </p:nvSpPr>
        <p:spPr>
          <a:xfrm>
            <a:off x="822960" y="4210812"/>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5"/>
          <p:cNvSpPr/>
          <p:nvPr/>
        </p:nvSpPr>
        <p:spPr>
          <a:xfrm>
            <a:off x="1508760" y="4069080"/>
            <a:ext cx="2377440" cy="704088"/>
          </a:xfrm>
          <a:prstGeom prst="rect">
            <a:avLst/>
          </a:prstGeom>
          <a:noFill/>
          <a:ln/>
        </p:spPr>
        <p:txBody>
          <a:bodyPr wrap="square" lIns="0" tIns="0" rIns="0" bIns="0" rtlCol="0" anchor="ctr"/>
          <a:lstStyle/>
          <a:p>
            <a:pPr indent="0" marL="0">
              <a:buNone/>
            </a:pPr>
            <a:r>
              <a:rPr lang="en-US" sz="1600" b="1" dirty="0">
                <a:solidFill>
                  <a:srgbClr val="4F6F52"/>
                </a:solidFill>
                <a:latin typeface="Cambria" pitchFamily="34" charset="0"/>
                <a:ea typeface="Cambria" pitchFamily="34" charset="-122"/>
                <a:cs typeface="Cambria" pitchFamily="34" charset="-120"/>
              </a:rPr>
              <a:t>边界判断</a:t>
            </a:r>
            <a:endParaRPr lang="en-US" sz="1600" dirty="0"/>
          </a:p>
        </p:txBody>
      </p:sp>
      <p:sp>
        <p:nvSpPr>
          <p:cNvPr id="18" name="Text 16"/>
          <p:cNvSpPr/>
          <p:nvPr/>
        </p:nvSpPr>
        <p:spPr>
          <a:xfrm>
            <a:off x="4023360" y="4032504"/>
            <a:ext cx="7223760" cy="777240"/>
          </a:xfrm>
          <a:prstGeom prst="rect">
            <a:avLst/>
          </a:prstGeom>
          <a:noFill/>
          <a:ln/>
        </p:spPr>
        <p:txBody>
          <a:bodyPr wrap="square" lIns="0" tIns="0" rIns="0" bIns="0" rtlCol="0" anchor="ctr"/>
          <a:lstStyle/>
          <a:p>
            <a:pPr indent="0" marL="0">
              <a:lnSpc>
                <a:spcPct val="118000"/>
              </a:lnSpc>
              <a:buNone/>
            </a:pPr>
            <a:r>
              <a:rPr lang="en-US" sz="1200" dirty="0">
                <a:solidFill>
                  <a:srgbClr val="33363B"/>
                </a:solidFill>
                <a:latin typeface="Calibri" pitchFamily="34" charset="0"/>
                <a:ea typeface="Calibri" pitchFamily="34" charset="-122"/>
                <a:cs typeface="Calibri" pitchFamily="34" charset="-120"/>
              </a:rPr>
              <a:t>当经理意识到自己掌握的信息可能不足以支撑裁决时，承认信息不对称、暂缓裁决或向上请教，比教条地坚持自己的模型更负责任。</a:t>
            </a:r>
            <a:endParaRPr lang="en-US" sz="1200" dirty="0"/>
          </a:p>
        </p:txBody>
      </p:sp>
      <p:sp>
        <p:nvSpPr>
          <p:cNvPr id="19" name="Shape 17"/>
          <p:cNvSpPr/>
          <p:nvPr/>
        </p:nvSpPr>
        <p:spPr>
          <a:xfrm>
            <a:off x="548640" y="5166360"/>
            <a:ext cx="11064240" cy="960120"/>
          </a:xfrm>
          <a:prstGeom prst="roundRect">
            <a:avLst>
              <a:gd name="adj" fmla="val 7619"/>
            </a:avLst>
          </a:prstGeom>
          <a:solidFill>
            <a:srgbClr val="1B2A4A"/>
          </a:solidFill>
          <a:ln/>
          <a:effectLst>
            <a:outerShdw sx="100000" sy="100000" kx="0" ky="0" algn="bl" rotWithShape="0" blurRad="101600" dist="38100" dir="5400000">
              <a:srgbClr val="1B2A4A">
                <a:alpha val="10000"/>
              </a:srgbClr>
            </a:outerShdw>
          </a:effectLst>
        </p:spPr>
      </p:sp>
      <p:sp>
        <p:nvSpPr>
          <p:cNvPr id="20" name="Text 18"/>
          <p:cNvSpPr/>
          <p:nvPr/>
        </p:nvSpPr>
        <p:spPr>
          <a:xfrm>
            <a:off x="868680" y="5166360"/>
            <a:ext cx="10424160" cy="960120"/>
          </a:xfrm>
          <a:prstGeom prst="rect">
            <a:avLst/>
          </a:prstGeom>
          <a:noFill/>
          <a:ln/>
        </p:spPr>
        <p:txBody>
          <a:bodyPr wrap="square" lIns="0" tIns="0" rIns="0" bIns="0" rtlCol="0" anchor="ctr"/>
          <a:lstStyle/>
          <a:p>
            <a:pPr algn="ctr" indent="0" marL="0">
              <a:buNone/>
            </a:pPr>
            <a:r>
              <a:rPr lang="en-US" sz="1800" i="1" dirty="0">
                <a:solidFill>
                  <a:srgbClr val="FFFFFF"/>
                </a:solidFill>
                <a:latin typeface="Cambria" pitchFamily="34" charset="0"/>
                <a:ea typeface="Cambria" pitchFamily="34" charset="-122"/>
                <a:cs typeface="Cambria" pitchFamily="34" charset="-120"/>
              </a:rPr>
              <a:t>仲裁不是让所有人都满意，而是让所有人都看懂你为什么这样决定。</a:t>
            </a:r>
            <a:endParaRPr lang="en-US" sz="1800" dirty="0"/>
          </a:p>
        </p:txBody>
      </p:sp>
      <p:sp>
        <p:nvSpPr>
          <p:cNvPr id="21" name="Text 19"/>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M5 需求仲裁</a:t>
            </a:r>
            <a:endParaRPr lang="en-US" sz="900" dirty="0"/>
          </a:p>
        </p:txBody>
      </p:sp>
      <p:sp>
        <p:nvSpPr>
          <p:cNvPr id="22" name="Text 20"/>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15 / 17</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课后诊断 · 一</a:t>
            </a:r>
            <a:endParaRPr lang="en-US" sz="1300" dirty="0"/>
          </a:p>
        </p:txBody>
      </p:sp>
      <p:sp>
        <p:nvSpPr>
          <p:cNvPr id="3" name="Text 1"/>
          <p:cNvSpPr/>
          <p:nvPr/>
        </p:nvSpPr>
        <p:spPr>
          <a:xfrm>
            <a:off x="548640" y="722376"/>
            <a:ext cx="11064240" cy="777240"/>
          </a:xfrm>
          <a:prstGeom prst="rect">
            <a:avLst/>
          </a:prstGeom>
          <a:noFill/>
          <a:ln/>
        </p:spPr>
        <p:txBody>
          <a:bodyPr wrap="square" lIns="0" tIns="0" rIns="0" bIns="0"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课后诊断</a:t>
            </a:r>
            <a:endParaRPr lang="en-US" sz="2700" dirty="0"/>
          </a:p>
        </p:txBody>
      </p:sp>
      <p:sp>
        <p:nvSpPr>
          <p:cNvPr id="4" name="Shape 2"/>
          <p:cNvSpPr/>
          <p:nvPr/>
        </p:nvSpPr>
        <p:spPr>
          <a:xfrm>
            <a:off x="548640" y="1691640"/>
            <a:ext cx="11064240" cy="1344168"/>
          </a:xfrm>
          <a:prstGeom prst="roundRect">
            <a:avLst>
              <a:gd name="adj" fmla="val 5442"/>
            </a:avLst>
          </a:prstGeom>
          <a:solidFill>
            <a:srgbClr val="FFFFFF"/>
          </a:solidFill>
          <a:ln/>
          <a:effectLst>
            <a:outerShdw sx="100000" sy="100000" kx="0" ky="0" algn="bl" rotWithShape="0" blurRad="101600" dist="38100" dir="5400000">
              <a:srgbClr val="1B2A4A">
                <a:alpha val="10000"/>
              </a:srgbClr>
            </a:outerShdw>
          </a:effectLst>
        </p:spPr>
      </p:sp>
      <p:sp>
        <p:nvSpPr>
          <p:cNvPr id="5" name="Shape 3"/>
          <p:cNvSpPr/>
          <p:nvPr/>
        </p:nvSpPr>
        <p:spPr>
          <a:xfrm>
            <a:off x="822960" y="1892808"/>
            <a:ext cx="1188720" cy="292608"/>
          </a:xfrm>
          <a:prstGeom prst="roundRect">
            <a:avLst>
              <a:gd name="adj" fmla="val 18750"/>
            </a:avLst>
          </a:prstGeom>
          <a:solidFill>
            <a:srgbClr val="1B2A4A"/>
          </a:solidFill>
          <a:ln/>
        </p:spPr>
      </p:sp>
      <p:sp>
        <p:nvSpPr>
          <p:cNvPr id="6" name="Text 4"/>
          <p:cNvSpPr/>
          <p:nvPr/>
        </p:nvSpPr>
        <p:spPr>
          <a:xfrm>
            <a:off x="822960" y="1892808"/>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场景一</a:t>
            </a:r>
            <a:endParaRPr lang="en-US" sz="1100" dirty="0"/>
          </a:p>
        </p:txBody>
      </p:sp>
      <p:sp>
        <p:nvSpPr>
          <p:cNvPr id="7" name="Text 5"/>
          <p:cNvSpPr/>
          <p:nvPr/>
        </p:nvSpPr>
        <p:spPr>
          <a:xfrm>
            <a:off x="2148840" y="1892808"/>
            <a:ext cx="8229600" cy="292608"/>
          </a:xfrm>
          <a:prstGeom prst="rect">
            <a:avLst/>
          </a:prstGeom>
          <a:noFill/>
          <a:ln/>
        </p:spPr>
        <p:txBody>
          <a:bodyPr wrap="square" lIns="0" tIns="0" rIns="0" bIns="0" rtlCol="0" anchor="ctr"/>
          <a:lstStyle/>
          <a:p>
            <a:pPr indent="0" marL="0">
              <a:buNone/>
            </a:pPr>
            <a:r>
              <a:rPr lang="en-US" sz="1100" i="1" dirty="0">
                <a:solidFill>
                  <a:srgbClr val="7C7F84"/>
                </a:solidFill>
                <a:latin typeface="Calibri" pitchFamily="34" charset="0"/>
                <a:ea typeface="Calibri" pitchFamily="34" charset="-122"/>
                <a:cs typeface="Calibri" pitchFamily="34" charset="-120"/>
              </a:rPr>
              <a:t>对应理论框架一</a:t>
            </a:r>
            <a:endParaRPr lang="en-US" sz="1100" dirty="0"/>
          </a:p>
        </p:txBody>
      </p:sp>
      <p:sp>
        <p:nvSpPr>
          <p:cNvPr id="8" name="Text 6"/>
          <p:cNvSpPr/>
          <p:nvPr/>
        </p:nvSpPr>
        <p:spPr>
          <a:xfrm>
            <a:off x="822960" y="2258568"/>
            <a:ext cx="10515600" cy="630936"/>
          </a:xfrm>
          <a:prstGeom prst="rect">
            <a:avLst/>
          </a:prstGeom>
          <a:noFill/>
          <a:ln/>
        </p:spPr>
        <p:txBody>
          <a:bodyPr wrap="square" lIns="0" tIns="0" rIns="0" bIns="0" rtlCol="0" anchor="t"/>
          <a:lstStyle/>
          <a:p>
            <a:pPr indent="0" marL="0">
              <a:lnSpc>
                <a:spcPct val="122000"/>
              </a:lnSpc>
              <a:buNone/>
            </a:pPr>
            <a:r>
              <a:rPr lang="en-US" sz="1250" dirty="0">
                <a:solidFill>
                  <a:srgbClr val="33363B"/>
                </a:solidFill>
                <a:latin typeface="Calibri" pitchFamily="34" charset="0"/>
                <a:ea typeface="Calibri" pitchFamily="34" charset="-122"/>
                <a:cs typeface="Calibri" pitchFamily="34" charset="-120"/>
              </a:rPr>
              <a:t>描述一位经理面对多个竞争需求选择平均分配资源的情境，要求判断这种做法长期会有什么后果，并指出背后的机制。</a:t>
            </a:r>
            <a:endParaRPr lang="en-US" sz="1250" dirty="0"/>
          </a:p>
        </p:txBody>
      </p:sp>
      <p:sp>
        <p:nvSpPr>
          <p:cNvPr id="9" name="Shape 7"/>
          <p:cNvSpPr/>
          <p:nvPr/>
        </p:nvSpPr>
        <p:spPr>
          <a:xfrm>
            <a:off x="548640" y="3236976"/>
            <a:ext cx="11064240" cy="1344168"/>
          </a:xfrm>
          <a:prstGeom prst="roundRect">
            <a:avLst>
              <a:gd name="adj" fmla="val 5442"/>
            </a:avLst>
          </a:prstGeom>
          <a:solidFill>
            <a:srgbClr val="FFFFFF"/>
          </a:solidFill>
          <a:ln/>
          <a:effectLst>
            <a:outerShdw sx="100000" sy="100000" kx="0" ky="0" algn="bl" rotWithShape="0" blurRad="101600" dist="38100" dir="5400000">
              <a:srgbClr val="1B2A4A">
                <a:alpha val="10000"/>
              </a:srgbClr>
            </a:outerShdw>
          </a:effectLst>
        </p:spPr>
      </p:sp>
      <p:sp>
        <p:nvSpPr>
          <p:cNvPr id="10" name="Shape 8"/>
          <p:cNvSpPr/>
          <p:nvPr/>
        </p:nvSpPr>
        <p:spPr>
          <a:xfrm>
            <a:off x="822960" y="3438144"/>
            <a:ext cx="1188720" cy="292608"/>
          </a:xfrm>
          <a:prstGeom prst="roundRect">
            <a:avLst>
              <a:gd name="adj" fmla="val 18750"/>
            </a:avLst>
          </a:prstGeom>
          <a:solidFill>
            <a:srgbClr val="1B2A4A"/>
          </a:solidFill>
          <a:ln/>
        </p:spPr>
      </p:sp>
      <p:sp>
        <p:nvSpPr>
          <p:cNvPr id="11" name="Text 9"/>
          <p:cNvSpPr/>
          <p:nvPr/>
        </p:nvSpPr>
        <p:spPr>
          <a:xfrm>
            <a:off x="822960" y="3438144"/>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场景二</a:t>
            </a:r>
            <a:endParaRPr lang="en-US" sz="1100" dirty="0"/>
          </a:p>
        </p:txBody>
      </p:sp>
      <p:sp>
        <p:nvSpPr>
          <p:cNvPr id="12" name="Text 10"/>
          <p:cNvSpPr/>
          <p:nvPr/>
        </p:nvSpPr>
        <p:spPr>
          <a:xfrm>
            <a:off x="2148840" y="3438144"/>
            <a:ext cx="8229600" cy="292608"/>
          </a:xfrm>
          <a:prstGeom prst="rect">
            <a:avLst/>
          </a:prstGeom>
          <a:noFill/>
          <a:ln/>
        </p:spPr>
        <p:txBody>
          <a:bodyPr wrap="square" lIns="0" tIns="0" rIns="0" bIns="0" rtlCol="0" anchor="ctr"/>
          <a:lstStyle/>
          <a:p>
            <a:pPr indent="0" marL="0">
              <a:buNone/>
            </a:pPr>
            <a:r>
              <a:rPr lang="en-US" sz="1100" i="1" dirty="0">
                <a:solidFill>
                  <a:srgbClr val="7C7F84"/>
                </a:solidFill>
                <a:latin typeface="Calibri" pitchFamily="34" charset="0"/>
                <a:ea typeface="Calibri" pitchFamily="34" charset="-122"/>
                <a:cs typeface="Calibri" pitchFamily="34" charset="-120"/>
              </a:rPr>
              <a:t>对应理论框架二</a:t>
            </a:r>
            <a:endParaRPr lang="en-US" sz="1100" dirty="0"/>
          </a:p>
        </p:txBody>
      </p:sp>
      <p:sp>
        <p:nvSpPr>
          <p:cNvPr id="13" name="Text 11"/>
          <p:cNvSpPr/>
          <p:nvPr/>
        </p:nvSpPr>
        <p:spPr>
          <a:xfrm>
            <a:off x="822960" y="3803904"/>
            <a:ext cx="10515600" cy="630936"/>
          </a:xfrm>
          <a:prstGeom prst="rect">
            <a:avLst/>
          </a:prstGeom>
          <a:noFill/>
          <a:ln/>
        </p:spPr>
        <p:txBody>
          <a:bodyPr wrap="square" lIns="0" tIns="0" rIns="0" bIns="0" rtlCol="0" anchor="t"/>
          <a:lstStyle/>
          <a:p>
            <a:pPr indent="0" marL="0">
              <a:lnSpc>
                <a:spcPct val="122000"/>
              </a:lnSpc>
              <a:buNone/>
            </a:pPr>
            <a:r>
              <a:rPr lang="en-US" sz="1250" dirty="0">
                <a:solidFill>
                  <a:srgbClr val="33363B"/>
                </a:solidFill>
                <a:latin typeface="Calibri" pitchFamily="34" charset="0"/>
                <a:ea typeface="Calibri" pitchFamily="34" charset="-122"/>
                <a:cs typeface="Calibri" pitchFamily="34" charset="-120"/>
              </a:rPr>
              <a:t>描述一位经理明确说明了仲裁依据，但对被拒绝的需求方此后再无任何跟进的场景，要求判断这次仲裁是否完整，欠缺了哪个环节。</a:t>
            </a:r>
            <a:endParaRPr lang="en-US" sz="1250" dirty="0"/>
          </a:p>
        </p:txBody>
      </p:sp>
      <p:sp>
        <p:nvSpPr>
          <p:cNvPr id="14" name="Shape 12"/>
          <p:cNvSpPr/>
          <p:nvPr/>
        </p:nvSpPr>
        <p:spPr>
          <a:xfrm>
            <a:off x="548640" y="4782312"/>
            <a:ext cx="11064240" cy="1344168"/>
          </a:xfrm>
          <a:prstGeom prst="roundRect">
            <a:avLst>
              <a:gd name="adj" fmla="val 5442"/>
            </a:avLst>
          </a:prstGeom>
          <a:solidFill>
            <a:srgbClr val="FFFFFF"/>
          </a:solidFill>
          <a:ln/>
          <a:effectLst>
            <a:outerShdw sx="100000" sy="100000" kx="0" ky="0" algn="bl" rotWithShape="0" blurRad="101600" dist="38100" dir="5400000">
              <a:srgbClr val="1B2A4A">
                <a:alpha val="10000"/>
              </a:srgbClr>
            </a:outerShdw>
          </a:effectLst>
        </p:spPr>
      </p:sp>
      <p:sp>
        <p:nvSpPr>
          <p:cNvPr id="15" name="Shape 13"/>
          <p:cNvSpPr/>
          <p:nvPr/>
        </p:nvSpPr>
        <p:spPr>
          <a:xfrm>
            <a:off x="822960" y="4983480"/>
            <a:ext cx="1188720" cy="292608"/>
          </a:xfrm>
          <a:prstGeom prst="roundRect">
            <a:avLst>
              <a:gd name="adj" fmla="val 18750"/>
            </a:avLst>
          </a:prstGeom>
          <a:solidFill>
            <a:srgbClr val="1B2A4A"/>
          </a:solidFill>
          <a:ln/>
        </p:spPr>
      </p:sp>
      <p:sp>
        <p:nvSpPr>
          <p:cNvPr id="16" name="Text 14"/>
          <p:cNvSpPr/>
          <p:nvPr/>
        </p:nvSpPr>
        <p:spPr>
          <a:xfrm>
            <a:off x="822960" y="4983480"/>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场景三</a:t>
            </a:r>
            <a:endParaRPr lang="en-US" sz="1100" dirty="0"/>
          </a:p>
        </p:txBody>
      </p:sp>
      <p:sp>
        <p:nvSpPr>
          <p:cNvPr id="17" name="Text 15"/>
          <p:cNvSpPr/>
          <p:nvPr/>
        </p:nvSpPr>
        <p:spPr>
          <a:xfrm>
            <a:off x="2148840" y="4983480"/>
            <a:ext cx="8229600" cy="292608"/>
          </a:xfrm>
          <a:prstGeom prst="rect">
            <a:avLst/>
          </a:prstGeom>
          <a:noFill/>
          <a:ln/>
        </p:spPr>
        <p:txBody>
          <a:bodyPr wrap="square" lIns="0" tIns="0" rIns="0" bIns="0" rtlCol="0" anchor="ctr"/>
          <a:lstStyle/>
          <a:p>
            <a:pPr indent="0" marL="0">
              <a:buNone/>
            </a:pPr>
            <a:r>
              <a:rPr lang="en-US" sz="1100" i="1" dirty="0">
                <a:solidFill>
                  <a:srgbClr val="7C7F84"/>
                </a:solidFill>
                <a:latin typeface="Calibri" pitchFamily="34" charset="0"/>
                <a:ea typeface="Calibri" pitchFamily="34" charset="-122"/>
                <a:cs typeface="Calibri" pitchFamily="34" charset="-120"/>
              </a:rPr>
              <a:t>对应边界反例</a:t>
            </a:r>
            <a:endParaRPr lang="en-US" sz="1100" dirty="0"/>
          </a:p>
        </p:txBody>
      </p:sp>
      <p:sp>
        <p:nvSpPr>
          <p:cNvPr id="18" name="Text 16"/>
          <p:cNvSpPr/>
          <p:nvPr/>
        </p:nvSpPr>
        <p:spPr>
          <a:xfrm>
            <a:off x="822960" y="5349240"/>
            <a:ext cx="10515600" cy="630936"/>
          </a:xfrm>
          <a:prstGeom prst="rect">
            <a:avLst/>
          </a:prstGeom>
          <a:noFill/>
          <a:ln/>
        </p:spPr>
        <p:txBody>
          <a:bodyPr wrap="square" lIns="0" tIns="0" rIns="0" bIns="0" rtlCol="0" anchor="t"/>
          <a:lstStyle/>
          <a:p>
            <a:pPr indent="0" marL="0">
              <a:lnSpc>
                <a:spcPct val="122000"/>
              </a:lnSpc>
              <a:buNone/>
            </a:pPr>
            <a:r>
              <a:rPr lang="en-US" sz="1250" dirty="0">
                <a:solidFill>
                  <a:srgbClr val="33363B"/>
                </a:solidFill>
                <a:latin typeface="Calibri" pitchFamily="34" charset="0"/>
                <a:ea typeface="Calibri" pitchFamily="34" charset="-122"/>
                <a:cs typeface="Calibri" pitchFamily="34" charset="-120"/>
              </a:rPr>
              <a:t>描述一个经理掌握的信息可能不完整、需求方背后疑似有更大战略考量的模糊场景，要求判断经理此时该不该按自己的标准独立裁决，并说明判断标准。</a:t>
            </a:r>
            <a:endParaRPr lang="en-US" sz="1250" dirty="0"/>
          </a:p>
        </p:txBody>
      </p:sp>
      <p:sp>
        <p:nvSpPr>
          <p:cNvPr id="20" name="Text 17"/>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M5 需求仲裁</a:t>
            </a:r>
            <a:endParaRPr lang="en-US" sz="900" dirty="0"/>
          </a:p>
        </p:txBody>
      </p:sp>
      <p:sp>
        <p:nvSpPr>
          <p:cNvPr id="21" name="Text 18"/>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16 / 17</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课后诊断 · 二</a:t>
            </a:r>
            <a:endParaRPr lang="en-US" sz="1300" dirty="0"/>
          </a:p>
        </p:txBody>
      </p:sp>
      <p:sp>
        <p:nvSpPr>
          <p:cNvPr id="3" name="Text 1"/>
          <p:cNvSpPr/>
          <p:nvPr/>
        </p:nvSpPr>
        <p:spPr>
          <a:xfrm>
            <a:off x="548640" y="722376"/>
            <a:ext cx="11064240" cy="777240"/>
          </a:xfrm>
          <a:prstGeom prst="rect">
            <a:avLst/>
          </a:prstGeom>
          <a:noFill/>
          <a:ln/>
        </p:spPr>
        <p:txBody>
          <a:bodyPr wrap="square" lIns="0" tIns="0" rIns="0" bIns="0"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课后诊断</a:t>
            </a:r>
            <a:endParaRPr lang="en-US" sz="2700" dirty="0"/>
          </a:p>
        </p:txBody>
      </p:sp>
      <p:sp>
        <p:nvSpPr>
          <p:cNvPr id="4" name="Shape 2"/>
          <p:cNvSpPr/>
          <p:nvPr/>
        </p:nvSpPr>
        <p:spPr>
          <a:xfrm>
            <a:off x="548640" y="1691640"/>
            <a:ext cx="11064240" cy="2116836"/>
          </a:xfrm>
          <a:prstGeom prst="roundRect">
            <a:avLst>
              <a:gd name="adj" fmla="val 3456"/>
            </a:avLst>
          </a:prstGeom>
          <a:solidFill>
            <a:srgbClr val="FFFFFF"/>
          </a:solidFill>
          <a:ln/>
          <a:effectLst>
            <a:outerShdw sx="100000" sy="100000" kx="0" ky="0" algn="bl" rotWithShape="0" blurRad="101600" dist="38100" dir="5400000">
              <a:srgbClr val="1B2A4A">
                <a:alpha val="10000"/>
              </a:srgbClr>
            </a:outerShdw>
          </a:effectLst>
        </p:spPr>
      </p:sp>
      <p:sp>
        <p:nvSpPr>
          <p:cNvPr id="5" name="Shape 3"/>
          <p:cNvSpPr/>
          <p:nvPr/>
        </p:nvSpPr>
        <p:spPr>
          <a:xfrm>
            <a:off x="822960" y="1892808"/>
            <a:ext cx="1188720" cy="292608"/>
          </a:xfrm>
          <a:prstGeom prst="roundRect">
            <a:avLst>
              <a:gd name="adj" fmla="val 18750"/>
            </a:avLst>
          </a:prstGeom>
          <a:solidFill>
            <a:srgbClr val="1B2A4A"/>
          </a:solidFill>
          <a:ln/>
        </p:spPr>
      </p:sp>
      <p:sp>
        <p:nvSpPr>
          <p:cNvPr id="6" name="Text 4"/>
          <p:cNvSpPr/>
          <p:nvPr/>
        </p:nvSpPr>
        <p:spPr>
          <a:xfrm>
            <a:off x="822960" y="1892808"/>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场景四</a:t>
            </a:r>
            <a:endParaRPr lang="en-US" sz="1100" dirty="0"/>
          </a:p>
        </p:txBody>
      </p:sp>
      <p:sp>
        <p:nvSpPr>
          <p:cNvPr id="7" name="Text 5"/>
          <p:cNvSpPr/>
          <p:nvPr/>
        </p:nvSpPr>
        <p:spPr>
          <a:xfrm>
            <a:off x="2148840" y="1892808"/>
            <a:ext cx="8229600" cy="292608"/>
          </a:xfrm>
          <a:prstGeom prst="rect">
            <a:avLst/>
          </a:prstGeom>
          <a:noFill/>
          <a:ln/>
        </p:spPr>
        <p:txBody>
          <a:bodyPr wrap="square" lIns="0" tIns="0" rIns="0" bIns="0" rtlCol="0" anchor="ctr"/>
          <a:lstStyle/>
          <a:p>
            <a:pPr indent="0" marL="0">
              <a:buNone/>
            </a:pPr>
            <a:r>
              <a:rPr lang="en-US" sz="1100" i="1" dirty="0">
                <a:solidFill>
                  <a:srgbClr val="7C7F84"/>
                </a:solidFill>
                <a:latin typeface="Calibri" pitchFamily="34" charset="0"/>
                <a:ea typeface="Calibri" pitchFamily="34" charset="-122"/>
                <a:cs typeface="Calibri" pitchFamily="34" charset="-120"/>
              </a:rPr>
              <a:t>对应延伸视角一</a:t>
            </a:r>
            <a:endParaRPr lang="en-US" sz="1100" dirty="0"/>
          </a:p>
        </p:txBody>
      </p:sp>
      <p:sp>
        <p:nvSpPr>
          <p:cNvPr id="8" name="Text 6"/>
          <p:cNvSpPr/>
          <p:nvPr/>
        </p:nvSpPr>
        <p:spPr>
          <a:xfrm>
            <a:off x="822960" y="2258568"/>
            <a:ext cx="10515600" cy="1403604"/>
          </a:xfrm>
          <a:prstGeom prst="rect">
            <a:avLst/>
          </a:prstGeom>
          <a:noFill/>
          <a:ln/>
        </p:spPr>
        <p:txBody>
          <a:bodyPr wrap="square" lIns="0" tIns="0" rIns="0" bIns="0" rtlCol="0" anchor="t"/>
          <a:lstStyle/>
          <a:p>
            <a:pPr indent="0" marL="0">
              <a:lnSpc>
                <a:spcPct val="122000"/>
              </a:lnSpc>
              <a:buNone/>
            </a:pPr>
            <a:r>
              <a:rPr lang="en-US" sz="1250" dirty="0">
                <a:solidFill>
                  <a:srgbClr val="33363B"/>
                </a:solidFill>
                <a:latin typeface="Calibri" pitchFamily="34" charset="0"/>
                <a:ea typeface="Calibri" pitchFamily="34" charset="-122"/>
                <a:cs typeface="Calibri" pitchFamily="34" charset="-120"/>
              </a:rPr>
              <a:t>描述一位经理处理单一需求和处理多个竞争需求时采用了完全相同的方法，要求判断这种处理方式可能存在什么问题。</a:t>
            </a:r>
            <a:endParaRPr lang="en-US" sz="1250" dirty="0"/>
          </a:p>
        </p:txBody>
      </p:sp>
      <p:sp>
        <p:nvSpPr>
          <p:cNvPr id="9" name="Shape 7"/>
          <p:cNvSpPr/>
          <p:nvPr/>
        </p:nvSpPr>
        <p:spPr>
          <a:xfrm>
            <a:off x="548640" y="4009644"/>
            <a:ext cx="11064240" cy="2116836"/>
          </a:xfrm>
          <a:prstGeom prst="roundRect">
            <a:avLst>
              <a:gd name="adj" fmla="val 3456"/>
            </a:avLst>
          </a:prstGeom>
          <a:solidFill>
            <a:srgbClr val="FFFFFF"/>
          </a:solidFill>
          <a:ln/>
          <a:effectLst>
            <a:outerShdw sx="100000" sy="100000" kx="0" ky="0" algn="bl" rotWithShape="0" blurRad="101600" dist="38100" dir="5400000">
              <a:srgbClr val="1B2A4A">
                <a:alpha val="10000"/>
              </a:srgbClr>
            </a:outerShdw>
          </a:effectLst>
        </p:spPr>
      </p:sp>
      <p:sp>
        <p:nvSpPr>
          <p:cNvPr id="10" name="Shape 8"/>
          <p:cNvSpPr/>
          <p:nvPr/>
        </p:nvSpPr>
        <p:spPr>
          <a:xfrm>
            <a:off x="822960" y="4210812"/>
            <a:ext cx="1188720" cy="292608"/>
          </a:xfrm>
          <a:prstGeom prst="roundRect">
            <a:avLst>
              <a:gd name="adj" fmla="val 18750"/>
            </a:avLst>
          </a:prstGeom>
          <a:solidFill>
            <a:srgbClr val="1B2A4A"/>
          </a:solidFill>
          <a:ln/>
        </p:spPr>
      </p:sp>
      <p:sp>
        <p:nvSpPr>
          <p:cNvPr id="11" name="Text 9"/>
          <p:cNvSpPr/>
          <p:nvPr/>
        </p:nvSpPr>
        <p:spPr>
          <a:xfrm>
            <a:off x="822960" y="4210812"/>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场景五</a:t>
            </a:r>
            <a:endParaRPr lang="en-US" sz="1100" dirty="0"/>
          </a:p>
        </p:txBody>
      </p:sp>
      <p:sp>
        <p:nvSpPr>
          <p:cNvPr id="12" name="Text 10"/>
          <p:cNvSpPr/>
          <p:nvPr/>
        </p:nvSpPr>
        <p:spPr>
          <a:xfrm>
            <a:off x="2148840" y="4210812"/>
            <a:ext cx="8229600" cy="292608"/>
          </a:xfrm>
          <a:prstGeom prst="rect">
            <a:avLst/>
          </a:prstGeom>
          <a:noFill/>
          <a:ln/>
        </p:spPr>
        <p:txBody>
          <a:bodyPr wrap="square" lIns="0" tIns="0" rIns="0" bIns="0" rtlCol="0" anchor="ctr"/>
          <a:lstStyle/>
          <a:p>
            <a:pPr indent="0" marL="0">
              <a:buNone/>
            </a:pPr>
            <a:r>
              <a:rPr lang="en-US" sz="1100" i="1" dirty="0">
                <a:solidFill>
                  <a:srgbClr val="7C7F84"/>
                </a:solidFill>
                <a:latin typeface="Calibri" pitchFamily="34" charset="0"/>
                <a:ea typeface="Calibri" pitchFamily="34" charset="-122"/>
                <a:cs typeface="Calibri" pitchFamily="34" charset="-120"/>
              </a:rPr>
              <a:t>综合场景</a:t>
            </a:r>
            <a:endParaRPr lang="en-US" sz="1100" dirty="0"/>
          </a:p>
        </p:txBody>
      </p:sp>
      <p:sp>
        <p:nvSpPr>
          <p:cNvPr id="13" name="Text 11"/>
          <p:cNvSpPr/>
          <p:nvPr/>
        </p:nvSpPr>
        <p:spPr>
          <a:xfrm>
            <a:off x="822960" y="4576572"/>
            <a:ext cx="10515600" cy="1403604"/>
          </a:xfrm>
          <a:prstGeom prst="rect">
            <a:avLst/>
          </a:prstGeom>
          <a:noFill/>
          <a:ln/>
        </p:spPr>
        <p:txBody>
          <a:bodyPr wrap="square" lIns="0" tIns="0" rIns="0" bIns="0" rtlCol="0" anchor="t"/>
          <a:lstStyle/>
          <a:p>
            <a:pPr indent="0" marL="0">
              <a:lnSpc>
                <a:spcPct val="122000"/>
              </a:lnSpc>
              <a:buNone/>
            </a:pPr>
            <a:r>
              <a:rPr lang="en-US" sz="1250" dirty="0">
                <a:solidFill>
                  <a:srgbClr val="33363B"/>
                </a:solidFill>
                <a:latin typeface="Calibri" pitchFamily="34" charset="0"/>
                <a:ea typeface="Calibri" pitchFamily="34" charset="-122"/>
                <a:cs typeface="Calibri" pitchFamily="34" charset="-120"/>
              </a:rPr>
              <a:t>描述一位经理完整执行了打分排序和做出非对称分配两步，依据也讲得很清楚，但被拒绝方依然强烈不满，甚至质疑仲裁过程本身不透明。要求判断这位经理可能在框架的哪个环节出现了缺口。</a:t>
            </a:r>
            <a:endParaRPr lang="en-US" sz="1250" dirty="0"/>
          </a:p>
        </p:txBody>
      </p:sp>
      <p:sp>
        <p:nvSpPr>
          <p:cNvPr id="15" name="Text 12"/>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M5 需求仲裁</a:t>
            </a:r>
            <a:endParaRPr lang="en-US" sz="900" dirty="0"/>
          </a:p>
        </p:txBody>
      </p:sp>
      <p:sp>
        <p:nvSpPr>
          <p:cNvPr id="16" name="Text 13"/>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17 / 17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M5 需求仲裁</dc:title>
  <dc:subject>PptxGenJS Presentation</dc:subject>
  <dc:creator>CIM管理者培训体系</dc:creator>
  <cp:lastModifiedBy>CIM管理者培训体系</cp:lastModifiedBy>
  <cp:revision>1</cp:revision>
  <dcterms:created xsi:type="dcterms:W3CDTF">2026-06-21T08:22:27Z</dcterms:created>
  <dcterms:modified xsi:type="dcterms:W3CDTF">2026-06-21T08:22:27Z</dcterms:modified>
</cp:coreProperties>
</file>