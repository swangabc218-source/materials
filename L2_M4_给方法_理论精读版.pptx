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场景一（对应理论框架一）诊断指引：考察学员能否识别价值衰减速度这个维度。正确回答应指出判断依据是同类咨询请求量是否随时间下降，如果持续不下降，说明经理一直在给答案而非方法，对应反面案例的负面机制。
场景二（对应理论框架二）诊断指引：正确回答应指出缺少用对方真实案例验证这一步，讲清楚只是第一步，方法没有经过真实应用就不算真正交付，这正是误区二的典型复现。
场景三（对应边界反例）诊断指引：考察学员是否把给方法当成了不分情境的教条。理想回答应提到教这一次的长期收益是否大于慢下来的短期代价这一核心判断维度，并能提出折中方案（先给答案、事后补讲方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场景四（对应延伸视角一）诊断指引：考察学员能否识别专家盲点这一机制。正确回答应指出这是多年经验自动化压缩成直觉的结果，应对方式是刻意复盘自己过去几次具体决策、逐条还原判断标准，而不是指望想到就能讲清楚。
场景五（综合场景）诊断指引：本模块难度最高的诊断题，检验学员是否把给方法的前两步和容忍非最优结果割裂理解了。正确回答应指出：前两步执行到位不代表给方法完成了，经理在下属第一次应用结果不理想时立刻接管，等于在最后一步放弃了——这正是理论框架二第三步在实践中最容易被省略、也最关键的部分，与层级二M1中替代性救火的虚假杠杆陷阱是同一种心理机制在起作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1005840"/>
            <a:ext cx="10515600" cy="365760"/>
          </a:xfrm>
          <a:prstGeom prst="rect">
            <a:avLst/>
          </a:prstGeom>
          <a:noFill/>
          <a:ln/>
        </p:spPr>
        <p:txBody>
          <a:bodyPr wrap="square" lIns="0" tIns="0" rIns="0" bIns="0" rtlCol="0" anchor="ctr"/>
          <a:lstStyle/>
          <a:p>
            <a:pPr indent="0" marL="0">
              <a:buNone/>
            </a:pPr>
            <a:r>
              <a:rPr lang="en-US" sz="1400" b="1" spc="200" kern="0" dirty="0">
                <a:solidFill>
                  <a:srgbClr val="9C5536"/>
                </a:solidFill>
                <a:latin typeface="Calibri" pitchFamily="34" charset="0"/>
                <a:ea typeface="Calibri" pitchFamily="34" charset="-122"/>
                <a:cs typeface="Calibri" pitchFamily="34" charset="-120"/>
              </a:rPr>
              <a:t>CIM管理者培训体系 · 层级二 · 部门经理</a:t>
            </a:r>
            <a:endParaRPr lang="en-US" sz="1400" dirty="0"/>
          </a:p>
        </p:txBody>
      </p:sp>
      <p:sp>
        <p:nvSpPr>
          <p:cNvPr id="3" name="Text 1"/>
          <p:cNvSpPr/>
          <p:nvPr/>
        </p:nvSpPr>
        <p:spPr>
          <a:xfrm>
            <a:off x="822960" y="1417320"/>
            <a:ext cx="3657600" cy="457200"/>
          </a:xfrm>
          <a:prstGeom prst="rect">
            <a:avLst/>
          </a:prstGeom>
          <a:noFill/>
          <a:ln/>
        </p:spPr>
        <p:txBody>
          <a:bodyPr wrap="square" lIns="0" tIns="0" rIns="0" bIns="0" rtlCol="0" anchor="ctr"/>
          <a:lstStyle/>
          <a:p>
            <a:pPr indent="0" marL="0">
              <a:buNone/>
            </a:pPr>
            <a:r>
              <a:rPr lang="en-US" sz="2000" dirty="0">
                <a:solidFill>
                  <a:srgbClr val="7C7F84"/>
                </a:solidFill>
                <a:latin typeface="Cambria" pitchFamily="34" charset="0"/>
                <a:ea typeface="Cambria" pitchFamily="34" charset="-122"/>
                <a:cs typeface="Cambria" pitchFamily="34" charset="-120"/>
              </a:rPr>
              <a:t>M4</a:t>
            </a:r>
            <a:endParaRPr lang="en-US" sz="2000" dirty="0"/>
          </a:p>
        </p:txBody>
      </p:sp>
      <p:sp>
        <p:nvSpPr>
          <p:cNvPr id="4" name="Text 2"/>
          <p:cNvSpPr/>
          <p:nvPr/>
        </p:nvSpPr>
        <p:spPr>
          <a:xfrm>
            <a:off x="822960" y="2286000"/>
            <a:ext cx="10515600" cy="1463040"/>
          </a:xfrm>
          <a:prstGeom prst="rect">
            <a:avLst/>
          </a:prstGeom>
          <a:noFill/>
          <a:ln/>
        </p:spPr>
        <p:txBody>
          <a:bodyPr wrap="square" lIns="0" tIns="0" rIns="0" bIns="0" rtlCol="0" anchor="ctr"/>
          <a:lstStyle/>
          <a:p>
            <a:pPr indent="0" marL="0">
              <a:buNone/>
            </a:pPr>
            <a:r>
              <a:rPr lang="en-US" sz="5600" b="1" dirty="0">
                <a:solidFill>
                  <a:srgbClr val="1B2A4A"/>
                </a:solidFill>
                <a:latin typeface="Cambria" pitchFamily="34" charset="0"/>
                <a:ea typeface="Cambria" pitchFamily="34" charset="-122"/>
                <a:cs typeface="Cambria" pitchFamily="34" charset="-120"/>
              </a:rPr>
              <a:t>给方法</a:t>
            </a:r>
            <a:endParaRPr lang="en-US" sz="5600" dirty="0"/>
          </a:p>
        </p:txBody>
      </p:sp>
      <p:sp>
        <p:nvSpPr>
          <p:cNvPr id="5" name="Text 3"/>
          <p:cNvSpPr/>
          <p:nvPr/>
        </p:nvSpPr>
        <p:spPr>
          <a:xfrm>
            <a:off x="822960" y="3703320"/>
            <a:ext cx="10515600" cy="548640"/>
          </a:xfrm>
          <a:prstGeom prst="rect">
            <a:avLst/>
          </a:prstGeom>
          <a:noFill/>
          <a:ln/>
        </p:spPr>
        <p:txBody>
          <a:bodyPr wrap="square" lIns="0" tIns="0" rIns="0" bIns="0" rtlCol="0" anchor="ctr"/>
          <a:lstStyle/>
          <a:p>
            <a:pPr indent="0" marL="0">
              <a:buNone/>
            </a:pPr>
            <a:r>
              <a:rPr lang="en-US" sz="2200" i="1" dirty="0">
                <a:solidFill>
                  <a:srgbClr val="9C5536"/>
                </a:solidFill>
                <a:latin typeface="Cambria" pitchFamily="34" charset="0"/>
                <a:ea typeface="Cambria" pitchFamily="34" charset="-122"/>
                <a:cs typeface="Cambria" pitchFamily="34" charset="-120"/>
              </a:rPr>
              <a:t>让对方下次不用再来问你</a:t>
            </a:r>
            <a:endParaRPr lang="en-US" sz="2200" dirty="0"/>
          </a:p>
        </p:txBody>
      </p:sp>
      <p:sp>
        <p:nvSpPr>
          <p:cNvPr id="6" name="Shape 4"/>
          <p:cNvSpPr/>
          <p:nvPr/>
        </p:nvSpPr>
        <p:spPr>
          <a:xfrm>
            <a:off x="822960" y="4617720"/>
            <a:ext cx="7863840" cy="1280160"/>
          </a:xfrm>
          <a:prstGeom prst="roundRect">
            <a:avLst>
              <a:gd name="adj" fmla="val 5714"/>
            </a:avLst>
          </a:prstGeom>
          <a:solidFill>
            <a:srgbClr val="EEF1F6"/>
          </a:solidFill>
          <a:ln/>
          <a:effectLst>
            <a:outerShdw sx="100000" sy="100000" kx="0" ky="0" algn="bl" rotWithShape="0" blurRad="101600" dist="38100" dir="5400000">
              <a:srgbClr val="1B2A4A">
                <a:alpha val="10000"/>
              </a:srgbClr>
            </a:outerShdw>
          </a:effectLst>
        </p:spPr>
      </p:sp>
      <p:sp>
        <p:nvSpPr>
          <p:cNvPr id="7" name="Text 5"/>
          <p:cNvSpPr/>
          <p:nvPr/>
        </p:nvSpPr>
        <p:spPr>
          <a:xfrm>
            <a:off x="1143000" y="4617720"/>
            <a:ext cx="7223760" cy="1280160"/>
          </a:xfrm>
          <a:prstGeom prst="rect">
            <a:avLst/>
          </a:prstGeom>
          <a:noFill/>
          <a:ln/>
        </p:spPr>
        <p:txBody>
          <a:bodyPr wrap="square" lIns="0" tIns="0" rIns="0" bIns="0" rtlCol="0" anchor="ctr"/>
          <a:lstStyle/>
          <a:p>
            <a:pPr algn="l" indent="0" marL="0">
              <a:buNone/>
            </a:pPr>
            <a:r>
              <a:rPr lang="en-US" sz="1800" i="1" dirty="0">
                <a:solidFill>
                  <a:srgbClr val="1B2A4A"/>
                </a:solidFill>
                <a:latin typeface="Cambria" pitchFamily="34" charset="0"/>
                <a:ea typeface="Cambria" pitchFamily="34" charset="-122"/>
                <a:cs typeface="Cambria" pitchFamily="34" charset="-120"/>
              </a:rPr>
              <a:t>给方法，不是把答案讲清楚，而是让对方下次不用再来问你。</a:t>
            </a:r>
            <a:endParaRPr lang="en-US" sz="1800" dirty="0"/>
          </a:p>
        </p:txBody>
      </p:sp>
      <p:sp>
        <p:nvSpPr>
          <p:cNvPr id="8" name="Text 6"/>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M4 给方法</a:t>
            </a:r>
            <a:endParaRPr lang="en-US" sz="900" dirty="0"/>
          </a:p>
        </p:txBody>
      </p:sp>
      <p:sp>
        <p:nvSpPr>
          <p:cNvPr id="9" name="Text 7"/>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 / 17</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现象</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同样花时间带人，半年后的工作量完全不同</a:t>
            </a:r>
            <a:endParaRPr lang="en-US" sz="2600" dirty="0"/>
          </a:p>
        </p:txBody>
      </p:sp>
      <p:sp>
        <p:nvSpPr>
          <p:cNvPr id="4" name="Shape 2"/>
          <p:cNvSpPr/>
          <p:nvPr/>
        </p:nvSpPr>
        <p:spPr>
          <a:xfrm>
            <a:off x="548640" y="1691640"/>
            <a:ext cx="5349240" cy="3246120"/>
          </a:xfrm>
          <a:prstGeom prst="roundRect">
            <a:avLst>
              <a:gd name="adj" fmla="val 2254"/>
            </a:avLst>
          </a:prstGeom>
          <a:solidFill>
            <a:srgbClr val="F5EEEA"/>
          </a:solidFill>
          <a:ln/>
          <a:effectLst>
            <a:outerShdw sx="100000" sy="100000" kx="0" ky="0" algn="bl" rotWithShape="0" blurRad="101600" dist="38100" dir="5400000">
              <a:srgbClr val="1B2A4A">
                <a:alpha val="10000"/>
              </a:srgbClr>
            </a:outerShdw>
          </a:effectLst>
        </p:spPr>
      </p:sp>
      <p:sp>
        <p:nvSpPr>
          <p:cNvPr id="5" name="Text 3"/>
          <p:cNvSpPr/>
          <p:nvPr/>
        </p:nvSpPr>
        <p:spPr>
          <a:xfrm>
            <a:off x="868680" y="1965960"/>
            <a:ext cx="2743200" cy="411480"/>
          </a:xfrm>
          <a:prstGeom prst="rect">
            <a:avLst/>
          </a:prstGeom>
          <a:noFill/>
          <a:ln/>
        </p:spPr>
        <p:txBody>
          <a:bodyPr wrap="square" lIns="0" tIns="0" rIns="0" bIns="0" rtlCol="0" anchor="ctr"/>
          <a:lstStyle/>
          <a:p>
            <a:pPr indent="0" marL="0">
              <a:buNone/>
            </a:pPr>
            <a:r>
              <a:rPr lang="en-US" sz="2000" b="1" dirty="0">
                <a:solidFill>
                  <a:srgbClr val="1B2A4A"/>
                </a:solidFill>
                <a:latin typeface="Cambria" pitchFamily="34" charset="0"/>
                <a:ea typeface="Cambria" pitchFamily="34" charset="-122"/>
                <a:cs typeface="Cambria" pitchFamily="34" charset="-120"/>
              </a:rPr>
              <a:t>G经理</a:t>
            </a:r>
            <a:endParaRPr lang="en-US" sz="2000" dirty="0"/>
          </a:p>
        </p:txBody>
      </p:sp>
      <p:sp>
        <p:nvSpPr>
          <p:cNvPr id="6" name="Shape 4"/>
          <p:cNvSpPr/>
          <p:nvPr/>
        </p:nvSpPr>
        <p:spPr>
          <a:xfrm>
            <a:off x="4389120" y="1984248"/>
            <a:ext cx="1188720" cy="292608"/>
          </a:xfrm>
          <a:prstGeom prst="roundRect">
            <a:avLst>
              <a:gd name="adj" fmla="val 18750"/>
            </a:avLst>
          </a:prstGeom>
          <a:solidFill>
            <a:srgbClr val="9C5536"/>
          </a:solidFill>
          <a:ln/>
        </p:spPr>
      </p:sp>
      <p:sp>
        <p:nvSpPr>
          <p:cNvPr id="7" name="Text 5"/>
          <p:cNvSpPr/>
          <p:nvPr/>
        </p:nvSpPr>
        <p:spPr>
          <a:xfrm>
            <a:off x="4389120" y="1984248"/>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给答案</a:t>
            </a:r>
            <a:endParaRPr lang="en-US" sz="1100" dirty="0"/>
          </a:p>
        </p:txBody>
      </p:sp>
      <p:sp>
        <p:nvSpPr>
          <p:cNvPr id="8" name="Text 6"/>
          <p:cNvSpPr/>
          <p:nvPr/>
        </p:nvSpPr>
        <p:spPr>
          <a:xfrm>
            <a:off x="868680" y="2560320"/>
            <a:ext cx="4709160" cy="2103120"/>
          </a:xfrm>
          <a:prstGeom prst="rect">
            <a:avLst/>
          </a:prstGeom>
          <a:noFill/>
          <a:ln/>
        </p:spPr>
        <p:txBody>
          <a:bodyPr wrap="square" lIns="0" tIns="0" rIns="0" bIns="0" rtlCol="0" anchor="t"/>
          <a:lstStyle/>
          <a:p>
            <a:pPr algn="l" indent="0" marL="0">
              <a:lnSpc>
                <a:spcPct val="125000"/>
              </a:lnSpc>
              <a:buNone/>
            </a:pPr>
            <a:r>
              <a:rPr lang="en-US" sz="1350" dirty="0">
                <a:solidFill>
                  <a:srgbClr val="33363B"/>
                </a:solidFill>
                <a:latin typeface="Calibri" pitchFamily="34" charset="0"/>
                <a:ea typeface="Calibri" pitchFamily="34" charset="-122"/>
                <a:cs typeface="Calibri" pitchFamily="34" charset="-120"/>
              </a:rPr>
              <a:t>下属带着问题来找他，总是直接给出明确的判断和指令，效率很高，下属也很满意——但同样类型的问题，下个月又被同一个下属带着来问他，因为下属只记住了「这次该怎么办」，没有学会「以后这类问题该怎么判断」。</a:t>
            </a:r>
            <a:endParaRPr lang="en-US" sz="1350" dirty="0"/>
          </a:p>
        </p:txBody>
      </p:sp>
      <p:sp>
        <p:nvSpPr>
          <p:cNvPr id="9" name="Shape 7"/>
          <p:cNvSpPr/>
          <p:nvPr/>
        </p:nvSpPr>
        <p:spPr>
          <a:xfrm>
            <a:off x="6263640" y="1691640"/>
            <a:ext cx="5349240" cy="3246120"/>
          </a:xfrm>
          <a:prstGeom prst="roundRect">
            <a:avLst>
              <a:gd name="adj" fmla="val 2254"/>
            </a:avLst>
          </a:prstGeom>
          <a:solidFill>
            <a:srgbClr val="EEF2EE"/>
          </a:solidFill>
          <a:ln/>
          <a:effectLst>
            <a:outerShdw sx="100000" sy="100000" kx="0" ky="0" algn="bl" rotWithShape="0" blurRad="101600" dist="38100" dir="5400000">
              <a:srgbClr val="1B2A4A">
                <a:alpha val="10000"/>
              </a:srgbClr>
            </a:outerShdw>
          </a:effectLst>
        </p:spPr>
      </p:sp>
      <p:sp>
        <p:nvSpPr>
          <p:cNvPr id="10" name="Text 8"/>
          <p:cNvSpPr/>
          <p:nvPr/>
        </p:nvSpPr>
        <p:spPr>
          <a:xfrm>
            <a:off x="6583680" y="1965960"/>
            <a:ext cx="2743200" cy="411480"/>
          </a:xfrm>
          <a:prstGeom prst="rect">
            <a:avLst/>
          </a:prstGeom>
          <a:noFill/>
          <a:ln/>
        </p:spPr>
        <p:txBody>
          <a:bodyPr wrap="square" lIns="0" tIns="0" rIns="0" bIns="0" rtlCol="0" anchor="ctr"/>
          <a:lstStyle/>
          <a:p>
            <a:pPr indent="0" marL="0">
              <a:buNone/>
            </a:pPr>
            <a:r>
              <a:rPr lang="en-US" sz="2000" b="1" dirty="0">
                <a:solidFill>
                  <a:srgbClr val="1B2A4A"/>
                </a:solidFill>
                <a:latin typeface="Cambria" pitchFamily="34" charset="0"/>
                <a:ea typeface="Cambria" pitchFamily="34" charset="-122"/>
                <a:cs typeface="Cambria" pitchFamily="34" charset="-120"/>
              </a:rPr>
              <a:t>H经理</a:t>
            </a:r>
            <a:endParaRPr lang="en-US" sz="2000" dirty="0"/>
          </a:p>
        </p:txBody>
      </p:sp>
      <p:sp>
        <p:nvSpPr>
          <p:cNvPr id="11" name="Shape 9"/>
          <p:cNvSpPr/>
          <p:nvPr/>
        </p:nvSpPr>
        <p:spPr>
          <a:xfrm>
            <a:off x="10104120" y="1984248"/>
            <a:ext cx="1188720" cy="292608"/>
          </a:xfrm>
          <a:prstGeom prst="roundRect">
            <a:avLst>
              <a:gd name="adj" fmla="val 18750"/>
            </a:avLst>
          </a:prstGeom>
          <a:solidFill>
            <a:srgbClr val="4F6F52"/>
          </a:solidFill>
          <a:ln/>
        </p:spPr>
      </p:sp>
      <p:sp>
        <p:nvSpPr>
          <p:cNvPr id="12" name="Text 10"/>
          <p:cNvSpPr/>
          <p:nvPr/>
        </p:nvSpPr>
        <p:spPr>
          <a:xfrm>
            <a:off x="10104120" y="1984248"/>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给方法</a:t>
            </a:r>
            <a:endParaRPr lang="en-US" sz="1100" dirty="0"/>
          </a:p>
        </p:txBody>
      </p:sp>
      <p:sp>
        <p:nvSpPr>
          <p:cNvPr id="13" name="Text 11"/>
          <p:cNvSpPr/>
          <p:nvPr/>
        </p:nvSpPr>
        <p:spPr>
          <a:xfrm>
            <a:off x="6583680" y="2560320"/>
            <a:ext cx="4709160" cy="2103120"/>
          </a:xfrm>
          <a:prstGeom prst="rect">
            <a:avLst/>
          </a:prstGeom>
          <a:noFill/>
          <a:ln/>
        </p:spPr>
        <p:txBody>
          <a:bodyPr wrap="square" lIns="0" tIns="0" rIns="0" bIns="0" rtlCol="0" anchor="t"/>
          <a:lstStyle/>
          <a:p>
            <a:pPr algn="l" indent="0" marL="0">
              <a:lnSpc>
                <a:spcPct val="125000"/>
              </a:lnSpc>
              <a:buNone/>
            </a:pPr>
            <a:r>
              <a:rPr lang="en-US" sz="1350" dirty="0">
                <a:solidFill>
                  <a:srgbClr val="33363B"/>
                </a:solidFill>
                <a:latin typeface="Calibri" pitchFamily="34" charset="0"/>
                <a:ea typeface="Calibri" pitchFamily="34" charset="-122"/>
                <a:cs typeface="Calibri" pitchFamily="34" charset="-120"/>
              </a:rPr>
              <a:t>下属带着问题来找他，会先问「如果是你，你会怎么判断」，然后把自己的判断标准拆开讲清楚，让下属自己套用这套标准给出结论，自己只在关键节点纠偏。第一次效率不如G经理高，但三个月后，这位下属处理同类问题不再需要请教H经理。</a:t>
            </a:r>
            <a:endParaRPr lang="en-US" sz="1350" dirty="0"/>
          </a:p>
        </p:txBody>
      </p:sp>
      <p:sp>
        <p:nvSpPr>
          <p:cNvPr id="14" name="Shape 12"/>
          <p:cNvSpPr/>
          <p:nvPr/>
        </p:nvSpPr>
        <p:spPr>
          <a:xfrm>
            <a:off x="548640" y="5166360"/>
            <a:ext cx="11064240" cy="914400"/>
          </a:xfrm>
          <a:prstGeom prst="roundRect">
            <a:avLst>
              <a:gd name="adj" fmla="val 8000"/>
            </a:avLst>
          </a:prstGeom>
          <a:solidFill>
            <a:srgbClr val="EEF1F6"/>
          </a:solidFill>
          <a:ln/>
          <a:effectLst>
            <a:outerShdw sx="100000" sy="100000" kx="0" ky="0" algn="bl" rotWithShape="0" blurRad="101600" dist="38100" dir="5400000">
              <a:srgbClr val="1B2A4A">
                <a:alpha val="10000"/>
              </a:srgbClr>
            </a:outerShdw>
          </a:effectLst>
        </p:spPr>
      </p:sp>
      <p:sp>
        <p:nvSpPr>
          <p:cNvPr id="15" name="Text 13"/>
          <p:cNvSpPr/>
          <p:nvPr/>
        </p:nvSpPr>
        <p:spPr>
          <a:xfrm>
            <a:off x="868680" y="5166360"/>
            <a:ext cx="10424160" cy="914400"/>
          </a:xfrm>
          <a:prstGeom prst="rect">
            <a:avLst/>
          </a:prstGeom>
          <a:noFill/>
          <a:ln/>
        </p:spPr>
        <p:txBody>
          <a:bodyPr wrap="square" lIns="0" tIns="0" rIns="0" bIns="0" rtlCol="0" anchor="ctr"/>
          <a:lstStyle/>
          <a:p>
            <a:pPr algn="l" indent="0" marL="0">
              <a:buNone/>
            </a:pPr>
            <a:r>
              <a:rPr lang="en-US" sz="1550" i="1" dirty="0">
                <a:solidFill>
                  <a:srgbClr val="1B2A4A"/>
                </a:solidFill>
                <a:latin typeface="Cambria" pitchFamily="34" charset="0"/>
                <a:ea typeface="Cambria" pitchFamily="34" charset="-122"/>
                <a:cs typeface="Cambria" pitchFamily="34" charset="-120"/>
              </a:rPr>
              <a:t>两人都「帮」了下属，但谁的帮是消耗性的、谁的帮是投资性的？</a:t>
            </a:r>
            <a:endParaRPr lang="en-US" sz="1550" dirty="0"/>
          </a:p>
        </p:txBody>
      </p:sp>
      <p:sp>
        <p:nvSpPr>
          <p:cNvPr id="16" name="Text 14"/>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M4 给方法</a:t>
            </a:r>
            <a:endParaRPr lang="en-US" sz="900" dirty="0"/>
          </a:p>
        </p:txBody>
      </p:sp>
      <p:sp>
        <p:nvSpPr>
          <p:cNvPr id="17" name="Text 15"/>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2 / 17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问题</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「教会」和「告诉」，是部门经理最容易混淆的两件事</a:t>
            </a:r>
            <a:endParaRPr lang="en-US" sz="2500" dirty="0"/>
          </a:p>
        </p:txBody>
      </p:sp>
      <p:sp>
        <p:nvSpPr>
          <p:cNvPr id="4" name="Text 2"/>
          <p:cNvSpPr/>
          <p:nvPr/>
        </p:nvSpPr>
        <p:spPr>
          <a:xfrm>
            <a:off x="548640" y="1783080"/>
            <a:ext cx="11064240" cy="960120"/>
          </a:xfrm>
          <a:prstGeom prst="rect">
            <a:avLst/>
          </a:prstGeom>
          <a:noFill/>
          <a:ln/>
        </p:spPr>
        <p:txBody>
          <a:bodyPr wrap="square" lIns="0" tIns="0" rIns="0" bIns="0" rtlCol="0" anchor="ctr"/>
          <a:lstStyle/>
          <a:p>
            <a:pPr indent="0" marL="0">
              <a:lnSpc>
                <a:spcPct val="130000"/>
              </a:lnSpc>
              <a:buNone/>
            </a:pPr>
            <a:r>
              <a:rPr lang="en-US" sz="1400" dirty="0">
                <a:solidFill>
                  <a:srgbClr val="33363B"/>
                </a:solidFill>
                <a:latin typeface="Calibri" pitchFamily="34" charset="0"/>
                <a:ea typeface="Calibri" pitchFamily="34" charset="-122"/>
                <a:cs typeface="Calibri" pitchFamily="34" charset="-120"/>
              </a:rPr>
              <a:t>部门经理通常觉得自己愿意带人、也确实花了时间回答下属的问题，但很少意识到——回答问题和教会方法，是完全不同的两种行为，前者消耗的是经理自己的时间，后者投资的是下属的能力。</a:t>
            </a:r>
            <a:endParaRPr lang="en-US" sz="1400" dirty="0"/>
          </a:p>
        </p:txBody>
      </p:sp>
      <p:sp>
        <p:nvSpPr>
          <p:cNvPr id="5" name="Shape 3"/>
          <p:cNvSpPr/>
          <p:nvPr/>
        </p:nvSpPr>
        <p:spPr>
          <a:xfrm>
            <a:off x="548640" y="2834640"/>
            <a:ext cx="11064240" cy="1143000"/>
          </a:xfrm>
          <a:prstGeom prst="roundRect">
            <a:avLst>
              <a:gd name="adj" fmla="val 6400"/>
            </a:avLst>
          </a:prstGeom>
          <a:solidFill>
            <a:srgbClr val="EEF1F6"/>
          </a:solidFill>
          <a:ln/>
          <a:effectLst>
            <a:outerShdw sx="100000" sy="100000" kx="0" ky="0" algn="bl" rotWithShape="0" blurRad="101600" dist="38100" dir="5400000">
              <a:srgbClr val="1B2A4A">
                <a:alpha val="10000"/>
              </a:srgbClr>
            </a:outerShdw>
          </a:effectLst>
        </p:spPr>
      </p:sp>
      <p:sp>
        <p:nvSpPr>
          <p:cNvPr id="6" name="Text 4"/>
          <p:cNvSpPr/>
          <p:nvPr/>
        </p:nvSpPr>
        <p:spPr>
          <a:xfrm>
            <a:off x="868680" y="2971800"/>
            <a:ext cx="10424160" cy="896112"/>
          </a:xfrm>
          <a:prstGeom prst="rect">
            <a:avLst/>
          </a:prstGeom>
          <a:noFill/>
          <a:ln/>
        </p:spPr>
        <p:txBody>
          <a:bodyPr wrap="square" lIns="0" tIns="0" rIns="0" bIns="0" rtlCol="0" anchor="ctr"/>
          <a:lstStyle/>
          <a:p>
            <a:pPr indent="0" marL="0">
              <a:lnSpc>
                <a:spcPct val="120000"/>
              </a:lnSpc>
              <a:buNone/>
            </a:pPr>
            <a:r>
              <a:rPr lang="en-US" sz="1450" i="1" dirty="0">
                <a:solidFill>
                  <a:srgbClr val="1B2A4A"/>
                </a:solidFill>
                <a:latin typeface="Cambria" pitchFamily="34" charset="0"/>
                <a:ea typeface="Cambria" pitchFamily="34" charset="-122"/>
                <a:cs typeface="Cambria" pitchFamily="34" charset="-120"/>
              </a:rPr>
              <a:t>本模块要建立的认知：把自己的判断过程显性化成可迁移的方法，是部门经理这个层级「培训」这项高杠杆活动真正发挥作用的关键，否则培训只是停留在口号层面。</a:t>
            </a:r>
            <a:endParaRPr lang="en-US" sz="1450" dirty="0"/>
          </a:p>
        </p:txBody>
      </p:sp>
      <p:sp>
        <p:nvSpPr>
          <p:cNvPr id="7" name="Text 5"/>
          <p:cNvSpPr/>
          <p:nvPr/>
        </p:nvSpPr>
        <p:spPr>
          <a:xfrm>
            <a:off x="548640" y="4206240"/>
            <a:ext cx="5486400" cy="320040"/>
          </a:xfrm>
          <a:prstGeom prst="rect">
            <a:avLst/>
          </a:prstGeom>
          <a:noFill/>
          <a:ln/>
        </p:spPr>
        <p:txBody>
          <a:bodyPr wrap="square" lIns="0" tIns="0" rIns="0" bIns="0" rtlCol="0" anchor="ctr"/>
          <a:lstStyle/>
          <a:p>
            <a:pPr indent="0" marL="0">
              <a:buNone/>
            </a:pPr>
            <a:r>
              <a:rPr lang="en-US" sz="1250" b="1" spc="100" kern="0" dirty="0">
                <a:solidFill>
                  <a:srgbClr val="9C5536"/>
                </a:solidFill>
                <a:latin typeface="Calibri" pitchFamily="34" charset="0"/>
                <a:ea typeface="Calibri" pitchFamily="34" charset="-122"/>
                <a:cs typeface="Calibri" pitchFamily="34" charset="-120"/>
              </a:rPr>
              <a:t>本讲将回答三个问题</a:t>
            </a:r>
            <a:endParaRPr lang="en-US" sz="1250" dirty="0"/>
          </a:p>
        </p:txBody>
      </p:sp>
      <p:sp>
        <p:nvSpPr>
          <p:cNvPr id="8" name="Shape 6"/>
          <p:cNvSpPr/>
          <p:nvPr/>
        </p:nvSpPr>
        <p:spPr>
          <a:xfrm>
            <a:off x="548640" y="4572000"/>
            <a:ext cx="420624" cy="420624"/>
          </a:xfrm>
          <a:prstGeom prst="ellipse">
            <a:avLst/>
          </a:prstGeom>
          <a:solidFill>
            <a:srgbClr val="9C5536"/>
          </a:solidFill>
          <a:ln/>
        </p:spPr>
      </p:sp>
      <p:sp>
        <p:nvSpPr>
          <p:cNvPr id="9" name="Text 7"/>
          <p:cNvSpPr/>
          <p:nvPr/>
        </p:nvSpPr>
        <p:spPr>
          <a:xfrm>
            <a:off x="548640" y="457200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0" name="Text 8"/>
          <p:cNvSpPr/>
          <p:nvPr/>
        </p:nvSpPr>
        <p:spPr>
          <a:xfrm>
            <a:off x="1143000" y="4544568"/>
            <a:ext cx="10424160" cy="621792"/>
          </a:xfrm>
          <a:prstGeom prst="rect">
            <a:avLst/>
          </a:prstGeom>
          <a:noFill/>
          <a:ln/>
        </p:spPr>
        <p:txBody>
          <a:bodyPr wrap="square" lIns="0" tIns="0" rIns="0" bIns="0" rtlCol="0" anchor="ctr"/>
          <a:lstStyle/>
          <a:p>
            <a:pPr indent="0" marL="0">
              <a:buNone/>
            </a:pPr>
            <a:r>
              <a:rPr lang="en-US" sz="1350" dirty="0">
                <a:solidFill>
                  <a:srgbClr val="33363B"/>
                </a:solidFill>
                <a:latin typeface="Calibri" pitchFamily="34" charset="0"/>
                <a:ea typeface="Calibri" pitchFamily="34" charset="-122"/>
                <a:cs typeface="Calibri" pitchFamily="34" charset="-120"/>
              </a:rPr>
              <a:t>为什么经理明明在「教」，下属却总是学不会，下次还是要来问？</a:t>
            </a:r>
            <a:endParaRPr lang="en-US" sz="1350" dirty="0"/>
          </a:p>
        </p:txBody>
      </p:sp>
      <p:sp>
        <p:nvSpPr>
          <p:cNvPr id="11" name="Shape 9"/>
          <p:cNvSpPr/>
          <p:nvPr/>
        </p:nvSpPr>
        <p:spPr>
          <a:xfrm>
            <a:off x="548640" y="5248656"/>
            <a:ext cx="420624" cy="420624"/>
          </a:xfrm>
          <a:prstGeom prst="ellipse">
            <a:avLst/>
          </a:prstGeom>
          <a:solidFill>
            <a:srgbClr val="9C5536"/>
          </a:solidFill>
          <a:ln/>
        </p:spPr>
      </p:sp>
      <p:sp>
        <p:nvSpPr>
          <p:cNvPr id="12" name="Text 10"/>
          <p:cNvSpPr/>
          <p:nvPr/>
        </p:nvSpPr>
        <p:spPr>
          <a:xfrm>
            <a:off x="548640" y="5248656"/>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1143000" y="5221224"/>
            <a:ext cx="10424160" cy="621792"/>
          </a:xfrm>
          <a:prstGeom prst="rect">
            <a:avLst/>
          </a:prstGeom>
          <a:noFill/>
          <a:ln/>
        </p:spPr>
        <p:txBody>
          <a:bodyPr wrap="square" lIns="0" tIns="0" rIns="0" bIns="0" rtlCol="0" anchor="ctr"/>
          <a:lstStyle/>
          <a:p>
            <a:pPr indent="0" marL="0">
              <a:buNone/>
            </a:pPr>
            <a:r>
              <a:rPr lang="en-US" sz="1350" dirty="0">
                <a:solidFill>
                  <a:srgbClr val="33363B"/>
                </a:solidFill>
                <a:latin typeface="Calibri" pitchFamily="34" charset="0"/>
                <a:ea typeface="Calibri" pitchFamily="34" charset="-122"/>
                <a:cs typeface="Calibri" pitchFamily="34" charset="-120"/>
              </a:rPr>
              <a:t>给方法具体该怎么操作，才能让下属真正把方法内化？</a:t>
            </a:r>
            <a:endParaRPr lang="en-US" sz="1350" dirty="0"/>
          </a:p>
        </p:txBody>
      </p:sp>
      <p:sp>
        <p:nvSpPr>
          <p:cNvPr id="14" name="Shape 12"/>
          <p:cNvSpPr/>
          <p:nvPr/>
        </p:nvSpPr>
        <p:spPr>
          <a:xfrm>
            <a:off x="548640" y="5925312"/>
            <a:ext cx="420624" cy="420624"/>
          </a:xfrm>
          <a:prstGeom prst="ellipse">
            <a:avLst/>
          </a:prstGeom>
          <a:solidFill>
            <a:srgbClr val="9C5536"/>
          </a:solidFill>
          <a:ln/>
        </p:spPr>
      </p:sp>
      <p:sp>
        <p:nvSpPr>
          <p:cNvPr id="15" name="Text 13"/>
          <p:cNvSpPr/>
          <p:nvPr/>
        </p:nvSpPr>
        <p:spPr>
          <a:xfrm>
            <a:off x="548640" y="592531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p:nvPr/>
        </p:nvSpPr>
        <p:spPr>
          <a:xfrm>
            <a:off x="1143000" y="5897880"/>
            <a:ext cx="10424160" cy="621792"/>
          </a:xfrm>
          <a:prstGeom prst="rect">
            <a:avLst/>
          </a:prstGeom>
          <a:noFill/>
          <a:ln/>
        </p:spPr>
        <p:txBody>
          <a:bodyPr wrap="square" lIns="0" tIns="0" rIns="0" bIns="0" rtlCol="0" anchor="ctr"/>
          <a:lstStyle/>
          <a:p>
            <a:pPr indent="0" marL="0">
              <a:buNone/>
            </a:pPr>
            <a:r>
              <a:rPr lang="en-US" sz="1350" dirty="0">
                <a:solidFill>
                  <a:srgbClr val="33363B"/>
                </a:solidFill>
                <a:latin typeface="Calibri" pitchFamily="34" charset="0"/>
                <a:ea typeface="Calibri" pitchFamily="34" charset="-122"/>
                <a:cs typeface="Calibri" pitchFamily="34" charset="-120"/>
              </a:rPr>
              <a:t>什么情况下直接给答案反而比给方法更负责任？</a:t>
            </a:r>
            <a:endParaRPr lang="en-US" sz="1350" dirty="0"/>
          </a:p>
        </p:txBody>
      </p:sp>
      <p:sp>
        <p:nvSpPr>
          <p:cNvPr id="17" name="Text 15"/>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M4 给方法</a:t>
            </a:r>
            <a:endParaRPr lang="en-US" sz="900" dirty="0"/>
          </a:p>
        </p:txBody>
      </p:sp>
      <p:sp>
        <p:nvSpPr>
          <p:cNvPr id="18" name="Text 16"/>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3 / 17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理论框架一</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给答案 vs 给方法——杠杆率的代际差异</a:t>
            </a:r>
            <a:endParaRPr lang="en-US" sz="2700" dirty="0"/>
          </a:p>
        </p:txBody>
      </p:sp>
      <p:sp>
        <p:nvSpPr>
          <p:cNvPr id="4" name="Shape 2"/>
          <p:cNvSpPr/>
          <p:nvPr/>
        </p:nvSpPr>
        <p:spPr>
          <a:xfrm>
            <a:off x="548640" y="1627632"/>
            <a:ext cx="11064240" cy="1051560"/>
          </a:xfrm>
          <a:prstGeom prst="roundRect">
            <a:avLst>
              <a:gd name="adj" fmla="val 6957"/>
            </a:avLst>
          </a:prstGeom>
          <a:solidFill>
            <a:srgbClr val="EEF1F6"/>
          </a:solidFill>
          <a:ln/>
          <a:effectLst>
            <a:outerShdw sx="100000" sy="100000" kx="0" ky="0" algn="bl" rotWithShape="0" blurRad="101600" dist="38100" dir="5400000">
              <a:srgbClr val="1B2A4A">
                <a:alpha val="10000"/>
              </a:srgbClr>
            </a:outerShdw>
          </a:effectLst>
        </p:spPr>
      </p:sp>
      <p:sp>
        <p:nvSpPr>
          <p:cNvPr id="5" name="Text 3"/>
          <p:cNvSpPr/>
          <p:nvPr/>
        </p:nvSpPr>
        <p:spPr>
          <a:xfrm>
            <a:off x="868680" y="1700784"/>
            <a:ext cx="10424160" cy="502920"/>
          </a:xfrm>
          <a:prstGeom prst="rect">
            <a:avLst/>
          </a:prstGeom>
          <a:noFill/>
          <a:ln/>
        </p:spPr>
        <p:txBody>
          <a:bodyPr wrap="square" lIns="0" tIns="0" rIns="0" bIns="0" rtlCol="0" anchor="ctr"/>
          <a:lstStyle/>
          <a:p>
            <a:pPr indent="0" marL="0">
              <a:buNone/>
            </a:pPr>
            <a:r>
              <a:rPr lang="en-US" sz="1700" b="1" dirty="0">
                <a:solidFill>
                  <a:srgbClr val="1B2A4A"/>
                </a:solidFill>
                <a:latin typeface="Cambria" pitchFamily="34" charset="0"/>
                <a:ea typeface="Cambria" pitchFamily="34" charset="-122"/>
                <a:cs typeface="Cambria" pitchFamily="34" charset="-120"/>
              </a:rPr>
              <a:t>给答案解决一次性问题，给方法解决一类问题</a:t>
            </a:r>
            <a:endParaRPr lang="en-US" sz="1700" dirty="0"/>
          </a:p>
        </p:txBody>
      </p:sp>
      <p:sp>
        <p:nvSpPr>
          <p:cNvPr id="6" name="Text 4"/>
          <p:cNvSpPr/>
          <p:nvPr/>
        </p:nvSpPr>
        <p:spPr>
          <a:xfrm>
            <a:off x="868680" y="2176272"/>
            <a:ext cx="10424160" cy="457200"/>
          </a:xfrm>
          <a:prstGeom prst="rect">
            <a:avLst/>
          </a:prstGeom>
          <a:noFill/>
          <a:ln/>
        </p:spPr>
        <p:txBody>
          <a:bodyPr wrap="square" lIns="0" tIns="0" rIns="0" bIns="0" rtlCol="0" anchor="ctr"/>
          <a:lstStyle/>
          <a:p>
            <a:pPr indent="0" marL="0">
              <a:buNone/>
            </a:pPr>
            <a:r>
              <a:rPr lang="en-US" sz="1200" i="1" dirty="0">
                <a:solidFill>
                  <a:srgbClr val="7C7F84"/>
                </a:solidFill>
                <a:latin typeface="Calibri" pitchFamily="34" charset="0"/>
                <a:ea typeface="Calibri" pitchFamily="34" charset="-122"/>
                <a:cs typeface="Calibri" pitchFamily="34" charset="-120"/>
              </a:rPr>
              <a:t>答案的价值会随着问题场景改变而归零，方法的价值会随着下属遇到新问题反复变现。</a:t>
            </a:r>
            <a:endParaRPr lang="en-US" sz="1200" dirty="0"/>
          </a:p>
        </p:txBody>
      </p:sp>
      <p:sp>
        <p:nvSpPr>
          <p:cNvPr id="7" name="Shape 5"/>
          <p:cNvSpPr/>
          <p:nvPr/>
        </p:nvSpPr>
        <p:spPr>
          <a:xfrm>
            <a:off x="548640" y="2926080"/>
            <a:ext cx="5404104" cy="3154680"/>
          </a:xfrm>
          <a:prstGeom prst="roundRect">
            <a:avLst>
              <a:gd name="adj" fmla="val 2319"/>
            </a:avLst>
          </a:prstGeom>
          <a:solidFill>
            <a:srgbClr val="FFFFFF"/>
          </a:solidFill>
          <a:ln/>
          <a:effectLst>
            <a:outerShdw sx="100000" sy="100000" kx="0" ky="0" algn="bl" rotWithShape="0" blurRad="101600" dist="38100" dir="5400000">
              <a:srgbClr val="1B2A4A">
                <a:alpha val="10000"/>
              </a:srgbClr>
            </a:outerShdw>
          </a:effectLst>
        </p:spPr>
      </p:sp>
      <p:sp>
        <p:nvSpPr>
          <p:cNvPr id="8" name="Shape 6"/>
          <p:cNvSpPr/>
          <p:nvPr/>
        </p:nvSpPr>
        <p:spPr>
          <a:xfrm>
            <a:off x="822960" y="3200400"/>
            <a:ext cx="420624" cy="420624"/>
          </a:xfrm>
          <a:prstGeom prst="ellipse">
            <a:avLst/>
          </a:prstGeom>
          <a:solidFill>
            <a:srgbClr val="1B2A4A"/>
          </a:solidFill>
          <a:ln/>
        </p:spPr>
      </p:sp>
      <p:sp>
        <p:nvSpPr>
          <p:cNvPr id="9" name="Text 7"/>
          <p:cNvSpPr/>
          <p:nvPr/>
        </p:nvSpPr>
        <p:spPr>
          <a:xfrm>
            <a:off x="822960" y="320040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0" name="Text 8"/>
          <p:cNvSpPr/>
          <p:nvPr/>
        </p:nvSpPr>
        <p:spPr>
          <a:xfrm>
            <a:off x="1417320" y="3200400"/>
            <a:ext cx="4306824" cy="420624"/>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价值衰减速度</a:t>
            </a:r>
            <a:endParaRPr lang="en-US" sz="1600" dirty="0"/>
          </a:p>
        </p:txBody>
      </p:sp>
      <p:sp>
        <p:nvSpPr>
          <p:cNvPr id="11" name="Text 9"/>
          <p:cNvSpPr/>
          <p:nvPr/>
        </p:nvSpPr>
        <p:spPr>
          <a:xfrm>
            <a:off x="822960" y="3840480"/>
            <a:ext cx="4855464" cy="1965960"/>
          </a:xfrm>
          <a:prstGeom prst="rect">
            <a:avLst/>
          </a:prstGeom>
          <a:noFill/>
          <a:ln/>
        </p:spPr>
        <p:txBody>
          <a:bodyPr wrap="square" lIns="0" tIns="0" rIns="0" bIns="0" rtlCol="0" anchor="t"/>
          <a:lstStyle/>
          <a:p>
            <a:pPr indent="0" marL="0">
              <a:lnSpc>
                <a:spcPct val="125000"/>
              </a:lnSpc>
              <a:buNone/>
            </a:pPr>
            <a:r>
              <a:rPr lang="en-US" sz="1200" dirty="0">
                <a:solidFill>
                  <a:srgbClr val="33363B"/>
                </a:solidFill>
                <a:latin typeface="Calibri" pitchFamily="34" charset="0"/>
                <a:ea typeface="Calibri" pitchFamily="34" charset="-122"/>
                <a:cs typeface="Calibri" pitchFamily="34" charset="-120"/>
              </a:rPr>
              <a:t>答案是针对具体情境的一次性产出，场景一变就失效；方法是针对决策结构的可复用产出，能跨场景迁移。</a:t>
            </a:r>
            <a:endParaRPr lang="en-US" sz="1200" dirty="0"/>
          </a:p>
        </p:txBody>
      </p:sp>
      <p:sp>
        <p:nvSpPr>
          <p:cNvPr id="12" name="Shape 10"/>
          <p:cNvSpPr/>
          <p:nvPr/>
        </p:nvSpPr>
        <p:spPr>
          <a:xfrm>
            <a:off x="6208776" y="2926080"/>
            <a:ext cx="5404104" cy="3154680"/>
          </a:xfrm>
          <a:prstGeom prst="roundRect">
            <a:avLst>
              <a:gd name="adj" fmla="val 2319"/>
            </a:avLst>
          </a:prstGeom>
          <a:solidFill>
            <a:srgbClr val="FFFFFF"/>
          </a:solidFill>
          <a:ln/>
          <a:effectLst>
            <a:outerShdw sx="100000" sy="100000" kx="0" ky="0" algn="bl" rotWithShape="0" blurRad="101600" dist="38100" dir="5400000">
              <a:srgbClr val="1B2A4A">
                <a:alpha val="10000"/>
              </a:srgbClr>
            </a:outerShdw>
          </a:effectLst>
        </p:spPr>
      </p:sp>
      <p:sp>
        <p:nvSpPr>
          <p:cNvPr id="13" name="Shape 11"/>
          <p:cNvSpPr/>
          <p:nvPr/>
        </p:nvSpPr>
        <p:spPr>
          <a:xfrm>
            <a:off x="6483096" y="3200400"/>
            <a:ext cx="420624" cy="420624"/>
          </a:xfrm>
          <a:prstGeom prst="ellipse">
            <a:avLst/>
          </a:prstGeom>
          <a:solidFill>
            <a:srgbClr val="1B2A4A"/>
          </a:solidFill>
          <a:ln/>
        </p:spPr>
      </p:sp>
      <p:sp>
        <p:nvSpPr>
          <p:cNvPr id="14" name="Text 12"/>
          <p:cNvSpPr/>
          <p:nvPr/>
        </p:nvSpPr>
        <p:spPr>
          <a:xfrm>
            <a:off x="6483096" y="320040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5" name="Text 13"/>
          <p:cNvSpPr/>
          <p:nvPr/>
        </p:nvSpPr>
        <p:spPr>
          <a:xfrm>
            <a:off x="7077456" y="3200400"/>
            <a:ext cx="4306824" cy="420624"/>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隐性杠杆率损耗</a:t>
            </a:r>
            <a:endParaRPr lang="en-US" sz="1600" dirty="0"/>
          </a:p>
        </p:txBody>
      </p:sp>
      <p:sp>
        <p:nvSpPr>
          <p:cNvPr id="16" name="Text 14"/>
          <p:cNvSpPr/>
          <p:nvPr/>
        </p:nvSpPr>
        <p:spPr>
          <a:xfrm>
            <a:off x="6483096" y="3840480"/>
            <a:ext cx="4855464" cy="1965960"/>
          </a:xfrm>
          <a:prstGeom prst="rect">
            <a:avLst/>
          </a:prstGeom>
          <a:noFill/>
          <a:ln/>
        </p:spPr>
        <p:txBody>
          <a:bodyPr wrap="square" lIns="0" tIns="0" rIns="0" bIns="0" rtlCol="0" anchor="t"/>
          <a:lstStyle/>
          <a:p>
            <a:pPr indent="0" marL="0">
              <a:lnSpc>
                <a:spcPct val="125000"/>
              </a:lnSpc>
              <a:buNone/>
            </a:pPr>
            <a:r>
              <a:rPr lang="en-US" sz="1200" dirty="0">
                <a:solidFill>
                  <a:srgbClr val="33363B"/>
                </a:solidFill>
                <a:latin typeface="Calibri" pitchFamily="34" charset="0"/>
                <a:ea typeface="Calibri" pitchFamily="34" charset="-122"/>
                <a:cs typeface="Calibri" pitchFamily="34" charset="-120"/>
              </a:rPr>
              <a:t>很多经理认同「培训是高杠杆活动」，但实操中给出的教学本质上还是答案，导致这部分本该最高杠杆的行为，实际杠杆率很低，咨询请求量不会随时间下降。</a:t>
            </a:r>
            <a:endParaRPr lang="en-US" sz="1200" dirty="0"/>
          </a:p>
        </p:txBody>
      </p:sp>
      <p:sp>
        <p:nvSpPr>
          <p:cNvPr id="17" name="Text 15"/>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M4 给方法</a:t>
            </a:r>
            <a:endParaRPr lang="en-US" sz="900" dirty="0"/>
          </a:p>
        </p:txBody>
      </p:sp>
      <p:sp>
        <p:nvSpPr>
          <p:cNvPr id="18" name="Text 16"/>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4 / 17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理论框架二</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给方法的三个操作动作</a:t>
            </a:r>
            <a:endParaRPr lang="en-US" sz="2700" dirty="0"/>
          </a:p>
        </p:txBody>
      </p:sp>
      <p:sp>
        <p:nvSpPr>
          <p:cNvPr id="4" name="Text 2"/>
          <p:cNvSpPr/>
          <p:nvPr/>
        </p:nvSpPr>
        <p:spPr>
          <a:xfrm>
            <a:off x="548640" y="1627632"/>
            <a:ext cx="11064240" cy="777240"/>
          </a:xfrm>
          <a:prstGeom prst="rect">
            <a:avLst/>
          </a:prstGeom>
          <a:noFill/>
          <a:ln/>
        </p:spPr>
        <p:txBody>
          <a:bodyPr wrap="square" lIns="0" tIns="0" rIns="0" bIns="0" rtlCol="0" anchor="ctr"/>
          <a:lstStyle/>
          <a:p>
            <a:pPr indent="0" marL="0">
              <a:lnSpc>
                <a:spcPct val="125000"/>
              </a:lnSpc>
              <a:buNone/>
            </a:pPr>
            <a:r>
              <a:rPr lang="en-US" sz="1350" dirty="0">
                <a:solidFill>
                  <a:srgbClr val="33363B"/>
                </a:solidFill>
                <a:latin typeface="Calibri" pitchFamily="34" charset="0"/>
                <a:ea typeface="Calibri" pitchFamily="34" charset="-122"/>
                <a:cs typeface="Calibri" pitchFamily="34" charset="-120"/>
              </a:rPr>
              <a:t>给方法不是简单地讲道理，而是一个结构化的三步，每一步都对应着把经理的隐性判断转化为下属显性能力的具体动作。</a:t>
            </a:r>
            <a:endParaRPr lang="en-US" sz="1350" dirty="0"/>
          </a:p>
        </p:txBody>
      </p:sp>
      <p:sp>
        <p:nvSpPr>
          <p:cNvPr id="5" name="Shape 3"/>
          <p:cNvSpPr/>
          <p:nvPr/>
        </p:nvSpPr>
        <p:spPr>
          <a:xfrm>
            <a:off x="548640" y="2514600"/>
            <a:ext cx="11064240" cy="1298448"/>
          </a:xfrm>
          <a:prstGeom prst="roundRect">
            <a:avLst>
              <a:gd name="adj" fmla="val 5634"/>
            </a:avLst>
          </a:prstGeom>
          <a:solidFill>
            <a:srgbClr val="F5EEEA"/>
          </a:solidFill>
          <a:ln/>
          <a:effectLst>
            <a:outerShdw sx="100000" sy="100000" kx="0" ky="0" algn="bl" rotWithShape="0" blurRad="101600" dist="38100" dir="5400000">
              <a:srgbClr val="1B2A4A">
                <a:alpha val="10000"/>
              </a:srgbClr>
            </a:outerShdw>
          </a:effectLst>
        </p:spPr>
      </p:sp>
      <p:sp>
        <p:nvSpPr>
          <p:cNvPr id="6" name="Shape 4"/>
          <p:cNvSpPr/>
          <p:nvPr/>
        </p:nvSpPr>
        <p:spPr>
          <a:xfrm>
            <a:off x="822960" y="2770632"/>
            <a:ext cx="1188720" cy="292608"/>
          </a:xfrm>
          <a:prstGeom prst="roundRect">
            <a:avLst>
              <a:gd name="adj" fmla="val 18750"/>
            </a:avLst>
          </a:prstGeom>
          <a:solidFill>
            <a:srgbClr val="9C5536"/>
          </a:solidFill>
          <a:ln/>
        </p:spPr>
      </p:sp>
      <p:sp>
        <p:nvSpPr>
          <p:cNvPr id="7" name="Text 5"/>
          <p:cNvSpPr/>
          <p:nvPr/>
        </p:nvSpPr>
        <p:spPr>
          <a:xfrm>
            <a:off x="822960" y="2770632"/>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动作 1</a:t>
            </a:r>
            <a:endParaRPr lang="en-US" sz="1100" dirty="0"/>
          </a:p>
        </p:txBody>
      </p:sp>
      <p:sp>
        <p:nvSpPr>
          <p:cNvPr id="8" name="Text 6"/>
          <p:cNvSpPr/>
          <p:nvPr/>
        </p:nvSpPr>
        <p:spPr>
          <a:xfrm>
            <a:off x="2240280" y="2715768"/>
            <a:ext cx="3931920" cy="41148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拆解决策路径</a:t>
            </a:r>
            <a:endParaRPr lang="en-US" sz="1500" dirty="0"/>
          </a:p>
        </p:txBody>
      </p:sp>
      <p:sp>
        <p:nvSpPr>
          <p:cNvPr id="9" name="Text 7"/>
          <p:cNvSpPr/>
          <p:nvPr/>
        </p:nvSpPr>
        <p:spPr>
          <a:xfrm>
            <a:off x="822960" y="3136392"/>
            <a:ext cx="10515600" cy="566928"/>
          </a:xfrm>
          <a:prstGeom prst="rect">
            <a:avLst/>
          </a:prstGeom>
          <a:noFill/>
          <a:ln/>
        </p:spPr>
        <p:txBody>
          <a:bodyPr wrap="square" lIns="0" tIns="0" rIns="0" bIns="0" rtlCol="0" anchor="t"/>
          <a:lstStyle/>
          <a:p>
            <a:pPr indent="0" marL="0">
              <a:lnSpc>
                <a:spcPct val="120000"/>
              </a:lnSpc>
              <a:buNone/>
            </a:pPr>
            <a:r>
              <a:rPr lang="en-US" sz="1200" dirty="0">
                <a:solidFill>
                  <a:srgbClr val="33363B"/>
                </a:solidFill>
                <a:latin typeface="Calibri" pitchFamily="34" charset="0"/>
                <a:ea typeface="Calibri" pitchFamily="34" charset="-122"/>
                <a:cs typeface="Calibri" pitchFamily="34" charset="-120"/>
              </a:rPr>
              <a:t>把自己脑子里「一看就知道」的判断过程，显性化成几个可执行的判断标准或步骤，而不只是说出最终结论。</a:t>
            </a:r>
            <a:endParaRPr lang="en-US" sz="1200" dirty="0"/>
          </a:p>
        </p:txBody>
      </p:sp>
      <p:sp>
        <p:nvSpPr>
          <p:cNvPr id="10" name="Shape 8"/>
          <p:cNvSpPr/>
          <p:nvPr/>
        </p:nvSpPr>
        <p:spPr>
          <a:xfrm>
            <a:off x="548640" y="3977640"/>
            <a:ext cx="11064240" cy="1298448"/>
          </a:xfrm>
          <a:prstGeom prst="roundRect">
            <a:avLst>
              <a:gd name="adj" fmla="val 5634"/>
            </a:avLst>
          </a:prstGeom>
          <a:solidFill>
            <a:srgbClr val="F5EEEA"/>
          </a:solidFill>
          <a:ln/>
          <a:effectLst>
            <a:outerShdw sx="100000" sy="100000" kx="0" ky="0" algn="bl" rotWithShape="0" blurRad="101600" dist="38100" dir="5400000">
              <a:srgbClr val="1B2A4A">
                <a:alpha val="10000"/>
              </a:srgbClr>
            </a:outerShdw>
          </a:effectLst>
        </p:spPr>
      </p:sp>
      <p:sp>
        <p:nvSpPr>
          <p:cNvPr id="11" name="Shape 9"/>
          <p:cNvSpPr/>
          <p:nvPr/>
        </p:nvSpPr>
        <p:spPr>
          <a:xfrm>
            <a:off x="822960" y="4233672"/>
            <a:ext cx="1188720" cy="292608"/>
          </a:xfrm>
          <a:prstGeom prst="roundRect">
            <a:avLst>
              <a:gd name="adj" fmla="val 18750"/>
            </a:avLst>
          </a:prstGeom>
          <a:solidFill>
            <a:srgbClr val="9C5536"/>
          </a:solidFill>
          <a:ln/>
        </p:spPr>
      </p:sp>
      <p:sp>
        <p:nvSpPr>
          <p:cNvPr id="12" name="Text 10"/>
          <p:cNvSpPr/>
          <p:nvPr/>
        </p:nvSpPr>
        <p:spPr>
          <a:xfrm>
            <a:off x="822960" y="4233672"/>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动作 2</a:t>
            </a:r>
            <a:endParaRPr lang="en-US" sz="1100" dirty="0"/>
          </a:p>
        </p:txBody>
      </p:sp>
      <p:sp>
        <p:nvSpPr>
          <p:cNvPr id="13" name="Text 11"/>
          <p:cNvSpPr/>
          <p:nvPr/>
        </p:nvSpPr>
        <p:spPr>
          <a:xfrm>
            <a:off x="2240280" y="4178808"/>
            <a:ext cx="3931920" cy="41148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用真实案例验证</a:t>
            </a:r>
            <a:endParaRPr lang="en-US" sz="1500" dirty="0"/>
          </a:p>
        </p:txBody>
      </p:sp>
      <p:sp>
        <p:nvSpPr>
          <p:cNvPr id="14" name="Text 12"/>
          <p:cNvSpPr/>
          <p:nvPr/>
        </p:nvSpPr>
        <p:spPr>
          <a:xfrm>
            <a:off x="822960" y="4599432"/>
            <a:ext cx="10515600" cy="566928"/>
          </a:xfrm>
          <a:prstGeom prst="rect">
            <a:avLst/>
          </a:prstGeom>
          <a:noFill/>
          <a:ln/>
        </p:spPr>
        <p:txBody>
          <a:bodyPr wrap="square" lIns="0" tIns="0" rIns="0" bIns="0" rtlCol="0" anchor="t"/>
          <a:lstStyle/>
          <a:p>
            <a:pPr indent="0" marL="0">
              <a:lnSpc>
                <a:spcPct val="120000"/>
              </a:lnSpc>
              <a:buNone/>
            </a:pPr>
            <a:r>
              <a:rPr lang="en-US" sz="1200" dirty="0">
                <a:solidFill>
                  <a:srgbClr val="33363B"/>
                </a:solidFill>
                <a:latin typeface="Calibri" pitchFamily="34" charset="0"/>
                <a:ea typeface="Calibri" pitchFamily="34" charset="-122"/>
                <a:cs typeface="Calibri" pitchFamily="34" charset="-120"/>
              </a:rPr>
              <a:t>让下属拿着这套方法去处理自己手头的真实问题，而不是抽象地讲一个通用案例，方法只有在真实场景里被用过一次，才算真正交付出去。</a:t>
            </a:r>
            <a:endParaRPr lang="en-US" sz="1200" dirty="0"/>
          </a:p>
        </p:txBody>
      </p:sp>
      <p:sp>
        <p:nvSpPr>
          <p:cNvPr id="15" name="Shape 13"/>
          <p:cNvSpPr/>
          <p:nvPr/>
        </p:nvSpPr>
        <p:spPr>
          <a:xfrm>
            <a:off x="548640" y="5440680"/>
            <a:ext cx="11064240" cy="1298448"/>
          </a:xfrm>
          <a:prstGeom prst="roundRect">
            <a:avLst>
              <a:gd name="adj" fmla="val 5634"/>
            </a:avLst>
          </a:prstGeom>
          <a:solidFill>
            <a:srgbClr val="F5EEEA"/>
          </a:solidFill>
          <a:ln/>
          <a:effectLst>
            <a:outerShdw sx="100000" sy="100000" kx="0" ky="0" algn="bl" rotWithShape="0" blurRad="101600" dist="38100" dir="5400000">
              <a:srgbClr val="1B2A4A">
                <a:alpha val="10000"/>
              </a:srgbClr>
            </a:outerShdw>
          </a:effectLst>
        </p:spPr>
      </p:sp>
      <p:sp>
        <p:nvSpPr>
          <p:cNvPr id="16" name="Shape 14"/>
          <p:cNvSpPr/>
          <p:nvPr/>
        </p:nvSpPr>
        <p:spPr>
          <a:xfrm>
            <a:off x="822960" y="5696712"/>
            <a:ext cx="1188720" cy="292608"/>
          </a:xfrm>
          <a:prstGeom prst="roundRect">
            <a:avLst>
              <a:gd name="adj" fmla="val 18750"/>
            </a:avLst>
          </a:prstGeom>
          <a:solidFill>
            <a:srgbClr val="9C5536"/>
          </a:solidFill>
          <a:ln/>
        </p:spPr>
      </p:sp>
      <p:sp>
        <p:nvSpPr>
          <p:cNvPr id="17" name="Text 15"/>
          <p:cNvSpPr/>
          <p:nvPr/>
        </p:nvSpPr>
        <p:spPr>
          <a:xfrm>
            <a:off x="822960" y="5696712"/>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动作 3</a:t>
            </a:r>
            <a:endParaRPr lang="en-US" sz="1100" dirty="0"/>
          </a:p>
        </p:txBody>
      </p:sp>
      <p:sp>
        <p:nvSpPr>
          <p:cNvPr id="18" name="Text 16"/>
          <p:cNvSpPr/>
          <p:nvPr/>
        </p:nvSpPr>
        <p:spPr>
          <a:xfrm>
            <a:off x="2240280" y="5641848"/>
            <a:ext cx="3931920" cy="411480"/>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容忍非最优结果</a:t>
            </a:r>
            <a:endParaRPr lang="en-US" sz="1500" dirty="0"/>
          </a:p>
        </p:txBody>
      </p:sp>
      <p:sp>
        <p:nvSpPr>
          <p:cNvPr id="19" name="Text 17"/>
          <p:cNvSpPr/>
          <p:nvPr/>
        </p:nvSpPr>
        <p:spPr>
          <a:xfrm>
            <a:off x="822960" y="6062472"/>
            <a:ext cx="10515600" cy="566928"/>
          </a:xfrm>
          <a:prstGeom prst="rect">
            <a:avLst/>
          </a:prstGeom>
          <a:noFill/>
          <a:ln/>
        </p:spPr>
        <p:txBody>
          <a:bodyPr wrap="square" lIns="0" tIns="0" rIns="0" bIns="0" rtlCol="0" anchor="t"/>
          <a:lstStyle/>
          <a:p>
            <a:pPr indent="0" marL="0">
              <a:lnSpc>
                <a:spcPct val="120000"/>
              </a:lnSpc>
              <a:buNone/>
            </a:pPr>
            <a:r>
              <a:rPr lang="en-US" sz="1200" dirty="0">
                <a:solidFill>
                  <a:srgbClr val="33363B"/>
                </a:solidFill>
                <a:latin typeface="Calibri" pitchFamily="34" charset="0"/>
                <a:ea typeface="Calibri" pitchFamily="34" charset="-122"/>
                <a:cs typeface="Calibri" pitchFamily="34" charset="-120"/>
              </a:rPr>
              <a:t>下属第一次套用方法得出的答案可能不如经理直接给答案精准，经理需要克制立刻纠正的冲动，让下属在略低质量的结果里完成方法的内化。</a:t>
            </a:r>
            <a:endParaRPr lang="en-US" sz="1200" dirty="0"/>
          </a:p>
        </p:txBody>
      </p:sp>
      <p:sp>
        <p:nvSpPr>
          <p:cNvPr id="20" name="Text 18"/>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M4 给方法</a:t>
            </a:r>
            <a:endParaRPr lang="en-US" sz="900" dirty="0"/>
          </a:p>
        </p:txBody>
      </p:sp>
      <p:sp>
        <p:nvSpPr>
          <p:cNvPr id="21" name="Text 19"/>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5 / 17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边界反例</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什么时候直接给答案比给方法更合适</a:t>
            </a:r>
            <a:endParaRPr lang="en-US" sz="2700" dirty="0"/>
          </a:p>
        </p:txBody>
      </p:sp>
      <p:sp>
        <p:nvSpPr>
          <p:cNvPr id="4" name="Shape 2"/>
          <p:cNvSpPr/>
          <p:nvPr/>
        </p:nvSpPr>
        <p:spPr>
          <a:xfrm>
            <a:off x="548640" y="1627632"/>
            <a:ext cx="11064240" cy="1691640"/>
          </a:xfrm>
          <a:prstGeom prst="roundRect">
            <a:avLst>
              <a:gd name="adj" fmla="val 4324"/>
            </a:avLst>
          </a:prstGeom>
          <a:solidFill>
            <a:srgbClr val="EEF2EE"/>
          </a:solidFill>
          <a:ln/>
          <a:effectLst>
            <a:outerShdw sx="100000" sy="100000" kx="0" ky="0" algn="bl" rotWithShape="0" blurRad="101600" dist="38100" dir="5400000">
              <a:srgbClr val="1B2A4A">
                <a:alpha val="10000"/>
              </a:srgbClr>
            </a:outerShdw>
          </a:effectLst>
        </p:spPr>
      </p:sp>
      <p:sp>
        <p:nvSpPr>
          <p:cNvPr id="5" name="Text 3"/>
          <p:cNvSpPr/>
          <p:nvPr/>
        </p:nvSpPr>
        <p:spPr>
          <a:xfrm>
            <a:off x="868680" y="1783080"/>
            <a:ext cx="1828800" cy="320040"/>
          </a:xfrm>
          <a:prstGeom prst="rect">
            <a:avLst/>
          </a:prstGeom>
          <a:noFill/>
          <a:ln/>
        </p:spPr>
        <p:txBody>
          <a:bodyPr wrap="square" lIns="0" tIns="0" rIns="0" bIns="0" rtlCol="0" anchor="ctr"/>
          <a:lstStyle/>
          <a:p>
            <a:pPr indent="0" marL="0">
              <a:buNone/>
            </a:pPr>
            <a:r>
              <a:rPr lang="en-US" sz="1200" b="1" spc="100" kern="0" dirty="0">
                <a:solidFill>
                  <a:srgbClr val="4F6F52"/>
                </a:solidFill>
                <a:latin typeface="Calibri" pitchFamily="34" charset="0"/>
                <a:ea typeface="Calibri" pitchFamily="34" charset="-122"/>
                <a:cs typeface="Calibri" pitchFamily="34" charset="-120"/>
              </a:rPr>
              <a:t>场景</a:t>
            </a:r>
            <a:endParaRPr lang="en-US" sz="1200" dirty="0"/>
          </a:p>
        </p:txBody>
      </p:sp>
      <p:sp>
        <p:nvSpPr>
          <p:cNvPr id="6" name="Text 4"/>
          <p:cNvSpPr/>
          <p:nvPr/>
        </p:nvSpPr>
        <p:spPr>
          <a:xfrm>
            <a:off x="868680" y="2103120"/>
            <a:ext cx="10424160" cy="1143000"/>
          </a:xfrm>
          <a:prstGeom prst="rect">
            <a:avLst/>
          </a:prstGeom>
          <a:noFill/>
          <a:ln/>
        </p:spPr>
        <p:txBody>
          <a:bodyPr wrap="square" lIns="0" tIns="0" rIns="0" bIns="0" rtlCol="0" anchor="t"/>
          <a:lstStyle/>
          <a:p>
            <a:pPr indent="0" marL="0">
              <a:lnSpc>
                <a:spcPct val="125000"/>
              </a:lnSpc>
              <a:buNone/>
            </a:pPr>
            <a:r>
              <a:rPr lang="en-US" sz="1300" dirty="0">
                <a:solidFill>
                  <a:srgbClr val="33363B"/>
                </a:solidFill>
                <a:latin typeface="Calibri" pitchFamily="34" charset="0"/>
                <a:ea typeface="Calibri" pitchFamily="34" charset="-122"/>
                <a:cs typeface="Calibri" pitchFamily="34" charset="-120"/>
              </a:rPr>
              <a:t>设备紧急停机，产线即将报废一批高价值在制品，下属带着问题来找经理。如果按给方法的逻辑慢慢引导对方自己想清楚判断路径，可能会错过止损的关键窗口。这种时候，经理需要直接给出明确的答案和指令，而不是借机做培训。</a:t>
            </a:r>
            <a:endParaRPr lang="en-US" sz="1300" dirty="0"/>
          </a:p>
        </p:txBody>
      </p:sp>
      <p:sp>
        <p:nvSpPr>
          <p:cNvPr id="7" name="Text 5"/>
          <p:cNvSpPr/>
          <p:nvPr/>
        </p:nvSpPr>
        <p:spPr>
          <a:xfrm>
            <a:off x="548640" y="3520440"/>
            <a:ext cx="11064240" cy="1005840"/>
          </a:xfrm>
          <a:prstGeom prst="rect">
            <a:avLst/>
          </a:prstGeom>
          <a:noFill/>
          <a:ln/>
        </p:spPr>
        <p:txBody>
          <a:bodyPr wrap="square" lIns="0" tIns="0" rIns="0" bIns="0" rtlCol="0" anchor="ctr"/>
          <a:lstStyle/>
          <a:p>
            <a:pPr indent="0" marL="0">
              <a:lnSpc>
                <a:spcPct val="130000"/>
              </a:lnSpc>
              <a:buNone/>
            </a:pPr>
            <a:r>
              <a:rPr lang="en-US" sz="1400" i="1" dirty="0">
                <a:solidFill>
                  <a:srgbClr val="1B2A4A"/>
                </a:solidFill>
                <a:latin typeface="Cambria" pitchFamily="34" charset="0"/>
                <a:ea typeface="Cambria" pitchFamily="34" charset="-122"/>
                <a:cs typeface="Cambria" pitchFamily="34" charset="-120"/>
              </a:rPr>
              <a:t>给方法框架不是要求经理在任何情境下都拒绝直接给答案，而是要求经理判断「教这一次的长期收益，是否大于慢下来的短期代价」。当问题情境是一次性的、或时间窗口紧迫到不允许试错时，直接给答案是更负责任的选择；只有在问题会反复出现、且当下有容错空间时，给方法才是真正划算的投资。</a:t>
            </a:r>
            <a:endParaRPr lang="en-US" sz="1400" dirty="0"/>
          </a:p>
        </p:txBody>
      </p:sp>
      <p:sp>
        <p:nvSpPr>
          <p:cNvPr id="8" name="Shape 6"/>
          <p:cNvSpPr/>
          <p:nvPr/>
        </p:nvSpPr>
        <p:spPr>
          <a:xfrm>
            <a:off x="548640" y="4709160"/>
            <a:ext cx="11064240" cy="1188720"/>
          </a:xfrm>
          <a:prstGeom prst="roundRect">
            <a:avLst>
              <a:gd name="adj" fmla="val 6154"/>
            </a:avLst>
          </a:prstGeom>
          <a:solidFill>
            <a:srgbClr val="EEF1F6"/>
          </a:solidFill>
          <a:ln/>
          <a:effectLst>
            <a:outerShdw sx="100000" sy="100000" kx="0" ky="0" algn="bl" rotWithShape="0" blurRad="101600" dist="38100" dir="5400000">
              <a:srgbClr val="1B2A4A">
                <a:alpha val="10000"/>
              </a:srgbClr>
            </a:outerShdw>
          </a:effectLst>
        </p:spPr>
      </p:sp>
      <p:sp>
        <p:nvSpPr>
          <p:cNvPr id="9" name="Text 7"/>
          <p:cNvSpPr/>
          <p:nvPr/>
        </p:nvSpPr>
        <p:spPr>
          <a:xfrm>
            <a:off x="868680" y="4846320"/>
            <a:ext cx="3657600" cy="274320"/>
          </a:xfrm>
          <a:prstGeom prst="rect">
            <a:avLst/>
          </a:prstGeom>
          <a:noFill/>
          <a:ln/>
        </p:spPr>
        <p:txBody>
          <a:bodyPr wrap="square" lIns="0" tIns="0" rIns="0" bIns="0" rtlCol="0" anchor="ctr"/>
          <a:lstStyle/>
          <a:p>
            <a:pPr indent="0" marL="0">
              <a:buNone/>
            </a:pPr>
            <a:r>
              <a:rPr lang="en-US" sz="1100" b="1" spc="100" kern="0" dirty="0">
                <a:solidFill>
                  <a:srgbClr val="9C5536"/>
                </a:solidFill>
                <a:latin typeface="Calibri" pitchFamily="34" charset="0"/>
                <a:ea typeface="Calibri" pitchFamily="34" charset="-122"/>
                <a:cs typeface="Calibri" pitchFamily="34" charset="-120"/>
              </a:rPr>
              <a:t>跨模块呼应</a:t>
            </a:r>
            <a:endParaRPr lang="en-US" sz="1100" dirty="0"/>
          </a:p>
        </p:txBody>
      </p:sp>
      <p:sp>
        <p:nvSpPr>
          <p:cNvPr id="10" name="Text 8"/>
          <p:cNvSpPr/>
          <p:nvPr/>
        </p:nvSpPr>
        <p:spPr>
          <a:xfrm>
            <a:off x="868680" y="5138928"/>
            <a:ext cx="10424160" cy="713232"/>
          </a:xfrm>
          <a:prstGeom prst="rect">
            <a:avLst/>
          </a:prstGeom>
          <a:noFill/>
          <a:ln/>
        </p:spPr>
        <p:txBody>
          <a:bodyPr wrap="square" lIns="0" tIns="0" rIns="0" bIns="0" rtlCol="0" anchor="t"/>
          <a:lstStyle/>
          <a:p>
            <a:pPr indent="0" marL="0">
              <a:lnSpc>
                <a:spcPct val="120000"/>
              </a:lnSpc>
              <a:buNone/>
            </a:pPr>
            <a:r>
              <a:rPr lang="en-US" sz="1250" dirty="0">
                <a:solidFill>
                  <a:srgbClr val="33363B"/>
                </a:solidFill>
                <a:latin typeface="Calibri" pitchFamily="34" charset="0"/>
                <a:ea typeface="Calibri" pitchFamily="34" charset="-122"/>
                <a:cs typeface="Calibri" pitchFamily="34" charset="-120"/>
              </a:rPr>
              <a:t>这一判断逻辑与层级二M1、M3边界反例的思路一致——后果的不可逆性和时间窗口，始终是判断该不该套用框架的核心标尺。</a:t>
            </a:r>
            <a:endParaRPr lang="en-US" sz="1250" dirty="0"/>
          </a:p>
        </p:txBody>
      </p:sp>
      <p:sp>
        <p:nvSpPr>
          <p:cNvPr id="11" name="Text 9"/>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M4 给方法</a:t>
            </a:r>
            <a:endParaRPr lang="en-US" sz="900" dirty="0"/>
          </a:p>
        </p:txBody>
      </p:sp>
      <p:sp>
        <p:nvSpPr>
          <p:cNvPr id="12" name="Text 10"/>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6 / 17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机制解释</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为什么经理总是不自觉地给答案而不是给方法</a:t>
            </a:r>
            <a:endParaRPr lang="en-US" sz="2500" dirty="0"/>
          </a:p>
        </p:txBody>
      </p:sp>
      <p:sp>
        <p:nvSpPr>
          <p:cNvPr id="4" name="Shape 2"/>
          <p:cNvSpPr/>
          <p:nvPr/>
        </p:nvSpPr>
        <p:spPr>
          <a:xfrm>
            <a:off x="548640" y="1828800"/>
            <a:ext cx="5349240" cy="2834640"/>
          </a:xfrm>
          <a:prstGeom prst="roundRect">
            <a:avLst>
              <a:gd name="adj" fmla="val 2581"/>
            </a:avLst>
          </a:prstGeom>
          <a:solidFill>
            <a:srgbClr val="F5EEEA"/>
          </a:solidFill>
          <a:ln/>
          <a:effectLst>
            <a:outerShdw sx="100000" sy="100000" kx="0" ky="0" algn="bl" rotWithShape="0" blurRad="101600" dist="38100" dir="5400000">
              <a:srgbClr val="1B2A4A">
                <a:alpha val="10000"/>
              </a:srgbClr>
            </a:outerShdw>
          </a:effectLst>
        </p:spPr>
      </p:sp>
      <p:sp>
        <p:nvSpPr>
          <p:cNvPr id="5" name="Text 3"/>
          <p:cNvSpPr/>
          <p:nvPr/>
        </p:nvSpPr>
        <p:spPr>
          <a:xfrm>
            <a:off x="868680" y="2103120"/>
            <a:ext cx="4709160" cy="457200"/>
          </a:xfrm>
          <a:prstGeom prst="rect">
            <a:avLst/>
          </a:prstGeom>
          <a:noFill/>
          <a:ln/>
        </p:spPr>
        <p:txBody>
          <a:bodyPr wrap="square" lIns="0" tIns="0" rIns="0" bIns="0" rtlCol="0" anchor="ctr"/>
          <a:lstStyle/>
          <a:p>
            <a:pPr indent="0" marL="0">
              <a:buNone/>
            </a:pPr>
            <a:r>
              <a:rPr lang="en-US" sz="1700" b="1" dirty="0">
                <a:solidFill>
                  <a:srgbClr val="9C5536"/>
                </a:solidFill>
                <a:latin typeface="Cambria" pitchFamily="34" charset="0"/>
                <a:ea typeface="Cambria" pitchFamily="34" charset="-122"/>
                <a:cs typeface="Cambria" pitchFamily="34" charset="-120"/>
              </a:rPr>
              <a:t>专家盲点</a:t>
            </a:r>
            <a:endParaRPr lang="en-US" sz="1700" dirty="0"/>
          </a:p>
        </p:txBody>
      </p:sp>
      <p:sp>
        <p:nvSpPr>
          <p:cNvPr id="6" name="Text 4"/>
          <p:cNvSpPr/>
          <p:nvPr/>
        </p:nvSpPr>
        <p:spPr>
          <a:xfrm>
            <a:off x="868680" y="2670048"/>
            <a:ext cx="4709160" cy="1737360"/>
          </a:xfrm>
          <a:prstGeom prst="rect">
            <a:avLst/>
          </a:prstGeom>
          <a:noFill/>
          <a:ln/>
        </p:spPr>
        <p:txBody>
          <a:bodyPr wrap="square" lIns="0" tIns="0" rIns="0" bIns="0" rtlCol="0" anchor="t"/>
          <a:lstStyle/>
          <a:p>
            <a:pPr indent="0" marL="0">
              <a:lnSpc>
                <a:spcPct val="128000"/>
              </a:lnSpc>
              <a:buNone/>
            </a:pPr>
            <a:r>
              <a:rPr lang="en-US" sz="1250" dirty="0">
                <a:solidFill>
                  <a:srgbClr val="33363B"/>
                </a:solidFill>
                <a:latin typeface="Calibri" pitchFamily="34" charset="0"/>
                <a:ea typeface="Calibri" pitchFamily="34" charset="-122"/>
                <a:cs typeface="Calibri" pitchFamily="34" charset="-120"/>
              </a:rPr>
              <a:t>经历多年训练后，专家的判断过程会高度自动化、压缩成直觉，专家本人往往说不清楚自己是怎么得出结论的，只能说出结论本身——这不是经理不愿意教，而是连他自己都没有意识到自己的判断里包含了哪些具体步骤。</a:t>
            </a:r>
            <a:endParaRPr lang="en-US" sz="1250" dirty="0"/>
          </a:p>
        </p:txBody>
      </p:sp>
      <p:sp>
        <p:nvSpPr>
          <p:cNvPr id="7" name="Shape 5"/>
          <p:cNvSpPr/>
          <p:nvPr/>
        </p:nvSpPr>
        <p:spPr>
          <a:xfrm>
            <a:off x="6263640" y="1828800"/>
            <a:ext cx="5349240" cy="2834640"/>
          </a:xfrm>
          <a:prstGeom prst="roundRect">
            <a:avLst>
              <a:gd name="adj" fmla="val 2581"/>
            </a:avLst>
          </a:prstGeom>
          <a:solidFill>
            <a:srgbClr val="EEF1F6"/>
          </a:solidFill>
          <a:ln/>
          <a:effectLst>
            <a:outerShdw sx="100000" sy="100000" kx="0" ky="0" algn="bl" rotWithShape="0" blurRad="101600" dist="38100" dir="5400000">
              <a:srgbClr val="1B2A4A">
                <a:alpha val="10000"/>
              </a:srgbClr>
            </a:outerShdw>
          </a:effectLst>
        </p:spPr>
      </p:sp>
      <p:sp>
        <p:nvSpPr>
          <p:cNvPr id="8" name="Text 6"/>
          <p:cNvSpPr/>
          <p:nvPr/>
        </p:nvSpPr>
        <p:spPr>
          <a:xfrm>
            <a:off x="6583680" y="2103120"/>
            <a:ext cx="4709160" cy="457200"/>
          </a:xfrm>
          <a:prstGeom prst="rect">
            <a:avLst/>
          </a:prstGeom>
          <a:noFill/>
          <a:ln/>
        </p:spPr>
        <p:txBody>
          <a:bodyPr wrap="square" lIns="0" tIns="0" rIns="0" bIns="0" rtlCol="0" anchor="ctr"/>
          <a:lstStyle/>
          <a:p>
            <a:pPr indent="0" marL="0">
              <a:buNone/>
            </a:pPr>
            <a:r>
              <a:rPr lang="en-US" sz="1700" b="1" dirty="0">
                <a:solidFill>
                  <a:srgbClr val="1B2A4A"/>
                </a:solidFill>
                <a:latin typeface="Cambria" pitchFamily="34" charset="0"/>
                <a:ea typeface="Cambria" pitchFamily="34" charset="-122"/>
                <a:cs typeface="Cambria" pitchFamily="34" charset="-120"/>
              </a:rPr>
              <a:t>时间结构的不对称</a:t>
            </a:r>
            <a:endParaRPr lang="en-US" sz="1700" dirty="0"/>
          </a:p>
        </p:txBody>
      </p:sp>
      <p:sp>
        <p:nvSpPr>
          <p:cNvPr id="9" name="Text 7"/>
          <p:cNvSpPr/>
          <p:nvPr/>
        </p:nvSpPr>
        <p:spPr>
          <a:xfrm>
            <a:off x="6583680" y="2670048"/>
            <a:ext cx="4709160" cy="1737360"/>
          </a:xfrm>
          <a:prstGeom prst="rect">
            <a:avLst/>
          </a:prstGeom>
          <a:noFill/>
          <a:ln/>
        </p:spPr>
        <p:txBody>
          <a:bodyPr wrap="square" lIns="0" tIns="0" rIns="0" bIns="0" rtlCol="0" anchor="t"/>
          <a:lstStyle/>
          <a:p>
            <a:pPr indent="0" marL="0">
              <a:lnSpc>
                <a:spcPct val="128000"/>
              </a:lnSpc>
              <a:buNone/>
            </a:pPr>
            <a:r>
              <a:rPr lang="en-US" sz="1250" dirty="0">
                <a:solidFill>
                  <a:srgbClr val="33363B"/>
                </a:solidFill>
                <a:latin typeface="Calibri" pitchFamily="34" charset="0"/>
                <a:ea typeface="Calibri" pitchFamily="34" charset="-122"/>
                <a:cs typeface="Calibri" pitchFamily="34" charset="-120"/>
              </a:rPr>
              <a:t>给答案是即时的、确定的产出，问题马上解决；给方法是延迟的、不确定的投资，下属这次可能还是做得不够好，要等到第二三次才能看到方法真正起效。这种时间结构上的不对称，让经理在没有刻意提醒自己的情况下，本能地选择给答案。</a:t>
            </a:r>
            <a:endParaRPr lang="en-US" sz="1250" dirty="0"/>
          </a:p>
        </p:txBody>
      </p:sp>
      <p:sp>
        <p:nvSpPr>
          <p:cNvPr id="10" name="Text 8"/>
          <p:cNvSpPr/>
          <p:nvPr/>
        </p:nvSpPr>
        <p:spPr>
          <a:xfrm>
            <a:off x="548640" y="4892040"/>
            <a:ext cx="11064240" cy="640080"/>
          </a:xfrm>
          <a:prstGeom prst="rect">
            <a:avLst/>
          </a:prstGeom>
          <a:noFill/>
          <a:ln/>
        </p:spPr>
        <p:txBody>
          <a:bodyPr wrap="square" lIns="0" tIns="0" rIns="0" bIns="0" rtlCol="0" anchor="ctr"/>
          <a:lstStyle/>
          <a:p>
            <a:pPr algn="l" indent="0" marL="0">
              <a:buNone/>
            </a:pPr>
            <a:r>
              <a:rPr lang="en-US" sz="1550" b="1" i="1" dirty="0">
                <a:solidFill>
                  <a:srgbClr val="1B2A4A"/>
                </a:solidFill>
                <a:latin typeface="Cambria" pitchFamily="34" charset="0"/>
                <a:ea typeface="Cambria" pitchFamily="34" charset="-122"/>
                <a:cs typeface="Cambria" pitchFamily="34" charset="-120"/>
              </a:rPr>
              <a:t>识别这种时间结构的不对称本身，是给方法这件事真正的起点。</a:t>
            </a:r>
            <a:endParaRPr lang="en-US" sz="1550" dirty="0"/>
          </a:p>
        </p:txBody>
      </p:sp>
      <p:sp>
        <p:nvSpPr>
          <p:cNvPr id="11" name="Text 9"/>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M4 给方法</a:t>
            </a:r>
            <a:endParaRPr lang="en-US" sz="900" dirty="0"/>
          </a:p>
        </p:txBody>
      </p:sp>
      <p:sp>
        <p:nvSpPr>
          <p:cNvPr id="12" name="Text 10"/>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7 / 17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案例 1</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300" b="1" dirty="0">
                <a:solidFill>
                  <a:srgbClr val="1B2A4A"/>
                </a:solidFill>
                <a:latin typeface="Cambria" pitchFamily="34" charset="0"/>
                <a:ea typeface="Cambria" pitchFamily="34" charset="-122"/>
                <a:cs typeface="Cambria" pitchFamily="34" charset="-120"/>
              </a:rPr>
              <a:t>把「我觉得不行」拆成三条判断标准</a:t>
            </a:r>
            <a:endParaRPr lang="en-US" sz="2300" dirty="0"/>
          </a:p>
        </p:txBody>
      </p:sp>
      <p:sp>
        <p:nvSpPr>
          <p:cNvPr id="4" name="Shape 2"/>
          <p:cNvSpPr/>
          <p:nvPr/>
        </p:nvSpPr>
        <p:spPr>
          <a:xfrm>
            <a:off x="548640" y="1737360"/>
            <a:ext cx="1188720" cy="292608"/>
          </a:xfrm>
          <a:prstGeom prst="roundRect">
            <a:avLst>
              <a:gd name="adj" fmla="val 18750"/>
            </a:avLst>
          </a:prstGeom>
          <a:solidFill>
            <a:srgbClr val="4F6F52"/>
          </a:solidFill>
          <a:ln/>
        </p:spPr>
      </p:sp>
      <p:sp>
        <p:nvSpPr>
          <p:cNvPr id="5" name="Text 3"/>
          <p:cNvSpPr/>
          <p:nvPr/>
        </p:nvSpPr>
        <p:spPr>
          <a:xfrm>
            <a:off x="548640" y="1737360"/>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正面案例</a:t>
            </a:r>
            <a:endParaRPr lang="en-US" sz="1100" dirty="0"/>
          </a:p>
        </p:txBody>
      </p:sp>
      <p:sp>
        <p:nvSpPr>
          <p:cNvPr id="6" name="Shape 4"/>
          <p:cNvSpPr/>
          <p:nvPr/>
        </p:nvSpPr>
        <p:spPr>
          <a:xfrm>
            <a:off x="548640" y="2240280"/>
            <a:ext cx="11064240" cy="3840480"/>
          </a:xfrm>
          <a:prstGeom prst="roundRect">
            <a:avLst>
              <a:gd name="adj" fmla="val 1905"/>
            </a:avLst>
          </a:prstGeom>
          <a:solidFill>
            <a:srgbClr val="FFFFFF"/>
          </a:solidFill>
          <a:ln/>
          <a:effectLst>
            <a:outerShdw sx="100000" sy="100000" kx="0" ky="0" algn="bl" rotWithShape="0" blurRad="101600" dist="38100" dir="5400000">
              <a:srgbClr val="1B2A4A">
                <a:alpha val="10000"/>
              </a:srgbClr>
            </a:outerShdw>
          </a:effectLst>
        </p:spPr>
      </p:sp>
      <p:sp>
        <p:nvSpPr>
          <p:cNvPr id="7" name="Text 5"/>
          <p:cNvSpPr/>
          <p:nvPr/>
        </p:nvSpPr>
        <p:spPr>
          <a:xfrm>
            <a:off x="914400" y="2514600"/>
            <a:ext cx="10332720" cy="329184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某部门经理面对下属反复拿不准的供应商问题，没有直接说「这家不行换一家」，而是把自己评估供应商的三条隐性标准（交付稳定性、异常响应速度、历史质量趋势）讲清楚，让下属自己用这三条标准重新评估一遍，结果和经理的判断一致。此后，这位下属在类似供应商评估中不再需要经理介入，相关咨询量下降到零。</a:t>
            </a:r>
            <a:endParaRPr lang="en-US" sz="1450" dirty="0"/>
          </a:p>
        </p:txBody>
      </p:sp>
      <p:sp>
        <p:nvSpPr>
          <p:cNvPr id="8" name="Text 6"/>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M4 给方法</a:t>
            </a:r>
            <a:endParaRPr lang="en-US" sz="900" dirty="0"/>
          </a:p>
        </p:txBody>
      </p:sp>
      <p:sp>
        <p:nvSpPr>
          <p:cNvPr id="9" name="Text 7"/>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8 / 17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案例 2</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300" b="1" dirty="0">
                <a:solidFill>
                  <a:srgbClr val="1B2A4A"/>
                </a:solidFill>
                <a:latin typeface="Cambria" pitchFamily="34" charset="0"/>
                <a:ea typeface="Cambria" pitchFamily="34" charset="-122"/>
                <a:cs typeface="Cambria" pitchFamily="34" charset="-120"/>
              </a:rPr>
              <a:t>答疑了三年，问题还是同一个问题</a:t>
            </a:r>
            <a:endParaRPr lang="en-US" sz="2300" dirty="0"/>
          </a:p>
        </p:txBody>
      </p:sp>
      <p:sp>
        <p:nvSpPr>
          <p:cNvPr id="4" name="Shape 2"/>
          <p:cNvSpPr/>
          <p:nvPr/>
        </p:nvSpPr>
        <p:spPr>
          <a:xfrm>
            <a:off x="548640" y="1737360"/>
            <a:ext cx="1188720" cy="292608"/>
          </a:xfrm>
          <a:prstGeom prst="roundRect">
            <a:avLst>
              <a:gd name="adj" fmla="val 18750"/>
            </a:avLst>
          </a:prstGeom>
          <a:solidFill>
            <a:srgbClr val="9C5536"/>
          </a:solidFill>
          <a:ln/>
        </p:spPr>
      </p:sp>
      <p:sp>
        <p:nvSpPr>
          <p:cNvPr id="5" name="Text 3"/>
          <p:cNvSpPr/>
          <p:nvPr/>
        </p:nvSpPr>
        <p:spPr>
          <a:xfrm>
            <a:off x="548640" y="1737360"/>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反面案例</a:t>
            </a:r>
            <a:endParaRPr lang="en-US" sz="1100" dirty="0"/>
          </a:p>
        </p:txBody>
      </p:sp>
      <p:sp>
        <p:nvSpPr>
          <p:cNvPr id="6" name="Shape 4"/>
          <p:cNvSpPr/>
          <p:nvPr/>
        </p:nvSpPr>
        <p:spPr>
          <a:xfrm>
            <a:off x="548640" y="2240280"/>
            <a:ext cx="11064240" cy="3840480"/>
          </a:xfrm>
          <a:prstGeom prst="roundRect">
            <a:avLst>
              <a:gd name="adj" fmla="val 1905"/>
            </a:avLst>
          </a:prstGeom>
          <a:solidFill>
            <a:srgbClr val="FFFFFF"/>
          </a:solidFill>
          <a:ln/>
          <a:effectLst>
            <a:outerShdw sx="100000" sy="100000" kx="0" ky="0" algn="bl" rotWithShape="0" blurRad="101600" dist="38100" dir="5400000">
              <a:srgbClr val="1B2A4A">
                <a:alpha val="10000"/>
              </a:srgbClr>
            </a:outerShdw>
          </a:effectLst>
        </p:spPr>
      </p:sp>
      <p:sp>
        <p:nvSpPr>
          <p:cNvPr id="7" name="Text 5"/>
          <p:cNvSpPr/>
          <p:nvPr/>
        </p:nvSpPr>
        <p:spPr>
          <a:xfrm>
            <a:off x="914400" y="2514600"/>
            <a:ext cx="10332720" cy="329184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某部门经理以「随时欢迎来问我」自居，三年里回答了下属几百次同类技术问题，但因为每次都是直接给结论，团队的判断能力始终没有沉淀，新问题出现时依然第一反应是来找经理，部门的咨询请求量没有随时间下降，经理本人也因此始终无法腾出时间处理更高阶的工作。</a:t>
            </a:r>
            <a:endParaRPr lang="en-US" sz="1450" dirty="0"/>
          </a:p>
        </p:txBody>
      </p:sp>
      <p:sp>
        <p:nvSpPr>
          <p:cNvPr id="8" name="Text 6"/>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M4 给方法</a:t>
            </a:r>
            <a:endParaRPr lang="en-US" sz="900" dirty="0"/>
          </a:p>
        </p:txBody>
      </p:sp>
      <p:sp>
        <p:nvSpPr>
          <p:cNvPr id="9" name="Text 7"/>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9 / 17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案例 3</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300" b="1" dirty="0">
                <a:solidFill>
                  <a:srgbClr val="1B2A4A"/>
                </a:solidFill>
                <a:latin typeface="Cambria" pitchFamily="34" charset="0"/>
                <a:ea typeface="Cambria" pitchFamily="34" charset="-122"/>
                <a:cs typeface="Cambria" pitchFamily="34" charset="-120"/>
              </a:rPr>
              <a:t>来不及教方法的那一次，他选择直接拍板</a:t>
            </a:r>
            <a:endParaRPr lang="en-US" sz="2300" dirty="0"/>
          </a:p>
        </p:txBody>
      </p:sp>
      <p:sp>
        <p:nvSpPr>
          <p:cNvPr id="4" name="Shape 2"/>
          <p:cNvSpPr/>
          <p:nvPr/>
        </p:nvSpPr>
        <p:spPr>
          <a:xfrm>
            <a:off x="548640" y="1737360"/>
            <a:ext cx="1188720" cy="292608"/>
          </a:xfrm>
          <a:prstGeom prst="roundRect">
            <a:avLst>
              <a:gd name="adj" fmla="val 18750"/>
            </a:avLst>
          </a:prstGeom>
          <a:solidFill>
            <a:srgbClr val="8A6D1F"/>
          </a:solidFill>
          <a:ln/>
        </p:spPr>
      </p:sp>
      <p:sp>
        <p:nvSpPr>
          <p:cNvPr id="5" name="Text 3"/>
          <p:cNvSpPr/>
          <p:nvPr/>
        </p:nvSpPr>
        <p:spPr>
          <a:xfrm>
            <a:off x="548640" y="1737360"/>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边界场景</a:t>
            </a:r>
            <a:endParaRPr lang="en-US" sz="1100" dirty="0"/>
          </a:p>
        </p:txBody>
      </p:sp>
      <p:sp>
        <p:nvSpPr>
          <p:cNvPr id="6" name="Shape 4"/>
          <p:cNvSpPr/>
          <p:nvPr/>
        </p:nvSpPr>
        <p:spPr>
          <a:xfrm>
            <a:off x="548640" y="2240280"/>
            <a:ext cx="11064240" cy="3840480"/>
          </a:xfrm>
          <a:prstGeom prst="roundRect">
            <a:avLst>
              <a:gd name="adj" fmla="val 1905"/>
            </a:avLst>
          </a:prstGeom>
          <a:solidFill>
            <a:srgbClr val="FFFFFF"/>
          </a:solidFill>
          <a:ln/>
          <a:effectLst>
            <a:outerShdw sx="100000" sy="100000" kx="0" ky="0" algn="bl" rotWithShape="0" blurRad="101600" dist="38100" dir="5400000">
              <a:srgbClr val="1B2A4A">
                <a:alpha val="10000"/>
              </a:srgbClr>
            </a:outerShdw>
          </a:effectLst>
        </p:spPr>
      </p:sp>
      <p:sp>
        <p:nvSpPr>
          <p:cNvPr id="7" name="Text 5"/>
          <p:cNvSpPr/>
          <p:nvPr/>
        </p:nvSpPr>
        <p:spPr>
          <a:xfrm>
            <a:off x="914400" y="2514600"/>
            <a:ext cx="10332720" cy="329184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设备紧急停机的场景中，部门经理判断止损窗口只有十几分钟，没有借机引导下属思考，而是直接给出止损指令。问题解决后，他在当天复盘会上，把这次决策背后的判断逻辑完整讲给团队听，把这次给答案的经历事后补成了一次给方法的学习机会。</a:t>
            </a:r>
            <a:endParaRPr lang="en-US" sz="1450" dirty="0"/>
          </a:p>
        </p:txBody>
      </p:sp>
      <p:sp>
        <p:nvSpPr>
          <p:cNvPr id="8" name="Text 6"/>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M4 给方法</a:t>
            </a:r>
            <a:endParaRPr lang="en-US" sz="900" dirty="0"/>
          </a:p>
        </p:txBody>
      </p:sp>
      <p:sp>
        <p:nvSpPr>
          <p:cNvPr id="9" name="Text 7"/>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10 / 17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误区 1</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「我愿意回答问题」≠「我在给方法」</a:t>
            </a:r>
            <a:endParaRPr lang="en-US" sz="2600" dirty="0"/>
          </a:p>
        </p:txBody>
      </p:sp>
      <p:sp>
        <p:nvSpPr>
          <p:cNvPr id="4" name="Shape 2"/>
          <p:cNvSpPr/>
          <p:nvPr/>
        </p:nvSpPr>
        <p:spPr>
          <a:xfrm>
            <a:off x="548640" y="1828800"/>
            <a:ext cx="11064240" cy="3291840"/>
          </a:xfrm>
          <a:prstGeom prst="roundRect">
            <a:avLst>
              <a:gd name="adj" fmla="val 2222"/>
            </a:avLst>
          </a:prstGeom>
          <a:solidFill>
            <a:srgbClr val="F5EEEA"/>
          </a:solidFill>
          <a:ln/>
          <a:effectLst>
            <a:outerShdw sx="100000" sy="100000" kx="0" ky="0" algn="bl" rotWithShape="0" blurRad="101600" dist="38100" dir="5400000">
              <a:srgbClr val="1B2A4A">
                <a:alpha val="10000"/>
              </a:srgbClr>
            </a:outerShdw>
          </a:effectLst>
        </p:spPr>
      </p:sp>
      <p:sp>
        <p:nvSpPr>
          <p:cNvPr id="5" name="Text 3"/>
          <p:cNvSpPr/>
          <p:nvPr/>
        </p:nvSpPr>
        <p:spPr>
          <a:xfrm>
            <a:off x="914400" y="2148840"/>
            <a:ext cx="10332720" cy="269748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很多经理把自己随时愿意答疑当成了培养下属的证据，但反面案例已经说明，单纯的答疑只是给答案的高频重复，没有经过理论框架二的拆解和验证，下属的判断能力并不会因为问得多而真正成长。</a:t>
            </a:r>
            <a:endParaRPr lang="en-US" sz="1450" dirty="0"/>
          </a:p>
        </p:txBody>
      </p:sp>
      <p:sp>
        <p:nvSpPr>
          <p:cNvPr id="6" name="Text 4"/>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M4 给方法</a:t>
            </a:r>
            <a:endParaRPr lang="en-US" sz="900" dirty="0"/>
          </a:p>
        </p:txBody>
      </p:sp>
      <p:sp>
        <p:nvSpPr>
          <p:cNvPr id="7" name="Text 5"/>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11 / 17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误区 2</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讲完方法论就等于交付完成了</a:t>
            </a:r>
            <a:endParaRPr lang="en-US" sz="2600" dirty="0"/>
          </a:p>
        </p:txBody>
      </p:sp>
      <p:sp>
        <p:nvSpPr>
          <p:cNvPr id="4" name="Shape 2"/>
          <p:cNvSpPr/>
          <p:nvPr/>
        </p:nvSpPr>
        <p:spPr>
          <a:xfrm>
            <a:off x="548640" y="1828800"/>
            <a:ext cx="11064240" cy="3291840"/>
          </a:xfrm>
          <a:prstGeom prst="roundRect">
            <a:avLst>
              <a:gd name="adj" fmla="val 2222"/>
            </a:avLst>
          </a:prstGeom>
          <a:solidFill>
            <a:srgbClr val="F5EEEA"/>
          </a:solidFill>
          <a:ln/>
          <a:effectLst>
            <a:outerShdw sx="100000" sy="100000" kx="0" ky="0" algn="bl" rotWithShape="0" blurRad="101600" dist="38100" dir="5400000">
              <a:srgbClr val="1B2A4A">
                <a:alpha val="10000"/>
              </a:srgbClr>
            </a:outerShdw>
          </a:effectLst>
        </p:spPr>
      </p:sp>
      <p:sp>
        <p:nvSpPr>
          <p:cNvPr id="5" name="Text 3"/>
          <p:cNvSpPr/>
          <p:nvPr/>
        </p:nvSpPr>
        <p:spPr>
          <a:xfrm>
            <a:off x="914400" y="2148840"/>
            <a:ext cx="10332720" cy="269748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一些经理认为只要把方法讲清楚、对方点头说懂了，这件事就完成了，但理论框架二明确指出，方法只有在下属真实案例中被实际套用过一次，并且经理容忍了第一次应用的不完美，才算真正交付——讲清楚只是第一步，没有真实场景的验证，方法很容易停留在「听懂了但不会用」的层面。</a:t>
            </a:r>
            <a:endParaRPr lang="en-US" sz="1450" dirty="0"/>
          </a:p>
        </p:txBody>
      </p:sp>
      <p:sp>
        <p:nvSpPr>
          <p:cNvPr id="6" name="Text 4"/>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M4 给方法</a:t>
            </a:r>
            <a:endParaRPr lang="en-US" sz="900" dirty="0"/>
          </a:p>
        </p:txBody>
      </p:sp>
      <p:sp>
        <p:nvSpPr>
          <p:cNvPr id="7" name="Text 5"/>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12 / 17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延伸视角 1</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给方法与层级一M2技术判断力的跨层呼应</a:t>
            </a:r>
            <a:endParaRPr lang="en-US" sz="2500" dirty="0"/>
          </a:p>
        </p:txBody>
      </p:sp>
      <p:sp>
        <p:nvSpPr>
          <p:cNvPr id="4" name="Shape 2"/>
          <p:cNvSpPr/>
          <p:nvPr/>
        </p:nvSpPr>
        <p:spPr>
          <a:xfrm>
            <a:off x="548640" y="1828800"/>
            <a:ext cx="11064240" cy="3291840"/>
          </a:xfrm>
          <a:prstGeom prst="roundRect">
            <a:avLst>
              <a:gd name="adj" fmla="val 2222"/>
            </a:avLst>
          </a:prstGeom>
          <a:solidFill>
            <a:srgbClr val="EEF2EE"/>
          </a:solidFill>
          <a:ln/>
          <a:effectLst>
            <a:outerShdw sx="100000" sy="100000" kx="0" ky="0" algn="bl" rotWithShape="0" blurRad="101600" dist="38100" dir="5400000">
              <a:srgbClr val="1B2A4A">
                <a:alpha val="10000"/>
              </a:srgbClr>
            </a:outerShdw>
          </a:effectLst>
        </p:spPr>
      </p:sp>
      <p:sp>
        <p:nvSpPr>
          <p:cNvPr id="5" name="Text 3"/>
          <p:cNvSpPr/>
          <p:nvPr/>
        </p:nvSpPr>
        <p:spPr>
          <a:xfrm>
            <a:off x="914400" y="2148840"/>
            <a:ext cx="10332720" cy="269748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层级一M2教的是初任主管自己如何建立技术判断力，层级二M4教的是部门经理如何把自己的判断框架显性化、教给别人。这两个模块本质上是同一种能力在管理链条不同位置的两次复现——一次是向自己的判断力负责，一次是向他人判断力的形成负责，这也是为什么给方法对经理而言往往比当年自己学判断力更难：他要先把自己已经自动化的直觉重新拆解开。</a:t>
            </a:r>
            <a:endParaRPr lang="en-US" sz="1450" dirty="0"/>
          </a:p>
        </p:txBody>
      </p:sp>
      <p:sp>
        <p:nvSpPr>
          <p:cNvPr id="6" name="Text 4"/>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M4 给方法</a:t>
            </a:r>
            <a:endParaRPr lang="en-US" sz="900" dirty="0"/>
          </a:p>
        </p:txBody>
      </p:sp>
      <p:sp>
        <p:nvSpPr>
          <p:cNvPr id="7" name="Text 5"/>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13 / 17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延伸视角 2</a:t>
            </a:r>
            <a:endParaRPr lang="en-US" sz="1300" dirty="0"/>
          </a:p>
        </p:txBody>
      </p:sp>
      <p:sp>
        <p:nvSpPr>
          <p:cNvPr id="3" name="Text 1"/>
          <p:cNvSpPr/>
          <p:nvPr/>
        </p:nvSpPr>
        <p:spPr>
          <a:xfrm>
            <a:off x="548640" y="722376"/>
            <a:ext cx="11064240" cy="9144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方法库是部门的隐性资产</a:t>
            </a:r>
            <a:endParaRPr lang="en-US" sz="2500" dirty="0"/>
          </a:p>
        </p:txBody>
      </p:sp>
      <p:sp>
        <p:nvSpPr>
          <p:cNvPr id="4" name="Shape 2"/>
          <p:cNvSpPr/>
          <p:nvPr/>
        </p:nvSpPr>
        <p:spPr>
          <a:xfrm>
            <a:off x="548640" y="1828800"/>
            <a:ext cx="11064240" cy="3291840"/>
          </a:xfrm>
          <a:prstGeom prst="roundRect">
            <a:avLst>
              <a:gd name="adj" fmla="val 2222"/>
            </a:avLst>
          </a:prstGeom>
          <a:solidFill>
            <a:srgbClr val="EEF2EE"/>
          </a:solidFill>
          <a:ln/>
          <a:effectLst>
            <a:outerShdw sx="100000" sy="100000" kx="0" ky="0" algn="bl" rotWithShape="0" blurRad="101600" dist="38100" dir="5400000">
              <a:srgbClr val="1B2A4A">
                <a:alpha val="10000"/>
              </a:srgbClr>
            </a:outerShdw>
          </a:effectLst>
        </p:spPr>
      </p:sp>
      <p:sp>
        <p:nvSpPr>
          <p:cNvPr id="5" name="Text 3"/>
          <p:cNvSpPr/>
          <p:nvPr/>
        </p:nvSpPr>
        <p:spPr>
          <a:xfrm>
            <a:off x="914400" y="2148840"/>
            <a:ext cx="10332720" cy="2697480"/>
          </a:xfrm>
          <a:prstGeom prst="rect">
            <a:avLst/>
          </a:prstGeom>
          <a:noFill/>
          <a:ln/>
        </p:spPr>
        <p:txBody>
          <a:bodyPr wrap="square" lIns="0" tIns="0" rIns="0" bIns="0" rtlCol="0" anchor="t"/>
          <a:lstStyle/>
          <a:p>
            <a:pPr indent="0" marL="0">
              <a:lnSpc>
                <a:spcPct val="140000"/>
              </a:lnSpc>
              <a:buNone/>
            </a:pPr>
            <a:r>
              <a:rPr lang="en-US" sz="1450" dirty="0">
                <a:solidFill>
                  <a:srgbClr val="33363B"/>
                </a:solidFill>
                <a:latin typeface="Calibri" pitchFamily="34" charset="0"/>
                <a:ea typeface="Calibri" pitchFamily="34" charset="-122"/>
                <a:cs typeface="Calibri" pitchFamily="34" charset="-120"/>
              </a:rPr>
              <a:t>一个部门经理如果持续做给方法而不是给答案，几年下来会沉淀出一套属于这个部门的判断标准库——这些标准未必写成正式文档，但会通过一次次的方法传递扩散到团队的集体判断中，成为部门应对新问题时的隐性资产，这种资产不会因为某个人离职而完全消失，这是它和经理一个人的经验最大的区别。</a:t>
            </a:r>
            <a:endParaRPr lang="en-US" sz="1450" dirty="0"/>
          </a:p>
        </p:txBody>
      </p:sp>
      <p:sp>
        <p:nvSpPr>
          <p:cNvPr id="6" name="Text 4"/>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M4 给方法</a:t>
            </a:r>
            <a:endParaRPr lang="en-US" sz="900" dirty="0"/>
          </a:p>
        </p:txBody>
      </p:sp>
      <p:sp>
        <p:nvSpPr>
          <p:cNvPr id="7" name="Text 5"/>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14 / 17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总结</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三层框架回顾</a:t>
            </a:r>
            <a:endParaRPr lang="en-US" sz="2700" dirty="0"/>
          </a:p>
        </p:txBody>
      </p:sp>
      <p:sp>
        <p:nvSpPr>
          <p:cNvPr id="4" name="Shape 2"/>
          <p:cNvSpPr/>
          <p:nvPr/>
        </p:nvSpPr>
        <p:spPr>
          <a:xfrm>
            <a:off x="548640" y="1691640"/>
            <a:ext cx="11064240" cy="960120"/>
          </a:xfrm>
          <a:prstGeom prst="roundRect">
            <a:avLst>
              <a:gd name="adj" fmla="val 7619"/>
            </a:avLst>
          </a:prstGeom>
          <a:solidFill>
            <a:srgbClr val="EEF1F6"/>
          </a:solidFill>
          <a:ln/>
          <a:effectLst>
            <a:outerShdw sx="100000" sy="100000" kx="0" ky="0" algn="bl" rotWithShape="0" blurRad="101600" dist="38100" dir="5400000">
              <a:srgbClr val="1B2A4A">
                <a:alpha val="10000"/>
              </a:srgbClr>
            </a:outerShdw>
          </a:effectLst>
        </p:spPr>
      </p:sp>
      <p:sp>
        <p:nvSpPr>
          <p:cNvPr id="5" name="Shape 3"/>
          <p:cNvSpPr/>
          <p:nvPr/>
        </p:nvSpPr>
        <p:spPr>
          <a:xfrm>
            <a:off x="822960" y="1961388"/>
            <a:ext cx="420624" cy="420624"/>
          </a:xfrm>
          <a:prstGeom prst="ellipse">
            <a:avLst/>
          </a:prstGeom>
          <a:solidFill>
            <a:srgbClr val="1B2A4A"/>
          </a:solidFill>
          <a:ln/>
        </p:spPr>
      </p:sp>
      <p:sp>
        <p:nvSpPr>
          <p:cNvPr id="6" name="Text 4"/>
          <p:cNvSpPr/>
          <p:nvPr/>
        </p:nvSpPr>
        <p:spPr>
          <a:xfrm>
            <a:off x="822960" y="196138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508760" y="1819656"/>
            <a:ext cx="2377440" cy="704088"/>
          </a:xfrm>
          <a:prstGeom prst="rect">
            <a:avLst/>
          </a:prstGeom>
          <a:noFill/>
          <a:ln/>
        </p:spPr>
        <p:txBody>
          <a:bodyPr wrap="square" lIns="0" tIns="0" rIns="0" bIns="0" rtlCol="0" anchor="ctr"/>
          <a:lstStyle/>
          <a:p>
            <a:pPr indent="0" marL="0">
              <a:buNone/>
            </a:pPr>
            <a:r>
              <a:rPr lang="en-US" sz="1600" b="1" dirty="0">
                <a:solidFill>
                  <a:srgbClr val="1B2A4A"/>
                </a:solidFill>
                <a:latin typeface="Cambria" pitchFamily="34" charset="0"/>
                <a:ea typeface="Cambria" pitchFamily="34" charset="-122"/>
                <a:cs typeface="Cambria" pitchFamily="34" charset="-120"/>
              </a:rPr>
              <a:t>给答案vs给方法</a:t>
            </a:r>
            <a:endParaRPr lang="en-US" sz="1600" dirty="0"/>
          </a:p>
        </p:txBody>
      </p:sp>
      <p:sp>
        <p:nvSpPr>
          <p:cNvPr id="8" name="Text 6"/>
          <p:cNvSpPr/>
          <p:nvPr/>
        </p:nvSpPr>
        <p:spPr>
          <a:xfrm>
            <a:off x="4023360" y="1783080"/>
            <a:ext cx="7223760" cy="777240"/>
          </a:xfrm>
          <a:prstGeom prst="rect">
            <a:avLst/>
          </a:prstGeom>
          <a:noFill/>
          <a:ln/>
        </p:spPr>
        <p:txBody>
          <a:bodyPr wrap="square" lIns="0" tIns="0" rIns="0" bIns="0" rtlCol="0" anchor="ctr"/>
          <a:lstStyle/>
          <a:p>
            <a:pPr indent="0" marL="0">
              <a:lnSpc>
                <a:spcPct val="118000"/>
              </a:lnSpc>
              <a:buNone/>
            </a:pPr>
            <a:r>
              <a:rPr lang="en-US" sz="1200" dirty="0">
                <a:solidFill>
                  <a:srgbClr val="33363B"/>
                </a:solidFill>
                <a:latin typeface="Calibri" pitchFamily="34" charset="0"/>
                <a:ea typeface="Calibri" pitchFamily="34" charset="-122"/>
                <a:cs typeface="Calibri" pitchFamily="34" charset="-120"/>
              </a:rPr>
              <a:t>给答案解决一次性问题，给方法解决一类问题，这是层级二M1「培训是高杠杆活动」在操作层面真正发挥作用的关键。</a:t>
            </a:r>
            <a:endParaRPr lang="en-US" sz="1200" dirty="0"/>
          </a:p>
        </p:txBody>
      </p:sp>
      <p:sp>
        <p:nvSpPr>
          <p:cNvPr id="9" name="Shape 7"/>
          <p:cNvSpPr/>
          <p:nvPr/>
        </p:nvSpPr>
        <p:spPr>
          <a:xfrm>
            <a:off x="548640" y="2816352"/>
            <a:ext cx="11064240" cy="960120"/>
          </a:xfrm>
          <a:prstGeom prst="roundRect">
            <a:avLst>
              <a:gd name="adj" fmla="val 7619"/>
            </a:avLst>
          </a:prstGeom>
          <a:solidFill>
            <a:srgbClr val="F5EEEA"/>
          </a:solidFill>
          <a:ln/>
          <a:effectLst>
            <a:outerShdw sx="100000" sy="100000" kx="0" ky="0" algn="bl" rotWithShape="0" blurRad="101600" dist="38100" dir="5400000">
              <a:srgbClr val="1B2A4A">
                <a:alpha val="10000"/>
              </a:srgbClr>
            </a:outerShdw>
          </a:effectLst>
        </p:spPr>
      </p:sp>
      <p:sp>
        <p:nvSpPr>
          <p:cNvPr id="10" name="Shape 8"/>
          <p:cNvSpPr/>
          <p:nvPr/>
        </p:nvSpPr>
        <p:spPr>
          <a:xfrm>
            <a:off x="822960" y="3086100"/>
            <a:ext cx="420624" cy="420624"/>
          </a:xfrm>
          <a:prstGeom prst="ellipse">
            <a:avLst/>
          </a:prstGeom>
          <a:solidFill>
            <a:srgbClr val="9C5536"/>
          </a:solidFill>
          <a:ln/>
        </p:spPr>
      </p:sp>
      <p:sp>
        <p:nvSpPr>
          <p:cNvPr id="11" name="Text 9"/>
          <p:cNvSpPr/>
          <p:nvPr/>
        </p:nvSpPr>
        <p:spPr>
          <a:xfrm>
            <a:off x="822960" y="308610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1508760" y="2944368"/>
            <a:ext cx="2377440" cy="704088"/>
          </a:xfrm>
          <a:prstGeom prst="rect">
            <a:avLst/>
          </a:prstGeom>
          <a:noFill/>
          <a:ln/>
        </p:spPr>
        <p:txBody>
          <a:bodyPr wrap="square" lIns="0" tIns="0" rIns="0" bIns="0" rtlCol="0" anchor="ctr"/>
          <a:lstStyle/>
          <a:p>
            <a:pPr indent="0" marL="0">
              <a:buNone/>
            </a:pPr>
            <a:r>
              <a:rPr lang="en-US" sz="1600" b="1" dirty="0">
                <a:solidFill>
                  <a:srgbClr val="9C5536"/>
                </a:solidFill>
                <a:latin typeface="Cambria" pitchFamily="34" charset="0"/>
                <a:ea typeface="Cambria" pitchFamily="34" charset="-122"/>
                <a:cs typeface="Cambria" pitchFamily="34" charset="-120"/>
              </a:rPr>
              <a:t>三个操作动作</a:t>
            </a:r>
            <a:endParaRPr lang="en-US" sz="1600" dirty="0"/>
          </a:p>
        </p:txBody>
      </p:sp>
      <p:sp>
        <p:nvSpPr>
          <p:cNvPr id="13" name="Text 11"/>
          <p:cNvSpPr/>
          <p:nvPr/>
        </p:nvSpPr>
        <p:spPr>
          <a:xfrm>
            <a:off x="4023360" y="2907792"/>
            <a:ext cx="7223760" cy="777240"/>
          </a:xfrm>
          <a:prstGeom prst="rect">
            <a:avLst/>
          </a:prstGeom>
          <a:noFill/>
          <a:ln/>
        </p:spPr>
        <p:txBody>
          <a:bodyPr wrap="square" lIns="0" tIns="0" rIns="0" bIns="0" rtlCol="0" anchor="ctr"/>
          <a:lstStyle/>
          <a:p>
            <a:pPr indent="0" marL="0">
              <a:lnSpc>
                <a:spcPct val="118000"/>
              </a:lnSpc>
              <a:buNone/>
            </a:pPr>
            <a:r>
              <a:rPr lang="en-US" sz="1200" dirty="0">
                <a:solidFill>
                  <a:srgbClr val="33363B"/>
                </a:solidFill>
                <a:latin typeface="Calibri" pitchFamily="34" charset="0"/>
                <a:ea typeface="Calibri" pitchFamily="34" charset="-122"/>
                <a:cs typeface="Calibri" pitchFamily="34" charset="-120"/>
              </a:rPr>
              <a:t>拆解决策路径、用真实案例验证、容忍非最优结果，三步缺一不可，否则给方法会停留在讲道理的层面。</a:t>
            </a:r>
            <a:endParaRPr lang="en-US" sz="1200" dirty="0"/>
          </a:p>
        </p:txBody>
      </p:sp>
      <p:sp>
        <p:nvSpPr>
          <p:cNvPr id="14" name="Shape 12"/>
          <p:cNvSpPr/>
          <p:nvPr/>
        </p:nvSpPr>
        <p:spPr>
          <a:xfrm>
            <a:off x="548640" y="3941064"/>
            <a:ext cx="11064240" cy="960120"/>
          </a:xfrm>
          <a:prstGeom prst="roundRect">
            <a:avLst>
              <a:gd name="adj" fmla="val 7619"/>
            </a:avLst>
          </a:prstGeom>
          <a:solidFill>
            <a:srgbClr val="EEF2EE"/>
          </a:solidFill>
          <a:ln/>
          <a:effectLst>
            <a:outerShdw sx="100000" sy="100000" kx="0" ky="0" algn="bl" rotWithShape="0" blurRad="101600" dist="38100" dir="5400000">
              <a:srgbClr val="1B2A4A">
                <a:alpha val="10000"/>
              </a:srgbClr>
            </a:outerShdw>
          </a:effectLst>
        </p:spPr>
      </p:sp>
      <p:sp>
        <p:nvSpPr>
          <p:cNvPr id="15" name="Shape 13"/>
          <p:cNvSpPr/>
          <p:nvPr/>
        </p:nvSpPr>
        <p:spPr>
          <a:xfrm>
            <a:off x="822960" y="4210812"/>
            <a:ext cx="420624" cy="420624"/>
          </a:xfrm>
          <a:prstGeom prst="ellipse">
            <a:avLst/>
          </a:prstGeom>
          <a:solidFill>
            <a:srgbClr val="4F6F52"/>
          </a:solidFill>
          <a:ln/>
        </p:spPr>
      </p:sp>
      <p:sp>
        <p:nvSpPr>
          <p:cNvPr id="16" name="Text 14"/>
          <p:cNvSpPr/>
          <p:nvPr/>
        </p:nvSpPr>
        <p:spPr>
          <a:xfrm>
            <a:off x="822960" y="421081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1508760" y="4069080"/>
            <a:ext cx="2377440" cy="704088"/>
          </a:xfrm>
          <a:prstGeom prst="rect">
            <a:avLst/>
          </a:prstGeom>
          <a:noFill/>
          <a:ln/>
        </p:spPr>
        <p:txBody>
          <a:bodyPr wrap="square" lIns="0" tIns="0" rIns="0" bIns="0" rtlCol="0" anchor="ctr"/>
          <a:lstStyle/>
          <a:p>
            <a:pPr indent="0" marL="0">
              <a:buNone/>
            </a:pPr>
            <a:r>
              <a:rPr lang="en-US" sz="1600" b="1" dirty="0">
                <a:solidFill>
                  <a:srgbClr val="4F6F52"/>
                </a:solidFill>
                <a:latin typeface="Cambria" pitchFamily="34" charset="0"/>
                <a:ea typeface="Cambria" pitchFamily="34" charset="-122"/>
                <a:cs typeface="Cambria" pitchFamily="34" charset="-120"/>
              </a:rPr>
              <a:t>边界判断</a:t>
            </a:r>
            <a:endParaRPr lang="en-US" sz="1600" dirty="0"/>
          </a:p>
        </p:txBody>
      </p:sp>
      <p:sp>
        <p:nvSpPr>
          <p:cNvPr id="18" name="Text 16"/>
          <p:cNvSpPr/>
          <p:nvPr/>
        </p:nvSpPr>
        <p:spPr>
          <a:xfrm>
            <a:off x="4023360" y="4032504"/>
            <a:ext cx="7223760" cy="777240"/>
          </a:xfrm>
          <a:prstGeom prst="rect">
            <a:avLst/>
          </a:prstGeom>
          <a:noFill/>
          <a:ln/>
        </p:spPr>
        <p:txBody>
          <a:bodyPr wrap="square" lIns="0" tIns="0" rIns="0" bIns="0" rtlCol="0" anchor="ctr"/>
          <a:lstStyle/>
          <a:p>
            <a:pPr indent="0" marL="0">
              <a:lnSpc>
                <a:spcPct val="118000"/>
              </a:lnSpc>
              <a:buNone/>
            </a:pPr>
            <a:r>
              <a:rPr lang="en-US" sz="1200" dirty="0">
                <a:solidFill>
                  <a:srgbClr val="33363B"/>
                </a:solidFill>
                <a:latin typeface="Calibri" pitchFamily="34" charset="0"/>
                <a:ea typeface="Calibri" pitchFamily="34" charset="-122"/>
                <a:cs typeface="Calibri" pitchFamily="34" charset="-120"/>
              </a:rPr>
              <a:t>问题一次性或时间窗口紧迫时，直接给答案更负责任；只有问题反复出现且有容错空间时，给方法才是划算的投资。</a:t>
            </a:r>
            <a:endParaRPr lang="en-US" sz="1200" dirty="0"/>
          </a:p>
        </p:txBody>
      </p:sp>
      <p:sp>
        <p:nvSpPr>
          <p:cNvPr id="19" name="Shape 17"/>
          <p:cNvSpPr/>
          <p:nvPr/>
        </p:nvSpPr>
        <p:spPr>
          <a:xfrm>
            <a:off x="548640" y="5166360"/>
            <a:ext cx="11064240" cy="960120"/>
          </a:xfrm>
          <a:prstGeom prst="roundRect">
            <a:avLst>
              <a:gd name="adj" fmla="val 7619"/>
            </a:avLst>
          </a:prstGeom>
          <a:solidFill>
            <a:srgbClr val="1B2A4A"/>
          </a:solidFill>
          <a:ln/>
          <a:effectLst>
            <a:outerShdw sx="100000" sy="100000" kx="0" ky="0" algn="bl" rotWithShape="0" blurRad="101600" dist="38100" dir="5400000">
              <a:srgbClr val="1B2A4A">
                <a:alpha val="10000"/>
              </a:srgbClr>
            </a:outerShdw>
          </a:effectLst>
        </p:spPr>
      </p:sp>
      <p:sp>
        <p:nvSpPr>
          <p:cNvPr id="20" name="Text 18"/>
          <p:cNvSpPr/>
          <p:nvPr/>
        </p:nvSpPr>
        <p:spPr>
          <a:xfrm>
            <a:off x="868680" y="5166360"/>
            <a:ext cx="10424160" cy="960120"/>
          </a:xfrm>
          <a:prstGeom prst="rect">
            <a:avLst/>
          </a:prstGeom>
          <a:noFill/>
          <a:ln/>
        </p:spPr>
        <p:txBody>
          <a:bodyPr wrap="square" lIns="0" tIns="0" rIns="0" bIns="0" rtlCol="0" anchor="ctr"/>
          <a:lstStyle/>
          <a:p>
            <a:pPr algn="ctr" indent="0" marL="0">
              <a:buNone/>
            </a:pPr>
            <a:r>
              <a:rPr lang="en-US" sz="1800" i="1" dirty="0">
                <a:solidFill>
                  <a:srgbClr val="FFFFFF"/>
                </a:solidFill>
                <a:latin typeface="Cambria" pitchFamily="34" charset="0"/>
                <a:ea typeface="Cambria" pitchFamily="34" charset="-122"/>
                <a:cs typeface="Cambria" pitchFamily="34" charset="-120"/>
              </a:rPr>
              <a:t>给方法，不是把答案讲清楚，而是让对方下次不用再来问你。</a:t>
            </a:r>
            <a:endParaRPr lang="en-US" sz="1800" dirty="0"/>
          </a:p>
        </p:txBody>
      </p:sp>
      <p:sp>
        <p:nvSpPr>
          <p:cNvPr id="21" name="Text 19"/>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M4 给方法</a:t>
            </a:r>
            <a:endParaRPr lang="en-US" sz="900" dirty="0"/>
          </a:p>
        </p:txBody>
      </p:sp>
      <p:sp>
        <p:nvSpPr>
          <p:cNvPr id="22" name="Text 20"/>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15 / 17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课后诊断 · 一</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课后诊断</a:t>
            </a:r>
            <a:endParaRPr lang="en-US" sz="2700" dirty="0"/>
          </a:p>
        </p:txBody>
      </p:sp>
      <p:sp>
        <p:nvSpPr>
          <p:cNvPr id="4" name="Shape 2"/>
          <p:cNvSpPr/>
          <p:nvPr/>
        </p:nvSpPr>
        <p:spPr>
          <a:xfrm>
            <a:off x="548640" y="1691640"/>
            <a:ext cx="11064240" cy="1344168"/>
          </a:xfrm>
          <a:prstGeom prst="roundRect">
            <a:avLst>
              <a:gd name="adj" fmla="val 5442"/>
            </a:avLst>
          </a:prstGeom>
          <a:solidFill>
            <a:srgbClr val="FFFFFF"/>
          </a:solidFill>
          <a:ln/>
          <a:effectLst>
            <a:outerShdw sx="100000" sy="100000" kx="0" ky="0" algn="bl" rotWithShape="0" blurRad="101600" dist="38100" dir="5400000">
              <a:srgbClr val="1B2A4A">
                <a:alpha val="10000"/>
              </a:srgbClr>
            </a:outerShdw>
          </a:effectLst>
        </p:spPr>
      </p:sp>
      <p:sp>
        <p:nvSpPr>
          <p:cNvPr id="5" name="Shape 3"/>
          <p:cNvSpPr/>
          <p:nvPr/>
        </p:nvSpPr>
        <p:spPr>
          <a:xfrm>
            <a:off x="822960" y="1892808"/>
            <a:ext cx="1188720" cy="292608"/>
          </a:xfrm>
          <a:prstGeom prst="roundRect">
            <a:avLst>
              <a:gd name="adj" fmla="val 18750"/>
            </a:avLst>
          </a:prstGeom>
          <a:solidFill>
            <a:srgbClr val="1B2A4A"/>
          </a:solidFill>
          <a:ln/>
        </p:spPr>
      </p:sp>
      <p:sp>
        <p:nvSpPr>
          <p:cNvPr id="6" name="Text 4"/>
          <p:cNvSpPr/>
          <p:nvPr/>
        </p:nvSpPr>
        <p:spPr>
          <a:xfrm>
            <a:off x="822960" y="1892808"/>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场景一</a:t>
            </a:r>
            <a:endParaRPr lang="en-US" sz="1100" dirty="0"/>
          </a:p>
        </p:txBody>
      </p:sp>
      <p:sp>
        <p:nvSpPr>
          <p:cNvPr id="7" name="Text 5"/>
          <p:cNvSpPr/>
          <p:nvPr/>
        </p:nvSpPr>
        <p:spPr>
          <a:xfrm>
            <a:off x="2148840" y="1892808"/>
            <a:ext cx="8229600" cy="292608"/>
          </a:xfrm>
          <a:prstGeom prst="rect">
            <a:avLst/>
          </a:prstGeom>
          <a:noFill/>
          <a:ln/>
        </p:spPr>
        <p:txBody>
          <a:bodyPr wrap="square" lIns="0" tIns="0" rIns="0" bIns="0" rtlCol="0" anchor="ctr"/>
          <a:lstStyle/>
          <a:p>
            <a:pPr indent="0" marL="0">
              <a:buNone/>
            </a:pPr>
            <a:r>
              <a:rPr lang="en-US" sz="1100" i="1" dirty="0">
                <a:solidFill>
                  <a:srgbClr val="7C7F84"/>
                </a:solidFill>
                <a:latin typeface="Calibri" pitchFamily="34" charset="0"/>
                <a:ea typeface="Calibri" pitchFamily="34" charset="-122"/>
                <a:cs typeface="Calibri" pitchFamily="34" charset="-120"/>
              </a:rPr>
              <a:t>对应理论框架一</a:t>
            </a:r>
            <a:endParaRPr lang="en-US" sz="1100" dirty="0"/>
          </a:p>
        </p:txBody>
      </p:sp>
      <p:sp>
        <p:nvSpPr>
          <p:cNvPr id="8" name="Text 6"/>
          <p:cNvSpPr/>
          <p:nvPr/>
        </p:nvSpPr>
        <p:spPr>
          <a:xfrm>
            <a:off x="822960" y="2258568"/>
            <a:ext cx="10515600" cy="630936"/>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描述一位经理长期高频回答下属同类问题的情境，要求判断这种模式背后是给答案还是给方法，并指出判断依据。</a:t>
            </a:r>
            <a:endParaRPr lang="en-US" sz="1250" dirty="0"/>
          </a:p>
        </p:txBody>
      </p:sp>
      <p:sp>
        <p:nvSpPr>
          <p:cNvPr id="9" name="Shape 7"/>
          <p:cNvSpPr/>
          <p:nvPr/>
        </p:nvSpPr>
        <p:spPr>
          <a:xfrm>
            <a:off x="548640" y="3236976"/>
            <a:ext cx="11064240" cy="1344168"/>
          </a:xfrm>
          <a:prstGeom prst="roundRect">
            <a:avLst>
              <a:gd name="adj" fmla="val 5442"/>
            </a:avLst>
          </a:prstGeom>
          <a:solidFill>
            <a:srgbClr val="FFFFFF"/>
          </a:solidFill>
          <a:ln/>
          <a:effectLst>
            <a:outerShdw sx="100000" sy="100000" kx="0" ky="0" algn="bl" rotWithShape="0" blurRad="101600" dist="38100" dir="5400000">
              <a:srgbClr val="1B2A4A">
                <a:alpha val="10000"/>
              </a:srgbClr>
            </a:outerShdw>
          </a:effectLst>
        </p:spPr>
      </p:sp>
      <p:sp>
        <p:nvSpPr>
          <p:cNvPr id="10" name="Shape 8"/>
          <p:cNvSpPr/>
          <p:nvPr/>
        </p:nvSpPr>
        <p:spPr>
          <a:xfrm>
            <a:off x="822960" y="3438144"/>
            <a:ext cx="1188720" cy="292608"/>
          </a:xfrm>
          <a:prstGeom prst="roundRect">
            <a:avLst>
              <a:gd name="adj" fmla="val 18750"/>
            </a:avLst>
          </a:prstGeom>
          <a:solidFill>
            <a:srgbClr val="1B2A4A"/>
          </a:solidFill>
          <a:ln/>
        </p:spPr>
      </p:sp>
      <p:sp>
        <p:nvSpPr>
          <p:cNvPr id="11" name="Text 9"/>
          <p:cNvSpPr/>
          <p:nvPr/>
        </p:nvSpPr>
        <p:spPr>
          <a:xfrm>
            <a:off x="822960" y="3438144"/>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场景二</a:t>
            </a:r>
            <a:endParaRPr lang="en-US" sz="1100" dirty="0"/>
          </a:p>
        </p:txBody>
      </p:sp>
      <p:sp>
        <p:nvSpPr>
          <p:cNvPr id="12" name="Text 10"/>
          <p:cNvSpPr/>
          <p:nvPr/>
        </p:nvSpPr>
        <p:spPr>
          <a:xfrm>
            <a:off x="2148840" y="3438144"/>
            <a:ext cx="8229600" cy="292608"/>
          </a:xfrm>
          <a:prstGeom prst="rect">
            <a:avLst/>
          </a:prstGeom>
          <a:noFill/>
          <a:ln/>
        </p:spPr>
        <p:txBody>
          <a:bodyPr wrap="square" lIns="0" tIns="0" rIns="0" bIns="0" rtlCol="0" anchor="ctr"/>
          <a:lstStyle/>
          <a:p>
            <a:pPr indent="0" marL="0">
              <a:buNone/>
            </a:pPr>
            <a:r>
              <a:rPr lang="en-US" sz="1100" i="1" dirty="0">
                <a:solidFill>
                  <a:srgbClr val="7C7F84"/>
                </a:solidFill>
                <a:latin typeface="Calibri" pitchFamily="34" charset="0"/>
                <a:ea typeface="Calibri" pitchFamily="34" charset="-122"/>
                <a:cs typeface="Calibri" pitchFamily="34" charset="-120"/>
              </a:rPr>
              <a:t>对应理论框架二</a:t>
            </a:r>
            <a:endParaRPr lang="en-US" sz="1100" dirty="0"/>
          </a:p>
        </p:txBody>
      </p:sp>
      <p:sp>
        <p:nvSpPr>
          <p:cNvPr id="13" name="Text 11"/>
          <p:cNvSpPr/>
          <p:nvPr/>
        </p:nvSpPr>
        <p:spPr>
          <a:xfrm>
            <a:off x="822960" y="3803904"/>
            <a:ext cx="10515600" cy="630936"/>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描述一位经理把方法论讲得很清楚、下属也表示听懂了，但没有让下属在真实案例中实际应用的场景，要求判断这次给方法是否完整，欠缺了哪个环节。</a:t>
            </a:r>
            <a:endParaRPr lang="en-US" sz="1250" dirty="0"/>
          </a:p>
        </p:txBody>
      </p:sp>
      <p:sp>
        <p:nvSpPr>
          <p:cNvPr id="14" name="Shape 12"/>
          <p:cNvSpPr/>
          <p:nvPr/>
        </p:nvSpPr>
        <p:spPr>
          <a:xfrm>
            <a:off x="548640" y="4782312"/>
            <a:ext cx="11064240" cy="1344168"/>
          </a:xfrm>
          <a:prstGeom prst="roundRect">
            <a:avLst>
              <a:gd name="adj" fmla="val 5442"/>
            </a:avLst>
          </a:prstGeom>
          <a:solidFill>
            <a:srgbClr val="FFFFFF"/>
          </a:solidFill>
          <a:ln/>
          <a:effectLst>
            <a:outerShdw sx="100000" sy="100000" kx="0" ky="0" algn="bl" rotWithShape="0" blurRad="101600" dist="38100" dir="5400000">
              <a:srgbClr val="1B2A4A">
                <a:alpha val="10000"/>
              </a:srgbClr>
            </a:outerShdw>
          </a:effectLst>
        </p:spPr>
      </p:sp>
      <p:sp>
        <p:nvSpPr>
          <p:cNvPr id="15" name="Shape 13"/>
          <p:cNvSpPr/>
          <p:nvPr/>
        </p:nvSpPr>
        <p:spPr>
          <a:xfrm>
            <a:off x="822960" y="4983480"/>
            <a:ext cx="1188720" cy="292608"/>
          </a:xfrm>
          <a:prstGeom prst="roundRect">
            <a:avLst>
              <a:gd name="adj" fmla="val 18750"/>
            </a:avLst>
          </a:prstGeom>
          <a:solidFill>
            <a:srgbClr val="1B2A4A"/>
          </a:solidFill>
          <a:ln/>
        </p:spPr>
      </p:sp>
      <p:sp>
        <p:nvSpPr>
          <p:cNvPr id="16" name="Text 14"/>
          <p:cNvSpPr/>
          <p:nvPr/>
        </p:nvSpPr>
        <p:spPr>
          <a:xfrm>
            <a:off x="822960" y="4983480"/>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场景三</a:t>
            </a:r>
            <a:endParaRPr lang="en-US" sz="1100" dirty="0"/>
          </a:p>
        </p:txBody>
      </p:sp>
      <p:sp>
        <p:nvSpPr>
          <p:cNvPr id="17" name="Text 15"/>
          <p:cNvSpPr/>
          <p:nvPr/>
        </p:nvSpPr>
        <p:spPr>
          <a:xfrm>
            <a:off x="2148840" y="4983480"/>
            <a:ext cx="8229600" cy="292608"/>
          </a:xfrm>
          <a:prstGeom prst="rect">
            <a:avLst/>
          </a:prstGeom>
          <a:noFill/>
          <a:ln/>
        </p:spPr>
        <p:txBody>
          <a:bodyPr wrap="square" lIns="0" tIns="0" rIns="0" bIns="0" rtlCol="0" anchor="ctr"/>
          <a:lstStyle/>
          <a:p>
            <a:pPr indent="0" marL="0">
              <a:buNone/>
            </a:pPr>
            <a:r>
              <a:rPr lang="en-US" sz="1100" i="1" dirty="0">
                <a:solidFill>
                  <a:srgbClr val="7C7F84"/>
                </a:solidFill>
                <a:latin typeface="Calibri" pitchFamily="34" charset="0"/>
                <a:ea typeface="Calibri" pitchFamily="34" charset="-122"/>
                <a:cs typeface="Calibri" pitchFamily="34" charset="-120"/>
              </a:rPr>
              <a:t>对应边界反例</a:t>
            </a:r>
            <a:endParaRPr lang="en-US" sz="1100" dirty="0"/>
          </a:p>
        </p:txBody>
      </p:sp>
      <p:sp>
        <p:nvSpPr>
          <p:cNvPr id="18" name="Text 16"/>
          <p:cNvSpPr/>
          <p:nvPr/>
        </p:nvSpPr>
        <p:spPr>
          <a:xfrm>
            <a:off x="822960" y="5349240"/>
            <a:ext cx="10515600" cy="630936"/>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描述一个介于有时间引导和必须立刻给答案之间的模糊场景，要求判断经理此时该给方法还是该给答案，并说明判断标准。</a:t>
            </a:r>
            <a:endParaRPr lang="en-US" sz="1250" dirty="0"/>
          </a:p>
        </p:txBody>
      </p:sp>
      <p:sp>
        <p:nvSpPr>
          <p:cNvPr id="20" name="Text 17"/>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M4 给方法</a:t>
            </a:r>
            <a:endParaRPr lang="en-US" sz="900" dirty="0"/>
          </a:p>
        </p:txBody>
      </p:sp>
      <p:sp>
        <p:nvSpPr>
          <p:cNvPr id="21" name="Text 18"/>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16 / 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292608"/>
          </a:xfrm>
          <a:prstGeom prst="rect">
            <a:avLst/>
          </a:prstGeom>
          <a:noFill/>
          <a:ln/>
        </p:spPr>
        <p:txBody>
          <a:bodyPr wrap="square" lIns="0" tIns="0" rIns="0" bIns="0" rtlCol="0" anchor="ctr"/>
          <a:lstStyle/>
          <a:p>
            <a:pPr indent="0" marL="0">
              <a:buNone/>
            </a:pPr>
            <a:r>
              <a:rPr lang="en-US" sz="1300" b="1" spc="200" kern="0" dirty="0">
                <a:solidFill>
                  <a:srgbClr val="9C5536"/>
                </a:solidFill>
                <a:latin typeface="Calibri" pitchFamily="34" charset="0"/>
                <a:ea typeface="Calibri" pitchFamily="34" charset="-122"/>
                <a:cs typeface="Calibri" pitchFamily="34" charset="-120"/>
              </a:rPr>
              <a:t>课后诊断 · 二</a:t>
            </a:r>
            <a:endParaRPr lang="en-US" sz="1300" dirty="0"/>
          </a:p>
        </p:txBody>
      </p:sp>
      <p:sp>
        <p:nvSpPr>
          <p:cNvPr id="3" name="Text 1"/>
          <p:cNvSpPr/>
          <p:nvPr/>
        </p:nvSpPr>
        <p:spPr>
          <a:xfrm>
            <a:off x="548640" y="722376"/>
            <a:ext cx="11064240" cy="777240"/>
          </a:xfrm>
          <a:prstGeom prst="rect">
            <a:avLst/>
          </a:prstGeom>
          <a:noFill/>
          <a:ln/>
        </p:spPr>
        <p:txBody>
          <a:bodyPr wrap="square" lIns="0" tIns="0" rIns="0" bIns="0"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课后诊断</a:t>
            </a:r>
            <a:endParaRPr lang="en-US" sz="2700" dirty="0"/>
          </a:p>
        </p:txBody>
      </p:sp>
      <p:sp>
        <p:nvSpPr>
          <p:cNvPr id="4" name="Shape 2"/>
          <p:cNvSpPr/>
          <p:nvPr/>
        </p:nvSpPr>
        <p:spPr>
          <a:xfrm>
            <a:off x="548640" y="1691640"/>
            <a:ext cx="11064240" cy="2116836"/>
          </a:xfrm>
          <a:prstGeom prst="roundRect">
            <a:avLst>
              <a:gd name="adj" fmla="val 3456"/>
            </a:avLst>
          </a:prstGeom>
          <a:solidFill>
            <a:srgbClr val="FFFFFF"/>
          </a:solidFill>
          <a:ln/>
          <a:effectLst>
            <a:outerShdw sx="100000" sy="100000" kx="0" ky="0" algn="bl" rotWithShape="0" blurRad="101600" dist="38100" dir="5400000">
              <a:srgbClr val="1B2A4A">
                <a:alpha val="10000"/>
              </a:srgbClr>
            </a:outerShdw>
          </a:effectLst>
        </p:spPr>
      </p:sp>
      <p:sp>
        <p:nvSpPr>
          <p:cNvPr id="5" name="Shape 3"/>
          <p:cNvSpPr/>
          <p:nvPr/>
        </p:nvSpPr>
        <p:spPr>
          <a:xfrm>
            <a:off x="822960" y="1892808"/>
            <a:ext cx="1188720" cy="292608"/>
          </a:xfrm>
          <a:prstGeom prst="roundRect">
            <a:avLst>
              <a:gd name="adj" fmla="val 18750"/>
            </a:avLst>
          </a:prstGeom>
          <a:solidFill>
            <a:srgbClr val="1B2A4A"/>
          </a:solidFill>
          <a:ln/>
        </p:spPr>
      </p:sp>
      <p:sp>
        <p:nvSpPr>
          <p:cNvPr id="6" name="Text 4"/>
          <p:cNvSpPr/>
          <p:nvPr/>
        </p:nvSpPr>
        <p:spPr>
          <a:xfrm>
            <a:off x="822960" y="1892808"/>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场景四</a:t>
            </a:r>
            <a:endParaRPr lang="en-US" sz="1100" dirty="0"/>
          </a:p>
        </p:txBody>
      </p:sp>
      <p:sp>
        <p:nvSpPr>
          <p:cNvPr id="7" name="Text 5"/>
          <p:cNvSpPr/>
          <p:nvPr/>
        </p:nvSpPr>
        <p:spPr>
          <a:xfrm>
            <a:off x="2148840" y="1892808"/>
            <a:ext cx="8229600" cy="292608"/>
          </a:xfrm>
          <a:prstGeom prst="rect">
            <a:avLst/>
          </a:prstGeom>
          <a:noFill/>
          <a:ln/>
        </p:spPr>
        <p:txBody>
          <a:bodyPr wrap="square" lIns="0" tIns="0" rIns="0" bIns="0" rtlCol="0" anchor="ctr"/>
          <a:lstStyle/>
          <a:p>
            <a:pPr indent="0" marL="0">
              <a:buNone/>
            </a:pPr>
            <a:r>
              <a:rPr lang="en-US" sz="1100" i="1" dirty="0">
                <a:solidFill>
                  <a:srgbClr val="7C7F84"/>
                </a:solidFill>
                <a:latin typeface="Calibri" pitchFamily="34" charset="0"/>
                <a:ea typeface="Calibri" pitchFamily="34" charset="-122"/>
                <a:cs typeface="Calibri" pitchFamily="34" charset="-120"/>
              </a:rPr>
              <a:t>对应延伸视角一</a:t>
            </a:r>
            <a:endParaRPr lang="en-US" sz="1100" dirty="0"/>
          </a:p>
        </p:txBody>
      </p:sp>
      <p:sp>
        <p:nvSpPr>
          <p:cNvPr id="8" name="Text 6"/>
          <p:cNvSpPr/>
          <p:nvPr/>
        </p:nvSpPr>
        <p:spPr>
          <a:xfrm>
            <a:off x="822960" y="2258568"/>
            <a:ext cx="10515600" cy="1403604"/>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描述一位经理在向下属传授判断标准时遇到困难，自己也说不清楚「为什么这么判断」，要求判断这背后是什么心理/认知机制，并指出该经理可以如何应对。</a:t>
            </a:r>
            <a:endParaRPr lang="en-US" sz="1250" dirty="0"/>
          </a:p>
        </p:txBody>
      </p:sp>
      <p:sp>
        <p:nvSpPr>
          <p:cNvPr id="9" name="Shape 7"/>
          <p:cNvSpPr/>
          <p:nvPr/>
        </p:nvSpPr>
        <p:spPr>
          <a:xfrm>
            <a:off x="548640" y="4009644"/>
            <a:ext cx="11064240" cy="2116836"/>
          </a:xfrm>
          <a:prstGeom prst="roundRect">
            <a:avLst>
              <a:gd name="adj" fmla="val 3456"/>
            </a:avLst>
          </a:prstGeom>
          <a:solidFill>
            <a:srgbClr val="FFFFFF"/>
          </a:solidFill>
          <a:ln/>
          <a:effectLst>
            <a:outerShdw sx="100000" sy="100000" kx="0" ky="0" algn="bl" rotWithShape="0" blurRad="101600" dist="38100" dir="5400000">
              <a:srgbClr val="1B2A4A">
                <a:alpha val="10000"/>
              </a:srgbClr>
            </a:outerShdw>
          </a:effectLst>
        </p:spPr>
      </p:sp>
      <p:sp>
        <p:nvSpPr>
          <p:cNvPr id="10" name="Shape 8"/>
          <p:cNvSpPr/>
          <p:nvPr/>
        </p:nvSpPr>
        <p:spPr>
          <a:xfrm>
            <a:off x="822960" y="4210812"/>
            <a:ext cx="1188720" cy="292608"/>
          </a:xfrm>
          <a:prstGeom prst="roundRect">
            <a:avLst>
              <a:gd name="adj" fmla="val 18750"/>
            </a:avLst>
          </a:prstGeom>
          <a:solidFill>
            <a:srgbClr val="1B2A4A"/>
          </a:solidFill>
          <a:ln/>
        </p:spPr>
      </p:sp>
      <p:sp>
        <p:nvSpPr>
          <p:cNvPr id="11" name="Text 9"/>
          <p:cNvSpPr/>
          <p:nvPr/>
        </p:nvSpPr>
        <p:spPr>
          <a:xfrm>
            <a:off x="822960" y="4210812"/>
            <a:ext cx="11887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场景五</a:t>
            </a:r>
            <a:endParaRPr lang="en-US" sz="1100" dirty="0"/>
          </a:p>
        </p:txBody>
      </p:sp>
      <p:sp>
        <p:nvSpPr>
          <p:cNvPr id="12" name="Text 10"/>
          <p:cNvSpPr/>
          <p:nvPr/>
        </p:nvSpPr>
        <p:spPr>
          <a:xfrm>
            <a:off x="2148840" y="4210812"/>
            <a:ext cx="8229600" cy="292608"/>
          </a:xfrm>
          <a:prstGeom prst="rect">
            <a:avLst/>
          </a:prstGeom>
          <a:noFill/>
          <a:ln/>
        </p:spPr>
        <p:txBody>
          <a:bodyPr wrap="square" lIns="0" tIns="0" rIns="0" bIns="0" rtlCol="0" anchor="ctr"/>
          <a:lstStyle/>
          <a:p>
            <a:pPr indent="0" marL="0">
              <a:buNone/>
            </a:pPr>
            <a:r>
              <a:rPr lang="en-US" sz="1100" i="1" dirty="0">
                <a:solidFill>
                  <a:srgbClr val="7C7F84"/>
                </a:solidFill>
                <a:latin typeface="Calibri" pitchFamily="34" charset="0"/>
                <a:ea typeface="Calibri" pitchFamily="34" charset="-122"/>
                <a:cs typeface="Calibri" pitchFamily="34" charset="-120"/>
              </a:rPr>
              <a:t>综合场景</a:t>
            </a:r>
            <a:endParaRPr lang="en-US" sz="1100" dirty="0"/>
          </a:p>
        </p:txBody>
      </p:sp>
      <p:sp>
        <p:nvSpPr>
          <p:cNvPr id="13" name="Text 11"/>
          <p:cNvSpPr/>
          <p:nvPr/>
        </p:nvSpPr>
        <p:spPr>
          <a:xfrm>
            <a:off x="822960" y="4576572"/>
            <a:ext cx="10515600" cy="1403604"/>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描述一位经理在给方法的过程中完整执行了拆解决策路径和真实案例验证两步，但下属第一次应用结果不理想时，经理立刻接过来自己重新做了一遍。要求判断这位经理在框架的哪个环节出现了缺口。</a:t>
            </a:r>
            <a:endParaRPr lang="en-US" sz="1250" dirty="0"/>
          </a:p>
        </p:txBody>
      </p:sp>
      <p:sp>
        <p:nvSpPr>
          <p:cNvPr id="15" name="Text 12"/>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M4 给方法</a:t>
            </a:r>
            <a:endParaRPr lang="en-US" sz="900" dirty="0"/>
          </a:p>
        </p:txBody>
      </p:sp>
      <p:sp>
        <p:nvSpPr>
          <p:cNvPr id="16" name="Text 13"/>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17 / 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M4 给方法</dc:title>
  <dc:subject>PptxGenJS Presentation</dc:subject>
  <dc:creator>CIM管理者培训体系</dc:creator>
  <cp:lastModifiedBy>CIM管理者培训体系</cp:lastModifiedBy>
  <cp:revision>1</cp:revision>
  <dcterms:created xsi:type="dcterms:W3CDTF">2026-06-21T08:22:27Z</dcterms:created>
  <dcterms:modified xsi:type="dcterms:W3CDTF">2026-06-21T08:22:27Z</dcterms:modified>
</cp:coreProperties>
</file>