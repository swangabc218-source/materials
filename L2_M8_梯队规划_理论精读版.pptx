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场景一（对应理论框架一）诊断指引：考察学员能否识别单点故障的隐蔽性。正确回答应指出日常平稳不代表没有风险，恰恰是因为关键人始终在场掩盖了风险，一旦这个人缺位，风险会集中爆发。
场景二（对应理论框架二）诊断指引：正确回答应指出缺少用真实曝光积累候选人可信度和主动制造压力测试这两个环节，单纯填表只是行政动作，对应反面案例的负面机制。
场景三（对应边界反例）诊断指引：考察学员是否把梯队规划当成了不分情境必须凑数的行政任务。理想回答应提到硬凑名单的长期代价大于坦然承认断层的短期代价，并能提出边界场景式的应对方式。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四（对应延伸视角一）诊断指引：考察学员能否识别梯队规划和M3给舞台、M4给方法之间的依赖关系。正确回答应指出没有这两个日常抓手的积累，候选人的能力评估缺乏真实依据，这份梯队规划的可信度很低。
场景五（综合场景）诊断指引：本模块难度最高的诊断题，检验学员是否把曝光机会和压力测试这两个不同性质的环节混淆了。正确回答应指出：曝光机会让候选人被看见，但不等于候选人真正具备了独立应对风险和不确定性的能力，缺少主动制造的压力测试，候选人的真实短板始终没有被提前暴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M8</a:t>
            </a:r>
            <a:endParaRPr lang="en-US" sz="2000" dirty="0"/>
          </a:p>
        </p:txBody>
      </p:sp>
      <p:sp>
        <p:nvSpPr>
          <p:cNvPr id="4" name="Text 2"/>
          <p:cNvSpPr/>
          <p:nvPr/>
        </p:nvSpPr>
        <p:spPr>
          <a:xfrm>
            <a:off x="822960" y="2286000"/>
            <a:ext cx="10515600" cy="1463040"/>
          </a:xfrm>
          <a:prstGeom prst="rect">
            <a:avLst/>
          </a:prstGeom>
          <a:noFill/>
          <a:ln/>
        </p:spPr>
        <p:txBody>
          <a:bodyPr wrap="square" lIns="0" tIns="0" rIns="0" bIns="0" rtlCol="0" anchor="ctr"/>
          <a:lstStyle/>
          <a:p>
            <a:pPr indent="0" marL="0">
              <a:buNone/>
            </a:pPr>
            <a:r>
              <a:rPr lang="en-US" sz="5600" b="1" dirty="0">
                <a:solidFill>
                  <a:srgbClr val="1B2A4A"/>
                </a:solidFill>
                <a:latin typeface="Cambria" pitchFamily="34" charset="0"/>
                <a:ea typeface="Cambria" pitchFamily="34" charset="-122"/>
                <a:cs typeface="Cambria" pitchFamily="34" charset="-120"/>
              </a:rPr>
              <a:t>梯队规划</a:t>
            </a:r>
            <a:endParaRPr lang="en-US" sz="5600" dirty="0"/>
          </a:p>
        </p:txBody>
      </p:sp>
      <p:sp>
        <p:nvSpPr>
          <p:cNvPr id="5" name="Text 3"/>
          <p:cNvSpPr/>
          <p:nvPr/>
        </p:nvSpPr>
        <p:spPr>
          <a:xfrm>
            <a:off x="822960" y="370332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让部门不再依赖任何一个人</a:t>
            </a:r>
            <a:endParaRPr lang="en-US" sz="2200" dirty="0"/>
          </a:p>
        </p:txBody>
      </p:sp>
      <p:sp>
        <p:nvSpPr>
          <p:cNvPr id="6" name="Shape 4"/>
          <p:cNvSpPr/>
          <p:nvPr/>
        </p:nvSpPr>
        <p:spPr>
          <a:xfrm>
            <a:off x="822960" y="4617720"/>
            <a:ext cx="7863840" cy="1280160"/>
          </a:xfrm>
          <a:prstGeom prst="roundRect">
            <a:avLst>
              <a:gd name="adj" fmla="val 5714"/>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617720"/>
            <a:ext cx="7223760" cy="1280160"/>
          </a:xfrm>
          <a:prstGeom prst="rect">
            <a:avLst/>
          </a:prstGeom>
          <a:noFill/>
          <a:ln/>
        </p:spPr>
        <p:txBody>
          <a:bodyPr wrap="square" lIns="0" tIns="0" rIns="0" bIns="0" rtlCol="0" anchor="ctr"/>
          <a:lstStyle/>
          <a:p>
            <a:pPr algn="l" indent="0" marL="0">
              <a:buNone/>
            </a:pPr>
            <a:r>
              <a:rPr lang="en-US" sz="1800" i="1" dirty="0">
                <a:solidFill>
                  <a:srgbClr val="1B2A4A"/>
                </a:solidFill>
                <a:latin typeface="Cambria" pitchFamily="34" charset="0"/>
                <a:ea typeface="Cambria" pitchFamily="34" charset="-122"/>
                <a:cs typeface="Cambria" pitchFamily="34" charset="-120"/>
              </a:rPr>
              <a:t>梯队规划，不是写一份名单，而是让部门不再依赖任何一个人。</a:t>
            </a:r>
            <a:endParaRPr lang="en-US" sz="18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现象</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同样做梯队规划，关键时刻一个管用一个不管用</a:t>
            </a:r>
            <a:endParaRPr lang="en-US" sz="2600" dirty="0"/>
          </a:p>
        </p:txBody>
      </p:sp>
      <p:sp>
        <p:nvSpPr>
          <p:cNvPr id="4" name="Shape 2"/>
          <p:cNvSpPr/>
          <p:nvPr/>
        </p:nvSpPr>
        <p:spPr>
          <a:xfrm>
            <a:off x="548640" y="1691640"/>
            <a:ext cx="5349240" cy="3246120"/>
          </a:xfrm>
          <a:prstGeom prst="roundRect">
            <a:avLst>
              <a:gd name="adj" fmla="val 2254"/>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O经理</a:t>
            </a:r>
            <a:endParaRPr lang="en-US" sz="2000" dirty="0"/>
          </a:p>
        </p:txBody>
      </p:sp>
      <p:sp>
        <p:nvSpPr>
          <p:cNvPr id="6" name="Shape 4"/>
          <p:cNvSpPr/>
          <p:nvPr/>
        </p:nvSpPr>
        <p:spPr>
          <a:xfrm>
            <a:off x="4389120" y="1984248"/>
            <a:ext cx="1188720" cy="292608"/>
          </a:xfrm>
          <a:prstGeom prst="roundRect">
            <a:avLst>
              <a:gd name="adj" fmla="val 18750"/>
            </a:avLst>
          </a:prstGeom>
          <a:solidFill>
            <a:srgbClr val="9C5536"/>
          </a:solidFill>
          <a:ln/>
        </p:spPr>
      </p:sp>
      <p:sp>
        <p:nvSpPr>
          <p:cNvPr id="7" name="Text 5"/>
          <p:cNvSpPr/>
          <p:nvPr/>
        </p:nvSpPr>
        <p:spPr>
          <a:xfrm>
            <a:off x="4389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纸面规划</a:t>
            </a:r>
            <a:endParaRPr lang="en-US" sz="1100" dirty="0"/>
          </a:p>
        </p:txBody>
      </p:sp>
      <p:sp>
        <p:nvSpPr>
          <p:cNvPr id="8" name="Text 6"/>
          <p:cNvSpPr/>
          <p:nvPr/>
        </p:nvSpPr>
        <p:spPr>
          <a:xfrm>
            <a:off x="868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每年年底认真填写一份梯队规划表格，列出每个关键岗位的候选接班人姓名，表格做得很完整。某次核心岗位主管突然因家庭原因离职，部门发现候选人从未真正独立处理过这个岗位的核心决策，临时顶上后状况频出，部门连续两个月运转混乱。</a:t>
            </a:r>
            <a:endParaRPr lang="en-US" sz="1350" dirty="0"/>
          </a:p>
        </p:txBody>
      </p:sp>
      <p:sp>
        <p:nvSpPr>
          <p:cNvPr id="9" name="Shape 7"/>
          <p:cNvSpPr/>
          <p:nvPr/>
        </p:nvSpPr>
        <p:spPr>
          <a:xfrm>
            <a:off x="6263640" y="1691640"/>
            <a:ext cx="5349240" cy="3246120"/>
          </a:xfrm>
          <a:prstGeom prst="roundRect">
            <a:avLst>
              <a:gd name="adj" fmla="val 2254"/>
            </a:avLst>
          </a:prstGeom>
          <a:solidFill>
            <a:srgbClr val="EEF2EE"/>
          </a:solidFill>
          <a:ln/>
          <a:effectLst>
            <a:outerShdw sx="100000" sy="100000" kx="0" ky="0" algn="bl" rotWithShape="0" blurRad="101600" dist="38100" dir="5400000">
              <a:srgbClr val="1B2A4A">
                <a:alpha val="10000"/>
              </a:srgbClr>
            </a:outerShdw>
          </a:effectLst>
        </p:spPr>
      </p:sp>
      <p:sp>
        <p:nvSpPr>
          <p:cNvPr id="10" name="Text 8"/>
          <p:cNvSpPr/>
          <p:nvPr/>
        </p:nvSpPr>
        <p:spPr>
          <a:xfrm>
            <a:off x="6583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P经理</a:t>
            </a:r>
            <a:endParaRPr lang="en-US" sz="2000" dirty="0"/>
          </a:p>
        </p:txBody>
      </p:sp>
      <p:sp>
        <p:nvSpPr>
          <p:cNvPr id="11" name="Shape 9"/>
          <p:cNvSpPr/>
          <p:nvPr/>
        </p:nvSpPr>
        <p:spPr>
          <a:xfrm>
            <a:off x="10104120" y="1984248"/>
            <a:ext cx="1188720" cy="292608"/>
          </a:xfrm>
          <a:prstGeom prst="roundRect">
            <a:avLst>
              <a:gd name="adj" fmla="val 18750"/>
            </a:avLst>
          </a:prstGeom>
          <a:solidFill>
            <a:srgbClr val="4F6F52"/>
          </a:solidFill>
          <a:ln/>
        </p:spPr>
      </p:sp>
      <p:sp>
        <p:nvSpPr>
          <p:cNvPr id="12" name="Text 10"/>
          <p:cNvSpPr/>
          <p:nvPr/>
        </p:nvSpPr>
        <p:spPr>
          <a:xfrm>
            <a:off x="10104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真实验证</a:t>
            </a:r>
            <a:endParaRPr lang="en-US" sz="1100" dirty="0"/>
          </a:p>
        </p:txBody>
      </p:sp>
      <p:sp>
        <p:nvSpPr>
          <p:cNvPr id="13" name="Text 11"/>
          <p:cNvSpPr/>
          <p:nvPr/>
        </p:nvSpPr>
        <p:spPr>
          <a:xfrm>
            <a:off x="6583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同样每年更新梯队规划表格，但表格之外，他持续给候选人安排匹配难度的代理机会和真实曝光场合。某次核心岗位主管休产假三个月，候选人提前已独立代理过类似场景两次，顶上后部门运转几乎没有受到影响。</a:t>
            </a:r>
            <a:endParaRPr lang="en-US" sz="1350" dirty="0"/>
          </a:p>
        </p:txBody>
      </p:sp>
      <p:sp>
        <p:nvSpPr>
          <p:cNvPr id="14" name="Shape 12"/>
          <p:cNvSpPr/>
          <p:nvPr/>
        </p:nvSpPr>
        <p:spPr>
          <a:xfrm>
            <a:off x="548640" y="5166360"/>
            <a:ext cx="110642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15" name="Text 13"/>
          <p:cNvSpPr/>
          <p:nvPr/>
        </p:nvSpPr>
        <p:spPr>
          <a:xfrm>
            <a:off x="868680" y="5166360"/>
            <a:ext cx="10424160" cy="914400"/>
          </a:xfrm>
          <a:prstGeom prst="rect">
            <a:avLst/>
          </a:prstGeom>
          <a:noFill/>
          <a:ln/>
        </p:spPr>
        <p:txBody>
          <a:bodyPr wrap="square" lIns="0" tIns="0" rIns="0" bIns="0" rtlCol="0" anchor="ctr"/>
          <a:lstStyle/>
          <a:p>
            <a:pPr algn="l" indent="0" marL="0">
              <a:buNone/>
            </a:pPr>
            <a:r>
              <a:rPr lang="en-US" sz="1550" i="1" dirty="0">
                <a:solidFill>
                  <a:srgbClr val="1B2A4A"/>
                </a:solidFill>
                <a:latin typeface="Cambria" pitchFamily="34" charset="0"/>
                <a:ea typeface="Cambria" pitchFamily="34" charset="-122"/>
                <a:cs typeface="Cambria" pitchFamily="34" charset="-120"/>
              </a:rPr>
              <a:t>两人都「做了」梯队规划，为什么一个是摆设、一个是真正的组织资产？</a:t>
            </a:r>
            <a:endParaRPr lang="en-US" sz="1550" dirty="0"/>
          </a:p>
        </p:txBody>
      </p:sp>
      <p:sp>
        <p:nvSpPr>
          <p:cNvPr id="16" name="Text 1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17" name="Text 1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问题</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梯队规划的失败，往往不是发现得太晚，而是验证得太晚</a:t>
            </a:r>
            <a:endParaRPr lang="en-US" sz="2500" dirty="0"/>
          </a:p>
        </p:txBody>
      </p:sp>
      <p:sp>
        <p:nvSpPr>
          <p:cNvPr id="4" name="Text 2"/>
          <p:cNvSpPr/>
          <p:nvPr/>
        </p:nvSpPr>
        <p:spPr>
          <a:xfrm>
            <a:off x="548640" y="1783080"/>
            <a:ext cx="11064240" cy="960120"/>
          </a:xfrm>
          <a:prstGeom prst="rect">
            <a:avLst/>
          </a:prstGeom>
          <a:noFill/>
          <a:ln/>
        </p:spPr>
        <p:txBody>
          <a:bodyPr wrap="square" lIns="0" tIns="0" rIns="0" bIns="0" rtlCol="0" anchor="ctr"/>
          <a:lstStyle/>
          <a:p>
            <a:pPr indent="0" marL="0">
              <a:lnSpc>
                <a:spcPct val="130000"/>
              </a:lnSpc>
              <a:buNone/>
            </a:pPr>
            <a:r>
              <a:rPr lang="en-US" sz="1400" dirty="0">
                <a:solidFill>
                  <a:srgbClr val="33363B"/>
                </a:solidFill>
                <a:latin typeface="Calibri" pitchFamily="34" charset="0"/>
                <a:ea typeface="Calibri" pitchFamily="34" charset="-122"/>
                <a:cs typeface="Calibri" pitchFamily="34" charset="-120"/>
              </a:rPr>
              <a:t>部门经理通常把梯队规划当成一项年度行政任务——填表、盘点、存档，却很少意识到，一份从未经过真实验证的梯队名单，和没有梯队规划几乎没有区别，区别只在于看起来有备份。</a:t>
            </a:r>
            <a:endParaRPr lang="en-US" sz="1400" dirty="0"/>
          </a:p>
        </p:txBody>
      </p:sp>
      <p:sp>
        <p:nvSpPr>
          <p:cNvPr id="5" name="Shape 3"/>
          <p:cNvSpPr/>
          <p:nvPr/>
        </p:nvSpPr>
        <p:spPr>
          <a:xfrm>
            <a:off x="548640" y="283464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6" name="Text 4"/>
          <p:cNvSpPr/>
          <p:nvPr/>
        </p:nvSpPr>
        <p:spPr>
          <a:xfrm>
            <a:off x="868680" y="2971800"/>
            <a:ext cx="10424160" cy="896112"/>
          </a:xfrm>
          <a:prstGeom prst="rect">
            <a:avLst/>
          </a:prstGeom>
          <a:noFill/>
          <a:ln/>
        </p:spPr>
        <p:txBody>
          <a:bodyPr wrap="square" lIns="0" tIns="0" rIns="0" bIns="0" rtlCol="0" anchor="ctr"/>
          <a:lstStyle/>
          <a:p>
            <a:pPr indent="0" marL="0">
              <a:lnSpc>
                <a:spcPct val="120000"/>
              </a:lnSpc>
              <a:buNone/>
            </a:pPr>
            <a:r>
              <a:rPr lang="en-US" sz="1450" i="1" dirty="0">
                <a:solidFill>
                  <a:srgbClr val="1B2A4A"/>
                </a:solidFill>
                <a:latin typeface="Cambria" pitchFamily="34" charset="0"/>
                <a:ea typeface="Cambria" pitchFamily="34" charset="-122"/>
                <a:cs typeface="Cambria" pitchFamily="34" charset="-120"/>
              </a:rPr>
              <a:t>本模块要建立的认知：梯队规划的价值不在于名单写得多完整，而在于名单上的每个人是否真的在真实场景里被验证过具备接任的能力——这是一种风险对冲机制，而不是一份行政文档。</a:t>
            </a:r>
            <a:endParaRPr lang="en-US" sz="1450" dirty="0"/>
          </a:p>
        </p:txBody>
      </p:sp>
      <p:sp>
        <p:nvSpPr>
          <p:cNvPr id="7" name="Text 5"/>
          <p:cNvSpPr/>
          <p:nvPr/>
        </p:nvSpPr>
        <p:spPr>
          <a:xfrm>
            <a:off x="548640" y="4206240"/>
            <a:ext cx="5486400" cy="320040"/>
          </a:xfrm>
          <a:prstGeom prst="rect">
            <a:avLst/>
          </a:prstGeom>
          <a:noFill/>
          <a:ln/>
        </p:spPr>
        <p:txBody>
          <a:bodyPr wrap="square" lIns="0" tIns="0" rIns="0" bIns="0" rtlCol="0" anchor="ctr"/>
          <a:lstStyle/>
          <a:p>
            <a:pPr indent="0" marL="0">
              <a:buNone/>
            </a:pPr>
            <a:r>
              <a:rPr lang="en-US" sz="1250" b="1" spc="100" kern="0" dirty="0">
                <a:solidFill>
                  <a:srgbClr val="9C5536"/>
                </a:solidFill>
                <a:latin typeface="Calibri" pitchFamily="34" charset="0"/>
                <a:ea typeface="Calibri" pitchFamily="34" charset="-122"/>
                <a:cs typeface="Calibri" pitchFamily="34" charset="-120"/>
              </a:rPr>
              <a:t>本讲将回答三个问题</a:t>
            </a:r>
            <a:endParaRPr lang="en-US" sz="1250" dirty="0"/>
          </a:p>
        </p:txBody>
      </p:sp>
      <p:sp>
        <p:nvSpPr>
          <p:cNvPr id="8" name="Shape 6"/>
          <p:cNvSpPr/>
          <p:nvPr/>
        </p:nvSpPr>
        <p:spPr>
          <a:xfrm>
            <a:off x="548640" y="4572000"/>
            <a:ext cx="420624" cy="420624"/>
          </a:xfrm>
          <a:prstGeom prst="ellipse">
            <a:avLst/>
          </a:prstGeom>
          <a:solidFill>
            <a:srgbClr val="9C5536"/>
          </a:solidFill>
          <a:ln/>
        </p:spPr>
      </p:sp>
      <p:sp>
        <p:nvSpPr>
          <p:cNvPr id="9" name="Text 7"/>
          <p:cNvSpPr/>
          <p:nvPr/>
        </p:nvSpPr>
        <p:spPr>
          <a:xfrm>
            <a:off x="548640"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43000" y="4544568"/>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为什么一份认真填写的梯队规划表格，关键时刻可能完全不管用？</a:t>
            </a:r>
            <a:endParaRPr lang="en-US" sz="1350" dirty="0"/>
          </a:p>
        </p:txBody>
      </p:sp>
      <p:sp>
        <p:nvSpPr>
          <p:cNvPr id="11" name="Shape 9"/>
          <p:cNvSpPr/>
          <p:nvPr/>
        </p:nvSpPr>
        <p:spPr>
          <a:xfrm>
            <a:off x="548640" y="5248656"/>
            <a:ext cx="420624" cy="420624"/>
          </a:xfrm>
          <a:prstGeom prst="ellipse">
            <a:avLst/>
          </a:prstGeom>
          <a:solidFill>
            <a:srgbClr val="9C5536"/>
          </a:solidFill>
          <a:ln/>
        </p:spPr>
      </p:sp>
      <p:sp>
        <p:nvSpPr>
          <p:cNvPr id="12" name="Text 10"/>
          <p:cNvSpPr/>
          <p:nvPr/>
        </p:nvSpPr>
        <p:spPr>
          <a:xfrm>
            <a:off x="548640" y="52486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143000" y="5221224"/>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梯队规划具体该怎么操作，才能让候选人真正具备接任能力？</a:t>
            </a:r>
            <a:endParaRPr lang="en-US" sz="1350" dirty="0"/>
          </a:p>
        </p:txBody>
      </p:sp>
      <p:sp>
        <p:nvSpPr>
          <p:cNvPr id="14" name="Shape 12"/>
          <p:cNvSpPr/>
          <p:nvPr/>
        </p:nvSpPr>
        <p:spPr>
          <a:xfrm>
            <a:off x="548640" y="5925312"/>
            <a:ext cx="420624" cy="420624"/>
          </a:xfrm>
          <a:prstGeom prst="ellipse">
            <a:avLst/>
          </a:prstGeom>
          <a:solidFill>
            <a:srgbClr val="9C5536"/>
          </a:solidFill>
          <a:ln/>
        </p:spPr>
      </p:sp>
      <p:sp>
        <p:nvSpPr>
          <p:cNvPr id="15" name="Text 13"/>
          <p:cNvSpPr/>
          <p:nvPr/>
        </p:nvSpPr>
        <p:spPr>
          <a:xfrm>
            <a:off x="548640" y="5925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143000" y="5897880"/>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什么时候不该急着把某个人放进梯队候选名单？</a:t>
            </a:r>
            <a:endParaRPr lang="en-US" sz="135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梯队规划的本质——从「人才盘点」到「风险对冲」</a:t>
            </a:r>
            <a:endParaRPr lang="en-US" sz="2700" dirty="0"/>
          </a:p>
        </p:txBody>
      </p:sp>
      <p:sp>
        <p:nvSpPr>
          <p:cNvPr id="4" name="Shape 2"/>
          <p:cNvSpPr/>
          <p:nvPr/>
        </p:nvSpPr>
        <p:spPr>
          <a:xfrm>
            <a:off x="548640" y="1627632"/>
            <a:ext cx="11064240" cy="1051560"/>
          </a:xfrm>
          <a:prstGeom prst="roundRect">
            <a:avLst>
              <a:gd name="adj" fmla="val 6957"/>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00784"/>
            <a:ext cx="10424160" cy="50292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关键决策或能力完全集中在一个人身上，就形成了「单点故障」</a:t>
            </a:r>
            <a:endParaRPr lang="en-US" sz="1700" dirty="0"/>
          </a:p>
        </p:txBody>
      </p:sp>
      <p:sp>
        <p:nvSpPr>
          <p:cNvPr id="6" name="Text 4"/>
          <p:cNvSpPr/>
          <p:nvPr/>
        </p:nvSpPr>
        <p:spPr>
          <a:xfrm>
            <a:off x="868680" y="2176272"/>
            <a:ext cx="10424160" cy="457200"/>
          </a:xfrm>
          <a:prstGeom prst="rect">
            <a:avLst/>
          </a:prstGeom>
          <a:noFill/>
          <a:ln/>
        </p:spPr>
        <p:txBody>
          <a:bodyPr wrap="square" lIns="0" tIns="0" rIns="0" bIns="0" rtlCol="0" anchor="ctr"/>
          <a:lstStyle/>
          <a:p>
            <a:pPr indent="0" marL="0">
              <a:buNone/>
            </a:pPr>
            <a:r>
              <a:rPr lang="en-US" sz="1200" i="1" dirty="0">
                <a:solidFill>
                  <a:srgbClr val="7C7F84"/>
                </a:solidFill>
                <a:latin typeface="Calibri" pitchFamily="34" charset="0"/>
                <a:ea typeface="Calibri" pitchFamily="34" charset="-122"/>
                <a:cs typeface="Calibri" pitchFamily="34" charset="-120"/>
              </a:rPr>
              <a:t>这个人一旦离开、晋升或短期不可用，部门就会陷入真空——这是梯队规划真正要对冲的风险。</a:t>
            </a:r>
            <a:endParaRPr lang="en-US" sz="1200" dirty="0"/>
          </a:p>
        </p:txBody>
      </p:sp>
      <p:sp>
        <p:nvSpPr>
          <p:cNvPr id="7" name="Shape 5"/>
          <p:cNvSpPr/>
          <p:nvPr/>
        </p:nvSpPr>
        <p:spPr>
          <a:xfrm>
            <a:off x="548640"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8" name="Shape 6"/>
          <p:cNvSpPr/>
          <p:nvPr/>
        </p:nvSpPr>
        <p:spPr>
          <a:xfrm>
            <a:off x="822960" y="3200400"/>
            <a:ext cx="420624" cy="420624"/>
          </a:xfrm>
          <a:prstGeom prst="ellipse">
            <a:avLst/>
          </a:prstGeom>
          <a:solidFill>
            <a:srgbClr val="1B2A4A"/>
          </a:solidFill>
          <a:ln/>
        </p:spPr>
      </p:sp>
      <p:sp>
        <p:nvSpPr>
          <p:cNvPr id="9" name="Text 7"/>
          <p:cNvSpPr/>
          <p:nvPr/>
        </p:nvSpPr>
        <p:spPr>
          <a:xfrm>
            <a:off x="822960"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单点故障的隐蔽性</a:t>
            </a:r>
            <a:endParaRPr lang="en-US" sz="1600" dirty="0"/>
          </a:p>
        </p:txBody>
      </p:sp>
      <p:sp>
        <p:nvSpPr>
          <p:cNvPr id="11" name="Text 9"/>
          <p:cNvSpPr/>
          <p:nvPr/>
        </p:nvSpPr>
        <p:spPr>
          <a:xfrm>
            <a:off x="822960"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日常运转顺利时，单点故障很难被察觉，因为关键人始终在场，风险被掩盖在表面的平稳之下，直到这个人真正缺位，风险才会集中爆发。</a:t>
            </a:r>
            <a:endParaRPr lang="en-US" sz="1200" dirty="0"/>
          </a:p>
        </p:txBody>
      </p:sp>
      <p:sp>
        <p:nvSpPr>
          <p:cNvPr id="12" name="Shape 10"/>
          <p:cNvSpPr/>
          <p:nvPr/>
        </p:nvSpPr>
        <p:spPr>
          <a:xfrm>
            <a:off x="6208776"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6483096" y="3200400"/>
            <a:ext cx="420624" cy="420624"/>
          </a:xfrm>
          <a:prstGeom prst="ellipse">
            <a:avLst/>
          </a:prstGeom>
          <a:solidFill>
            <a:srgbClr val="1B2A4A"/>
          </a:solidFill>
          <a:ln/>
        </p:spPr>
      </p:sp>
      <p:sp>
        <p:nvSpPr>
          <p:cNvPr id="14" name="Text 12"/>
          <p:cNvSpPr/>
          <p:nvPr/>
        </p:nvSpPr>
        <p:spPr>
          <a:xfrm>
            <a:off x="6483096"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077456"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风险对冲而非名单完整性</a:t>
            </a:r>
            <a:endParaRPr lang="en-US" sz="1600" dirty="0"/>
          </a:p>
        </p:txBody>
      </p:sp>
      <p:sp>
        <p:nvSpPr>
          <p:cNvPr id="16" name="Text 14"/>
          <p:cNvSpPr/>
          <p:nvPr/>
        </p:nvSpPr>
        <p:spPr>
          <a:xfrm>
            <a:off x="6483096"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梯队规划真正要解决的，是把集中在少数人身上的关键能力分散、复制到多个候选人身上，重点是能力分布是否对冲了单点故障的风险。</a:t>
            </a:r>
            <a:endParaRPr lang="en-US" sz="12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梯队规划的三个动作</a:t>
            </a:r>
            <a:endParaRPr lang="en-US" sz="2700" dirty="0"/>
          </a:p>
        </p:txBody>
      </p:sp>
      <p:sp>
        <p:nvSpPr>
          <p:cNvPr id="4" name="Text 2"/>
          <p:cNvSpPr/>
          <p:nvPr/>
        </p:nvSpPr>
        <p:spPr>
          <a:xfrm>
            <a:off x="548640" y="1627632"/>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33363B"/>
                </a:solidFill>
                <a:latin typeface="Calibri" pitchFamily="34" charset="0"/>
                <a:ea typeface="Calibri" pitchFamily="34" charset="-122"/>
                <a:cs typeface="Calibri" pitchFamily="34" charset="-120"/>
              </a:rPr>
              <a:t>梯队规划不是填一张表格，而是一个结构化的三步，每一步都对应着把纸面上的潜力转化为真实可用的接任能力的具体动作。</a:t>
            </a:r>
            <a:endParaRPr lang="en-US" sz="1350" dirty="0"/>
          </a:p>
        </p:txBody>
      </p:sp>
      <p:sp>
        <p:nvSpPr>
          <p:cNvPr id="5" name="Shape 3"/>
          <p:cNvSpPr/>
          <p:nvPr/>
        </p:nvSpPr>
        <p:spPr>
          <a:xfrm>
            <a:off x="548640" y="251460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6" name="Shape 4"/>
          <p:cNvSpPr/>
          <p:nvPr/>
        </p:nvSpPr>
        <p:spPr>
          <a:xfrm>
            <a:off x="822960" y="2770632"/>
            <a:ext cx="1188720" cy="292608"/>
          </a:xfrm>
          <a:prstGeom prst="roundRect">
            <a:avLst>
              <a:gd name="adj" fmla="val 18750"/>
            </a:avLst>
          </a:prstGeom>
          <a:solidFill>
            <a:srgbClr val="9C5536"/>
          </a:solidFill>
          <a:ln/>
        </p:spPr>
      </p:sp>
      <p:sp>
        <p:nvSpPr>
          <p:cNvPr id="7" name="Text 5"/>
          <p:cNvSpPr/>
          <p:nvPr/>
        </p:nvSpPr>
        <p:spPr>
          <a:xfrm>
            <a:off x="822960" y="277063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1</a:t>
            </a:r>
            <a:endParaRPr lang="en-US" sz="1100" dirty="0"/>
          </a:p>
        </p:txBody>
      </p:sp>
      <p:sp>
        <p:nvSpPr>
          <p:cNvPr id="8" name="Text 6"/>
          <p:cNvSpPr/>
          <p:nvPr/>
        </p:nvSpPr>
        <p:spPr>
          <a:xfrm>
            <a:off x="2240280" y="271576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识别关键节点而非关键人</a:t>
            </a:r>
            <a:endParaRPr lang="en-US" sz="1500" dirty="0"/>
          </a:p>
        </p:txBody>
      </p:sp>
      <p:sp>
        <p:nvSpPr>
          <p:cNvPr id="9" name="Text 7"/>
          <p:cNvSpPr/>
          <p:nvPr/>
        </p:nvSpPr>
        <p:spPr>
          <a:xfrm>
            <a:off x="822960" y="313639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先找出哪些决策或能力是部门不可或缺的关键节点，而不是先问「谁是接班人」，避免把梯队规划做成简单的人员静态匹配游戏。</a:t>
            </a:r>
            <a:endParaRPr lang="en-US" sz="1200" dirty="0"/>
          </a:p>
        </p:txBody>
      </p:sp>
      <p:sp>
        <p:nvSpPr>
          <p:cNvPr id="10" name="Shape 8"/>
          <p:cNvSpPr/>
          <p:nvPr/>
        </p:nvSpPr>
        <p:spPr>
          <a:xfrm>
            <a:off x="548640" y="397764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1" name="Shape 9"/>
          <p:cNvSpPr/>
          <p:nvPr/>
        </p:nvSpPr>
        <p:spPr>
          <a:xfrm>
            <a:off x="822960" y="4233672"/>
            <a:ext cx="1188720" cy="292608"/>
          </a:xfrm>
          <a:prstGeom prst="roundRect">
            <a:avLst>
              <a:gd name="adj" fmla="val 18750"/>
            </a:avLst>
          </a:prstGeom>
          <a:solidFill>
            <a:srgbClr val="9C5536"/>
          </a:solidFill>
          <a:ln/>
        </p:spPr>
      </p:sp>
      <p:sp>
        <p:nvSpPr>
          <p:cNvPr id="12" name="Text 10"/>
          <p:cNvSpPr/>
          <p:nvPr/>
        </p:nvSpPr>
        <p:spPr>
          <a:xfrm>
            <a:off x="822960" y="423367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2</a:t>
            </a:r>
            <a:endParaRPr lang="en-US" sz="1100" dirty="0"/>
          </a:p>
        </p:txBody>
      </p:sp>
      <p:sp>
        <p:nvSpPr>
          <p:cNvPr id="13" name="Text 11"/>
          <p:cNvSpPr/>
          <p:nvPr/>
        </p:nvSpPr>
        <p:spPr>
          <a:xfrm>
            <a:off x="2240280" y="417880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用真实曝光积累可信度</a:t>
            </a:r>
            <a:endParaRPr lang="en-US" sz="1500" dirty="0"/>
          </a:p>
        </p:txBody>
      </p:sp>
      <p:sp>
        <p:nvSpPr>
          <p:cNvPr id="14" name="Text 12"/>
          <p:cNvSpPr/>
          <p:nvPr/>
        </p:nvSpPr>
        <p:spPr>
          <a:xfrm>
            <a:off x="822960" y="459943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梯队规划不能只靠纸面评估，要靠持续给候选人匹配难度的真实曝光机会，让组织对这个人的判断有真实依据。</a:t>
            </a:r>
            <a:endParaRPr lang="en-US" sz="1200" dirty="0"/>
          </a:p>
        </p:txBody>
      </p:sp>
      <p:sp>
        <p:nvSpPr>
          <p:cNvPr id="15" name="Shape 13"/>
          <p:cNvSpPr/>
          <p:nvPr/>
        </p:nvSpPr>
        <p:spPr>
          <a:xfrm>
            <a:off x="548640" y="544068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6" name="Shape 14"/>
          <p:cNvSpPr/>
          <p:nvPr/>
        </p:nvSpPr>
        <p:spPr>
          <a:xfrm>
            <a:off x="822960" y="5696712"/>
            <a:ext cx="1188720" cy="292608"/>
          </a:xfrm>
          <a:prstGeom prst="roundRect">
            <a:avLst>
              <a:gd name="adj" fmla="val 18750"/>
            </a:avLst>
          </a:prstGeom>
          <a:solidFill>
            <a:srgbClr val="9C5536"/>
          </a:solidFill>
          <a:ln/>
        </p:spPr>
      </p:sp>
      <p:sp>
        <p:nvSpPr>
          <p:cNvPr id="17" name="Text 15"/>
          <p:cNvSpPr/>
          <p:nvPr/>
        </p:nvSpPr>
        <p:spPr>
          <a:xfrm>
            <a:off x="822960" y="56967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3</a:t>
            </a:r>
            <a:endParaRPr lang="en-US" sz="1100" dirty="0"/>
          </a:p>
        </p:txBody>
      </p:sp>
      <p:sp>
        <p:nvSpPr>
          <p:cNvPr id="18" name="Text 16"/>
          <p:cNvSpPr/>
          <p:nvPr/>
        </p:nvSpPr>
        <p:spPr>
          <a:xfrm>
            <a:off x="2240280" y="564184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主动制造压力测试</a:t>
            </a:r>
            <a:endParaRPr lang="en-US" sz="1500" dirty="0"/>
          </a:p>
        </p:txBody>
      </p:sp>
      <p:sp>
        <p:nvSpPr>
          <p:cNvPr id="19" name="Text 17"/>
          <p:cNvSpPr/>
          <p:nvPr/>
        </p:nvSpPr>
        <p:spPr>
          <a:xfrm>
            <a:off x="822960" y="606247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安排候选人短期代理关键岗位、独立处理一次有一定风险的任务，提前在低风险窗口暴露真实短板，而不是等到真正接班那一刻才发现问题。</a:t>
            </a:r>
            <a:endParaRPr lang="en-US" sz="12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21" name="Text 19"/>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边界反例</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什么时候不该急着把某个人放进梯队候选名单</a:t>
            </a:r>
            <a:endParaRPr lang="en-US" sz="2700" dirty="0"/>
          </a:p>
        </p:txBody>
      </p:sp>
      <p:sp>
        <p:nvSpPr>
          <p:cNvPr id="4" name="Shape 2"/>
          <p:cNvSpPr/>
          <p:nvPr/>
        </p:nvSpPr>
        <p:spPr>
          <a:xfrm>
            <a:off x="548640" y="1627632"/>
            <a:ext cx="11064240" cy="1691640"/>
          </a:xfrm>
          <a:prstGeom prst="roundRect">
            <a:avLst>
              <a:gd name="adj" fmla="val 432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83080"/>
            <a:ext cx="1828800" cy="320040"/>
          </a:xfrm>
          <a:prstGeom prst="rect">
            <a:avLst/>
          </a:prstGeom>
          <a:noFill/>
          <a:ln/>
        </p:spPr>
        <p:txBody>
          <a:bodyPr wrap="square" lIns="0" tIns="0" rIns="0" bIns="0" rtlCol="0" anchor="ctr"/>
          <a:lstStyle/>
          <a:p>
            <a:pPr indent="0" marL="0">
              <a:buNone/>
            </a:pPr>
            <a:r>
              <a:rPr lang="en-US" sz="1200" b="1" spc="100" kern="0" dirty="0">
                <a:solidFill>
                  <a:srgbClr val="4F6F52"/>
                </a:solidFill>
                <a:latin typeface="Calibri" pitchFamily="34" charset="0"/>
                <a:ea typeface="Calibri" pitchFamily="34" charset="-122"/>
                <a:cs typeface="Calibri" pitchFamily="34" charset="-120"/>
              </a:rPr>
              <a:t>场景</a:t>
            </a:r>
            <a:endParaRPr lang="en-US" sz="1200" dirty="0"/>
          </a:p>
        </p:txBody>
      </p:sp>
      <p:sp>
        <p:nvSpPr>
          <p:cNvPr id="6" name="Text 4"/>
          <p:cNvSpPr/>
          <p:nvPr/>
        </p:nvSpPr>
        <p:spPr>
          <a:xfrm>
            <a:off x="868680" y="2103120"/>
            <a:ext cx="10424160" cy="1143000"/>
          </a:xfrm>
          <a:prstGeom prst="rect">
            <a:avLst/>
          </a:prstGeom>
          <a:noFill/>
          <a:ln/>
        </p:spPr>
        <p:txBody>
          <a:bodyPr wrap="square" lIns="0" tIns="0" rIns="0" bIns="0" rtlCol="0" anchor="t"/>
          <a:lstStyle/>
          <a:p>
            <a:pPr indent="0" marL="0">
              <a:lnSpc>
                <a:spcPct val="125000"/>
              </a:lnSpc>
              <a:buNone/>
            </a:pPr>
            <a:r>
              <a:rPr lang="en-US" sz="1300" dirty="0">
                <a:solidFill>
                  <a:srgbClr val="33363B"/>
                </a:solidFill>
                <a:latin typeface="Calibri" pitchFamily="34" charset="0"/>
                <a:ea typeface="Calibri" pitchFamily="34" charset="-122"/>
                <a:cs typeface="Calibri" pitchFamily="34" charset="-120"/>
              </a:rPr>
              <a:t>某部门核心技术岗位暂时找不到合适的内部候选人，年底梯队规划盘点时，经理面临必须填一个名字的行政压力，于是把一位经验和能力都明显还不够的工程师列为候选人，只是为了让表格显得完整。</a:t>
            </a:r>
            <a:endParaRPr lang="en-US" sz="1300" dirty="0"/>
          </a:p>
        </p:txBody>
      </p:sp>
      <p:sp>
        <p:nvSpPr>
          <p:cNvPr id="7" name="Text 5"/>
          <p:cNvSpPr/>
          <p:nvPr/>
        </p:nvSpPr>
        <p:spPr>
          <a:xfrm>
            <a:off x="548640" y="3520440"/>
            <a:ext cx="11064240" cy="1005840"/>
          </a:xfrm>
          <a:prstGeom prst="rect">
            <a:avLst/>
          </a:prstGeom>
          <a:noFill/>
          <a:ln/>
        </p:spPr>
        <p:txBody>
          <a:bodyPr wrap="square" lIns="0" tIns="0" rIns="0" bIns="0" rtlCol="0" anchor="ctr"/>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梯队规划框架不是要求经理在任何情况下都必须凑出一个候选人名单，而是要求经理坦然承认能力缺口的存在。把一个能力明显不足的人匆忙放进候选名单，一旦后续真正需要这个人顶上时表现不理想，不仅部门面临风险，这个人自己的职业发展也会因为一次准备不足的「亮相」而受损。</a:t>
            </a:r>
            <a:endParaRPr lang="en-US" sz="1400" dirty="0"/>
          </a:p>
        </p:txBody>
      </p:sp>
      <p:sp>
        <p:nvSpPr>
          <p:cNvPr id="8" name="Shape 6"/>
          <p:cNvSpPr/>
          <p:nvPr/>
        </p:nvSpPr>
        <p:spPr>
          <a:xfrm>
            <a:off x="548640" y="4709160"/>
            <a:ext cx="11064240" cy="1188720"/>
          </a:xfrm>
          <a:prstGeom prst="roundRect">
            <a:avLst>
              <a:gd name="adj" fmla="val 6154"/>
            </a:avLst>
          </a:prstGeom>
          <a:solidFill>
            <a:srgbClr val="EEF1F6"/>
          </a:solidFill>
          <a:ln/>
          <a:effectLst>
            <a:outerShdw sx="100000" sy="100000" kx="0" ky="0" algn="bl" rotWithShape="0" blurRad="101600" dist="38100" dir="5400000">
              <a:srgbClr val="1B2A4A">
                <a:alpha val="10000"/>
              </a:srgbClr>
            </a:outerShdw>
          </a:effectLst>
        </p:spPr>
      </p:sp>
      <p:sp>
        <p:nvSpPr>
          <p:cNvPr id="9" name="Text 7"/>
          <p:cNvSpPr/>
          <p:nvPr/>
        </p:nvSpPr>
        <p:spPr>
          <a:xfrm>
            <a:off x="868680" y="4846320"/>
            <a:ext cx="36576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跨模块呼应</a:t>
            </a:r>
            <a:endParaRPr lang="en-US" sz="1100" dirty="0"/>
          </a:p>
        </p:txBody>
      </p:sp>
      <p:sp>
        <p:nvSpPr>
          <p:cNvPr id="10" name="Text 8"/>
          <p:cNvSpPr/>
          <p:nvPr/>
        </p:nvSpPr>
        <p:spPr>
          <a:xfrm>
            <a:off x="868680" y="5138928"/>
            <a:ext cx="10424160" cy="713232"/>
          </a:xfrm>
          <a:prstGeom prst="rect">
            <a:avLst/>
          </a:prstGeom>
          <a:noFill/>
          <a:ln/>
        </p:spPr>
        <p:txBody>
          <a:bodyPr wrap="square" lIns="0" tIns="0" rIns="0" bIns="0" rtlCol="0" anchor="t"/>
          <a:lstStyle/>
          <a:p>
            <a:pPr indent="0" marL="0">
              <a:lnSpc>
                <a:spcPct val="120000"/>
              </a:lnSpc>
              <a:buNone/>
            </a:pPr>
            <a:r>
              <a:rPr lang="en-US" sz="1250" dirty="0">
                <a:solidFill>
                  <a:srgbClr val="33363B"/>
                </a:solidFill>
                <a:latin typeface="Calibri" pitchFamily="34" charset="0"/>
                <a:ea typeface="Calibri" pitchFamily="34" charset="-122"/>
                <a:cs typeface="Calibri" pitchFamily="34" charset="-120"/>
              </a:rPr>
              <a:t>这种为了完成表格而硬凑名单的做法，比坦然承认梯队断层、寻求外部补充或推迟决策的代价更大——这一判断逻辑与层级二M5仲裁框架一脉相承：平均分配/硬凑名单看似完成了任务，实则是更大的失职。</a:t>
            </a:r>
            <a:endParaRPr lang="en-US" sz="12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机制解释</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为什么经理倾向于回避真正的梯队规划</a:t>
            </a:r>
            <a:endParaRPr lang="en-US" sz="2500" dirty="0"/>
          </a:p>
        </p:txBody>
      </p:sp>
      <p:sp>
        <p:nvSpPr>
          <p:cNvPr id="4" name="Shape 2"/>
          <p:cNvSpPr/>
          <p:nvPr/>
        </p:nvSpPr>
        <p:spPr>
          <a:xfrm>
            <a:off x="548640" y="1828800"/>
            <a:ext cx="5349240" cy="2834640"/>
          </a:xfrm>
          <a:prstGeom prst="roundRect">
            <a:avLst>
              <a:gd name="adj" fmla="val 2581"/>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2103120"/>
            <a:ext cx="4709160" cy="457200"/>
          </a:xfrm>
          <a:prstGeom prst="rect">
            <a:avLst/>
          </a:prstGeom>
          <a:noFill/>
          <a:ln/>
        </p:spPr>
        <p:txBody>
          <a:bodyPr wrap="square" lIns="0" tIns="0" rIns="0" bIns="0" rtlCol="0" anchor="ctr"/>
          <a:lstStyle/>
          <a:p>
            <a:pPr indent="0" marL="0">
              <a:buNone/>
            </a:pPr>
            <a:r>
              <a:rPr lang="en-US" sz="1700" b="1" dirty="0">
                <a:solidFill>
                  <a:srgbClr val="9C5536"/>
                </a:solidFill>
                <a:latin typeface="Cambria" pitchFamily="34" charset="0"/>
                <a:ea typeface="Cambria" pitchFamily="34" charset="-122"/>
                <a:cs typeface="Cambria" pitchFamily="34" charset="-120"/>
              </a:rPr>
              <a:t>自我替代的心理威胁</a:t>
            </a:r>
            <a:endParaRPr lang="en-US" sz="1700" dirty="0"/>
          </a:p>
        </p:txBody>
      </p:sp>
      <p:sp>
        <p:nvSpPr>
          <p:cNvPr id="6" name="Text 4"/>
          <p:cNvSpPr/>
          <p:nvPr/>
        </p:nvSpPr>
        <p:spPr>
          <a:xfrm>
            <a:off x="868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培养一个能完全接替自己的人，某种程度上意味着承认自己可以被替代，这对一些经理而言会触发隐性的不安全感，导致他们不自觉地避免真正投入精力培养潜在接班人，这与层级二M3机制解释中「可见度资本」被无意识占用是同一类心理结构的变体。</a:t>
            </a:r>
            <a:endParaRPr lang="en-US" sz="1250" dirty="0"/>
          </a:p>
        </p:txBody>
      </p:sp>
      <p:sp>
        <p:nvSpPr>
          <p:cNvPr id="7" name="Shape 5"/>
          <p:cNvSpPr/>
          <p:nvPr/>
        </p:nvSpPr>
        <p:spPr>
          <a:xfrm>
            <a:off x="6263640" y="1828800"/>
            <a:ext cx="5349240" cy="2834640"/>
          </a:xfrm>
          <a:prstGeom prst="roundRect">
            <a:avLst>
              <a:gd name="adj" fmla="val 2581"/>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6583680" y="2103120"/>
            <a:ext cx="470916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短期产出与长期投资的权衡</a:t>
            </a:r>
            <a:endParaRPr lang="en-US" sz="1700" dirty="0"/>
          </a:p>
        </p:txBody>
      </p:sp>
      <p:sp>
        <p:nvSpPr>
          <p:cNvPr id="9" name="Text 7"/>
          <p:cNvSpPr/>
          <p:nvPr/>
        </p:nvSpPr>
        <p:spPr>
          <a:xfrm>
            <a:off x="6583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梯队建设的产出周期很长，往往要一两年才能看到候选人真正具备独立胜任的能力，而部门日常的产出压力是即时的，经理在资源有限时本能地把精力投向能立刻看到效果的事情上，梯队规划因为反馈延迟，总是被排到优先级末位。</a:t>
            </a:r>
            <a:endParaRPr lang="en-US" sz="1250" dirty="0"/>
          </a:p>
        </p:txBody>
      </p:sp>
      <p:sp>
        <p:nvSpPr>
          <p:cNvPr id="10" name="Text 8"/>
          <p:cNvSpPr/>
          <p:nvPr/>
        </p:nvSpPr>
        <p:spPr>
          <a:xfrm>
            <a:off x="548640" y="4892040"/>
            <a:ext cx="11064240" cy="640080"/>
          </a:xfrm>
          <a:prstGeom prst="rect">
            <a:avLst/>
          </a:prstGeom>
          <a:noFill/>
          <a:ln/>
        </p:spPr>
        <p:txBody>
          <a:bodyPr wrap="square" lIns="0" tIns="0" rIns="0" bIns="0" rtlCol="0" anchor="ctr"/>
          <a:lstStyle/>
          <a:p>
            <a:pPr algn="l" indent="0" marL="0">
              <a:buNone/>
            </a:pPr>
            <a:r>
              <a:rPr lang="en-US" sz="1550" b="1" i="1" dirty="0">
                <a:solidFill>
                  <a:srgbClr val="1B2A4A"/>
                </a:solidFill>
                <a:latin typeface="Cambria" pitchFamily="34" charset="0"/>
                <a:ea typeface="Cambria" pitchFamily="34" charset="-122"/>
                <a:cs typeface="Cambria" pitchFamily="34" charset="-120"/>
              </a:rPr>
              <a:t>识别这种反馈延迟带来的优先级偏移本身，是梯队规划这件事真正的起点。</a:t>
            </a:r>
            <a:endParaRPr lang="en-US" sz="15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休产假的三个月，部门运转几乎没受影响</a:t>
            </a:r>
            <a:endParaRPr lang="en-US" sz="2300" dirty="0"/>
          </a:p>
        </p:txBody>
      </p:sp>
      <p:sp>
        <p:nvSpPr>
          <p:cNvPr id="4" name="Shape 2"/>
          <p:cNvSpPr/>
          <p:nvPr/>
        </p:nvSpPr>
        <p:spPr>
          <a:xfrm>
            <a:off x="548640" y="1737360"/>
            <a:ext cx="1188720" cy="292608"/>
          </a:xfrm>
          <a:prstGeom prst="roundRect">
            <a:avLst>
              <a:gd name="adj" fmla="val 18750"/>
            </a:avLst>
          </a:prstGeom>
          <a:solidFill>
            <a:srgbClr val="4F6F52"/>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正面案例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核心岗位主管休产假前，已经被经理安排独立代理过两次类似场景——一次是该主管临时出差期间，一次是部门刻意安排的为期两周的轮岗代理。休产假期间，这位候选人顺利接管核心岗位的日常决策，部门运转几乎没有受到影响，主管休假结束后，这位候选人也因为这段经历的积累，在后续的内部竞聘中脱颖而出。</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表格上的名字，关键时刻顶不上去</a:t>
            </a:r>
            <a:endParaRPr lang="en-US" sz="2300" dirty="0"/>
          </a:p>
        </p:txBody>
      </p:sp>
      <p:sp>
        <p:nvSpPr>
          <p:cNvPr id="4" name="Shape 2"/>
          <p:cNvSpPr/>
          <p:nvPr/>
        </p:nvSpPr>
        <p:spPr>
          <a:xfrm>
            <a:off x="548640" y="1737360"/>
            <a:ext cx="1188720" cy="292608"/>
          </a:xfrm>
          <a:prstGeom prst="roundRect">
            <a:avLst>
              <a:gd name="adj" fmla="val 18750"/>
            </a:avLst>
          </a:prstGeom>
          <a:solidFill>
            <a:srgbClr val="9C5536"/>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反面案例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每年认真填写梯队规划表格，但从未给候选人安排过真实的代理机会。核心岗位主管因家庭原因突然离职，部门按表格找到候选人顶上，但这位候选人此前从未独立处理过这个岗位的核心决策，状况频出，部门连续两个月运转混乱，最终不得不从外部紧急招聘补位。</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3</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宁可承认断层，也不硬凑名单</a:t>
            </a:r>
            <a:endParaRPr lang="en-US" sz="2300" dirty="0"/>
          </a:p>
        </p:txBody>
      </p:sp>
      <p:sp>
        <p:nvSpPr>
          <p:cNvPr id="4" name="Shape 2"/>
          <p:cNvSpPr/>
          <p:nvPr/>
        </p:nvSpPr>
        <p:spPr>
          <a:xfrm>
            <a:off x="548640" y="1737360"/>
            <a:ext cx="1188720" cy="292608"/>
          </a:xfrm>
          <a:prstGeom prst="roundRect">
            <a:avLst>
              <a:gd name="adj" fmla="val 18750"/>
            </a:avLst>
          </a:prstGeom>
          <a:solidFill>
            <a:srgbClr val="8A6D1F"/>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边界场景</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核心技术岗位年底盘点时确实找不到合适的内部候选人，经理没有为了完成表格硬塞一个能力不足的名字，而是如实向上级报告这个岗位存在梯队断层，并提出了外部招聘补充的计划。这个决定短期看让部门的梯队规划报告不完整，但避免了后续可能出现的更大风险，也保护了那位原本可能被仓促推上候选人位置的工程师。</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「表格填完了」就是梯队规划做完了</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很多经理把年度梯队规划等同于填写一份名单表格，但反面案例已经说明，一份从未经过真实验证的名单，关键时刻往往完全不管用，真正的梯队规划是理论框架二里持续的曝光和压力测试，而不是一次性的行政动作。</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候选人越多越好</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些经理认为梯队候选名单上的名字越多，部门的人才储备看起来就越充足，但理论框架一已经说明，梯队规划真正要解决的是风险对冲而不是名单的完整性或数量，几个真正经过验证、能力可信的候选人，远比一长串从未被测试过的名字更有价值。</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给舞台与给方法，是梯队规划真正落地的两个抓手</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层级二M3《给舞台》和M4《给方法》分别提供了候选人可信度积累所需的两个要素——持续的真实曝光机会和可迁移的判断方法。没有这两个抓手的日常积累，梯队规划文档上的名字永远只是停留在纸面上的潜力，不会真正转化为组织看得见、信得过的能力，这正是理论框架二第二步「用真实曝光积累候选人的可信度」的具体来源。</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梯队规划是部门反脆弱能力的终极体现</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呼应层级二M1延伸视角的「反脆弱检验」：一个部门梯队规划是否真正起作用，最终极的检验标准是——当任何一个关键岗位的人突然离开，部门能不能在短时间内找到候选人顶上，而不至于陷入混乱。这是部门作为一个组织系统能不能不依赖任何单一个体持续运转的终极证明，也是M3给舞台和M4给方法这两个日常抓手最终要服务的目标。</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总结</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三层框架回顾</a:t>
            </a:r>
            <a:endParaRPr lang="en-US" sz="2700" dirty="0"/>
          </a:p>
        </p:txBody>
      </p:sp>
      <p:sp>
        <p:nvSpPr>
          <p:cNvPr id="4" name="Shape 2"/>
          <p:cNvSpPr/>
          <p:nvPr/>
        </p:nvSpPr>
        <p:spPr>
          <a:xfrm>
            <a:off x="548640" y="1691640"/>
            <a:ext cx="11064240" cy="960120"/>
          </a:xfrm>
          <a:prstGeom prst="roundRect">
            <a:avLst>
              <a:gd name="adj" fmla="val 7619"/>
            </a:avLst>
          </a:prstGeom>
          <a:solidFill>
            <a:srgbClr val="EEF1F6"/>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961388"/>
            <a:ext cx="420624" cy="420624"/>
          </a:xfrm>
          <a:prstGeom prst="ellipse">
            <a:avLst/>
          </a:prstGeom>
          <a:solidFill>
            <a:srgbClr val="1B2A4A"/>
          </a:solidFill>
          <a:ln/>
        </p:spPr>
      </p:sp>
      <p:sp>
        <p:nvSpPr>
          <p:cNvPr id="6" name="Text 4"/>
          <p:cNvSpPr/>
          <p:nvPr/>
        </p:nvSpPr>
        <p:spPr>
          <a:xfrm>
            <a:off x="822960" y="19613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819656"/>
            <a:ext cx="2377440" cy="704088"/>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人才盘点到风险对冲</a:t>
            </a:r>
            <a:endParaRPr lang="en-US" sz="1600" dirty="0"/>
          </a:p>
        </p:txBody>
      </p:sp>
      <p:sp>
        <p:nvSpPr>
          <p:cNvPr id="8" name="Text 6"/>
          <p:cNvSpPr/>
          <p:nvPr/>
        </p:nvSpPr>
        <p:spPr>
          <a:xfrm>
            <a:off x="4023360" y="1783080"/>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单点故障在日常运转顺利时很难被察觉，梯队规划真正要解决的是把集中在少数人身上的关键能力分散对冲，而不是追求名单的完整性。</a:t>
            </a:r>
            <a:endParaRPr lang="en-US" sz="1200" dirty="0"/>
          </a:p>
        </p:txBody>
      </p:sp>
      <p:sp>
        <p:nvSpPr>
          <p:cNvPr id="9" name="Shape 7"/>
          <p:cNvSpPr/>
          <p:nvPr/>
        </p:nvSpPr>
        <p:spPr>
          <a:xfrm>
            <a:off x="548640" y="2816352"/>
            <a:ext cx="11064240" cy="960120"/>
          </a:xfrm>
          <a:prstGeom prst="roundRect">
            <a:avLst>
              <a:gd name="adj" fmla="val 7619"/>
            </a:avLst>
          </a:prstGeom>
          <a:solidFill>
            <a:srgbClr val="F5EEEA"/>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086100"/>
            <a:ext cx="420624" cy="420624"/>
          </a:xfrm>
          <a:prstGeom prst="ellipse">
            <a:avLst/>
          </a:prstGeom>
          <a:solidFill>
            <a:srgbClr val="9C5536"/>
          </a:solidFill>
          <a:ln/>
        </p:spPr>
      </p:sp>
      <p:sp>
        <p:nvSpPr>
          <p:cNvPr id="11" name="Text 9"/>
          <p:cNvSpPr/>
          <p:nvPr/>
        </p:nvSpPr>
        <p:spPr>
          <a:xfrm>
            <a:off x="822960" y="30861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08760" y="2944368"/>
            <a:ext cx="2377440" cy="704088"/>
          </a:xfrm>
          <a:prstGeom prst="rect">
            <a:avLst/>
          </a:prstGeom>
          <a:noFill/>
          <a:ln/>
        </p:spPr>
        <p:txBody>
          <a:bodyPr wrap="square" lIns="0" tIns="0" rIns="0" bIns="0" rtlCol="0" anchor="ctr"/>
          <a:lstStyle/>
          <a:p>
            <a:pPr indent="0" marL="0">
              <a:buNone/>
            </a:pPr>
            <a:r>
              <a:rPr lang="en-US" sz="1600" b="1" dirty="0">
                <a:solidFill>
                  <a:srgbClr val="9C5536"/>
                </a:solidFill>
                <a:latin typeface="Cambria" pitchFamily="34" charset="0"/>
                <a:ea typeface="Cambria" pitchFamily="34" charset="-122"/>
                <a:cs typeface="Cambria" pitchFamily="34" charset="-120"/>
              </a:rPr>
              <a:t>三个操作动作</a:t>
            </a:r>
            <a:endParaRPr lang="en-US" sz="1600" dirty="0"/>
          </a:p>
        </p:txBody>
      </p:sp>
      <p:sp>
        <p:nvSpPr>
          <p:cNvPr id="13" name="Text 11"/>
          <p:cNvSpPr/>
          <p:nvPr/>
        </p:nvSpPr>
        <p:spPr>
          <a:xfrm>
            <a:off x="4023360" y="2907792"/>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识别关键节点而非关键人、用真实曝光积累候选人可信度、主动制造压力测试，三步缺一不可。</a:t>
            </a:r>
            <a:endParaRPr lang="en-US" sz="1200" dirty="0"/>
          </a:p>
        </p:txBody>
      </p:sp>
      <p:sp>
        <p:nvSpPr>
          <p:cNvPr id="14" name="Shape 12"/>
          <p:cNvSpPr/>
          <p:nvPr/>
        </p:nvSpPr>
        <p:spPr>
          <a:xfrm>
            <a:off x="548640" y="3941064"/>
            <a:ext cx="11064240" cy="960120"/>
          </a:xfrm>
          <a:prstGeom prst="roundRect">
            <a:avLst>
              <a:gd name="adj" fmla="val 7619"/>
            </a:avLst>
          </a:prstGeom>
          <a:solidFill>
            <a:srgbClr val="EEF2EE"/>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210812"/>
            <a:ext cx="420624" cy="420624"/>
          </a:xfrm>
          <a:prstGeom prst="ellipse">
            <a:avLst/>
          </a:prstGeom>
          <a:solidFill>
            <a:srgbClr val="4F6F52"/>
          </a:solidFill>
          <a:ln/>
        </p:spPr>
      </p:sp>
      <p:sp>
        <p:nvSpPr>
          <p:cNvPr id="16" name="Text 14"/>
          <p:cNvSpPr/>
          <p:nvPr/>
        </p:nvSpPr>
        <p:spPr>
          <a:xfrm>
            <a:off x="822960" y="42108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069080"/>
            <a:ext cx="2377440" cy="704088"/>
          </a:xfrm>
          <a:prstGeom prst="rect">
            <a:avLst/>
          </a:prstGeom>
          <a:noFill/>
          <a:ln/>
        </p:spPr>
        <p:txBody>
          <a:bodyPr wrap="square" lIns="0" tIns="0" rIns="0" bIns="0" rtlCol="0" anchor="ctr"/>
          <a:lstStyle/>
          <a:p>
            <a:pPr indent="0" marL="0">
              <a:buNone/>
            </a:pPr>
            <a:r>
              <a:rPr lang="en-US" sz="1600" b="1" dirty="0">
                <a:solidFill>
                  <a:srgbClr val="4F6F52"/>
                </a:solidFill>
                <a:latin typeface="Cambria" pitchFamily="34" charset="0"/>
                <a:ea typeface="Cambria" pitchFamily="34" charset="-122"/>
                <a:cs typeface="Cambria" pitchFamily="34" charset="-120"/>
              </a:rPr>
              <a:t>边界判断</a:t>
            </a:r>
            <a:endParaRPr lang="en-US" sz="1600" dirty="0"/>
          </a:p>
        </p:txBody>
      </p:sp>
      <p:sp>
        <p:nvSpPr>
          <p:cNvPr id="18" name="Text 16"/>
          <p:cNvSpPr/>
          <p:nvPr/>
        </p:nvSpPr>
        <p:spPr>
          <a:xfrm>
            <a:off x="4023360" y="4032504"/>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当确实找不到合适候选人时，坦然承认梯队断层、寻求外部补充或推迟决策，比为了完成表格硬凑名单的代价更小。</a:t>
            </a:r>
            <a:endParaRPr lang="en-US" sz="1200" dirty="0"/>
          </a:p>
        </p:txBody>
      </p:sp>
      <p:sp>
        <p:nvSpPr>
          <p:cNvPr id="19" name="Shape 17"/>
          <p:cNvSpPr/>
          <p:nvPr/>
        </p:nvSpPr>
        <p:spPr>
          <a:xfrm>
            <a:off x="548640" y="5166360"/>
            <a:ext cx="11064240" cy="960120"/>
          </a:xfrm>
          <a:prstGeom prst="roundRect">
            <a:avLst>
              <a:gd name="adj" fmla="val 7619"/>
            </a:avLst>
          </a:prstGeom>
          <a:solidFill>
            <a:srgbClr val="1B2A4A"/>
          </a:solidFill>
          <a:ln/>
          <a:effectLst>
            <a:outerShdw sx="100000" sy="100000" kx="0" ky="0" algn="bl" rotWithShape="0" blurRad="101600" dist="38100" dir="5400000">
              <a:srgbClr val="1B2A4A">
                <a:alpha val="10000"/>
              </a:srgbClr>
            </a:outerShdw>
          </a:effectLst>
        </p:spPr>
      </p:sp>
      <p:sp>
        <p:nvSpPr>
          <p:cNvPr id="20" name="Text 18"/>
          <p:cNvSpPr/>
          <p:nvPr/>
        </p:nvSpPr>
        <p:spPr>
          <a:xfrm>
            <a:off x="868680" y="5166360"/>
            <a:ext cx="10424160" cy="960120"/>
          </a:xfrm>
          <a:prstGeom prst="rect">
            <a:avLst/>
          </a:prstGeom>
          <a:noFill/>
          <a:ln/>
        </p:spPr>
        <p:txBody>
          <a:bodyPr wrap="square" lIns="0" tIns="0" rIns="0" bIns="0"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梯队规划，不是写一份名单，而是让部门不再依赖任何一个人。</a:t>
            </a:r>
            <a:endParaRPr lang="en-US" sz="1800" dirty="0"/>
          </a:p>
        </p:txBody>
      </p:sp>
      <p:sp>
        <p:nvSpPr>
          <p:cNvPr id="21" name="Text 1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22" name="Text 2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场景一</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对应理论框架一</a:t>
            </a:r>
            <a:endParaRPr lang="en-US" sz="1100" dirty="0"/>
          </a:p>
        </p:txBody>
      </p:sp>
      <p:sp>
        <p:nvSpPr>
          <p:cNvPr id="8" name="Text 6"/>
          <p:cNvSpPr/>
          <p:nvPr/>
        </p:nvSpPr>
        <p:spPr>
          <a:xfrm>
            <a:off x="822960" y="2258568"/>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描述一个部门关键能力长期集中在一个人身上、日常运转一直很平稳的情境，要求判断这背后隐藏着什么风险，并指出判断依据。</a:t>
            </a:r>
            <a:endParaRPr lang="en-US" sz="1250" dirty="0"/>
          </a:p>
        </p:txBody>
      </p:sp>
      <p:sp>
        <p:nvSpPr>
          <p:cNvPr id="9" name="Shape 7"/>
          <p:cNvSpPr/>
          <p:nvPr/>
        </p:nvSpPr>
        <p:spPr>
          <a:xfrm>
            <a:off x="548640" y="3236976"/>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438144"/>
            <a:ext cx="1188720" cy="292608"/>
          </a:xfrm>
          <a:prstGeom prst="roundRect">
            <a:avLst>
              <a:gd name="adj" fmla="val 18750"/>
            </a:avLst>
          </a:prstGeom>
          <a:solidFill>
            <a:srgbClr val="1B2A4A"/>
          </a:solidFill>
          <a:ln/>
        </p:spPr>
      </p:sp>
      <p:sp>
        <p:nvSpPr>
          <p:cNvPr id="11" name="Text 9"/>
          <p:cNvSpPr/>
          <p:nvPr/>
        </p:nvSpPr>
        <p:spPr>
          <a:xfrm>
            <a:off x="822960" y="343814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场景二</a:t>
            </a:r>
            <a:endParaRPr lang="en-US" sz="1100" dirty="0"/>
          </a:p>
        </p:txBody>
      </p:sp>
      <p:sp>
        <p:nvSpPr>
          <p:cNvPr id="12" name="Text 10"/>
          <p:cNvSpPr/>
          <p:nvPr/>
        </p:nvSpPr>
        <p:spPr>
          <a:xfrm>
            <a:off x="2148840" y="3438144"/>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对应理论框架二</a:t>
            </a:r>
            <a:endParaRPr lang="en-US" sz="1100" dirty="0"/>
          </a:p>
        </p:txBody>
      </p:sp>
      <p:sp>
        <p:nvSpPr>
          <p:cNvPr id="13" name="Text 11"/>
          <p:cNvSpPr/>
          <p:nvPr/>
        </p:nvSpPr>
        <p:spPr>
          <a:xfrm>
            <a:off x="822960" y="3803904"/>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描述一位经理认真填写了梯队规划表格，但从未给候选人安排过真实代理机会的场景，要求判断这次梯队规划是否完整，欠缺了哪个环节。</a:t>
            </a:r>
            <a:endParaRPr lang="en-US" sz="1250" dirty="0"/>
          </a:p>
        </p:txBody>
      </p:sp>
      <p:sp>
        <p:nvSpPr>
          <p:cNvPr id="14" name="Shape 12"/>
          <p:cNvSpPr/>
          <p:nvPr/>
        </p:nvSpPr>
        <p:spPr>
          <a:xfrm>
            <a:off x="548640" y="4782312"/>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983480"/>
            <a:ext cx="1188720" cy="292608"/>
          </a:xfrm>
          <a:prstGeom prst="roundRect">
            <a:avLst>
              <a:gd name="adj" fmla="val 18750"/>
            </a:avLst>
          </a:prstGeom>
          <a:solidFill>
            <a:srgbClr val="1B2A4A"/>
          </a:solidFill>
          <a:ln/>
        </p:spPr>
      </p:sp>
      <p:sp>
        <p:nvSpPr>
          <p:cNvPr id="16" name="Text 14"/>
          <p:cNvSpPr/>
          <p:nvPr/>
        </p:nvSpPr>
        <p:spPr>
          <a:xfrm>
            <a:off x="822960" y="498348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场景三</a:t>
            </a:r>
            <a:endParaRPr lang="en-US" sz="1100" dirty="0"/>
          </a:p>
        </p:txBody>
      </p:sp>
      <p:sp>
        <p:nvSpPr>
          <p:cNvPr id="17" name="Text 15"/>
          <p:cNvSpPr/>
          <p:nvPr/>
        </p:nvSpPr>
        <p:spPr>
          <a:xfrm>
            <a:off x="2148840" y="4983480"/>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对应边界反例</a:t>
            </a:r>
            <a:endParaRPr lang="en-US" sz="1100" dirty="0"/>
          </a:p>
        </p:txBody>
      </p:sp>
      <p:sp>
        <p:nvSpPr>
          <p:cNvPr id="18" name="Text 16"/>
          <p:cNvSpPr/>
          <p:nvPr/>
        </p:nvSpPr>
        <p:spPr>
          <a:xfrm>
            <a:off x="822960" y="5349240"/>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描述一个部门年底盘点找不到合适候选人、经理面临必须填一个名字的行政压力的模糊场景，要求判断经理该硬凑名单还是该如实承认断层，并说明判断标准。</a:t>
            </a:r>
            <a:endParaRPr lang="en-US" sz="125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21" name="Text 1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场景四</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对应延伸视角一</a:t>
            </a:r>
            <a:endParaRPr lang="en-US" sz="1100" dirty="0"/>
          </a:p>
        </p:txBody>
      </p:sp>
      <p:sp>
        <p:nvSpPr>
          <p:cNvPr id="8" name="Text 6"/>
          <p:cNvSpPr/>
          <p:nvPr/>
        </p:nvSpPr>
        <p:spPr>
          <a:xfrm>
            <a:off x="822960" y="2258568"/>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描述一位经理梯队规划表格上的候选人从未获得过对外曝光机会、也没有接受过系统的方法传授，要求判断这份梯队规划的可信度如何，并指出原因。</a:t>
            </a:r>
            <a:endParaRPr lang="en-US" sz="1250" dirty="0"/>
          </a:p>
        </p:txBody>
      </p:sp>
      <p:sp>
        <p:nvSpPr>
          <p:cNvPr id="9" name="Shape 7"/>
          <p:cNvSpPr/>
          <p:nvPr/>
        </p:nvSpPr>
        <p:spPr>
          <a:xfrm>
            <a:off x="548640" y="4009644"/>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4210812"/>
            <a:ext cx="1188720" cy="292608"/>
          </a:xfrm>
          <a:prstGeom prst="roundRect">
            <a:avLst>
              <a:gd name="adj" fmla="val 18750"/>
            </a:avLst>
          </a:prstGeom>
          <a:solidFill>
            <a:srgbClr val="1B2A4A"/>
          </a:solidFill>
          <a:ln/>
        </p:spPr>
      </p:sp>
      <p:sp>
        <p:nvSpPr>
          <p:cNvPr id="11" name="Text 9"/>
          <p:cNvSpPr/>
          <p:nvPr/>
        </p:nvSpPr>
        <p:spPr>
          <a:xfrm>
            <a:off x="822960" y="42108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场景五</a:t>
            </a:r>
            <a:endParaRPr lang="en-US" sz="1100" dirty="0"/>
          </a:p>
        </p:txBody>
      </p:sp>
      <p:sp>
        <p:nvSpPr>
          <p:cNvPr id="12" name="Text 10"/>
          <p:cNvSpPr/>
          <p:nvPr/>
        </p:nvSpPr>
        <p:spPr>
          <a:xfrm>
            <a:off x="2148840" y="4210812"/>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综合场景</a:t>
            </a:r>
            <a:endParaRPr lang="en-US" sz="1100" dirty="0"/>
          </a:p>
        </p:txBody>
      </p:sp>
      <p:sp>
        <p:nvSpPr>
          <p:cNvPr id="13" name="Text 11"/>
          <p:cNvSpPr/>
          <p:nvPr/>
        </p:nvSpPr>
        <p:spPr>
          <a:xfrm>
            <a:off x="822960" y="4576572"/>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描述一位经理完整执行了识别关键节点和安排真实曝光两步，但从未真正给候选人安排过有一定风险的压力测试，关键时刻顶替的候选人结果还是状况频出。要求判断这位经理在框架的哪个环节出现了缺口。</a:t>
            </a:r>
            <a:endParaRPr lang="en-US" sz="1250" dirty="0"/>
          </a:p>
        </p:txBody>
      </p:sp>
      <p:sp>
        <p:nvSpPr>
          <p:cNvPr id="15"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M8 梯队规划</a:t>
            </a:r>
            <a:endParaRPr lang="en-US" sz="900" dirty="0"/>
          </a:p>
        </p:txBody>
      </p:sp>
      <p:sp>
        <p:nvSpPr>
          <p:cNvPr id="16"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M8 梯队规划</dc:title>
  <dc:subject>PptxGenJS Presentation</dc:subject>
  <dc:creator>CIM管理者培训体系</dc:creator>
  <cp:lastModifiedBy>CIM管理者培训体系</cp:lastModifiedBy>
  <cp:revision>1</cp:revision>
  <dcterms:created xsi:type="dcterms:W3CDTF">2026-06-21T08:33:06Z</dcterms:created>
  <dcterms:modified xsi:type="dcterms:W3CDTF">2026-06-21T08:33:06Z</dcterms:modified>
</cp:coreProperties>
</file>