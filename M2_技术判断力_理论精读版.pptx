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封面页。本课程为理论精读型课件，强调风险判断框架的建立、论证与边界条件，不含互动讨论环节。建议授课时长50-60分钟，可作为模块二的正式讲授内容，区别于配套的实战工作坊材料。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用CIM场景的风险不对称性建立认知钩子。强调这不是态度或意愿问题，而是判断框架的问题——这个定调对后续13页的理论展开至关重要。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讲解概率×后果的核心公式，建立全篇理论地基。重点强调两个维度必须独立评估、不能用整体印象替代——这个区别是后续所有论证的基础。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本页是深度版区别于速览版的关键页——主动指出框架的适用边界和常见误用方式，避免学员把框架当作教条死记。两个误用场景都需要结合CIM场景做举例说明。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从决策理论角度系统性拆解“一刀切”策略的失效路径，给出三个具体机制名称，增强理论的学术厚度。这三个机制将在第6页的案例中得到具象化验证。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具象化第3-5页的理论。两个案例都是反面教材，使用相反策略却殊途同归——这正是“一刀切”本身的问题，而不是“保守”或“乐观”哪个方向选错了。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第二个核心理论框架，是第一个框架（风险=概率×后果）在“判断主体”层面的延伸。要讲清楚两种认知模式评估标准的本质差异——前者关心技术对错，后者关心资源分配的合理性。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同样是深度版的关键页。强调风险仲裁者不能脱离技术理解，也不能用框架当作推卸判断责任的挡箭牌——这两个反例分别对应“形式化”和“甩锅化”两种常见的实践偏差。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呼应第3页的概率维度。这个案例的核心是展示“概率评估”的具体操作方法——拆解结构性风险因素，而非凭信任程度或整体印象打分。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呼应第3-4页的后果严重度维度。核心是“可逆性优先于表面复杂度”的判断原则——这里完成了概率与后果两个维度的案例闭环。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从理论转向纠偏视角，逐一拆解最常见的错误认知。误区一直接对应第14页正常化偏差，误区二呼应第10页案例——讲课时可以前后联系。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误区三直接对应第7页风险仲裁者的角色定位，误区四对应第8页反例一（仲裁退化为流程打分），可以在讲授时回扣前文。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引入跨学科概念（认知心理学）增加理论厚度。重点讲清楚“记忆易得性扭曲概率判断”这个具体机制，呼应第3页的概率维度——直觉无法替代结构化框架的原因正在于此。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第二个跨学科延伸概念（组织安全文化理论），源自航天工业事故分析。这一页与误区一形成机制呼应，是为第15页“判断框架需要被持续校验”这个结论做铺垫。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收束全篇，呼应第2页开篇的核心问题，形成完整闭环。三层认知结构是全篇的核心框架图，建议授课时用白板再画一次强化记忆。结尾点出与下一模块（分级授权机制）的衔接关系。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对应第一层框架·概率维度，对应第3、9页。
观察要点：回答是否只用“从未出问题”作为依据（误区一信号），还是会进一步追问这个脚本本身的结构性风险因素（比如报警阈值逻辑是否关联到停线判断）。若回答停留在“两年没出问题，应该风险不高”，说明该学员把历史频率等同于结构性概率，尚未完成第一层认知转换。
场景二 —— 对应第一层框架·后果严重度维度，对应第4、10页。
观察要点：回答是否仅凭代码量判断（误区二信号），还是能识别出批次流转规则属于不可逆/高后果操作，即便代码量小也需要更高强度审核。若学员选择A（代码量大的可视化模块）作为需要额外检查点的任务，说明把技术复杂度等同于后果严重度，是需要重点关注的信号。
场景三 —— 对应第二层框架·风险仲裁者角色，对应第7、12页误区三。
观察要点：回答是否混淆了“信任”和“任务客观风险等级”，理想回答应区分清楚信任影响的是介入方式（更少过程干预、更多事后复核）而非风险坐标本身。若学员认为“因为信任所以可以降低审核强度”，说明仍在用对人的信任替代对任务结构性风险的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直接对应第14页正常化偏差。
观察要点：理想回答应识别出“连续一年没出事”不能作为审核流程冗余的证据，反而可能是审核流程在发挥作用的体现；同时要警惕团队和管理者共同滑向正常化偏差的风险，需要区分“流程确实有可以精简的冗余环节”和“风险尚未消除只是没有触发”两种不同情况。如果学员直接认同“没出事说明流程可以简化”，说明对正常化偏差的理解仅停留在概念层面，未能识别这正是该偏差的典型表现场景，这是需要重点关注的信号。
场景五 —— 直接对应第8页反例一·仲裁退化为流程打分。
观察要点：理想回答应识别出这是风险仲裁责任被表格“代理”而非真正履行的信号——团队学会了填表格这个动作，但管理者没有真正基于风险坐标做出差异化的资源分配决策，框架变成了形式合规，而非真正的判断工具。如果学员认为“大家都会填表格说明培训有效果”，没有意识到“填表≠仲裁”的本质区别，说明对第8页反例一的理解还停留在表面，这是本课程最关键的诊断信号之一——它直接反映学员是否理解“框架是辅助判断的工具，不是替代判断责任的挡箭牌”这一核心论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模块二</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技术判断力：</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停线风险分级</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一份关于风险判断的理论框架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全17讲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一个比“敢不敢放手”更根本的问题</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判断力比意愿力更稀缺</a:t>
            </a:r>
            <a:endParaRPr lang="en-US" sz="1500" dirty="0"/>
          </a:p>
        </p:txBody>
      </p:sp>
      <p:sp>
        <p:nvSpPr>
          <p:cNvPr id="8" name="Text 6"/>
          <p:cNvSpPr/>
          <p:nvPr/>
        </p:nvSpPr>
        <p:spPr>
          <a:xfrm>
            <a:off x="548640" y="2304288"/>
            <a:ext cx="10881360" cy="91440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模块一讨论了“为什么不愿意放手”，但实践中更常见的失败不是意愿问题，而是判断问题——很多主管“愿意”放手，却不知道“这件事到底有多危险”，于是只能用两种简化策略：要么什么都不放（过度保守，团队成长停滞），要么什么都放（过度乐观，直到出事才知道代价）。</a:t>
            </a:r>
            <a:endParaRPr lang="en-US" sz="1250" dirty="0"/>
          </a:p>
        </p:txBody>
      </p:sp>
      <p:sp>
        <p:nvSpPr>
          <p:cNvPr id="9" name="Text 7"/>
          <p:cNvSpPr/>
          <p:nvPr/>
        </p:nvSpPr>
        <p:spPr>
          <a:xfrm>
            <a:off x="548640" y="3310128"/>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584448"/>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CIM系统的风险不对称性</a:t>
            </a:r>
            <a:endParaRPr lang="en-US" sz="1500" dirty="0"/>
          </a:p>
        </p:txBody>
      </p:sp>
      <p:sp>
        <p:nvSpPr>
          <p:cNvPr id="11" name="Text 9"/>
          <p:cNvSpPr/>
          <p:nvPr/>
        </p:nvSpPr>
        <p:spPr>
          <a:xfrm>
            <a:off x="548640" y="3922776"/>
            <a:ext cx="10881360" cy="77724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半导体CIM系统的特殊性在于：风险的分布极不均匀。同样是“工程师独立完成一个模块”，如果是非核心报表模块，出错的代价是返工几小时；如果是Q-Time调度核心逻辑，出错的代价可能是整条产线停线、批次报废。这种数量级的差异，意味着“一刀切”的授权策略都是系统性错误。</a:t>
            </a:r>
            <a:endParaRPr lang="en-US" sz="1250" dirty="0"/>
          </a:p>
        </p:txBody>
      </p:sp>
      <p:sp>
        <p:nvSpPr>
          <p:cNvPr id="12" name="Shape 10"/>
          <p:cNvSpPr/>
          <p:nvPr/>
        </p:nvSpPr>
        <p:spPr>
          <a:xfrm>
            <a:off x="548640" y="4892040"/>
            <a:ext cx="0" cy="1234440"/>
          </a:xfrm>
          <a:prstGeom prst="line">
            <a:avLst/>
          </a:prstGeom>
          <a:noFill/>
          <a:ln w="38100">
            <a:solidFill>
              <a:srgbClr val="9C5536"/>
            </a:solidFill>
            <a:prstDash val="solid"/>
          </a:ln>
        </p:spPr>
      </p:sp>
      <p:sp>
        <p:nvSpPr>
          <p:cNvPr id="13" name="Text 11"/>
          <p:cNvSpPr/>
          <p:nvPr/>
        </p:nvSpPr>
        <p:spPr>
          <a:xfrm>
            <a:off x="777240" y="48920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193792"/>
            <a:ext cx="10424160" cy="868680"/>
          </a:xfrm>
          <a:prstGeom prst="rect">
            <a:avLst/>
          </a:prstGeom>
          <a:noFill/>
          <a:ln/>
        </p:spPr>
        <p:txBody>
          <a:bodyPr wrap="square" rtlCol="0" anchor="ctr"/>
          <a:lstStyle/>
          <a:p>
            <a:pPr indent="0" marL="0">
              <a:lnSpc>
                <a:spcPct val="130000"/>
              </a:lnSpc>
              <a:buNone/>
            </a:pPr>
            <a:r>
              <a:rPr lang="en-US" sz="1500" i="1" dirty="0">
                <a:solidFill>
                  <a:srgbClr val="1B2A4A"/>
                </a:solidFill>
                <a:latin typeface="Cambria" pitchFamily="34" charset="0"/>
                <a:ea typeface="Cambria" pitchFamily="34" charset="-122"/>
                <a:cs typeface="Cambria" pitchFamily="34" charset="-120"/>
              </a:rPr>
              <a:t>管理者真正需要的不是“胆子大一点”或“胆子小一点”，而是一套能够把任意一项任务在动手之前就准确定位到风险坐标上的判断框架。</a:t>
            </a:r>
            <a:endParaRPr lang="en-US" sz="15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决策科学的基石——风险不是一个数，是一个矩阵</a:t>
            </a:r>
            <a:endParaRPr lang="en-US" sz="2700" dirty="0"/>
          </a:p>
        </p:txBody>
      </p:sp>
      <p:sp>
        <p:nvSpPr>
          <p:cNvPr id="6" name="Text 4"/>
          <p:cNvSpPr/>
          <p:nvPr/>
        </p:nvSpPr>
        <p:spPr>
          <a:xfrm>
            <a:off x="548640" y="1691640"/>
            <a:ext cx="10881360" cy="457200"/>
          </a:xfrm>
          <a:prstGeom prst="rect">
            <a:avLst/>
          </a:prstGeom>
          <a:noFill/>
          <a:ln/>
        </p:spPr>
        <p:txBody>
          <a:bodyPr wrap="square" rtlCol="0" anchor="ctr"/>
          <a:lstStyle/>
          <a:p>
            <a:pPr indent="0" marL="0">
              <a:lnSpc>
                <a:spcPct val="125000"/>
              </a:lnSpc>
              <a:buNone/>
            </a:pPr>
            <a:r>
              <a:rPr lang="en-US" sz="1300" dirty="0">
                <a:solidFill>
                  <a:srgbClr val="2B2F36"/>
                </a:solidFill>
                <a:latin typeface="Calibri" pitchFamily="34" charset="0"/>
                <a:ea typeface="Calibri" pitchFamily="34" charset="-122"/>
                <a:cs typeface="Calibri" pitchFamily="34" charset="-120"/>
              </a:rPr>
              <a:t>风险管理领域有一个历经数十年验证的基本框架，几乎所有现代风险评估体系（从核电站安全到金融机构合规）都建立在这个框架之上：</a:t>
            </a:r>
            <a:endParaRPr lang="en-US" sz="1300" dirty="0"/>
          </a:p>
        </p:txBody>
      </p:sp>
      <p:sp>
        <p:nvSpPr>
          <p:cNvPr id="7" name="Shape 5"/>
          <p:cNvSpPr/>
          <p:nvPr/>
        </p:nvSpPr>
        <p:spPr>
          <a:xfrm>
            <a:off x="1005840" y="2286000"/>
            <a:ext cx="9418320" cy="0"/>
          </a:xfrm>
          <a:prstGeom prst="line">
            <a:avLst/>
          </a:prstGeom>
          <a:noFill/>
          <a:ln w="12700">
            <a:solidFill>
              <a:srgbClr val="8A6D1F"/>
            </a:solidFill>
            <a:prstDash val="solid"/>
          </a:ln>
        </p:spPr>
      </p:sp>
      <p:sp>
        <p:nvSpPr>
          <p:cNvPr id="8" name="Text 6"/>
          <p:cNvSpPr/>
          <p:nvPr/>
        </p:nvSpPr>
        <p:spPr>
          <a:xfrm>
            <a:off x="1005840" y="2423160"/>
            <a:ext cx="9418320" cy="502920"/>
          </a:xfrm>
          <a:prstGeom prst="rect">
            <a:avLst/>
          </a:prstGeom>
          <a:noFill/>
          <a:ln/>
        </p:spPr>
        <p:txBody>
          <a:bodyPr wrap="square" rtlCol="0" anchor="ctr"/>
          <a:lstStyle/>
          <a:p>
            <a:pPr algn="ctr" indent="0" marL="0">
              <a:buNone/>
            </a:pPr>
            <a:r>
              <a:rPr lang="en-US" sz="1600" i="1" dirty="0">
                <a:solidFill>
                  <a:srgbClr val="8A6D1F"/>
                </a:solidFill>
                <a:latin typeface="Cambria" pitchFamily="34" charset="0"/>
                <a:ea typeface="Cambria" pitchFamily="34" charset="-122"/>
                <a:cs typeface="Cambria" pitchFamily="34" charset="-120"/>
              </a:rPr>
              <a:t>风险（Risk） =  概率（Probability） × 后果严重度（Severity）</a:t>
            </a:r>
            <a:endParaRPr lang="en-US" sz="1600" dirty="0"/>
          </a:p>
        </p:txBody>
      </p:sp>
      <p:sp>
        <p:nvSpPr>
          <p:cNvPr id="9" name="Shape 7"/>
          <p:cNvSpPr/>
          <p:nvPr/>
        </p:nvSpPr>
        <p:spPr>
          <a:xfrm>
            <a:off x="1005840" y="2999232"/>
            <a:ext cx="9418320" cy="0"/>
          </a:xfrm>
          <a:prstGeom prst="line">
            <a:avLst/>
          </a:prstGeom>
          <a:noFill/>
          <a:ln w="12700">
            <a:solidFill>
              <a:srgbClr val="8A6D1F"/>
            </a:solidFill>
            <a:prstDash val="solid"/>
          </a:ln>
        </p:spPr>
      </p:sp>
      <p:sp>
        <p:nvSpPr>
          <p:cNvPr id="10" name="Text 8"/>
          <p:cNvSpPr/>
          <p:nvPr/>
        </p:nvSpPr>
        <p:spPr>
          <a:xfrm>
            <a:off x="548640" y="3200400"/>
            <a:ext cx="10881360" cy="365760"/>
          </a:xfrm>
          <a:prstGeom prst="rect">
            <a:avLst/>
          </a:prstGeom>
          <a:noFill/>
          <a:ln/>
        </p:spPr>
        <p:txBody>
          <a:bodyPr wrap="square" rtlCol="0" anchor="ctr"/>
          <a:lstStyle/>
          <a:p>
            <a:pPr indent="0" marL="0">
              <a:buNone/>
            </a:pPr>
            <a:r>
              <a:rPr lang="en-US" sz="1250" dirty="0">
                <a:solidFill>
                  <a:srgbClr val="2B2F36"/>
                </a:solidFill>
                <a:latin typeface="Calibri" pitchFamily="34" charset="0"/>
                <a:ea typeface="Calibri" pitchFamily="34" charset="-122"/>
                <a:cs typeface="Calibri" pitchFamily="34" charset="-120"/>
              </a:rPr>
              <a:t>这个公式的反直觉之处在于：它要求决策者把两个性质完全不同的判断分开来做，而不是凭一个模糊的整体印象去判断“这件事听起来挺吓人”。</a:t>
            </a:r>
            <a:endParaRPr lang="en-US" sz="1250" dirty="0"/>
          </a:p>
        </p:txBody>
      </p:sp>
      <p:sp>
        <p:nvSpPr>
          <p:cNvPr id="11" name="Text 9"/>
          <p:cNvSpPr/>
          <p:nvPr/>
        </p:nvSpPr>
        <p:spPr>
          <a:xfrm>
            <a:off x="548640" y="370332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概率维度</a:t>
            </a:r>
            <a:endParaRPr lang="en-US" sz="1300" dirty="0"/>
          </a:p>
        </p:txBody>
      </p:sp>
      <p:sp>
        <p:nvSpPr>
          <p:cNvPr id="12" name="Shape 10"/>
          <p:cNvSpPr/>
          <p:nvPr/>
        </p:nvSpPr>
        <p:spPr>
          <a:xfrm>
            <a:off x="548640" y="4050792"/>
            <a:ext cx="5257800" cy="0"/>
          </a:xfrm>
          <a:prstGeom prst="line">
            <a:avLst/>
          </a:prstGeom>
          <a:noFill/>
          <a:ln w="12700">
            <a:solidFill>
              <a:srgbClr val="E3E7EF"/>
            </a:solidFill>
            <a:prstDash val="solid"/>
          </a:ln>
        </p:spPr>
      </p:sp>
      <p:sp>
        <p:nvSpPr>
          <p:cNvPr id="13" name="Text 11"/>
          <p:cNvSpPr/>
          <p:nvPr/>
        </p:nvSpPr>
        <p:spPr>
          <a:xfrm>
            <a:off x="548640" y="4160520"/>
            <a:ext cx="5257800" cy="365760"/>
          </a:xfrm>
          <a:prstGeom prst="rect">
            <a:avLst/>
          </a:prstGeom>
          <a:noFill/>
          <a:ln/>
        </p:spPr>
        <p:txBody>
          <a:bodyPr wrap="square" rtlCol="0" anchor="ctr"/>
          <a:lstStyle/>
          <a:p>
            <a:pPr indent="0" marL="0">
              <a:buNone/>
            </a:pPr>
            <a:r>
              <a:rPr lang="en-US" sz="1300" i="1" dirty="0">
                <a:solidFill>
                  <a:srgbClr val="1B2A4A"/>
                </a:solidFill>
                <a:latin typeface="Cambria" pitchFamily="34" charset="0"/>
                <a:ea typeface="Cambria" pitchFamily="34" charset="-122"/>
                <a:cs typeface="Cambria" pitchFamily="34" charset="-120"/>
              </a:rPr>
              <a:t>这件事出错的可能性有多大？</a:t>
            </a:r>
            <a:endParaRPr lang="en-US" sz="1300" dirty="0"/>
          </a:p>
        </p:txBody>
      </p:sp>
      <p:sp>
        <p:nvSpPr>
          <p:cNvPr id="14" name="Text 12"/>
          <p:cNvSpPr/>
          <p:nvPr/>
        </p:nvSpPr>
        <p:spPr>
          <a:xfrm>
            <a:off x="548640" y="4617720"/>
            <a:ext cx="5257800" cy="548640"/>
          </a:xfrm>
          <a:prstGeom prst="rect">
            <a:avLst/>
          </a:prstGeom>
          <a:noFill/>
          <a:ln/>
        </p:spPr>
        <p:txBody>
          <a:bodyPr wrap="square" rtlCol="0" anchor="ctr"/>
          <a:lstStyle/>
          <a:p>
            <a:pPr indent="0" marL="0">
              <a:lnSpc>
                <a:spcPct val="125000"/>
              </a:lnSpc>
              <a:buNone/>
            </a:pPr>
            <a:r>
              <a:rPr lang="en-US" sz="1200" dirty="0">
                <a:solidFill>
                  <a:srgbClr val="5B6270"/>
                </a:solidFill>
                <a:latin typeface="Calibri" pitchFamily="34" charset="0"/>
                <a:ea typeface="Calibri" pitchFamily="34" charset="-122"/>
                <a:cs typeface="Calibri" pitchFamily="34" charset="-120"/>
              </a:rPr>
              <a:t>取决于任务复杂度、执行者经验、是否有先例、是否涉及边界条件等因素。</a:t>
            </a:r>
            <a:endParaRPr lang="en-US" sz="1200" dirty="0"/>
          </a:p>
        </p:txBody>
      </p:sp>
      <p:sp>
        <p:nvSpPr>
          <p:cNvPr id="15" name="Shape 13"/>
          <p:cNvSpPr/>
          <p:nvPr/>
        </p:nvSpPr>
        <p:spPr>
          <a:xfrm>
            <a:off x="6080760" y="3703320"/>
            <a:ext cx="0" cy="2331720"/>
          </a:xfrm>
          <a:prstGeom prst="line">
            <a:avLst/>
          </a:prstGeom>
          <a:noFill/>
          <a:ln w="12700">
            <a:solidFill>
              <a:srgbClr val="E3E7EF"/>
            </a:solidFill>
            <a:prstDash val="solid"/>
          </a:ln>
        </p:spPr>
      </p:sp>
      <p:sp>
        <p:nvSpPr>
          <p:cNvPr id="16" name="Text 14"/>
          <p:cNvSpPr/>
          <p:nvPr/>
        </p:nvSpPr>
        <p:spPr>
          <a:xfrm>
            <a:off x="6519672" y="370332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后果严重度维度</a:t>
            </a:r>
            <a:endParaRPr lang="en-US" sz="1300" dirty="0"/>
          </a:p>
        </p:txBody>
      </p:sp>
      <p:sp>
        <p:nvSpPr>
          <p:cNvPr id="17" name="Shape 15"/>
          <p:cNvSpPr/>
          <p:nvPr/>
        </p:nvSpPr>
        <p:spPr>
          <a:xfrm>
            <a:off x="6519672" y="4050792"/>
            <a:ext cx="5257800" cy="0"/>
          </a:xfrm>
          <a:prstGeom prst="line">
            <a:avLst/>
          </a:prstGeom>
          <a:noFill/>
          <a:ln w="12700">
            <a:solidFill>
              <a:srgbClr val="E3E7EF"/>
            </a:solidFill>
            <a:prstDash val="solid"/>
          </a:ln>
        </p:spPr>
      </p:sp>
      <p:sp>
        <p:nvSpPr>
          <p:cNvPr id="18" name="Text 16"/>
          <p:cNvSpPr/>
          <p:nvPr/>
        </p:nvSpPr>
        <p:spPr>
          <a:xfrm>
            <a:off x="6519672" y="4160520"/>
            <a:ext cx="5257800" cy="365760"/>
          </a:xfrm>
          <a:prstGeom prst="rect">
            <a:avLst/>
          </a:prstGeom>
          <a:noFill/>
          <a:ln/>
        </p:spPr>
        <p:txBody>
          <a:bodyPr wrap="square" rtlCol="0" anchor="ctr"/>
          <a:lstStyle/>
          <a:p>
            <a:pPr indent="0" marL="0">
              <a:buNone/>
            </a:pPr>
            <a:r>
              <a:rPr lang="en-US" sz="1300" i="1" dirty="0">
                <a:solidFill>
                  <a:srgbClr val="1B2A4A"/>
                </a:solidFill>
                <a:latin typeface="Cambria" pitchFamily="34" charset="0"/>
                <a:ea typeface="Cambria" pitchFamily="34" charset="-122"/>
                <a:cs typeface="Cambria" pitchFamily="34" charset="-120"/>
              </a:rPr>
              <a:t>如果真的出错了，代价有多大？</a:t>
            </a:r>
            <a:endParaRPr lang="en-US" sz="1300" dirty="0"/>
          </a:p>
        </p:txBody>
      </p:sp>
      <p:sp>
        <p:nvSpPr>
          <p:cNvPr id="19" name="Text 17"/>
          <p:cNvSpPr/>
          <p:nvPr/>
        </p:nvSpPr>
        <p:spPr>
          <a:xfrm>
            <a:off x="6519672" y="4617720"/>
            <a:ext cx="5257800" cy="868680"/>
          </a:xfrm>
          <a:prstGeom prst="rect">
            <a:avLst/>
          </a:prstGeom>
          <a:noFill/>
          <a:ln/>
        </p:spPr>
        <p:txBody>
          <a:bodyPr wrap="square" rtlCol="0" anchor="ctr"/>
          <a:lstStyle/>
          <a:p>
            <a:pPr indent="0" marL="0">
              <a:lnSpc>
                <a:spcPct val="125000"/>
              </a:lnSpc>
              <a:buNone/>
            </a:pPr>
            <a:r>
              <a:rPr lang="en-US" sz="1200" dirty="0">
                <a:solidFill>
                  <a:srgbClr val="5B6270"/>
                </a:solidFill>
                <a:latin typeface="Calibri" pitchFamily="34" charset="0"/>
                <a:ea typeface="Calibri" pitchFamily="34" charset="-122"/>
                <a:cs typeface="Calibri" pitchFamily="34" charset="-120"/>
              </a:rPr>
              <a:t>取决于影响范围（单机台/单产线/全厂）、是否可逆（能否回滚）、是否涉及安全或合规问题。</a:t>
            </a:r>
            <a:endParaRPr lang="en-US" sz="1200" dirty="0"/>
          </a:p>
        </p:txBody>
      </p:sp>
      <p:sp>
        <p:nvSpPr>
          <p:cNvPr id="20" name="Text 18"/>
          <p:cNvSpPr/>
          <p:nvPr/>
        </p:nvSpPr>
        <p:spPr>
          <a:xfrm>
            <a:off x="548640" y="6053328"/>
            <a:ext cx="10881360" cy="320040"/>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两个维度独立评估之后，风险等级才能被准确定位——“高概率出错但后果小”和“低概率出错但后果极大”的任务，需要完全不同的管理策略。</a:t>
            </a:r>
            <a:endParaRPr lang="en-US" sz="120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这个框架什么时候会失灵？</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把“概率”等同于“过去没出过事”</a:t>
            </a:r>
            <a:endParaRPr lang="en-US" sz="1450" dirty="0"/>
          </a:p>
        </p:txBody>
      </p:sp>
      <p:sp>
        <p:nvSpPr>
          <p:cNvPr id="8" name="Text 6"/>
          <p:cNvSpPr/>
          <p:nvPr/>
        </p:nvSpPr>
        <p:spPr>
          <a:xfrm>
            <a:off x="548640" y="236829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一个常见的认知陷阱是：因为某类任务过去多次执行都没出问题，就认为它的概率维度很低。但概率评估应该基于任务本身的结构性风险（复杂度、边界条件数量），而不是基于过往的运气。“过去十次都没出事”和“这件事本身概率很低”是两个不同的命题，混淆它们是导致黑天鹅事件的常见认知根源。</a:t>
            </a:r>
            <a:endParaRPr lang="en-US" sz="1250" dirty="0"/>
          </a:p>
        </p:txBody>
      </p:sp>
      <p:sp>
        <p:nvSpPr>
          <p:cNvPr id="9" name="Text 7"/>
          <p:cNvSpPr/>
          <p:nvPr/>
        </p:nvSpPr>
        <p:spPr>
          <a:xfrm>
            <a:off x="548640" y="347472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6732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把“后果严重度”简化为“影响范围大小”</a:t>
            </a:r>
            <a:endParaRPr lang="en-US" sz="1450" dirty="0"/>
          </a:p>
        </p:txBody>
      </p:sp>
      <p:sp>
        <p:nvSpPr>
          <p:cNvPr id="11" name="Text 9"/>
          <p:cNvSpPr/>
          <p:nvPr/>
        </p:nvSpPr>
        <p:spPr>
          <a:xfrm>
            <a:off x="548640" y="415137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后果严重度不只是“影响多少台机台”，还包括“是否可逆”。一个影响范围很小但完全不可逆的操作（比如误删除无法重新获取的历史良率数据），其后果严重度可能高于一个影响范围很大但可以快速回滚的操作。只用影响范围做判断，会系统性低估不可逆操作的风险。</a:t>
            </a:r>
            <a:endParaRPr lang="en-US" sz="1250" dirty="0"/>
          </a:p>
        </p:txBody>
      </p:sp>
      <p:sp>
        <p:nvSpPr>
          <p:cNvPr id="12" name="Shape 10"/>
          <p:cNvSpPr/>
          <p:nvPr/>
        </p:nvSpPr>
        <p:spPr>
          <a:xfrm>
            <a:off x="548640" y="5303520"/>
            <a:ext cx="0" cy="1051560"/>
          </a:xfrm>
          <a:prstGeom prst="line">
            <a:avLst/>
          </a:prstGeom>
          <a:noFill/>
          <a:ln w="38100">
            <a:solidFill>
              <a:srgbClr val="9C5536"/>
            </a:solidFill>
            <a:prstDash val="solid"/>
          </a:ln>
        </p:spPr>
      </p:sp>
      <p:sp>
        <p:nvSpPr>
          <p:cNvPr id="13" name="Text 11"/>
          <p:cNvSpPr/>
          <p:nvPr/>
        </p:nvSpPr>
        <p:spPr>
          <a:xfrm>
            <a:off x="777240" y="53035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0527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框架要求决策者对“概率”和“后果”分别给出基于结构性因素的独立判断，而不是用一个直觉性的整体印象替代两次独立评估。一旦任何一个维度退化为“凭感觉”或“凭历史运气”，整个框架就会失去其设计初衷。</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为什么“一刀切”策略系统性失效</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从决策理论角度，拆解一刀切策略的失效路径</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过度保守的隐性成本（Type II Error累积）</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管理者对所有任务都采用最高强度监控，看似规避了风险，实际上制造了另一种损失：团队成员的能力建构机会被系统性剥夺，管理者的时间被低风险事务消耗到无法处理真正的高风险判断。这种成本不会出现在“事故记录”里，但会出现在团队半年后的能力水平上。</a:t>
            </a:r>
            <a:endParaRPr lang="en-US" sz="118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过度乐观的尾部风险（Tail Risk Exposure）</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管理者对所有任务都采用最低强度监控，大多数时候不会出问题，这会形成虚假的安全感，直到某一次任务恰好落在“高后果”区间，造成的损失会远超过去所有“放手”节省下来的管理成本——这是典型的尾部风险暴露模式。</a:t>
            </a:r>
            <a:endParaRPr lang="en-US" sz="118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认知简化的路径依赖（Cognitive Shortcut Lock-in）</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一旦管理者习惯用单一策略处理所有任务，这种简化判断会逐渐固化为不假思索的默认反应，使得管理者在面对真正需要细致判断的边界案例时，仍套用旧的简化策略，丧失了识别“这次不一样”的敏感度。</a:t>
            </a:r>
            <a:endParaRPr lang="en-US" sz="118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三个机制共同指向一个结论：风险管理的失效，往往不是因为不负责任，而是使用了认知上更省力、统计上更脆弱的简化策略。</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两种简化策略的真实代价</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一刀切不放〕</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7772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某Fab厂CIM组长对组内所有任务一律要求自己审核每一行代码变更，无论是核心调度逻辑还是非核心的看板UI调整。</a:t>
            </a:r>
            <a:endParaRPr lang="en-US" sz="1200" dirty="0"/>
          </a:p>
        </p:txBody>
      </p:sp>
      <p:sp>
        <p:nvSpPr>
          <p:cNvPr id="9" name="Text 7"/>
          <p:cNvSpPr/>
          <p:nvPr/>
        </p:nvSpPr>
        <p:spPr>
          <a:xfrm>
            <a:off x="548640" y="3044952"/>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半年后复盘：</a:t>
            </a:r>
            <a:endParaRPr lang="en-US" sz="1200" dirty="0"/>
          </a:p>
        </p:txBody>
      </p:sp>
      <p:sp>
        <p:nvSpPr>
          <p:cNvPr id="10" name="Text 8"/>
          <p:cNvSpPr/>
          <p:nvPr/>
        </p:nvSpPr>
        <p:spPr>
          <a:xfrm>
            <a:off x="548640" y="3355848"/>
            <a:ext cx="5257800" cy="11887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组长本人长期超负荷工作，团队中三名工程师的代码评审等待时间平均长达2–3天，其中两名工程师因“做什么都要被全面审查、缺乏成长空间”提出离职意向。</a:t>
            </a:r>
            <a:endParaRPr lang="en-US" sz="1200" dirty="0"/>
          </a:p>
        </p:txBody>
      </p:sp>
      <p:sp>
        <p:nvSpPr>
          <p:cNvPr id="11" name="Shape 9"/>
          <p:cNvSpPr/>
          <p:nvPr/>
        </p:nvSpPr>
        <p:spPr>
          <a:xfrm>
            <a:off x="6080760" y="1691640"/>
            <a:ext cx="0" cy="393192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〔案例B · 一刀切放〕</a:t>
            </a:r>
            <a:endParaRPr lang="en-US" sz="1100" dirty="0"/>
          </a:p>
        </p:txBody>
      </p:sp>
      <p:sp>
        <p:nvSpPr>
          <p:cNvPr id="13" name="Shape 11"/>
          <p:cNvSpPr/>
          <p:nvPr/>
        </p:nvSpPr>
        <p:spPr>
          <a:xfrm>
            <a:off x="6519672" y="2057400"/>
            <a:ext cx="5257800" cy="0"/>
          </a:xfrm>
          <a:prstGeom prst="line">
            <a:avLst/>
          </a:prstGeom>
          <a:noFill/>
          <a:ln w="19050">
            <a:solidFill>
              <a:srgbClr val="9C5536"/>
            </a:solidFill>
            <a:prstDash val="solid"/>
          </a:ln>
        </p:spPr>
      </p:sp>
      <p:sp>
        <p:nvSpPr>
          <p:cNvPr id="14" name="Text 12"/>
          <p:cNvSpPr/>
          <p:nvPr/>
        </p:nvSpPr>
        <p:spPr>
          <a:xfrm>
            <a:off x="6519672" y="2194560"/>
            <a:ext cx="5257800" cy="9601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另一组长在团队成熟度建设的压力下，决定“充分信任团队”，将核心Q-Time调度逻辑修改这样的高风险任务也直接授权给入职8个月的工程师独立完成，不设置任何中间检查点。</a:t>
            </a:r>
            <a:endParaRPr lang="en-US" sz="1200" dirty="0"/>
          </a:p>
        </p:txBody>
      </p:sp>
      <p:sp>
        <p:nvSpPr>
          <p:cNvPr id="15" name="Text 13"/>
          <p:cNvSpPr/>
          <p:nvPr/>
        </p:nvSpPr>
        <p:spPr>
          <a:xfrm>
            <a:off x="6519672" y="3227832"/>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结果：</a:t>
            </a:r>
            <a:endParaRPr lang="en-US" sz="1200" dirty="0"/>
          </a:p>
        </p:txBody>
      </p:sp>
      <p:sp>
        <p:nvSpPr>
          <p:cNvPr id="16" name="Text 14"/>
          <p:cNvSpPr/>
          <p:nvPr/>
        </p:nvSpPr>
        <p:spPr>
          <a:xfrm>
            <a:off x="6519672" y="3538728"/>
            <a:ext cx="5257800" cy="10058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该工程师在一次边界条件处理上出现疏漏，导致某产线非计划停线4小时，直接损失估算超过200万元。</a:t>
            </a:r>
            <a:endParaRPr lang="en-US" sz="1200" dirty="0"/>
          </a:p>
        </p:txBody>
      </p:sp>
      <p:sp>
        <p:nvSpPr>
          <p:cNvPr id="17" name="Shape 15"/>
          <p:cNvSpPr/>
          <p:nvPr/>
        </p:nvSpPr>
        <p:spPr>
          <a:xfrm>
            <a:off x="548640" y="5806440"/>
            <a:ext cx="0" cy="548640"/>
          </a:xfrm>
          <a:prstGeom prst="line">
            <a:avLst/>
          </a:prstGeom>
          <a:noFill/>
          <a:ln w="38100">
            <a:solidFill>
              <a:srgbClr val="1B2A4A"/>
            </a:solidFill>
            <a:prstDash val="solid"/>
          </a:ln>
        </p:spPr>
      </p:sp>
      <p:sp>
        <p:nvSpPr>
          <p:cNvPr id="18" name="Text 16"/>
          <p:cNvSpPr/>
          <p:nvPr/>
        </p:nvSpPr>
        <p:spPr>
          <a:xfrm>
            <a:off x="777240" y="5806440"/>
            <a:ext cx="10424160" cy="566928"/>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对照分析：两个案例使用相反的策略，但失效的根本原因相同——都没有先对任务进行概率×后果的独立评估，而是用统一的、未经区分的策略应对所有任务。</a:t>
            </a:r>
            <a:endParaRPr lang="en-US" sz="1250" dirty="0"/>
          </a:p>
        </p:txBody>
      </p:sp>
      <p:sp>
        <p:nvSpPr>
          <p:cNvPr id="19" name="Shape 17"/>
          <p:cNvSpPr/>
          <p:nvPr/>
        </p:nvSpPr>
        <p:spPr>
          <a:xfrm>
            <a:off x="548640" y="6446520"/>
            <a:ext cx="11091672" cy="0"/>
          </a:xfrm>
          <a:prstGeom prst="line">
            <a:avLst/>
          </a:prstGeom>
          <a:noFill/>
          <a:ln w="9525">
            <a:solidFill>
              <a:srgbClr val="C7CDDB"/>
            </a:solidFill>
            <a:prstDash val="solid"/>
          </a:ln>
        </p:spPr>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21" name="Text 19"/>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认知框架的第二次跃迁——判断主体的角色转变</a:t>
            </a:r>
            <a:endParaRPr lang="en-US" sz="2700" dirty="0"/>
          </a:p>
        </p:txBody>
      </p:sp>
      <p:sp>
        <p:nvSpPr>
          <p:cNvPr id="6" name="Text 4"/>
          <p:cNvSpPr/>
          <p:nvPr/>
        </p:nvSpPr>
        <p:spPr>
          <a:xfrm>
            <a:off x="548640" y="1691640"/>
            <a:ext cx="10881360" cy="566928"/>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模块一讨论了从“技术执行者”到“技术判断者”的跃迁，本模块在此基础上进一步细化：技术判断者这一角色，在面对风险分级问题时，需要完成一次更具体的认知转变——</a:t>
            </a:r>
            <a:endParaRPr lang="en-US" sz="1250" dirty="0"/>
          </a:p>
        </p:txBody>
      </p:sp>
      <p:sp>
        <p:nvSpPr>
          <p:cNvPr id="7" name="Text 5"/>
          <p:cNvSpPr/>
          <p:nvPr/>
        </p:nvSpPr>
        <p:spPr>
          <a:xfrm>
            <a:off x="2377440" y="2395728"/>
            <a:ext cx="2560320" cy="457200"/>
          </a:xfrm>
          <a:prstGeom prst="rect">
            <a:avLst/>
          </a:prstGeom>
          <a:noFill/>
          <a:ln/>
        </p:spPr>
        <p:txBody>
          <a:bodyPr wrap="square" rtlCol="0" anchor="ctr"/>
          <a:lstStyle/>
          <a:p>
            <a:pPr algn="ctr" indent="0" marL="0">
              <a:buNone/>
            </a:pPr>
            <a:r>
              <a:rPr lang="en-US" sz="2000" i="1" dirty="0">
                <a:solidFill>
                  <a:srgbClr val="5B6270"/>
                </a:solidFill>
                <a:latin typeface="Cambria" pitchFamily="34" charset="0"/>
                <a:ea typeface="Cambria" pitchFamily="34" charset="-122"/>
                <a:cs typeface="Cambria" pitchFamily="34" charset="-120"/>
              </a:rPr>
              <a:t>技术权威</a:t>
            </a:r>
            <a:endParaRPr lang="en-US" sz="2000" dirty="0"/>
          </a:p>
        </p:txBody>
      </p:sp>
      <p:sp>
        <p:nvSpPr>
          <p:cNvPr id="8" name="Text 6"/>
          <p:cNvSpPr/>
          <p:nvPr/>
        </p:nvSpPr>
        <p:spPr>
          <a:xfrm>
            <a:off x="5029200" y="2395728"/>
            <a:ext cx="548640" cy="457200"/>
          </a:xfrm>
          <a:prstGeom prst="rect">
            <a:avLst/>
          </a:prstGeom>
          <a:noFill/>
          <a:ln/>
        </p:spPr>
        <p:txBody>
          <a:bodyPr wrap="square" rtlCol="0" anchor="ctr"/>
          <a:lstStyle/>
          <a:p>
            <a:pPr algn="ctr" indent="0" marL="0">
              <a:buNone/>
            </a:pPr>
            <a:r>
              <a:rPr lang="en-US" sz="2200" b="1" dirty="0">
                <a:solidFill>
                  <a:srgbClr val="9C5536"/>
                </a:solidFill>
              </a:rPr>
              <a:t>→</a:t>
            </a:r>
            <a:endParaRPr lang="en-US" sz="2200" dirty="0"/>
          </a:p>
        </p:txBody>
      </p:sp>
      <p:sp>
        <p:nvSpPr>
          <p:cNvPr id="9" name="Text 7"/>
          <p:cNvSpPr/>
          <p:nvPr/>
        </p:nvSpPr>
        <p:spPr>
          <a:xfrm>
            <a:off x="5669280" y="2395728"/>
            <a:ext cx="2560320" cy="457200"/>
          </a:xfrm>
          <a:prstGeom prst="rect">
            <a:avLst/>
          </a:prstGeom>
          <a:noFill/>
          <a:ln/>
        </p:spPr>
        <p:txBody>
          <a:bodyPr wrap="square" rtlCol="0" anchor="ctr"/>
          <a:lstStyle/>
          <a:p>
            <a:pPr algn="ctr" indent="0" marL="0">
              <a:buNone/>
            </a:pPr>
            <a:r>
              <a:rPr lang="en-US" sz="2000" b="1" dirty="0">
                <a:solidFill>
                  <a:srgbClr val="1B2A4A"/>
                </a:solidFill>
                <a:latin typeface="Cambria" pitchFamily="34" charset="0"/>
                <a:ea typeface="Cambria" pitchFamily="34" charset="-122"/>
                <a:cs typeface="Cambria" pitchFamily="34" charset="-120"/>
              </a:rPr>
              <a:t>风险仲裁者</a:t>
            </a:r>
            <a:endParaRPr lang="en-US" sz="2000" dirty="0"/>
          </a:p>
        </p:txBody>
      </p:sp>
      <p:sp>
        <p:nvSpPr>
          <p:cNvPr id="10" name="Text 8"/>
          <p:cNvSpPr/>
          <p:nvPr/>
        </p:nvSpPr>
        <p:spPr>
          <a:xfrm>
            <a:off x="548640" y="310896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技术权威的认知模式</a:t>
            </a:r>
            <a:endParaRPr lang="en-US" sz="1300" dirty="0"/>
          </a:p>
        </p:txBody>
      </p:sp>
      <p:sp>
        <p:nvSpPr>
          <p:cNvPr id="11" name="Shape 9"/>
          <p:cNvSpPr/>
          <p:nvPr/>
        </p:nvSpPr>
        <p:spPr>
          <a:xfrm>
            <a:off x="548640" y="3456432"/>
            <a:ext cx="5257800" cy="0"/>
          </a:xfrm>
          <a:prstGeom prst="line">
            <a:avLst/>
          </a:prstGeom>
          <a:noFill/>
          <a:ln w="12700">
            <a:solidFill>
              <a:srgbClr val="E3E7EF"/>
            </a:solidFill>
            <a:prstDash val="solid"/>
          </a:ln>
        </p:spPr>
      </p:sp>
      <p:sp>
        <p:nvSpPr>
          <p:cNvPr id="12" name="Text 10"/>
          <p:cNvSpPr/>
          <p:nvPr/>
        </p:nvSpPr>
        <p:spPr>
          <a:xfrm>
            <a:off x="548640" y="3566160"/>
            <a:ext cx="5257800" cy="640080"/>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“我是团队里技术最好的人，所以我应该亲自检查/决定技术方案的对错。”</a:t>
            </a:r>
            <a:endParaRPr lang="en-US" sz="1250" dirty="0"/>
          </a:p>
        </p:txBody>
      </p:sp>
      <p:sp>
        <p:nvSpPr>
          <p:cNvPr id="13" name="Text 11"/>
          <p:cNvSpPr/>
          <p:nvPr/>
        </p:nvSpPr>
        <p:spPr>
          <a:xfrm>
            <a:off x="548640" y="4297680"/>
            <a:ext cx="5257800" cy="822960"/>
          </a:xfrm>
          <a:prstGeom prst="rect">
            <a:avLst/>
          </a:prstGeom>
          <a:noFill/>
          <a:ln/>
        </p:spPr>
        <p:txBody>
          <a:bodyPr wrap="square" rtlCol="0" anchor="ctr"/>
          <a:lstStyle/>
          <a:p>
            <a:pPr indent="0" marL="0">
              <a:lnSpc>
                <a:spcPct val="125000"/>
              </a:lnSpc>
              <a:buNone/>
            </a:pPr>
            <a:r>
              <a:rPr lang="en-US" sz="1180" dirty="0">
                <a:solidFill>
                  <a:srgbClr val="5B6270"/>
                </a:solidFill>
                <a:latin typeface="Calibri" pitchFamily="34" charset="0"/>
                <a:ea typeface="Calibri" pitchFamily="34" charset="-122"/>
                <a:cs typeface="Calibri" pitchFamily="34" charset="-120"/>
              </a:rPr>
              <a:t>这种模式下，管理者评估任务的标准是“这个技术方案是否正确”，他依赖的是自己的技术能力排名。</a:t>
            </a:r>
            <a:endParaRPr lang="en-US" sz="1180" dirty="0"/>
          </a:p>
        </p:txBody>
      </p:sp>
      <p:sp>
        <p:nvSpPr>
          <p:cNvPr id="14" name="Shape 12"/>
          <p:cNvSpPr/>
          <p:nvPr/>
        </p:nvSpPr>
        <p:spPr>
          <a:xfrm>
            <a:off x="6080760" y="3108960"/>
            <a:ext cx="0" cy="2331720"/>
          </a:xfrm>
          <a:prstGeom prst="line">
            <a:avLst/>
          </a:prstGeom>
          <a:noFill/>
          <a:ln w="12700">
            <a:solidFill>
              <a:srgbClr val="E3E7EF"/>
            </a:solidFill>
            <a:prstDash val="solid"/>
          </a:ln>
        </p:spPr>
      </p:sp>
      <p:sp>
        <p:nvSpPr>
          <p:cNvPr id="15" name="Text 13"/>
          <p:cNvSpPr/>
          <p:nvPr/>
        </p:nvSpPr>
        <p:spPr>
          <a:xfrm>
            <a:off x="6519672" y="310896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风险仲裁者的认知模式</a:t>
            </a:r>
            <a:endParaRPr lang="en-US" sz="1300" dirty="0"/>
          </a:p>
        </p:txBody>
      </p:sp>
      <p:sp>
        <p:nvSpPr>
          <p:cNvPr id="16" name="Shape 14"/>
          <p:cNvSpPr/>
          <p:nvPr/>
        </p:nvSpPr>
        <p:spPr>
          <a:xfrm>
            <a:off x="6519672" y="3456432"/>
            <a:ext cx="5257800" cy="0"/>
          </a:xfrm>
          <a:prstGeom prst="line">
            <a:avLst/>
          </a:prstGeom>
          <a:noFill/>
          <a:ln w="12700">
            <a:solidFill>
              <a:srgbClr val="E3E7EF"/>
            </a:solidFill>
            <a:prstDash val="solid"/>
          </a:ln>
        </p:spPr>
      </p:sp>
      <p:sp>
        <p:nvSpPr>
          <p:cNvPr id="17" name="Text 15"/>
          <p:cNvSpPr/>
          <p:nvPr/>
        </p:nvSpPr>
        <p:spPr>
          <a:xfrm>
            <a:off x="6519672" y="3566160"/>
            <a:ext cx="5257800" cy="640080"/>
          </a:xfrm>
          <a:prstGeom prst="rect">
            <a:avLst/>
          </a:prstGeom>
          <a:noFill/>
          <a:ln/>
        </p:spPr>
        <p:txBody>
          <a:bodyPr wrap="square" rtlCol="0" anchor="ctr"/>
          <a:lstStyle/>
          <a:p>
            <a:pPr indent="0" marL="0">
              <a:lnSpc>
                <a:spcPct val="120000"/>
              </a:lnSpc>
              <a:buNone/>
            </a:pPr>
            <a:r>
              <a:rPr lang="en-US" sz="1250" i="1" dirty="0">
                <a:solidFill>
                  <a:srgbClr val="1B2A4A"/>
                </a:solidFill>
                <a:latin typeface="Cambria" pitchFamily="34" charset="0"/>
                <a:ea typeface="Cambria" pitchFamily="34" charset="-122"/>
                <a:cs typeface="Cambria" pitchFamily="34" charset="-120"/>
              </a:rPr>
              <a:t>“我的职责不是判断每个技术方案是否完美，而是判断每个任务所处的风险区间，并据此分配相应的管理资源。”</a:t>
            </a:r>
            <a:endParaRPr lang="en-US" sz="1250" dirty="0"/>
          </a:p>
        </p:txBody>
      </p:sp>
      <p:sp>
        <p:nvSpPr>
          <p:cNvPr id="18" name="Text 16"/>
          <p:cNvSpPr/>
          <p:nvPr/>
        </p:nvSpPr>
        <p:spPr>
          <a:xfrm>
            <a:off x="6519672" y="4297680"/>
            <a:ext cx="5257800" cy="822960"/>
          </a:xfrm>
          <a:prstGeom prst="rect">
            <a:avLst/>
          </a:prstGeom>
          <a:noFill/>
          <a:ln/>
        </p:spPr>
        <p:txBody>
          <a:bodyPr wrap="square" rtlCol="0" anchor="ctr"/>
          <a:lstStyle/>
          <a:p>
            <a:pPr indent="0" marL="0">
              <a:lnSpc>
                <a:spcPct val="125000"/>
              </a:lnSpc>
              <a:buNone/>
            </a:pPr>
            <a:r>
              <a:rPr lang="en-US" sz="1180" dirty="0">
                <a:solidFill>
                  <a:srgbClr val="5B6270"/>
                </a:solidFill>
                <a:latin typeface="Calibri" pitchFamily="34" charset="0"/>
                <a:ea typeface="Calibri" pitchFamily="34" charset="-122"/>
                <a:cs typeface="Calibri" pitchFamily="34" charset="-120"/>
              </a:rPr>
              <a:t>这种模式下，管理者评估任务的标准是“这个任务的风险坐标是什么”，他依赖的是结构化的风险判断框架。</a:t>
            </a:r>
            <a:endParaRPr lang="en-US" sz="1180" dirty="0"/>
          </a:p>
        </p:txBody>
      </p:sp>
      <p:sp>
        <p:nvSpPr>
          <p:cNvPr id="19" name="Shape 17"/>
          <p:cNvSpPr/>
          <p:nvPr/>
        </p:nvSpPr>
        <p:spPr>
          <a:xfrm>
            <a:off x="548640" y="5623560"/>
            <a:ext cx="10881360" cy="0"/>
          </a:xfrm>
          <a:prstGeom prst="line">
            <a:avLst/>
          </a:prstGeom>
          <a:noFill/>
          <a:ln w="12700">
            <a:solidFill>
              <a:srgbClr val="E3E7EF"/>
            </a:solidFill>
            <a:prstDash val="solid"/>
          </a:ln>
        </p:spPr>
      </p:sp>
      <p:sp>
        <p:nvSpPr>
          <p:cNvPr id="20" name="Text 18"/>
          <p:cNvSpPr/>
          <p:nvPr/>
        </p:nvSpPr>
        <p:spPr>
          <a:xfrm>
            <a:off x="548640" y="5715000"/>
            <a:ext cx="10881360" cy="457200"/>
          </a:xfrm>
          <a:prstGeom prst="rect">
            <a:avLst/>
          </a:prstGeom>
          <a:noFill/>
          <a:ln/>
        </p:spPr>
        <p:txBody>
          <a:bodyPr wrap="square" rtlCol="0" anchor="ctr"/>
          <a:lstStyle/>
          <a:p>
            <a:pPr indent="0" marL="0">
              <a:lnSpc>
                <a:spcPct val="120000"/>
              </a:lnSpc>
              <a:buNone/>
            </a:pPr>
            <a:r>
              <a:rPr lang="en-US" sz="1250" i="1" dirty="0">
                <a:solidFill>
                  <a:srgbClr val="9C5536"/>
                </a:solidFill>
                <a:latin typeface="Calibri" pitchFamily="34" charset="0"/>
                <a:ea typeface="Calibri" pitchFamily="34" charset="-122"/>
                <a:cs typeface="Calibri" pitchFamily="34" charset="-120"/>
              </a:rPr>
              <a:t>这个转变的关键区别在于：技术权威关心“对不对”，风险仲裁者关心“值不值得为这件事投入多少管理资源去确保它对”。</a:t>
            </a:r>
            <a:endParaRPr lang="en-US" sz="125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风险仲裁者不能脱离技术理解</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风险仲裁退化为纯流程打分</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管理者把风险分级简化为一张不需要技术理解就能填写的检查表（比如机械地数“涉及几个模块”），风险评估会失去准确性。准确判断“这个调度逻辑变更的概率维度有多高”，仍然需要管理者对该技术领域有足够的理解积累——风险仲裁者不是不需要技术理解，而是不需要亲自实现。</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把“仲裁”误解为“甩锅”</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风险仲裁者的角色不是把所有判断都丢给一套“客观”框架，自己不承担判断责任。框架提供的是判断的结构，最终的风险等级评定和应对策略，仍然需要管理者结合具体情境做出负责任的决策——框架是辅助判断的工具，不是替代判断责任的挡箭牌。</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841248"/>
          </a:xfrm>
          <a:prstGeom prst="rect">
            <a:avLst/>
          </a:prstGeom>
          <a:noFill/>
          <a:ln/>
        </p:spPr>
        <p:txBody>
          <a:bodyPr wrap="square" rtlCol="0" anchor="ctr"/>
          <a:lstStyle/>
          <a:p>
            <a:pPr indent="0" marL="0">
              <a:lnSpc>
                <a:spcPct val="125000"/>
              </a:lnSpc>
              <a:buNone/>
            </a:pPr>
            <a:r>
              <a:rPr lang="en-US" sz="1300" i="1" dirty="0">
                <a:solidFill>
                  <a:srgbClr val="1B2A4A"/>
                </a:solidFill>
                <a:latin typeface="Cambria" pitchFamily="34" charset="0"/>
                <a:ea typeface="Cambria" pitchFamily="34" charset="-122"/>
                <a:cs typeface="Cambria" pitchFamily="34" charset="-120"/>
              </a:rPr>
              <a:t>风险仲裁者这个角色的有效性，建立在“持续维持技术理解”与“使用结构化框架辅助判断”两者的结合之上。脱离技术理解，框架会被错误地套用；脱离结构化框架，判断会退回到纯粹依赖个人经验和直觉的不稳定状态。</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二（概率维度评估）</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风险仲裁者如何评估“概率”维度</a:t>
            </a:r>
            <a:endParaRPr lang="en-US" sz="2700" dirty="0"/>
          </a:p>
        </p:txBody>
      </p:sp>
      <p:sp>
        <p:nvSpPr>
          <p:cNvPr id="6" name="Text 4"/>
          <p:cNvSpPr/>
          <p:nvPr/>
        </p:nvSpPr>
        <p:spPr>
          <a:xfrm>
            <a:off x="548640" y="1691640"/>
            <a:ext cx="10881360" cy="548640"/>
          </a:xfrm>
          <a:prstGeom prst="rect">
            <a:avLst/>
          </a:prstGeom>
          <a:noFill/>
          <a:ln/>
        </p:spPr>
        <p:txBody>
          <a:bodyPr wrap="square" rtlCol="0" anchor="ctr"/>
          <a:lstStyle/>
          <a:p>
            <a:pPr indent="0" marL="0">
              <a:lnSpc>
                <a:spcPct val="125000"/>
              </a:lnSpc>
              <a:buNone/>
            </a:pPr>
            <a:r>
              <a:rPr lang="en-US" sz="1280" dirty="0">
                <a:solidFill>
                  <a:srgbClr val="2B2F36"/>
                </a:solidFill>
                <a:latin typeface="Calibri" pitchFamily="34" charset="0"/>
                <a:ea typeface="Calibri" pitchFamily="34" charset="-122"/>
                <a:cs typeface="Calibri" pitchFamily="34" charset="-120"/>
              </a:rPr>
              <a:t>某CIM团队计划让一名入职18个月的工程师独立负责一次中等规模的MES接口升级。组长在评估这个任务的概率维度时，没有直接凭印象判断，而是做了三步分析：</a:t>
            </a:r>
            <a:endParaRPr lang="en-US" sz="1280" dirty="0"/>
          </a:p>
        </p:txBody>
      </p:sp>
      <p:sp>
        <p:nvSpPr>
          <p:cNvPr id="7" name="Text 5"/>
          <p:cNvSpPr/>
          <p:nvPr/>
        </p:nvSpPr>
        <p:spPr>
          <a:xfrm>
            <a:off x="548640" y="237744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a:t>
            </a:r>
            <a:endParaRPr lang="en-US" sz="1300" dirty="0"/>
          </a:p>
        </p:txBody>
      </p:sp>
      <p:sp>
        <p:nvSpPr>
          <p:cNvPr id="8" name="Text 6"/>
          <p:cNvSpPr/>
          <p:nvPr/>
        </p:nvSpPr>
        <p:spPr>
          <a:xfrm>
            <a:off x="1463040" y="237744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梳理该接口升级涉及的边界条件数量（涉及3个上下游系统的状态同步，边界条件偏多）。</a:t>
            </a:r>
            <a:endParaRPr lang="en-US" sz="1230" dirty="0"/>
          </a:p>
        </p:txBody>
      </p:sp>
      <p:sp>
        <p:nvSpPr>
          <p:cNvPr id="9" name="Text 7"/>
          <p:cNvSpPr/>
          <p:nvPr/>
        </p:nvSpPr>
        <p:spPr>
          <a:xfrm>
            <a:off x="548640" y="315468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a:t>
            </a:r>
            <a:endParaRPr lang="en-US" sz="1300" dirty="0"/>
          </a:p>
        </p:txBody>
      </p:sp>
      <p:sp>
        <p:nvSpPr>
          <p:cNvPr id="10" name="Text 8"/>
          <p:cNvSpPr/>
          <p:nvPr/>
        </p:nvSpPr>
        <p:spPr>
          <a:xfrm>
            <a:off x="1463040" y="315468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对照这名工程师过去处理类似复杂度任务的历史记录（此前独立完成过2次中等复杂度任务，均无重大问题，但都不涉及多系统状态同步）。</a:t>
            </a:r>
            <a:endParaRPr lang="en-US" sz="1230" dirty="0"/>
          </a:p>
        </p:txBody>
      </p:sp>
      <p:sp>
        <p:nvSpPr>
          <p:cNvPr id="11" name="Text 9"/>
          <p:cNvSpPr/>
          <p:nvPr/>
        </p:nvSpPr>
        <p:spPr>
          <a:xfrm>
            <a:off x="548640" y="393192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a:t>
            </a:r>
            <a:endParaRPr lang="en-US" sz="1300" dirty="0"/>
          </a:p>
        </p:txBody>
      </p:sp>
      <p:sp>
        <p:nvSpPr>
          <p:cNvPr id="12" name="Text 10"/>
          <p:cNvSpPr/>
          <p:nvPr/>
        </p:nvSpPr>
        <p:spPr>
          <a:xfrm>
            <a:off x="1463040" y="393192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识别出“多系统状态同步”是这名工程师尚未独立处理过的新风险点。</a:t>
            </a:r>
            <a:endParaRPr lang="en-US" sz="1230" dirty="0"/>
          </a:p>
        </p:txBody>
      </p:sp>
      <p:sp>
        <p:nvSpPr>
          <p:cNvPr id="13" name="Shape 11"/>
          <p:cNvSpPr/>
          <p:nvPr/>
        </p:nvSpPr>
        <p:spPr>
          <a:xfrm>
            <a:off x="548640" y="4800600"/>
            <a:ext cx="0" cy="1143000"/>
          </a:xfrm>
          <a:prstGeom prst="line">
            <a:avLst/>
          </a:prstGeom>
          <a:noFill/>
          <a:ln w="38100">
            <a:solidFill>
              <a:srgbClr val="1B2A4A"/>
            </a:solidFill>
            <a:prstDash val="solid"/>
          </a:ln>
        </p:spPr>
      </p:sp>
      <p:sp>
        <p:nvSpPr>
          <p:cNvPr id="14" name="Text 12"/>
          <p:cNvSpPr/>
          <p:nvPr/>
        </p:nvSpPr>
        <p:spPr>
          <a:xfrm>
            <a:off x="777240" y="4800600"/>
            <a:ext cx="10424160" cy="1097280"/>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基于这三步分析，组长将这个任务的概率维度判断为“中等偏高”（不是因为不信任这名工程师，而是因为这是一个结构性的新风险点），并设计了一个额外的中间检查点专门针对状态同步逻辑做评审，其余部分维持正常授权强度。概率评估不是对人的信任程度打分，而是对任务结构性风险因素的拆解。</a:t>
            </a:r>
            <a:endParaRPr lang="en-US" sz="125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概率维度评估</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三（后果严重度评估）</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风险仲裁者如何评估“后果严重度”维度</a:t>
            </a:r>
            <a:endParaRPr lang="en-US" sz="2700" dirty="0"/>
          </a:p>
        </p:txBody>
      </p:sp>
      <p:sp>
        <p:nvSpPr>
          <p:cNvPr id="6" name="Text 4"/>
          <p:cNvSpPr/>
          <p:nvPr/>
        </p:nvSpPr>
        <p:spPr>
          <a:xfrm>
            <a:off x="548640" y="1691640"/>
            <a:ext cx="10881360" cy="105156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某次CIM系统升级中，团队需要同时处理两个变更请求：一个是优化某监控看板的展示逻辑（技术实现复杂度中等），另一个是调整某产线的批次合并规则（技术实现复杂度较低，代码量很小）。如果仅以“技术实现复杂度”作为后果严重度的判断依据，组长可能会认为监控看板优化的风险更高。</a:t>
            </a:r>
            <a:endParaRPr lang="en-US" sz="1250" dirty="0"/>
          </a:p>
        </p:txBody>
      </p:sp>
      <p:sp>
        <p:nvSpPr>
          <p:cNvPr id="7" name="Text 5"/>
          <p:cNvSpPr/>
          <p:nvPr/>
        </p:nvSpPr>
        <p:spPr>
          <a:xfrm>
            <a:off x="548640" y="2788920"/>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但这名组长追问了一个关键问题：</a:t>
            </a:r>
            <a:endParaRPr lang="en-US" sz="1280" dirty="0"/>
          </a:p>
        </p:txBody>
      </p:sp>
      <p:sp>
        <p:nvSpPr>
          <p:cNvPr id="8" name="Text 6"/>
          <p:cNvSpPr/>
          <p:nvPr/>
        </p:nvSpPr>
        <p:spPr>
          <a:xfrm>
            <a:off x="548640" y="3136392"/>
            <a:ext cx="10881360" cy="96012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如果这个变更出错，会发生什么，能不能及时发现并回滚？”——监控看板出错的后果是数据展示错误，会被使用者很快发现且可随时回滚；而批次合并规则出错，可能导致不应合并的批次被错误合并，一旦投入后续工序，可能造成不可逆的批次混淆。</a:t>
            </a:r>
            <a:endParaRPr lang="en-US" sz="1230" dirty="0"/>
          </a:p>
        </p:txBody>
      </p:sp>
      <p:sp>
        <p:nvSpPr>
          <p:cNvPr id="9" name="Text 7"/>
          <p:cNvSpPr/>
          <p:nvPr/>
        </p:nvSpPr>
        <p:spPr>
          <a:xfrm>
            <a:off x="548640" y="425196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〔最终决策〕</a:t>
            </a:r>
            <a:endParaRPr lang="en-US" sz="1100" dirty="0"/>
          </a:p>
        </p:txBody>
      </p:sp>
      <p:sp>
        <p:nvSpPr>
          <p:cNvPr id="10" name="Text 8"/>
          <p:cNvSpPr/>
          <p:nvPr/>
        </p:nvSpPr>
        <p:spPr>
          <a:xfrm>
            <a:off x="548640" y="4553712"/>
            <a:ext cx="10881360" cy="41148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该组长对批次合并规则变更设置了远高于代码复杂度本身所“看起来需要”的审核强度。</a:t>
            </a:r>
            <a:endParaRPr lang="en-US" sz="1250" dirty="0"/>
          </a:p>
        </p:txBody>
      </p:sp>
      <p:sp>
        <p:nvSpPr>
          <p:cNvPr id="11" name="Shape 9"/>
          <p:cNvSpPr/>
          <p:nvPr/>
        </p:nvSpPr>
        <p:spPr>
          <a:xfrm>
            <a:off x="548640" y="5074920"/>
            <a:ext cx="0" cy="960120"/>
          </a:xfrm>
          <a:prstGeom prst="line">
            <a:avLst/>
          </a:prstGeom>
          <a:noFill/>
          <a:ln w="38100">
            <a:solidFill>
              <a:srgbClr val="1B2A4A"/>
            </a:solidFill>
            <a:prstDash val="solid"/>
          </a:ln>
        </p:spPr>
      </p:sp>
      <p:sp>
        <p:nvSpPr>
          <p:cNvPr id="12" name="Text 10"/>
          <p:cNvSpPr/>
          <p:nvPr/>
        </p:nvSpPr>
        <p:spPr>
          <a:xfrm>
            <a:off x="777240" y="5074920"/>
            <a:ext cx="10424160" cy="91440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这个案例说明：后果严重度的判断核心是“可逆性”和“发现及时性”，而不是表面的技术复杂度。</a:t>
            </a:r>
            <a:endParaRPr lang="en-US" sz="130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后果严重度评估</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风险分级中最常见的认知误区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“这个任务之前从来没出过问题，所以风险应该不高”</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把“概率维度的结构性评估”替换成了“历史频率的简单外推”。任务本身的结构性风险（边界条件数量、复杂度）不会因为过去运气好而降低，“从未出过问题”既可能说明任务本身概率确实低，也可能说明只是暂时没有触发某个潜在的边界条件——这两种情况在统计上有本质区别，仅凭历史频率无法区分。</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“这个任务代码量很小，应该没什么大风险”</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把“后果严重度”和“技术实现复杂度”混为一谈。代码量小的变更完全可能涉及高严重度的后果（比如触及不可逆的数据操作或核心业务规则），代码量本身和真正的风险后果之间并不存在可靠的相关性。</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风险分级中最常见的认知误区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“我对这个团队成员很有信心，所以可以降低这个任务的风险等级”</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对人的信任”和“对任务结构性风险的评估”两个独立变量。对执行者的信任应该影响“管理介入的方式”（比如更少的过程干预、更多的事后复核），而不应该影响“任务本身风险坐标的客观判定”——一个核心调度逻辑变更，无论谁来做，其后果严重度都是一样高的，信任只决定了概率维度里“这个人犯错的可能性”这一项参数。</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“只要设置了审批流程，风险就已经被控制住了”</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把“流程的存在”等同于“风险评估的质量”。一个形式化的审批流程，如果审批人没有花费足够的时间和技术理解去做出真正的风险判断（比如只是机械签字），这个流程提供的只是责任记录，而不是真正的风险控制。流程是风险仲裁的载体，不是风险仲裁本身。</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为什么人类天生不擅长准确评估概率和后果</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可得性启发法对风险判断的扭曲</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〔概念定义〕</a:t>
            </a:r>
            <a:endParaRPr lang="en-US" sz="1100" dirty="0"/>
          </a:p>
        </p:txBody>
      </p:sp>
      <p:sp>
        <p:nvSpPr>
          <p:cNvPr id="8" name="Text 6"/>
          <p:cNvSpPr/>
          <p:nvPr/>
        </p:nvSpPr>
        <p:spPr>
          <a:xfrm>
            <a:off x="548640" y="2240280"/>
            <a:ext cx="10881360" cy="7772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可得性启发法（Availability Heuristic）是认知心理学中一个被反复验证的现象：人们倾向于根据“某类事件在记忆中被回忆起来的容易程度”来估计其发生概率，而不是基于该事件的真实统计概率。</a:t>
            </a:r>
            <a:endParaRPr lang="en-US" sz="1250" dirty="0"/>
          </a:p>
        </p:txBody>
      </p:sp>
      <p:sp>
        <p:nvSpPr>
          <p:cNvPr id="9" name="Text 7"/>
          <p:cNvSpPr/>
          <p:nvPr/>
        </p:nvSpPr>
        <p:spPr>
          <a:xfrm>
            <a:off x="548640" y="3108960"/>
            <a:ext cx="10881360" cy="548640"/>
          </a:xfrm>
          <a:prstGeom prst="rect">
            <a:avLst/>
          </a:prstGeom>
          <a:noFill/>
          <a:ln/>
        </p:spPr>
        <p:txBody>
          <a:bodyPr wrap="square" rtlCol="0" anchor="ctr"/>
          <a:lstStyle/>
          <a:p>
            <a:pPr indent="0" marL="0">
              <a:lnSpc>
                <a:spcPct val="125000"/>
              </a:lnSpc>
              <a:buNone/>
            </a:pPr>
            <a:r>
              <a:rPr lang="en-US" sz="1300" b="1" dirty="0">
                <a:solidFill>
                  <a:srgbClr val="32436B"/>
                </a:solidFill>
                <a:latin typeface="Calibri" pitchFamily="34" charset="0"/>
                <a:ea typeface="Calibri" pitchFamily="34" charset="-122"/>
                <a:cs typeface="Calibri" pitchFamily="34" charset="-120"/>
              </a:rPr>
              <a:t>这个偏差在技术管理场景中有一个具体的表现：最近经历或听说过的案例，会系统性扭曲对未来概率的判断。</a:t>
            </a:r>
            <a:endParaRPr lang="en-US" sz="1300" dirty="0"/>
          </a:p>
        </p:txBody>
      </p:sp>
      <p:sp>
        <p:nvSpPr>
          <p:cNvPr id="10" name="Text 8"/>
          <p:cNvSpPr/>
          <p:nvPr/>
        </p:nvSpPr>
        <p:spPr>
          <a:xfrm>
            <a:off x="548640" y="3703320"/>
            <a:ext cx="10881360" cy="128016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如果管理者最近经历过（或听说过）某类任务出问题的案例，他会系统性高估这类任务未来再次出问题的概率；反之，如果某类任务很久没有出过问题（哪怕只是因为团队规模小、触发频率低），管理者会系统性低估其风险。这意味着，管理者对风险的“直觉”判断，本质上是被“最近记忆中发生过什么”所扭曲的，而不是对任务结构性风险的客观反映。</a:t>
            </a:r>
            <a:endParaRPr lang="en-US" sz="1230" dirty="0"/>
          </a:p>
        </p:txBody>
      </p:sp>
      <p:sp>
        <p:nvSpPr>
          <p:cNvPr id="11" name="Shape 9"/>
          <p:cNvSpPr/>
          <p:nvPr/>
        </p:nvSpPr>
        <p:spPr>
          <a:xfrm>
            <a:off x="548640" y="5120640"/>
            <a:ext cx="0" cy="960120"/>
          </a:xfrm>
          <a:prstGeom prst="line">
            <a:avLst/>
          </a:prstGeom>
          <a:noFill/>
          <a:ln w="38100">
            <a:solidFill>
              <a:srgbClr val="9C5536"/>
            </a:solidFill>
            <a:prstDash val="solid"/>
          </a:ln>
        </p:spPr>
      </p:sp>
      <p:sp>
        <p:nvSpPr>
          <p:cNvPr id="12" name="Text 10"/>
          <p:cNvSpPr/>
          <p:nvPr/>
        </p:nvSpPr>
        <p:spPr>
          <a:xfrm>
            <a:off x="777240" y="5120640"/>
            <a:ext cx="10424160" cy="91440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这正是为什么第3页提出的“概率×后果”框架需要被结构化地、显式地执行，而不能依赖管理者的直觉——直觉本身携带着系统性的、可预测方向的偏差，了解这个偏差的存在，是校正它的第一步。</a:t>
            </a:r>
            <a:endParaRPr lang="en-US" sz="130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可得性启发法</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风险评估为什么会随时间静默退化</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正常化偏差（Normalization of Deviance）</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〔概念定义〕</a:t>
            </a:r>
            <a:endParaRPr lang="en-US" sz="1100" dirty="0"/>
          </a:p>
        </p:txBody>
      </p:sp>
      <p:sp>
        <p:nvSpPr>
          <p:cNvPr id="8" name="Text 6"/>
          <p:cNvSpPr/>
          <p:nvPr/>
        </p:nvSpPr>
        <p:spPr>
          <a:xfrm>
            <a:off x="548640" y="2240280"/>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个概念最初源于对重大工业事故（包括航天领域的灾难性事故）的事后分析：当一个系统反复出现轻微的异常或偏离标准的操作，而没有立即导致严重后果，组织会逐渐把这种偏离“正常化”，即认为这种偏离是可以接受的常态，而不再视为需要警觉的风险信号。</a:t>
            </a:r>
            <a:endParaRPr lang="en-US" sz="1250" dirty="0"/>
          </a:p>
        </p:txBody>
      </p:sp>
      <p:sp>
        <p:nvSpPr>
          <p:cNvPr id="9" name="Text 7"/>
          <p:cNvSpPr/>
          <p:nvPr/>
        </p:nvSpPr>
        <p:spPr>
          <a:xfrm>
            <a:off x="548640" y="3246120"/>
            <a:ext cx="10881360" cy="640080"/>
          </a:xfrm>
          <a:prstGeom prst="rect">
            <a:avLst/>
          </a:prstGeom>
          <a:noFill/>
          <a:ln/>
        </p:spPr>
        <p:txBody>
          <a:bodyPr wrap="square" rtlCol="0" anchor="ctr"/>
          <a:lstStyle/>
          <a:p>
            <a:pPr indent="0" marL="0">
              <a:lnSpc>
                <a:spcPct val="125000"/>
              </a:lnSpc>
              <a:buNone/>
            </a:pPr>
            <a:r>
              <a:rPr lang="en-US" sz="1280" b="1" dirty="0">
                <a:solidFill>
                  <a:srgbClr val="32436B"/>
                </a:solidFill>
                <a:latin typeface="Calibri" pitchFamily="34" charset="0"/>
                <a:ea typeface="Calibri" pitchFamily="34" charset="-122"/>
                <a:cs typeface="Calibri" pitchFamily="34" charset="-120"/>
              </a:rPr>
              <a:t>在CIM管理场景中，这个效应表现为：某个本应被列为“高风险”的操作，因为前几次执行都没出问题，逐渐被团队和管理者共同“降级”对待。</a:t>
            </a:r>
            <a:endParaRPr lang="en-US" sz="1280" dirty="0"/>
          </a:p>
        </p:txBody>
      </p:sp>
      <p:sp>
        <p:nvSpPr>
          <p:cNvPr id="10" name="Text 8"/>
          <p:cNvSpPr/>
          <p:nvPr/>
        </p:nvSpPr>
        <p:spPr>
          <a:xfrm>
            <a:off x="548640" y="402336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〔退化路径〕</a:t>
            </a:r>
            <a:endParaRPr lang="en-US" sz="1100" dirty="0"/>
          </a:p>
        </p:txBody>
      </p:sp>
      <p:sp>
        <p:nvSpPr>
          <p:cNvPr id="11" name="Text 9"/>
          <p:cNvSpPr/>
          <p:nvPr/>
        </p:nvSpPr>
        <p:spPr>
          <a:xfrm>
            <a:off x="548640" y="4325112"/>
            <a:ext cx="10881360" cy="12344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审核变得敷衍，检查点被悄悄省略，直到某一次条件恰好不同，之前被掩盖的风险集中爆发。这个概念与第11页误区一（“从未出过问题所以风险不高”）形成机制层面的呼应：误区一描述的是单次的认知错误，而正常化偏差描述的是这种错误在组织内被反复强化、最终固化为集体习惯的动态过程。</a:t>
            </a:r>
            <a:endParaRPr lang="en-US" sz="1230" dirty="0"/>
          </a:p>
        </p:txBody>
      </p:sp>
      <p:sp>
        <p:nvSpPr>
          <p:cNvPr id="12" name="Shape 10"/>
          <p:cNvSpPr/>
          <p:nvPr/>
        </p:nvSpPr>
        <p:spPr>
          <a:xfrm>
            <a:off x="548640" y="5715000"/>
            <a:ext cx="0" cy="594360"/>
          </a:xfrm>
          <a:prstGeom prst="line">
            <a:avLst/>
          </a:prstGeom>
          <a:noFill/>
          <a:ln w="38100">
            <a:solidFill>
              <a:srgbClr val="1B2A4A"/>
            </a:solidFill>
            <a:prstDash val="solid"/>
          </a:ln>
        </p:spPr>
      </p:sp>
      <p:sp>
        <p:nvSpPr>
          <p:cNvPr id="13" name="Text 11"/>
          <p:cNvSpPr/>
          <p:nvPr/>
        </p:nvSpPr>
        <p:spPr>
          <a:xfrm>
            <a:off x="777240" y="5715000"/>
            <a:ext cx="10424160" cy="594360"/>
          </a:xfrm>
          <a:prstGeom prst="rect">
            <a:avLst/>
          </a:prstGeom>
          <a:noFill/>
          <a:ln/>
        </p:spPr>
        <p:txBody>
          <a:bodyPr wrap="square" rtlCol="0" anchor="ctr"/>
          <a:lstStyle/>
          <a:p>
            <a:pPr indent="0" marL="0">
              <a:lnSpc>
                <a:spcPct val="125000"/>
              </a:lnSpc>
              <a:buNone/>
            </a:pPr>
            <a:r>
              <a:rPr lang="en-US" sz="1300" i="1" dirty="0">
                <a:solidFill>
                  <a:srgbClr val="1B2A4A"/>
                </a:solidFill>
                <a:latin typeface="Cambria" pitchFamily="34" charset="0"/>
                <a:ea typeface="Cambria" pitchFamily="34" charset="-122"/>
                <a:cs typeface="Cambria" pitchFamily="34" charset="-120"/>
              </a:rPr>
              <a:t>对抗这种退化，需要管理者定期主动重新评估那些“已经很久没出问题”的高风险任务，而不是把“没出问题”本身当作风险已经消除的证据。</a:t>
            </a:r>
            <a:endParaRPr lang="en-US" sz="13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正常化偏差</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从框架到仲裁</a:t>
            </a:r>
            <a:endParaRPr lang="en-US" sz="34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回到第2页提出的核心问题：管理者真正需要的不是胆子大小的调整，而是一套能够把任务准确定位到风险坐标上的判断框架。现在可以给出完整的回答——这套能力建立在三层结构之上：</a:t>
            </a:r>
            <a:endParaRPr lang="en-US" sz="1300" dirty="0"/>
          </a:p>
        </p:txBody>
      </p:sp>
      <p:sp>
        <p:nvSpPr>
          <p:cNvPr id="6" name="Text 4"/>
          <p:cNvSpPr/>
          <p:nvPr/>
        </p:nvSpPr>
        <p:spPr>
          <a:xfrm>
            <a:off x="1188720" y="2788920"/>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788920"/>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（风险的结构）</a:t>
            </a:r>
            <a:endParaRPr lang="en-US" sz="1300" dirty="0"/>
          </a:p>
        </p:txBody>
      </p:sp>
      <p:sp>
        <p:nvSpPr>
          <p:cNvPr id="8" name="Text 6"/>
          <p:cNvSpPr/>
          <p:nvPr/>
        </p:nvSpPr>
        <p:spPr>
          <a:xfrm>
            <a:off x="4800600" y="2807208"/>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把笼统的“危险程度”拆解为概率与后果两个独立维度，基于结构性因素判断</a:t>
            </a:r>
            <a:endParaRPr lang="en-US" sz="1200" dirty="0"/>
          </a:p>
        </p:txBody>
      </p:sp>
      <p:sp>
        <p:nvSpPr>
          <p:cNvPr id="9" name="Text 7"/>
          <p:cNvSpPr/>
          <p:nvPr/>
        </p:nvSpPr>
        <p:spPr>
          <a:xfrm>
            <a:off x="1188720" y="3355848"/>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355848"/>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（角色的转变）</a:t>
            </a:r>
            <a:endParaRPr lang="en-US" sz="1300" dirty="0"/>
          </a:p>
        </p:txBody>
      </p:sp>
      <p:sp>
        <p:nvSpPr>
          <p:cNvPr id="11" name="Text 9"/>
          <p:cNvSpPr/>
          <p:nvPr/>
        </p:nvSpPr>
        <p:spPr>
          <a:xfrm>
            <a:off x="4800600" y="3374136"/>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从依赖个人技术权威的判断者，转变为依赖结构化框架的风险仲裁者</a:t>
            </a:r>
            <a:endParaRPr lang="en-US" sz="1200" dirty="0"/>
          </a:p>
        </p:txBody>
      </p:sp>
      <p:sp>
        <p:nvSpPr>
          <p:cNvPr id="12" name="Text 10"/>
          <p:cNvSpPr/>
          <p:nvPr/>
        </p:nvSpPr>
        <p:spPr>
          <a:xfrm>
            <a:off x="1188720" y="3922776"/>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3922776"/>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（偏差的校正）</a:t>
            </a:r>
            <a:endParaRPr lang="en-US" sz="1300" dirty="0"/>
          </a:p>
        </p:txBody>
      </p:sp>
      <p:sp>
        <p:nvSpPr>
          <p:cNvPr id="14" name="Text 12"/>
          <p:cNvSpPr/>
          <p:nvPr/>
        </p:nvSpPr>
        <p:spPr>
          <a:xfrm>
            <a:off x="4800600" y="3941064"/>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识别并主动对抗可得性启发法的概率误判，以及正常化偏差的静默退化</a:t>
            </a:r>
            <a:endParaRPr lang="en-US" sz="1200" dirty="0"/>
          </a:p>
        </p:txBody>
      </p:sp>
      <p:sp>
        <p:nvSpPr>
          <p:cNvPr id="15" name="Text 13"/>
          <p:cNvSpPr/>
          <p:nvPr/>
        </p:nvSpPr>
        <p:spPr>
          <a:xfrm>
            <a:off x="1188720" y="4572000"/>
            <a:ext cx="987552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三层认知结构共同构成了一种可训练、可复用、可向团队传授的判断能力——它不是与生俱来的“管理直觉”，而是一套可以被刻意练习的决策框架。这正是本课程下一模块（分级授权机制）的认知前提：只有先准确判断风险坐标，才能设计出与风险匹配的授权强度和检查点。</a:t>
            </a:r>
            <a:endParaRPr lang="en-US" sz="1250" dirty="0"/>
          </a:p>
        </p:txBody>
      </p:sp>
      <p:sp>
        <p:nvSpPr>
          <p:cNvPr id="16" name="Shape 14"/>
          <p:cNvSpPr/>
          <p:nvPr/>
        </p:nvSpPr>
        <p:spPr>
          <a:xfrm>
            <a:off x="1188720" y="5623560"/>
            <a:ext cx="3657600" cy="0"/>
          </a:xfrm>
          <a:prstGeom prst="line">
            <a:avLst/>
          </a:prstGeom>
          <a:noFill/>
          <a:ln w="12700">
            <a:solidFill>
              <a:srgbClr val="C7CDDB"/>
            </a:solidFill>
            <a:prstDash val="solid"/>
          </a:ln>
        </p:spPr>
      </p:sp>
      <p:sp>
        <p:nvSpPr>
          <p:cNvPr id="17" name="Text 15"/>
          <p:cNvSpPr/>
          <p:nvPr/>
        </p:nvSpPr>
        <p:spPr>
          <a:xfrm>
            <a:off x="1188720" y="5760720"/>
            <a:ext cx="7315200" cy="457200"/>
          </a:xfrm>
          <a:prstGeom prst="rect">
            <a:avLst/>
          </a:prstGeom>
          <a:noFill/>
          <a:ln/>
        </p:spPr>
        <p:txBody>
          <a:bodyPr wrap="square" rtlCol="0" anchor="ctr"/>
          <a:lstStyle/>
          <a:p>
            <a:pPr indent="0" marL="0">
              <a:buNone/>
            </a:pPr>
            <a:r>
              <a:rPr lang="en-US" sz="1600" b="1" i="1" dirty="0">
                <a:solidFill>
                  <a:srgbClr val="1B2A4A"/>
                </a:solidFill>
                <a:latin typeface="Cambria" pitchFamily="34" charset="0"/>
                <a:ea typeface="Cambria" pitchFamily="34" charset="-122"/>
                <a:cs typeface="Cambria" pitchFamily="34" charset="-120"/>
              </a:rPr>
              <a:t>判断在前，授权在后。</a:t>
            </a:r>
            <a:endParaRPr lang="en-US" sz="16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团队中一名工程师提出要修改某个监控脚本的报警阈值逻辑，这个脚本过去两年从未出过问题，代码量也很小。你会如何评估这个任务的风险等级？请说明你的判断依据。</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两名工程师分别向你申请独立负责一个任务：工程师A申请负责的任务代码量很大但都是非核心的数据可视化模块；工程师B申请负责的任务代码量很小，是调整一个批次流转规则的判断条件。如果你的管理时间有限，只能给其中一人安排额外的检查点，你会选择谁？请说明依据。</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你新带的团队里有一名你非常信任的资深工程师，他申请独立负责一次核心调度逻辑的重构。你认为可以适当降低对这个任务的审核强度吗？请说明你的判断依据。</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模块二 · 技术判断力</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你的团队已经连续一年没有发生任何停线事故，团队成员普遍反馈“现在的审核流程太繁琐，拖慢了交付速度”，他们建议简化审核流程。作为主管，你会如何回应这个建议？这个场景中存在哪些认知陷阱？</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为团队设计了一套完整的概率×后果风险评估表格，要求所有任务在排期前先填写评估表格再分配。三个月后你发现，团队成员普遍能够熟练填写表格、给出风险等级评分，但实际的任务分配和检查点设置，似乎并没有因为风险等级的不同而产生实质性差异——所有任务大致都获得了相似强度的管理介入。这说明了什么问题？</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技术判断力：停线风险分级 · 理论精读版</dc:title>
  <dc:subject>PptxGenJS Presentation</dc:subject>
  <dc:creator>PptxGenJS</dc:creator>
  <cp:lastModifiedBy>PptxGenJS</cp:lastModifiedBy>
  <cp:revision>1</cp:revision>
  <dcterms:created xsi:type="dcterms:W3CDTF">2026-06-18T14:26:15Z</dcterms:created>
  <dcterms:modified xsi:type="dcterms:W3CDTF">2026-06-18T14:26:15Z</dcterms:modified>
</cp:coreProperties>
</file>