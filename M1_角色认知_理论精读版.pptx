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封面页。本课程为理论精读型课件，强调认知框架的建立、论证与边界条件，不含互动讨论环节。建议授课时长50-60分钟，可作为模块一的正式讲授内容，区别于配套的实战工作坊材料。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用真实可信的行业观察建立认知钩子。强调这不是个体能力或态度问题，而是结构性的认知框架问题——这个定调对后续13页的理论展开至关重要。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讲解格鲁夫的核心命题，建立全篇理论地基。重点强调线性函数与乘数函数的本质区别——这个区别是后续所有论证的基础。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本页是深度版区别于速览版的关键页——主动指出理论的适用边界和常见误用方式，避免学员把框架当作教条死记。两个误用场景都需要结合CIM场景做举例说明。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从组织行为学角度系统性拆解，给出三个具体机制名称，增强理论的学术厚度。这三个机制将在第6页的案例中得到具象化验证。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具象化第3-5页的理论。强调关键差异不是速度而是产出定义范围的对比——这是呼应第3页线性函数vs乘数函数的最佳落地案例。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第二个核心理论框架。三组跃迁要逐一讲清楚行为标志，不要停留在抽象口号层面——后续第9-10页的案例分别对应跃迁一和跃迁二。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同样是深度版的关键页。强调跃迁不是开关式的全有全无，给出具体的时间精力比例建议（10-20%），让抽象理论变得可操作。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呼应第7-8页的跃迁一。这个案例的核心是展示“技术判断”的具体含量——不是不懂技术，而是用技术理解去做风险识别，而非亲自实现。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呼应第7-8页的跃迁二。核心是“次优当下、最优长期”的决策视野，呼应第3页提出的乘数函数概念——这里完成了理论闭环。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从理论转向纠偏视角，逐一拆解最常见的错误认知。要讲清楚每个误区的“错误根源”，不只是说“这是错的”，而是说清楚它错在哪个理论环节。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误区四直接对应第6页案例A的心理动机，可以在讲授时回扣案例。误区三和第5页机制一（替代性损失）形成理论呼应。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引入跨学科概念（认知心理学）增加理论厚度。重点讲清楚“技术自信被错误迁移到管理自信”这个具体机制，而不是泛泛而谈达克效应。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第二个跨学科延伸概念（组织学习理论）。这一页的“反馈延迟”机制解释，是为第15页“认知不会自动转化为行为”这个结论做铺垫。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收束全篇，呼应第2页开篇的核心问题，形成完整闭环。三层认知结构是全篇的核心框架图，建议授课时用白板再画一次强化记忆。结尾点出后续模块的衔接关系。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场景一 —— 对应第一层认知框架（产出定义，第3-4页）。
观察要点：回答中是否出现“只要不是高风险点，允许非最优方案推进”的逻辑；是否提到“最优”本身是工程师产出函数的标准，而非管理者产出函数的标准。若回答聚焦于“如何把方案改得更好”而非“是否应该让对方按自己的方案推进”，说明该学员仍停留在技术执行者思维，尚未完成第一层认知转换。
场景二 —— 对应第二层认知框架（角色坐标，第7-8页）。
观察要点：回答中是否识别出“这次报警已出现三次”这个关键信息——这意味着团队存在反复出现的能力缺口，亲自处理只是再次掩盖问题，而不解决问题。若学员选择“20分钟自己搞定”且未提及团队能力建设，说明仍停留在个人贡献者思维。若学员选择授权但未说明会如何介入风险控制（比如设置检查点），说明对“资源调配者”角色的理解还不完整，可能滑向另一极端。
场景三 —— 对应第三层认知框架（认知偏误，第13-14页，达克效应）。
观察要点：这是最能区分认知深度的题。理想的回答应该提到“这种自信感本身值得警惕”，并能联系到技术自信被错误迁移到管理自信的机制。如果学员的第一反应是认同这个评价（“确实，我现在处理问题更有把握了”），且没有任何自我怀疑或校准意识，这是一个需要重点关注的信号——说明达克效应的内容停留在“知道这个概念”层面，没有真正内化为自我觉察的工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场景四 —— 这是“替代性损失”机制（第5页机制一）的镜像场景，从团队视角而非主管视角切入，用来测试学员是否只会在“主管角度”识别问题，还是能识别团队内部自发形成的同构问题。
观察要点：合格的回答应指出，即便数据好看、个人有成就感，这个状态仍在制造单点瓶颈（机制二）和团队其他成员的能力闲置，长期会复制“个人英雄主义”在团队内部的负反馈循环，需要主管主动干预并重新分配任务。如果学员认为“产出好就不用管”，说明仍然在用结果指标代替机制判断，没有真正理解第5页的机制分析逻辑。
场景五 —— 这是第8页“边界与反例”的极端化测试场景，刻意设计成“完全执行理论建议却引发新问题”的情况，用来识别学员是否会把“技术判断者/资源调配者”理解为单向开关式的全面退出（第8页明确警告过的误用）。
观察要点：理想回答应识别出，三个月零参与导致管理者对一线技术现实的感知钝化（第8页反例二原话），即便目前没出大问题，这是一种风险积累状态，而非健康状态。理想回答应提到需要保留10-20%的一线接触比例（第8页边界条件）。如果学员认为“响应变慢但没出事，所以没问题”，说明对第8页边界条件的理解仅停留在文字层面，未能识别这正是边界条件被突破后的早期信号——这类回答需要重点跟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371600"/>
            <a:ext cx="0" cy="4206240"/>
          </a:xfrm>
          <a:prstGeom prst="line">
            <a:avLst/>
          </a:prstGeom>
          <a:noFill/>
          <a:ln w="19050">
            <a:solidFill>
              <a:srgbClr val="1B2A4A"/>
            </a:solidFill>
            <a:prstDash val="solid"/>
          </a:ln>
        </p:spPr>
      </p:sp>
      <p:sp>
        <p:nvSpPr>
          <p:cNvPr id="3" name="Text 1"/>
          <p:cNvSpPr/>
          <p:nvPr/>
        </p:nvSpPr>
        <p:spPr>
          <a:xfrm>
            <a:off x="1188720" y="150876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半导体CIM管理者认知课程</a:t>
            </a:r>
            <a:endParaRPr lang="en-US" sz="1300" dirty="0"/>
          </a:p>
        </p:txBody>
      </p:sp>
      <p:sp>
        <p:nvSpPr>
          <p:cNvPr id="4" name="Text 2"/>
          <p:cNvSpPr/>
          <p:nvPr/>
        </p:nvSpPr>
        <p:spPr>
          <a:xfrm>
            <a:off x="1188720" y="1920240"/>
            <a:ext cx="9144000" cy="411480"/>
          </a:xfrm>
          <a:prstGeom prst="rect">
            <a:avLst/>
          </a:prstGeom>
          <a:noFill/>
          <a:ln/>
        </p:spPr>
        <p:txBody>
          <a:bodyPr wrap="square" rtlCol="0" anchor="ctr"/>
          <a:lstStyle/>
          <a:p>
            <a:pPr indent="0" marL="0">
              <a:buNone/>
            </a:pPr>
            <a:r>
              <a:rPr lang="en-US" sz="1600" i="1" dirty="0">
                <a:solidFill>
                  <a:srgbClr val="9C5536"/>
                </a:solidFill>
                <a:latin typeface="Cambria" pitchFamily="34" charset="0"/>
                <a:ea typeface="Cambria" pitchFamily="34" charset="-122"/>
                <a:cs typeface="Cambria" pitchFamily="34" charset="-120"/>
              </a:rPr>
              <a:t>模块一</a:t>
            </a:r>
            <a:endParaRPr lang="en-US" sz="1600" dirty="0"/>
          </a:p>
        </p:txBody>
      </p:sp>
      <p:sp>
        <p:nvSpPr>
          <p:cNvPr id="5" name="Text 3"/>
          <p:cNvSpPr/>
          <p:nvPr/>
        </p:nvSpPr>
        <p:spPr>
          <a:xfrm>
            <a:off x="1188720" y="246888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角色认知：</a:t>
            </a:r>
            <a:endParaRPr lang="en-US" sz="4600" dirty="0"/>
          </a:p>
        </p:txBody>
      </p:sp>
      <p:sp>
        <p:nvSpPr>
          <p:cNvPr id="6" name="Text 4"/>
          <p:cNvSpPr/>
          <p:nvPr/>
        </p:nvSpPr>
        <p:spPr>
          <a:xfrm>
            <a:off x="1188720" y="324612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从工程师到主管</a:t>
            </a:r>
            <a:endParaRPr lang="en-US" sz="4600" dirty="0"/>
          </a:p>
        </p:txBody>
      </p:sp>
      <p:sp>
        <p:nvSpPr>
          <p:cNvPr id="7" name="Shape 5"/>
          <p:cNvSpPr/>
          <p:nvPr/>
        </p:nvSpPr>
        <p:spPr>
          <a:xfrm>
            <a:off x="1188720" y="4343400"/>
            <a:ext cx="4754880" cy="0"/>
          </a:xfrm>
          <a:prstGeom prst="line">
            <a:avLst/>
          </a:prstGeom>
          <a:noFill/>
          <a:ln w="12700">
            <a:solidFill>
              <a:srgbClr val="C7CDDB"/>
            </a:solidFill>
            <a:prstDash val="solid"/>
          </a:ln>
        </p:spPr>
      </p:sp>
      <p:sp>
        <p:nvSpPr>
          <p:cNvPr id="8" name="Text 6"/>
          <p:cNvSpPr/>
          <p:nvPr/>
        </p:nvSpPr>
        <p:spPr>
          <a:xfrm>
            <a:off x="1188720" y="4526280"/>
            <a:ext cx="8229600" cy="685800"/>
          </a:xfrm>
          <a:prstGeom prst="rect">
            <a:avLst/>
          </a:prstGeom>
          <a:noFill/>
          <a:ln/>
        </p:spPr>
        <p:txBody>
          <a:bodyPr wrap="square"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一份关于身份转变的理论框架</a:t>
            </a:r>
            <a:endParaRPr lang="en-US" sz="1400" dirty="0"/>
          </a:p>
          <a:p>
            <a:pPr indent="0" marL="0">
              <a:buNone/>
            </a:pPr>
            <a:r>
              <a:rPr lang="en-US" sz="1400" i="1" dirty="0">
                <a:solidFill>
                  <a:srgbClr val="5B6270"/>
                </a:solidFill>
                <a:latin typeface="Calibri" pitchFamily="34" charset="0"/>
                <a:ea typeface="Calibri" pitchFamily="34" charset="-122"/>
                <a:cs typeface="Calibri" pitchFamily="34" charset="-120"/>
              </a:rPr>
              <a:t>写给7–9年经验、初次带队的技术主管</a:t>
            </a:r>
            <a:endParaRPr lang="en-US" sz="1400" dirty="0"/>
          </a:p>
        </p:txBody>
      </p:sp>
      <p:sp>
        <p:nvSpPr>
          <p:cNvPr id="9" name="Text 7"/>
          <p:cNvSpPr/>
          <p:nvPr/>
        </p:nvSpPr>
        <p:spPr>
          <a:xfrm>
            <a:off x="1188720" y="6126480"/>
            <a:ext cx="5486400" cy="274320"/>
          </a:xfrm>
          <a:prstGeom prst="rect">
            <a:avLst/>
          </a:prstGeom>
          <a:noFill/>
          <a:ln/>
        </p:spPr>
        <p:txBody>
          <a:bodyPr wrap="square" rtlCol="0" anchor="ctr"/>
          <a:lstStyle/>
          <a:p>
            <a:pPr indent="0" marL="0">
              <a:buNone/>
            </a:pPr>
            <a:r>
              <a:rPr lang="en-US" sz="1000" dirty="0">
                <a:solidFill>
                  <a:srgbClr val="5B6270"/>
                </a:solidFill>
                <a:latin typeface="Calibri" pitchFamily="34" charset="0"/>
                <a:ea typeface="Calibri" pitchFamily="34" charset="-122"/>
                <a:cs typeface="Calibri" pitchFamily="34" charset="-120"/>
              </a:rPr>
              <a:t>理论精读版 · 全15讲</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现象与问题</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一个普遍存在却很少被讨论的现象</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〔观察一〕</a:t>
            </a:r>
            <a:endParaRPr lang="en-US" sz="1100" dirty="0"/>
          </a:p>
        </p:txBody>
      </p:sp>
      <p:sp>
        <p:nvSpPr>
          <p:cNvPr id="7" name="Text 5"/>
          <p:cNvSpPr/>
          <p:nvPr/>
        </p:nvSpPr>
        <p:spPr>
          <a:xfrm>
            <a:off x="548640" y="19659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晋升悖论</a:t>
            </a:r>
            <a:endParaRPr lang="en-US" sz="1500" dirty="0"/>
          </a:p>
        </p:txBody>
      </p:sp>
      <p:sp>
        <p:nvSpPr>
          <p:cNvPr id="8" name="Text 6"/>
          <p:cNvSpPr/>
          <p:nvPr/>
        </p:nvSpPr>
        <p:spPr>
          <a:xfrm>
            <a:off x="548640" y="2304288"/>
            <a:ext cx="10881360" cy="91440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管理学界长期记录一个现象——技术能力最强的员工，往往在晋升为主管后的头六个月表现出最强烈的职位适应障碍。这不是个例，而是结构性的。Gallup在跨行业管理者调研中发现，超过一半的新晋一线主管在转岗后的首年内主观工作时长上升，但团队产出未必同比例提升。</a:t>
            </a:r>
            <a:endParaRPr lang="en-US" sz="1250" dirty="0"/>
          </a:p>
        </p:txBody>
      </p:sp>
      <p:sp>
        <p:nvSpPr>
          <p:cNvPr id="9" name="Text 7"/>
          <p:cNvSpPr/>
          <p:nvPr/>
        </p:nvSpPr>
        <p:spPr>
          <a:xfrm>
            <a:off x="548640" y="3310128"/>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〔观察二〕</a:t>
            </a:r>
            <a:endParaRPr lang="en-US" sz="1100" dirty="0"/>
          </a:p>
        </p:txBody>
      </p:sp>
      <p:sp>
        <p:nvSpPr>
          <p:cNvPr id="10" name="Text 8"/>
          <p:cNvSpPr/>
          <p:nvPr/>
        </p:nvSpPr>
        <p:spPr>
          <a:xfrm>
            <a:off x="548640" y="3584448"/>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半导体行业的放大效应</a:t>
            </a:r>
            <a:endParaRPr lang="en-US" sz="1500" dirty="0"/>
          </a:p>
        </p:txBody>
      </p:sp>
      <p:sp>
        <p:nvSpPr>
          <p:cNvPr id="11" name="Text 9"/>
          <p:cNvSpPr/>
          <p:nvPr/>
        </p:nvSpPr>
        <p:spPr>
          <a:xfrm>
            <a:off x="548640" y="3922776"/>
            <a:ext cx="10881360" cy="77724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在CIM（计算机集成制造）这类高风险、高耦合的系统环境中，这个悖论被进一步放大：一次错误的授权决策，代价可能是停线；而一次该放手却没放手的决策，代价是团队成长的停滞和主管自身的过劳。</a:t>
            </a:r>
            <a:endParaRPr lang="en-US" sz="1250" dirty="0"/>
          </a:p>
        </p:txBody>
      </p:sp>
      <p:sp>
        <p:nvSpPr>
          <p:cNvPr id="12" name="Shape 10"/>
          <p:cNvSpPr/>
          <p:nvPr/>
        </p:nvSpPr>
        <p:spPr>
          <a:xfrm>
            <a:off x="548640" y="4892040"/>
            <a:ext cx="0" cy="1234440"/>
          </a:xfrm>
          <a:prstGeom prst="line">
            <a:avLst/>
          </a:prstGeom>
          <a:noFill/>
          <a:ln w="38100">
            <a:solidFill>
              <a:srgbClr val="9C5536"/>
            </a:solidFill>
            <a:prstDash val="solid"/>
          </a:ln>
        </p:spPr>
      </p:sp>
      <p:sp>
        <p:nvSpPr>
          <p:cNvPr id="13" name="Text 11"/>
          <p:cNvSpPr/>
          <p:nvPr/>
        </p:nvSpPr>
        <p:spPr>
          <a:xfrm>
            <a:off x="777240" y="489204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核心问题</a:t>
            </a:r>
            <a:endParaRPr lang="en-US" sz="1100" dirty="0"/>
          </a:p>
        </p:txBody>
      </p:sp>
      <p:sp>
        <p:nvSpPr>
          <p:cNvPr id="14" name="Text 12"/>
          <p:cNvSpPr/>
          <p:nvPr/>
        </p:nvSpPr>
        <p:spPr>
          <a:xfrm>
            <a:off x="777240" y="5193792"/>
            <a:ext cx="10424160" cy="868680"/>
          </a:xfrm>
          <a:prstGeom prst="rect">
            <a:avLst/>
          </a:prstGeom>
          <a:noFill/>
          <a:ln/>
        </p:spPr>
        <p:txBody>
          <a:bodyPr wrap="square" rtlCol="0" anchor="ctr"/>
          <a:lstStyle/>
          <a:p>
            <a:pPr indent="0" marL="0">
              <a:lnSpc>
                <a:spcPct val="130000"/>
              </a:lnSpc>
              <a:buNone/>
            </a:pPr>
            <a:r>
              <a:rPr lang="en-US" sz="1500" i="1" dirty="0">
                <a:solidFill>
                  <a:srgbClr val="1B2A4A"/>
                </a:solidFill>
                <a:latin typeface="Cambria" pitchFamily="34" charset="0"/>
                <a:ea typeface="Cambria" pitchFamily="34" charset="-122"/>
                <a:cs typeface="Cambria" pitchFamily="34" charset="-120"/>
              </a:rPr>
              <a:t>为什么最擅长“亲自把事情做好”的人，恰恰最容易在“让别人把事情做好”这件事上失败？这不是态度问题，是认知框架的问题。</a:t>
            </a:r>
            <a:endParaRPr lang="en-US" sz="15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现象与问题</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管理学的第一个反直觉认知</a:t>
            </a:r>
            <a:endParaRPr lang="en-US" sz="2700" dirty="0"/>
          </a:p>
        </p:txBody>
      </p:sp>
      <p:sp>
        <p:nvSpPr>
          <p:cNvPr id="6" name="Text 4"/>
          <p:cNvSpPr/>
          <p:nvPr/>
        </p:nvSpPr>
        <p:spPr>
          <a:xfrm>
            <a:off x="548640" y="1691640"/>
            <a:ext cx="10881360" cy="457200"/>
          </a:xfrm>
          <a:prstGeom prst="rect">
            <a:avLst/>
          </a:prstGeom>
          <a:noFill/>
          <a:ln/>
        </p:spPr>
        <p:txBody>
          <a:bodyPr wrap="square" rtlCol="0" anchor="ctr"/>
          <a:lstStyle/>
          <a:p>
            <a:pPr indent="0" marL="0">
              <a:lnSpc>
                <a:spcPct val="125000"/>
              </a:lnSpc>
              <a:buNone/>
            </a:pPr>
            <a:r>
              <a:rPr lang="en-US" sz="1300" dirty="0">
                <a:solidFill>
                  <a:srgbClr val="2B2F36"/>
                </a:solidFill>
                <a:latin typeface="Calibri" pitchFamily="34" charset="0"/>
                <a:ea typeface="Calibri" pitchFamily="34" charset="-122"/>
                <a:cs typeface="Calibri" pitchFamily="34" charset="-120"/>
              </a:rPr>
              <a:t>安迪·格鲁夫（Andrew Grove）在《高产出管理》中提出一个至今仍是管理学基石的命题：</a:t>
            </a:r>
            <a:endParaRPr lang="en-US" sz="1300" dirty="0"/>
          </a:p>
        </p:txBody>
      </p:sp>
      <p:sp>
        <p:nvSpPr>
          <p:cNvPr id="7" name="Shape 5"/>
          <p:cNvSpPr/>
          <p:nvPr/>
        </p:nvSpPr>
        <p:spPr>
          <a:xfrm>
            <a:off x="1005840" y="2286000"/>
            <a:ext cx="9418320" cy="0"/>
          </a:xfrm>
          <a:prstGeom prst="line">
            <a:avLst/>
          </a:prstGeom>
          <a:noFill/>
          <a:ln w="12700">
            <a:solidFill>
              <a:srgbClr val="8A6D1F"/>
            </a:solidFill>
            <a:prstDash val="solid"/>
          </a:ln>
        </p:spPr>
      </p:sp>
      <p:sp>
        <p:nvSpPr>
          <p:cNvPr id="8" name="Text 6"/>
          <p:cNvSpPr/>
          <p:nvPr/>
        </p:nvSpPr>
        <p:spPr>
          <a:xfrm>
            <a:off x="1005840" y="2423160"/>
            <a:ext cx="9418320" cy="502920"/>
          </a:xfrm>
          <a:prstGeom prst="rect">
            <a:avLst/>
          </a:prstGeom>
          <a:noFill/>
          <a:ln/>
        </p:spPr>
        <p:txBody>
          <a:bodyPr wrap="square" rtlCol="0" anchor="ctr"/>
          <a:lstStyle/>
          <a:p>
            <a:pPr algn="ctr" indent="0" marL="0">
              <a:buNone/>
            </a:pPr>
            <a:r>
              <a:rPr lang="en-US" sz="1600" i="1" dirty="0">
                <a:solidFill>
                  <a:srgbClr val="8A6D1F"/>
                </a:solidFill>
                <a:latin typeface="Cambria" pitchFamily="34" charset="0"/>
                <a:ea typeface="Cambria" pitchFamily="34" charset="-122"/>
                <a:cs typeface="Cambria" pitchFamily="34" charset="-120"/>
              </a:rPr>
              <a:t>“一个经理人的产出 = 他直接管辖的组织的产出 + 他施加影响力所及的相关组织的产出”</a:t>
            </a:r>
            <a:endParaRPr lang="en-US" sz="1600" dirty="0"/>
          </a:p>
        </p:txBody>
      </p:sp>
      <p:sp>
        <p:nvSpPr>
          <p:cNvPr id="9" name="Shape 7"/>
          <p:cNvSpPr/>
          <p:nvPr/>
        </p:nvSpPr>
        <p:spPr>
          <a:xfrm>
            <a:off x="1005840" y="2999232"/>
            <a:ext cx="9418320" cy="0"/>
          </a:xfrm>
          <a:prstGeom prst="line">
            <a:avLst/>
          </a:prstGeom>
          <a:noFill/>
          <a:ln w="12700">
            <a:solidFill>
              <a:srgbClr val="8A6D1F"/>
            </a:solidFill>
            <a:prstDash val="solid"/>
          </a:ln>
        </p:spPr>
      </p:sp>
      <p:sp>
        <p:nvSpPr>
          <p:cNvPr id="10" name="Text 8"/>
          <p:cNvSpPr/>
          <p:nvPr/>
        </p:nvSpPr>
        <p:spPr>
          <a:xfrm>
            <a:off x="548640" y="3200400"/>
            <a:ext cx="10881360" cy="365760"/>
          </a:xfrm>
          <a:prstGeom prst="rect">
            <a:avLst/>
          </a:prstGeom>
          <a:noFill/>
          <a:ln/>
        </p:spPr>
        <p:txBody>
          <a:bodyPr wrap="square" rtlCol="0" anchor="ctr"/>
          <a:lstStyle/>
          <a:p>
            <a:pPr indent="0" marL="0">
              <a:buNone/>
            </a:pPr>
            <a:r>
              <a:rPr lang="en-US" sz="1250" dirty="0">
                <a:solidFill>
                  <a:srgbClr val="2B2F36"/>
                </a:solidFill>
                <a:latin typeface="Calibri" pitchFamily="34" charset="0"/>
                <a:ea typeface="Calibri" pitchFamily="34" charset="-122"/>
                <a:cs typeface="Calibri" pitchFamily="34" charset="-120"/>
              </a:rPr>
              <a:t>这句话的反直觉之处在于：它把个人贡献从“产出”的定义中移除了主导地位。</a:t>
            </a:r>
            <a:endParaRPr lang="en-US" sz="1250" dirty="0"/>
          </a:p>
        </p:txBody>
      </p:sp>
      <p:sp>
        <p:nvSpPr>
          <p:cNvPr id="11" name="Text 9"/>
          <p:cNvSpPr/>
          <p:nvPr/>
        </p:nvSpPr>
        <p:spPr>
          <a:xfrm>
            <a:off x="548640" y="370332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对工程师而言</a:t>
            </a:r>
            <a:endParaRPr lang="en-US" sz="1300" dirty="0"/>
          </a:p>
        </p:txBody>
      </p:sp>
      <p:sp>
        <p:nvSpPr>
          <p:cNvPr id="12" name="Shape 10"/>
          <p:cNvSpPr/>
          <p:nvPr/>
        </p:nvSpPr>
        <p:spPr>
          <a:xfrm>
            <a:off x="548640" y="4050792"/>
            <a:ext cx="5257800" cy="0"/>
          </a:xfrm>
          <a:prstGeom prst="line">
            <a:avLst/>
          </a:prstGeom>
          <a:noFill/>
          <a:ln w="12700">
            <a:solidFill>
              <a:srgbClr val="E3E7EF"/>
            </a:solidFill>
            <a:prstDash val="solid"/>
          </a:ln>
        </p:spPr>
      </p:sp>
      <p:sp>
        <p:nvSpPr>
          <p:cNvPr id="13" name="Text 11"/>
          <p:cNvSpPr/>
          <p:nvPr/>
        </p:nvSpPr>
        <p:spPr>
          <a:xfrm>
            <a:off x="548640" y="4160520"/>
            <a:ext cx="5257800" cy="365760"/>
          </a:xfrm>
          <a:prstGeom prst="rect">
            <a:avLst/>
          </a:prstGeom>
          <a:noFill/>
          <a:ln/>
        </p:spPr>
        <p:txBody>
          <a:bodyPr wrap="square" rtlCol="0" anchor="ctr"/>
          <a:lstStyle/>
          <a:p>
            <a:pPr indent="0" marL="0">
              <a:buNone/>
            </a:pPr>
            <a:r>
              <a:rPr lang="en-US" sz="1300" i="1" dirty="0">
                <a:solidFill>
                  <a:srgbClr val="1B2A4A"/>
                </a:solidFill>
                <a:latin typeface="Cambria" pitchFamily="34" charset="0"/>
                <a:ea typeface="Cambria" pitchFamily="34" charset="-122"/>
                <a:cs typeface="Cambria" pitchFamily="34" charset="-120"/>
              </a:rPr>
              <a:t>产出 = f(个人技术能力, 个人投入时间)</a:t>
            </a:r>
            <a:endParaRPr lang="en-US" sz="1300" dirty="0"/>
          </a:p>
        </p:txBody>
      </p:sp>
      <p:sp>
        <p:nvSpPr>
          <p:cNvPr id="14" name="Text 12"/>
          <p:cNvSpPr/>
          <p:nvPr/>
        </p:nvSpPr>
        <p:spPr>
          <a:xfrm>
            <a:off x="548640" y="4617720"/>
            <a:ext cx="5257800" cy="548640"/>
          </a:xfrm>
          <a:prstGeom prst="rect">
            <a:avLst/>
          </a:prstGeom>
          <a:noFill/>
          <a:ln/>
        </p:spPr>
        <p:txBody>
          <a:bodyPr wrap="square" rtlCol="0" anchor="ctr"/>
          <a:lstStyle/>
          <a:p>
            <a:pPr indent="0" marL="0">
              <a:lnSpc>
                <a:spcPct val="125000"/>
              </a:lnSpc>
              <a:buNone/>
            </a:pPr>
            <a:r>
              <a:rPr lang="en-US" sz="1200" dirty="0">
                <a:solidFill>
                  <a:srgbClr val="5B6270"/>
                </a:solidFill>
                <a:latin typeface="Calibri" pitchFamily="34" charset="0"/>
                <a:ea typeface="Calibri" pitchFamily="34" charset="-122"/>
                <a:cs typeface="Calibri" pitchFamily="34" charset="-120"/>
              </a:rPr>
              <a:t>这是一个线性函数，边际产出大致恒定。</a:t>
            </a:r>
            <a:endParaRPr lang="en-US" sz="1200" dirty="0"/>
          </a:p>
        </p:txBody>
      </p:sp>
      <p:sp>
        <p:nvSpPr>
          <p:cNvPr id="15" name="Shape 13"/>
          <p:cNvSpPr/>
          <p:nvPr/>
        </p:nvSpPr>
        <p:spPr>
          <a:xfrm>
            <a:off x="6080760" y="3703320"/>
            <a:ext cx="0" cy="2331720"/>
          </a:xfrm>
          <a:prstGeom prst="line">
            <a:avLst/>
          </a:prstGeom>
          <a:noFill/>
          <a:ln w="12700">
            <a:solidFill>
              <a:srgbClr val="E3E7EF"/>
            </a:solidFill>
            <a:prstDash val="solid"/>
          </a:ln>
        </p:spPr>
      </p:sp>
      <p:sp>
        <p:nvSpPr>
          <p:cNvPr id="16" name="Text 14"/>
          <p:cNvSpPr/>
          <p:nvPr/>
        </p:nvSpPr>
        <p:spPr>
          <a:xfrm>
            <a:off x="6519672" y="3703320"/>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对管理者而言</a:t>
            </a:r>
            <a:endParaRPr lang="en-US" sz="1300" dirty="0"/>
          </a:p>
        </p:txBody>
      </p:sp>
      <p:sp>
        <p:nvSpPr>
          <p:cNvPr id="17" name="Shape 15"/>
          <p:cNvSpPr/>
          <p:nvPr/>
        </p:nvSpPr>
        <p:spPr>
          <a:xfrm>
            <a:off x="6519672" y="4050792"/>
            <a:ext cx="5257800" cy="0"/>
          </a:xfrm>
          <a:prstGeom prst="line">
            <a:avLst/>
          </a:prstGeom>
          <a:noFill/>
          <a:ln w="12700">
            <a:solidFill>
              <a:srgbClr val="E3E7EF"/>
            </a:solidFill>
            <a:prstDash val="solid"/>
          </a:ln>
        </p:spPr>
      </p:sp>
      <p:sp>
        <p:nvSpPr>
          <p:cNvPr id="18" name="Text 16"/>
          <p:cNvSpPr/>
          <p:nvPr/>
        </p:nvSpPr>
        <p:spPr>
          <a:xfrm>
            <a:off x="6519672" y="4160520"/>
            <a:ext cx="5257800" cy="365760"/>
          </a:xfrm>
          <a:prstGeom prst="rect">
            <a:avLst/>
          </a:prstGeom>
          <a:noFill/>
          <a:ln/>
        </p:spPr>
        <p:txBody>
          <a:bodyPr wrap="square" rtlCol="0" anchor="ctr"/>
          <a:lstStyle/>
          <a:p>
            <a:pPr indent="0" marL="0">
              <a:buNone/>
            </a:pPr>
            <a:r>
              <a:rPr lang="en-US" sz="1300" i="1" dirty="0">
                <a:solidFill>
                  <a:srgbClr val="1B2A4A"/>
                </a:solidFill>
                <a:latin typeface="Cambria" pitchFamily="34" charset="0"/>
                <a:ea typeface="Cambria" pitchFamily="34" charset="-122"/>
                <a:cs typeface="Cambria" pitchFamily="34" charset="-120"/>
              </a:rPr>
              <a:t>产出 = f(他人能力 × 他人投入时间 × 杠杆系数)</a:t>
            </a:r>
            <a:endParaRPr lang="en-US" sz="1300" dirty="0"/>
          </a:p>
        </p:txBody>
      </p:sp>
      <p:sp>
        <p:nvSpPr>
          <p:cNvPr id="19" name="Text 17"/>
          <p:cNvSpPr/>
          <p:nvPr/>
        </p:nvSpPr>
        <p:spPr>
          <a:xfrm>
            <a:off x="6519672" y="4617720"/>
            <a:ext cx="5257800" cy="868680"/>
          </a:xfrm>
          <a:prstGeom prst="rect">
            <a:avLst/>
          </a:prstGeom>
          <a:noFill/>
          <a:ln/>
        </p:spPr>
        <p:txBody>
          <a:bodyPr wrap="square" rtlCol="0" anchor="ctr"/>
          <a:lstStyle/>
          <a:p>
            <a:pPr indent="0" marL="0">
              <a:lnSpc>
                <a:spcPct val="125000"/>
              </a:lnSpc>
              <a:buNone/>
            </a:pPr>
            <a:r>
              <a:rPr lang="en-US" sz="1200" dirty="0">
                <a:solidFill>
                  <a:srgbClr val="5B6270"/>
                </a:solidFill>
                <a:latin typeface="Calibri" pitchFamily="34" charset="0"/>
                <a:ea typeface="Calibri" pitchFamily="34" charset="-122"/>
                <a:cs typeface="Calibri" pitchFamily="34" charset="-120"/>
              </a:rPr>
              <a:t>这是一个乘数函数，理论上没有上限，但若杠杆系数为零或负值，再多的个人努力也无法转化为组织产出。</a:t>
            </a:r>
            <a:endParaRPr lang="en-US" sz="1200" dirty="0"/>
          </a:p>
        </p:txBody>
      </p:sp>
      <p:sp>
        <p:nvSpPr>
          <p:cNvPr id="20" name="Text 18"/>
          <p:cNvSpPr/>
          <p:nvPr/>
        </p:nvSpPr>
        <p:spPr>
          <a:xfrm>
            <a:off x="548640" y="6053328"/>
            <a:ext cx="10881360" cy="320040"/>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这正是为什么“自己把活干完”这个曾经的核心优势，在新的产出函数里，权重被极大稀释了。</a:t>
            </a:r>
            <a:endParaRPr lang="en-US" sz="120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提出</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这个理论什么时候会被误用？</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把“重新定义产出”理解成“放弃技术参与”</a:t>
            </a:r>
            <a:endParaRPr lang="en-US" sz="1450" dirty="0"/>
          </a:p>
        </p:txBody>
      </p:sp>
      <p:sp>
        <p:nvSpPr>
          <p:cNvPr id="8" name="Text 6"/>
          <p:cNvSpPr/>
          <p:nvPr/>
        </p:nvSpPr>
        <p:spPr>
          <a:xfrm>
            <a:off x="548640" y="236829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格鲁夫的原意不是让管理者脱离技术现场，而是让管理者的技术参与从“执行”转向“判断”和“设计”。一个完全不碰技术细节的CIM主管，会逐渐丧失对团队工作质量的判断依据——这是另一种形式的失职，只是表现得更隐蔽。</a:t>
            </a:r>
            <a:endParaRPr lang="en-US" sz="1250" dirty="0"/>
          </a:p>
        </p:txBody>
      </p:sp>
      <p:sp>
        <p:nvSpPr>
          <p:cNvPr id="9" name="Text 7"/>
          <p:cNvSpPr/>
          <p:nvPr/>
        </p:nvSpPr>
        <p:spPr>
          <a:xfrm>
            <a:off x="548640" y="347472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〔误用二〕</a:t>
            </a:r>
            <a:endParaRPr lang="en-US" sz="1100" dirty="0"/>
          </a:p>
        </p:txBody>
      </p:sp>
      <p:sp>
        <p:nvSpPr>
          <p:cNvPr id="10" name="Text 8"/>
          <p:cNvSpPr/>
          <p:nvPr/>
        </p:nvSpPr>
        <p:spPr>
          <a:xfrm>
            <a:off x="548640" y="376732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把“杠杆系数”误解为纯粹的授权意愿</a:t>
            </a:r>
            <a:endParaRPr lang="en-US" sz="1450" dirty="0"/>
          </a:p>
        </p:txBody>
      </p:sp>
      <p:sp>
        <p:nvSpPr>
          <p:cNvPr id="11" name="Text 9"/>
          <p:cNvSpPr/>
          <p:nvPr/>
        </p:nvSpPr>
        <p:spPr>
          <a:xfrm>
            <a:off x="548640" y="415137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杠杆系数不是“我愿意放手”的主观意愿，而是“团队在没有我介入时能产出什么”的客观能力现状。如果团队成熟度不够，盲目套用“产出=他人产出”的公式去全面放权，结果是责任真空，而不是杠杆。</a:t>
            </a:r>
            <a:endParaRPr lang="en-US" sz="1250" dirty="0"/>
          </a:p>
        </p:txBody>
      </p:sp>
      <p:sp>
        <p:nvSpPr>
          <p:cNvPr id="12" name="Shape 10"/>
          <p:cNvSpPr/>
          <p:nvPr/>
        </p:nvSpPr>
        <p:spPr>
          <a:xfrm>
            <a:off x="548640" y="5303520"/>
            <a:ext cx="0" cy="1051560"/>
          </a:xfrm>
          <a:prstGeom prst="line">
            <a:avLst/>
          </a:prstGeom>
          <a:noFill/>
          <a:ln w="38100">
            <a:solidFill>
              <a:srgbClr val="9C5536"/>
            </a:solidFill>
            <a:prstDash val="solid"/>
          </a:ln>
        </p:spPr>
      </p:sp>
      <p:sp>
        <p:nvSpPr>
          <p:cNvPr id="13" name="Text 11"/>
          <p:cNvSpPr/>
          <p:nvPr/>
        </p:nvSpPr>
        <p:spPr>
          <a:xfrm>
            <a:off x="777240" y="530352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0527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这个理论在“管理者保留必要的技术判断介入点”且“团队具备基本执行能力”两个前提下才成立。脱离这两个前提，理论会从“解放生产力”异化为“逃避责任”的借口。</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机制解释</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个人英雄主义为何系统性失效</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从组织行为学角度，拆解失效机制</a:t>
            </a:r>
            <a:endParaRPr lang="en-US" sz="1300" dirty="0"/>
          </a:p>
        </p:txBody>
      </p:sp>
      <p:sp>
        <p:nvSpPr>
          <p:cNvPr id="7" name="Text 5"/>
          <p:cNvSpPr/>
          <p:nvPr/>
        </p:nvSpPr>
        <p:spPr>
          <a:xfrm>
            <a:off x="548640" y="196596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〔机制一〕</a:t>
            </a:r>
            <a:endParaRPr lang="en-US" sz="1100" dirty="0"/>
          </a:p>
        </p:txBody>
      </p:sp>
      <p:sp>
        <p:nvSpPr>
          <p:cNvPr id="8" name="Text 6"/>
          <p:cNvSpPr/>
          <p:nvPr/>
        </p:nvSpPr>
        <p:spPr>
          <a:xfrm>
            <a:off x="2148840" y="1965960"/>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替代性损失（Substitution Loss）</a:t>
            </a:r>
            <a:endParaRPr lang="en-US" sz="1300" dirty="0"/>
          </a:p>
        </p:txBody>
      </p:sp>
      <p:sp>
        <p:nvSpPr>
          <p:cNvPr id="9" name="Text 7"/>
          <p:cNvSpPr/>
          <p:nvPr/>
        </p:nvSpPr>
        <p:spPr>
          <a:xfrm>
            <a:off x="548640" y="2295144"/>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主管把团队成员该做的任务接管过来，团队成员获得的不是“轻松”，而是一次本该属于他的能力建构机会的永久流失。这种损失是隐性的、累积的，短期内不会在绩效数据上体现，但会在18–24个月后表现为团队能力的结构性短板。</a:t>
            </a:r>
            <a:endParaRPr lang="en-US" sz="1180" dirty="0"/>
          </a:p>
        </p:txBody>
      </p:sp>
      <p:sp>
        <p:nvSpPr>
          <p:cNvPr id="10" name="Text 8"/>
          <p:cNvSpPr/>
          <p:nvPr/>
        </p:nvSpPr>
        <p:spPr>
          <a:xfrm>
            <a:off x="548640" y="304495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〔机制二〕</a:t>
            </a:r>
            <a:endParaRPr lang="en-US" sz="1100" dirty="0"/>
          </a:p>
        </p:txBody>
      </p:sp>
      <p:sp>
        <p:nvSpPr>
          <p:cNvPr id="11" name="Text 9"/>
          <p:cNvSpPr/>
          <p:nvPr/>
        </p:nvSpPr>
        <p:spPr>
          <a:xfrm>
            <a:off x="2148840" y="3044952"/>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单点瓶颈（Bottleneck Concentration）</a:t>
            </a:r>
            <a:endParaRPr lang="en-US" sz="1300" dirty="0"/>
          </a:p>
        </p:txBody>
      </p:sp>
      <p:sp>
        <p:nvSpPr>
          <p:cNvPr id="12" name="Text 10"/>
          <p:cNvSpPr/>
          <p:nvPr/>
        </p:nvSpPr>
        <p:spPr>
          <a:xfrm>
            <a:off x="548640" y="3374136"/>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管理者的个人时间是有限资源。当团队所有高风险、高复杂度的任务都汇聚到管理者一人手中处理，组织的吞吐量上限就等于这一个人的处理上限——这与“组建团队”这个动作的初始目的完全相悖。</a:t>
            </a:r>
            <a:endParaRPr lang="en-US" sz="1180" dirty="0"/>
          </a:p>
        </p:txBody>
      </p:sp>
      <p:sp>
        <p:nvSpPr>
          <p:cNvPr id="13" name="Text 11"/>
          <p:cNvSpPr/>
          <p:nvPr/>
        </p:nvSpPr>
        <p:spPr>
          <a:xfrm>
            <a:off x="548640" y="412394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〔机制三〕</a:t>
            </a:r>
            <a:endParaRPr lang="en-US" sz="1100" dirty="0"/>
          </a:p>
        </p:txBody>
      </p:sp>
      <p:sp>
        <p:nvSpPr>
          <p:cNvPr id="14" name="Text 12"/>
          <p:cNvSpPr/>
          <p:nvPr/>
        </p:nvSpPr>
        <p:spPr>
          <a:xfrm>
            <a:off x="2148840" y="4123944"/>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信号扭曲（Signal Distortion）</a:t>
            </a:r>
            <a:endParaRPr lang="en-US" sz="1300" dirty="0"/>
          </a:p>
        </p:txBody>
      </p:sp>
      <p:sp>
        <p:nvSpPr>
          <p:cNvPr id="15" name="Text 13"/>
          <p:cNvSpPr/>
          <p:nvPr/>
        </p:nvSpPr>
        <p:spPr>
          <a:xfrm>
            <a:off x="548640" y="4453128"/>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当主管习惯性接管任务，团队成员会逐渐停止主动思考解决方案，因为“反正交给主管也会被重做”。这是一种学习性无助的组织版本，长期后果是团队整体决策意愿的退化。</a:t>
            </a:r>
            <a:endParaRPr lang="en-US" sz="1180" dirty="0"/>
          </a:p>
        </p:txBody>
      </p:sp>
      <p:sp>
        <p:nvSpPr>
          <p:cNvPr id="16" name="Shape 14"/>
          <p:cNvSpPr/>
          <p:nvPr/>
        </p:nvSpPr>
        <p:spPr>
          <a:xfrm>
            <a:off x="548640" y="6126480"/>
            <a:ext cx="10881360" cy="0"/>
          </a:xfrm>
          <a:prstGeom prst="line">
            <a:avLst/>
          </a:prstGeom>
          <a:noFill/>
          <a:ln w="12700">
            <a:solidFill>
              <a:srgbClr val="E3E7EF"/>
            </a:solidFill>
            <a:prstDash val="solid"/>
          </a:ln>
        </p:spPr>
      </p:sp>
      <p:sp>
        <p:nvSpPr>
          <p:cNvPr id="17" name="Text 15"/>
          <p:cNvSpPr/>
          <p:nvPr/>
        </p:nvSpPr>
        <p:spPr>
          <a:xfrm>
            <a:off x="548640" y="6199632"/>
            <a:ext cx="10881360" cy="292608"/>
          </a:xfrm>
          <a:prstGeom prst="rect">
            <a:avLst/>
          </a:prstGeom>
          <a:noFill/>
          <a:ln/>
        </p:spPr>
        <p:txBody>
          <a:bodyPr wrap="square" rtlCol="0" anchor="ctr"/>
          <a:lstStyle/>
          <a:p>
            <a:pPr indent="0" marL="0">
              <a:buNone/>
            </a:pPr>
            <a:r>
              <a:rPr lang="en-US" sz="1250" i="1" dirty="0">
                <a:solidFill>
                  <a:srgbClr val="9C5536"/>
                </a:solidFill>
                <a:latin typeface="Calibri" pitchFamily="34" charset="0"/>
                <a:ea typeface="Calibri" pitchFamily="34" charset="-122"/>
                <a:cs typeface="Calibri" pitchFamily="34" charset="-120"/>
              </a:rPr>
              <a:t>三个机制共同指向一个结论：个人英雄主义不是道德问题，是结构性的负反馈循环。</a:t>
            </a:r>
            <a:endParaRPr lang="en-US" sz="125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机制解释</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两种应对方式的真实分野</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〔案例A · 反面〕</a:t>
            </a:r>
            <a:endParaRPr lang="en-US" sz="1100" dirty="0"/>
          </a:p>
        </p:txBody>
      </p:sp>
      <p:sp>
        <p:nvSpPr>
          <p:cNvPr id="7" name="Shape 5"/>
          <p:cNvSpPr/>
          <p:nvPr/>
        </p:nvSpPr>
        <p:spPr>
          <a:xfrm>
            <a:off x="548640" y="2057400"/>
            <a:ext cx="5257800" cy="0"/>
          </a:xfrm>
          <a:prstGeom prst="line">
            <a:avLst/>
          </a:prstGeom>
          <a:noFill/>
          <a:ln w="19050">
            <a:solidFill>
              <a:srgbClr val="9C5536"/>
            </a:solidFill>
            <a:prstDash val="solid"/>
          </a:ln>
        </p:spPr>
      </p:sp>
      <p:sp>
        <p:nvSpPr>
          <p:cNvPr id="8" name="Text 6"/>
          <p:cNvSpPr/>
          <p:nvPr/>
        </p:nvSpPr>
        <p:spPr>
          <a:xfrm>
            <a:off x="548640" y="2194560"/>
            <a:ext cx="5257800" cy="7772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某Fab厂CIM组长在面对一次紧急的MES模块缺陷时，选择独自连续工作30小时完成修复。</a:t>
            </a:r>
            <a:endParaRPr lang="en-US" sz="1200" dirty="0"/>
          </a:p>
        </p:txBody>
      </p:sp>
      <p:sp>
        <p:nvSpPr>
          <p:cNvPr id="9" name="Text 7"/>
          <p:cNvSpPr/>
          <p:nvPr/>
        </p:nvSpPr>
        <p:spPr>
          <a:xfrm>
            <a:off x="548640" y="3044952"/>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事后复盘：</a:t>
            </a:r>
            <a:endParaRPr lang="en-US" sz="1200" dirty="0"/>
          </a:p>
        </p:txBody>
      </p:sp>
      <p:sp>
        <p:nvSpPr>
          <p:cNvPr id="10" name="Text 8"/>
          <p:cNvSpPr/>
          <p:nvPr/>
        </p:nvSpPr>
        <p:spPr>
          <a:xfrm>
            <a:off x="548640" y="3355848"/>
            <a:ext cx="5257800" cy="11887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缺陷修复了，但团队中没有任何工程师参与诊断过程，三个月后同类缺陷再次出现，团队仍然无法独立处理，必须再次等待该组长介入。</a:t>
            </a:r>
            <a:endParaRPr lang="en-US" sz="1200" dirty="0"/>
          </a:p>
        </p:txBody>
      </p:sp>
      <p:sp>
        <p:nvSpPr>
          <p:cNvPr id="11" name="Shape 9"/>
          <p:cNvSpPr/>
          <p:nvPr/>
        </p:nvSpPr>
        <p:spPr>
          <a:xfrm>
            <a:off x="6080760" y="1691640"/>
            <a:ext cx="0" cy="3931920"/>
          </a:xfrm>
          <a:prstGeom prst="line">
            <a:avLst/>
          </a:prstGeom>
          <a:noFill/>
          <a:ln w="12700">
            <a:solidFill>
              <a:srgbClr val="E3E7EF"/>
            </a:solidFill>
            <a:prstDash val="solid"/>
          </a:ln>
        </p:spPr>
      </p:sp>
      <p:sp>
        <p:nvSpPr>
          <p:cNvPr id="12" name="Text 10"/>
          <p:cNvSpPr/>
          <p:nvPr/>
        </p:nvSpPr>
        <p:spPr>
          <a:xfrm>
            <a:off x="6519672" y="169164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〔案例B · 正面〕</a:t>
            </a:r>
            <a:endParaRPr lang="en-US" sz="1100" dirty="0"/>
          </a:p>
        </p:txBody>
      </p:sp>
      <p:sp>
        <p:nvSpPr>
          <p:cNvPr id="13" name="Shape 11"/>
          <p:cNvSpPr/>
          <p:nvPr/>
        </p:nvSpPr>
        <p:spPr>
          <a:xfrm>
            <a:off x="6519672" y="2057400"/>
            <a:ext cx="5257800" cy="0"/>
          </a:xfrm>
          <a:prstGeom prst="line">
            <a:avLst/>
          </a:prstGeom>
          <a:noFill/>
          <a:ln w="19050">
            <a:solidFill>
              <a:srgbClr val="4F6F52"/>
            </a:solidFill>
            <a:prstDash val="solid"/>
          </a:ln>
        </p:spPr>
      </p:sp>
      <p:sp>
        <p:nvSpPr>
          <p:cNvPr id="14" name="Text 12"/>
          <p:cNvSpPr/>
          <p:nvPr/>
        </p:nvSpPr>
        <p:spPr>
          <a:xfrm>
            <a:off x="6519672" y="2194560"/>
            <a:ext cx="5257800" cy="9601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另一家工厂的CIM组长面对类似缺陷，选择用90分钟亲自定位问题根因和影响范围，随后将修复任务拆解为三个子任务分配给团队的三名工程师，自己只负责最终的集成验证。</a:t>
            </a:r>
            <a:endParaRPr lang="en-US" sz="1200" dirty="0"/>
          </a:p>
        </p:txBody>
      </p:sp>
      <p:sp>
        <p:nvSpPr>
          <p:cNvPr id="15" name="Text 13"/>
          <p:cNvSpPr/>
          <p:nvPr/>
        </p:nvSpPr>
        <p:spPr>
          <a:xfrm>
            <a:off x="6519672" y="3227832"/>
            <a:ext cx="5257800" cy="274320"/>
          </a:xfrm>
          <a:prstGeom prst="rect">
            <a:avLst/>
          </a:prstGeom>
          <a:noFill/>
          <a:ln/>
        </p:spPr>
        <p:txBody>
          <a:bodyPr wrap="square" rtlCol="0" anchor="ctr"/>
          <a:lstStyle/>
          <a:p>
            <a:pPr indent="0" marL="0">
              <a:buNone/>
            </a:pPr>
            <a:r>
              <a:rPr lang="en-US" sz="1200" b="1" dirty="0">
                <a:solidFill>
                  <a:srgbClr val="4F6F52"/>
                </a:solidFill>
                <a:latin typeface="Calibri" pitchFamily="34" charset="0"/>
                <a:ea typeface="Calibri" pitchFamily="34" charset="-122"/>
                <a:cs typeface="Calibri" pitchFamily="34" charset="-120"/>
              </a:rPr>
              <a:t>结果：</a:t>
            </a:r>
            <a:endParaRPr lang="en-US" sz="1200" dirty="0"/>
          </a:p>
        </p:txBody>
      </p:sp>
      <p:sp>
        <p:nvSpPr>
          <p:cNvPr id="16" name="Text 14"/>
          <p:cNvSpPr/>
          <p:nvPr/>
        </p:nvSpPr>
        <p:spPr>
          <a:xfrm>
            <a:off x="6519672" y="3538728"/>
            <a:ext cx="5257800" cy="10058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修复时间比案例A长（耗时6小时），但团队在过程中建立了对该模块的诊断能力，后续同类问题的平均响应时间下降了60%。</a:t>
            </a:r>
            <a:endParaRPr lang="en-US" sz="1200" dirty="0"/>
          </a:p>
        </p:txBody>
      </p:sp>
      <p:sp>
        <p:nvSpPr>
          <p:cNvPr id="17" name="Shape 15"/>
          <p:cNvSpPr/>
          <p:nvPr/>
        </p:nvSpPr>
        <p:spPr>
          <a:xfrm>
            <a:off x="548640" y="5806440"/>
            <a:ext cx="0" cy="548640"/>
          </a:xfrm>
          <a:prstGeom prst="line">
            <a:avLst/>
          </a:prstGeom>
          <a:noFill/>
          <a:ln w="38100">
            <a:solidFill>
              <a:srgbClr val="1B2A4A"/>
            </a:solidFill>
            <a:prstDash val="solid"/>
          </a:ln>
        </p:spPr>
      </p:sp>
      <p:sp>
        <p:nvSpPr>
          <p:cNvPr id="18" name="Text 16"/>
          <p:cNvSpPr/>
          <p:nvPr/>
        </p:nvSpPr>
        <p:spPr>
          <a:xfrm>
            <a:off x="777240" y="5806440"/>
            <a:ext cx="10424160" cy="566928"/>
          </a:xfrm>
          <a:prstGeom prst="rect">
            <a:avLst/>
          </a:prstGeom>
          <a:noFill/>
          <a:ln/>
        </p:spPr>
        <p:txBody>
          <a:bodyPr wrap="square" rtlCol="0" anchor="ctr"/>
          <a:lstStyle/>
          <a:p>
            <a:pPr indent="0" marL="0">
              <a:lnSpc>
                <a:spcPct val="125000"/>
              </a:lnSpc>
              <a:buNone/>
            </a:pPr>
            <a:r>
              <a:rPr lang="en-US" sz="1250" i="1" dirty="0">
                <a:solidFill>
                  <a:srgbClr val="1B2A4A"/>
                </a:solidFill>
                <a:latin typeface="Cambria" pitchFamily="34" charset="0"/>
                <a:ea typeface="Cambria" pitchFamily="34" charset="-122"/>
                <a:cs typeface="Cambria" pitchFamily="34" charset="-120"/>
              </a:rPr>
              <a:t>关键差异不在于结果速度，而在于“产出”的定义范围——案例A只优化了“这一次”的产出，案例B优化的是组织长期的产出函数。</a:t>
            </a:r>
            <a:endParaRPr lang="en-US" sz="1250" dirty="0"/>
          </a:p>
        </p:txBody>
      </p:sp>
      <p:sp>
        <p:nvSpPr>
          <p:cNvPr id="19" name="Shape 17"/>
          <p:cNvSpPr/>
          <p:nvPr/>
        </p:nvSpPr>
        <p:spPr>
          <a:xfrm>
            <a:off x="548640" y="6446520"/>
            <a:ext cx="11091672" cy="0"/>
          </a:xfrm>
          <a:prstGeom prst="line">
            <a:avLst/>
          </a:prstGeom>
          <a:noFill/>
          <a:ln w="9525">
            <a:solidFill>
              <a:srgbClr val="C7CDDB"/>
            </a:solidFill>
            <a:prstDash val="solid"/>
          </a:ln>
        </p:spPr>
      </p:sp>
      <p:sp>
        <p:nvSpPr>
          <p:cNvPr id="20" name="Text 18"/>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案例对照一</a:t>
            </a:r>
            <a:endParaRPr lang="en-US" sz="900" dirty="0"/>
          </a:p>
        </p:txBody>
      </p:sp>
      <p:sp>
        <p:nvSpPr>
          <p:cNvPr id="21" name="Text 19"/>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管理学的第二个认知框架——角色坐标系的转移</a:t>
            </a:r>
            <a:endParaRPr lang="en-US" sz="2700" dirty="0"/>
          </a:p>
        </p:txBody>
      </p:sp>
      <p:sp>
        <p:nvSpPr>
          <p:cNvPr id="6" name="Text 4"/>
          <p:cNvSpPr/>
          <p:nvPr/>
        </p:nvSpPr>
        <p:spPr>
          <a:xfrm>
            <a:off x="548640" y="1691640"/>
            <a:ext cx="10881360" cy="566928"/>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新任主管的认知转型可以归纳为三组坐标轴上的位移，这三组位移并非比喻，而是对应三种具体的、可观察的行为模式转变：</a:t>
            </a:r>
            <a:endParaRPr lang="en-US" sz="1250" dirty="0"/>
          </a:p>
        </p:txBody>
      </p:sp>
      <p:sp>
        <p:nvSpPr>
          <p:cNvPr id="7" name="Text 5"/>
          <p:cNvSpPr/>
          <p:nvPr/>
        </p:nvSpPr>
        <p:spPr>
          <a:xfrm>
            <a:off x="548640" y="246888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〔跃迁一〕</a:t>
            </a:r>
            <a:endParaRPr lang="en-US" sz="1100" dirty="0"/>
          </a:p>
        </p:txBody>
      </p:sp>
      <p:sp>
        <p:nvSpPr>
          <p:cNvPr id="8" name="Text 6"/>
          <p:cNvSpPr/>
          <p:nvPr/>
        </p:nvSpPr>
        <p:spPr>
          <a:xfrm>
            <a:off x="2148840" y="2468880"/>
            <a:ext cx="2286000" cy="292608"/>
          </a:xfrm>
          <a:prstGeom prst="rect">
            <a:avLst/>
          </a:prstGeom>
          <a:noFill/>
          <a:ln/>
        </p:spPr>
        <p:txBody>
          <a:bodyPr wrap="square" rtlCol="0" anchor="ctr"/>
          <a:lstStyle/>
          <a:p>
            <a:pPr indent="0" marL="0">
              <a:buNone/>
            </a:pPr>
            <a:r>
              <a:rPr lang="en-US" sz="1350" i="1" dirty="0">
                <a:solidFill>
                  <a:srgbClr val="5B6270"/>
                </a:solidFill>
                <a:latin typeface="Cambria" pitchFamily="34" charset="0"/>
                <a:ea typeface="Cambria" pitchFamily="34" charset="-122"/>
                <a:cs typeface="Cambria" pitchFamily="34" charset="-120"/>
              </a:rPr>
              <a:t>技术执行者</a:t>
            </a:r>
            <a:endParaRPr lang="en-US" sz="1350" dirty="0"/>
          </a:p>
        </p:txBody>
      </p:sp>
      <p:sp>
        <p:nvSpPr>
          <p:cNvPr id="9" name="Text 7"/>
          <p:cNvSpPr/>
          <p:nvPr/>
        </p:nvSpPr>
        <p:spPr>
          <a:xfrm>
            <a:off x="4434840" y="2468880"/>
            <a:ext cx="365760" cy="292608"/>
          </a:xfrm>
          <a:prstGeom prst="rect">
            <a:avLst/>
          </a:prstGeom>
          <a:noFill/>
          <a:ln/>
        </p:spPr>
        <p:txBody>
          <a:bodyPr wrap="square" rtlCol="0" anchor="ctr"/>
          <a:lstStyle/>
          <a:p>
            <a:pPr indent="0" marL="0">
              <a:buNone/>
            </a:pPr>
            <a:r>
              <a:rPr lang="en-US" sz="1400" b="1" dirty="0">
                <a:solidFill>
                  <a:srgbClr val="9C5536"/>
                </a:solidFill>
              </a:rPr>
              <a:t>→</a:t>
            </a:r>
            <a:endParaRPr lang="en-US" sz="1400" dirty="0"/>
          </a:p>
        </p:txBody>
      </p:sp>
      <p:sp>
        <p:nvSpPr>
          <p:cNvPr id="10" name="Text 8"/>
          <p:cNvSpPr/>
          <p:nvPr/>
        </p:nvSpPr>
        <p:spPr>
          <a:xfrm>
            <a:off x="4800600" y="2468880"/>
            <a:ext cx="2468880" cy="292608"/>
          </a:xfrm>
          <a:prstGeom prst="rect">
            <a:avLst/>
          </a:prstGeom>
          <a:noFill/>
          <a:ln/>
        </p:spPr>
        <p:txBody>
          <a:bodyPr wrap="square"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技术判断者</a:t>
            </a:r>
            <a:endParaRPr lang="en-US" sz="1350" dirty="0"/>
          </a:p>
        </p:txBody>
      </p:sp>
      <p:sp>
        <p:nvSpPr>
          <p:cNvPr id="11" name="Text 9"/>
          <p:cNvSpPr/>
          <p:nvPr/>
        </p:nvSpPr>
        <p:spPr>
          <a:xfrm>
            <a:off x="548640" y="2834640"/>
            <a:ext cx="10881360" cy="62179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不再亲自完成具体的编码/调试工作，而是评估技术方案的合理性、风险等级和资源匹配度。</a:t>
            </a:r>
            <a:endParaRPr lang="en-US" sz="1180" dirty="0"/>
          </a:p>
        </p:txBody>
      </p:sp>
      <p:sp>
        <p:nvSpPr>
          <p:cNvPr id="12" name="Text 10"/>
          <p:cNvSpPr/>
          <p:nvPr/>
        </p:nvSpPr>
        <p:spPr>
          <a:xfrm>
            <a:off x="548640" y="354787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〔跃迁二〕</a:t>
            </a:r>
            <a:endParaRPr lang="en-US" sz="1100" dirty="0"/>
          </a:p>
        </p:txBody>
      </p:sp>
      <p:sp>
        <p:nvSpPr>
          <p:cNvPr id="13" name="Text 11"/>
          <p:cNvSpPr/>
          <p:nvPr/>
        </p:nvSpPr>
        <p:spPr>
          <a:xfrm>
            <a:off x="2148840" y="3547872"/>
            <a:ext cx="2286000" cy="292608"/>
          </a:xfrm>
          <a:prstGeom prst="rect">
            <a:avLst/>
          </a:prstGeom>
          <a:noFill/>
          <a:ln/>
        </p:spPr>
        <p:txBody>
          <a:bodyPr wrap="square" rtlCol="0" anchor="ctr"/>
          <a:lstStyle/>
          <a:p>
            <a:pPr indent="0" marL="0">
              <a:buNone/>
            </a:pPr>
            <a:r>
              <a:rPr lang="en-US" sz="1350" i="1" dirty="0">
                <a:solidFill>
                  <a:srgbClr val="5B6270"/>
                </a:solidFill>
                <a:latin typeface="Cambria" pitchFamily="34" charset="0"/>
                <a:ea typeface="Cambria" pitchFamily="34" charset="-122"/>
                <a:cs typeface="Cambria" pitchFamily="34" charset="-120"/>
              </a:rPr>
              <a:t>个人贡献者</a:t>
            </a:r>
            <a:endParaRPr lang="en-US" sz="1350" dirty="0"/>
          </a:p>
        </p:txBody>
      </p:sp>
      <p:sp>
        <p:nvSpPr>
          <p:cNvPr id="14" name="Text 12"/>
          <p:cNvSpPr/>
          <p:nvPr/>
        </p:nvSpPr>
        <p:spPr>
          <a:xfrm>
            <a:off x="4434840" y="3547872"/>
            <a:ext cx="365760" cy="292608"/>
          </a:xfrm>
          <a:prstGeom prst="rect">
            <a:avLst/>
          </a:prstGeom>
          <a:noFill/>
          <a:ln/>
        </p:spPr>
        <p:txBody>
          <a:bodyPr wrap="square" rtlCol="0" anchor="ctr"/>
          <a:lstStyle/>
          <a:p>
            <a:pPr indent="0" marL="0">
              <a:buNone/>
            </a:pPr>
            <a:r>
              <a:rPr lang="en-US" sz="1400" b="1" dirty="0">
                <a:solidFill>
                  <a:srgbClr val="9C5536"/>
                </a:solidFill>
              </a:rPr>
              <a:t>→</a:t>
            </a:r>
            <a:endParaRPr lang="en-US" sz="1400" dirty="0"/>
          </a:p>
        </p:txBody>
      </p:sp>
      <p:sp>
        <p:nvSpPr>
          <p:cNvPr id="15" name="Text 13"/>
          <p:cNvSpPr/>
          <p:nvPr/>
        </p:nvSpPr>
        <p:spPr>
          <a:xfrm>
            <a:off x="4800600" y="3547872"/>
            <a:ext cx="2468880" cy="292608"/>
          </a:xfrm>
          <a:prstGeom prst="rect">
            <a:avLst/>
          </a:prstGeom>
          <a:noFill/>
          <a:ln/>
        </p:spPr>
        <p:txBody>
          <a:bodyPr wrap="square"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资源调配者</a:t>
            </a:r>
            <a:endParaRPr lang="en-US" sz="1350" dirty="0"/>
          </a:p>
        </p:txBody>
      </p:sp>
      <p:sp>
        <p:nvSpPr>
          <p:cNvPr id="16" name="Text 14"/>
          <p:cNvSpPr/>
          <p:nvPr/>
        </p:nvSpPr>
        <p:spPr>
          <a:xfrm>
            <a:off x="548640" y="3913632"/>
            <a:ext cx="10881360" cy="62179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决策的对象从“我接下来做什么”转变为“谁应该做这件事、需要什么支持”。</a:t>
            </a:r>
            <a:endParaRPr lang="en-US" sz="1180" dirty="0"/>
          </a:p>
        </p:txBody>
      </p:sp>
      <p:sp>
        <p:nvSpPr>
          <p:cNvPr id="17" name="Text 15"/>
          <p:cNvSpPr/>
          <p:nvPr/>
        </p:nvSpPr>
        <p:spPr>
          <a:xfrm>
            <a:off x="548640" y="462686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〔跃迁三〕</a:t>
            </a:r>
            <a:endParaRPr lang="en-US" sz="1100" dirty="0"/>
          </a:p>
        </p:txBody>
      </p:sp>
      <p:sp>
        <p:nvSpPr>
          <p:cNvPr id="18" name="Text 16"/>
          <p:cNvSpPr/>
          <p:nvPr/>
        </p:nvSpPr>
        <p:spPr>
          <a:xfrm>
            <a:off x="2148840" y="4626864"/>
            <a:ext cx="2286000" cy="292608"/>
          </a:xfrm>
          <a:prstGeom prst="rect">
            <a:avLst/>
          </a:prstGeom>
          <a:noFill/>
          <a:ln/>
        </p:spPr>
        <p:txBody>
          <a:bodyPr wrap="square" rtlCol="0" anchor="ctr"/>
          <a:lstStyle/>
          <a:p>
            <a:pPr indent="0" marL="0">
              <a:buNone/>
            </a:pPr>
            <a:r>
              <a:rPr lang="en-US" sz="1350" i="1" dirty="0">
                <a:solidFill>
                  <a:srgbClr val="5B6270"/>
                </a:solidFill>
                <a:latin typeface="Cambria" pitchFamily="34" charset="0"/>
                <a:ea typeface="Cambria" pitchFamily="34" charset="-122"/>
                <a:cs typeface="Cambria" pitchFamily="34" charset="-120"/>
              </a:rPr>
              <a:t>问题解决者</a:t>
            </a:r>
            <a:endParaRPr lang="en-US" sz="1350" dirty="0"/>
          </a:p>
        </p:txBody>
      </p:sp>
      <p:sp>
        <p:nvSpPr>
          <p:cNvPr id="19" name="Text 17"/>
          <p:cNvSpPr/>
          <p:nvPr/>
        </p:nvSpPr>
        <p:spPr>
          <a:xfrm>
            <a:off x="4434840" y="4626864"/>
            <a:ext cx="365760" cy="292608"/>
          </a:xfrm>
          <a:prstGeom prst="rect">
            <a:avLst/>
          </a:prstGeom>
          <a:noFill/>
          <a:ln/>
        </p:spPr>
        <p:txBody>
          <a:bodyPr wrap="square" rtlCol="0" anchor="ctr"/>
          <a:lstStyle/>
          <a:p>
            <a:pPr indent="0" marL="0">
              <a:buNone/>
            </a:pPr>
            <a:r>
              <a:rPr lang="en-US" sz="1400" b="1" dirty="0">
                <a:solidFill>
                  <a:srgbClr val="9C5536"/>
                </a:solidFill>
              </a:rPr>
              <a:t>→</a:t>
            </a:r>
            <a:endParaRPr lang="en-US" sz="1400" dirty="0"/>
          </a:p>
        </p:txBody>
      </p:sp>
      <p:sp>
        <p:nvSpPr>
          <p:cNvPr id="20" name="Text 18"/>
          <p:cNvSpPr/>
          <p:nvPr/>
        </p:nvSpPr>
        <p:spPr>
          <a:xfrm>
            <a:off x="4800600" y="4626864"/>
            <a:ext cx="2468880" cy="292608"/>
          </a:xfrm>
          <a:prstGeom prst="rect">
            <a:avLst/>
          </a:prstGeom>
          <a:noFill/>
          <a:ln/>
        </p:spPr>
        <p:txBody>
          <a:bodyPr wrap="square" rtlCol="0" anchor="ctr"/>
          <a:lstStyle/>
          <a:p>
            <a:pPr indent="0" marL="0">
              <a:buNone/>
            </a:pPr>
            <a:r>
              <a:rPr lang="en-US" sz="1350" b="1" dirty="0">
                <a:solidFill>
                  <a:srgbClr val="1B2A4A"/>
                </a:solidFill>
                <a:latin typeface="Cambria" pitchFamily="34" charset="0"/>
                <a:ea typeface="Cambria" pitchFamily="34" charset="-122"/>
                <a:cs typeface="Cambria" pitchFamily="34" charset="-120"/>
              </a:rPr>
              <a:t>问题定义者</a:t>
            </a:r>
            <a:endParaRPr lang="en-US" sz="1350" dirty="0"/>
          </a:p>
        </p:txBody>
      </p:sp>
      <p:sp>
        <p:nvSpPr>
          <p:cNvPr id="21" name="Text 19"/>
          <p:cNvSpPr/>
          <p:nvPr/>
        </p:nvSpPr>
        <p:spPr>
          <a:xfrm>
            <a:off x="548640" y="4992624"/>
            <a:ext cx="10881360" cy="62179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不再等待问题出现后去解决，而是主动识别哪些问题值得被定义为“需要团队解决的问题”——这是一种更上游的认知劳动。</a:t>
            </a:r>
            <a:endParaRPr lang="en-US" sz="1180" dirty="0"/>
          </a:p>
        </p:txBody>
      </p:sp>
      <p:sp>
        <p:nvSpPr>
          <p:cNvPr id="22" name="Shape 20"/>
          <p:cNvSpPr/>
          <p:nvPr/>
        </p:nvSpPr>
        <p:spPr>
          <a:xfrm>
            <a:off x="548640" y="5897880"/>
            <a:ext cx="10881360" cy="0"/>
          </a:xfrm>
          <a:prstGeom prst="line">
            <a:avLst/>
          </a:prstGeom>
          <a:noFill/>
          <a:ln w="12700">
            <a:solidFill>
              <a:srgbClr val="E3E7EF"/>
            </a:solidFill>
            <a:prstDash val="solid"/>
          </a:ln>
        </p:spPr>
      </p:sp>
      <p:sp>
        <p:nvSpPr>
          <p:cNvPr id="23" name="Text 21"/>
          <p:cNvSpPr/>
          <p:nvPr/>
        </p:nvSpPr>
        <p:spPr>
          <a:xfrm>
            <a:off x="548640" y="5989320"/>
            <a:ext cx="10881360" cy="457200"/>
          </a:xfrm>
          <a:prstGeom prst="rect">
            <a:avLst/>
          </a:prstGeom>
          <a:noFill/>
          <a:ln/>
        </p:spPr>
        <p:txBody>
          <a:bodyPr wrap="square" rtlCol="0" anchor="ctr"/>
          <a:lstStyle/>
          <a:p>
            <a:pPr indent="0" marL="0">
              <a:lnSpc>
                <a:spcPct val="120000"/>
              </a:lnSpc>
              <a:buNone/>
            </a:pPr>
            <a:r>
              <a:rPr lang="en-US" sz="1250" i="1" dirty="0">
                <a:solidFill>
                  <a:srgbClr val="9C5536"/>
                </a:solidFill>
                <a:latin typeface="Calibri" pitchFamily="34" charset="0"/>
                <a:ea typeface="Calibri" pitchFamily="34" charset="-122"/>
                <a:cs typeface="Calibri" pitchFamily="34" charset="-120"/>
              </a:rPr>
              <a:t>这三组跃迁的共同本质：管理者的认知活动从“对象层”（处理具体事务）上升到“元层”（设计如何处理具体事务的系统）。</a:t>
            </a:r>
            <a:endParaRPr lang="en-US" sz="1250" dirty="0"/>
          </a:p>
        </p:txBody>
      </p:sp>
      <p:sp>
        <p:nvSpPr>
          <p:cNvPr id="24" name="Shape 22"/>
          <p:cNvSpPr/>
          <p:nvPr/>
        </p:nvSpPr>
        <p:spPr>
          <a:xfrm>
            <a:off x="548640" y="6446520"/>
            <a:ext cx="11091672" cy="0"/>
          </a:xfrm>
          <a:prstGeom prst="line">
            <a:avLst/>
          </a:prstGeom>
          <a:noFill/>
          <a:ln w="9525">
            <a:solidFill>
              <a:srgbClr val="C7CDDB"/>
            </a:solidFill>
            <a:prstDash val="solid"/>
          </a:ln>
        </p:spPr>
      </p:sp>
      <p:sp>
        <p:nvSpPr>
          <p:cNvPr id="25" name="Text 2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提出</a:t>
            </a:r>
            <a:endParaRPr lang="en-US" sz="900" dirty="0"/>
          </a:p>
        </p:txBody>
      </p:sp>
      <p:sp>
        <p:nvSpPr>
          <p:cNvPr id="26" name="Text 2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身份跃迁不是单向开关</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完全抽离技术判断的代价</a:t>
            </a:r>
            <a:endParaRPr lang="en-US" sz="1450" dirty="0"/>
          </a:p>
        </p:txBody>
      </p:sp>
      <p:sp>
        <p:nvSpPr>
          <p:cNvPr id="8" name="Text 6"/>
          <p:cNvSpPr/>
          <p:nvPr/>
        </p:nvSpPr>
        <p:spPr>
          <a:xfrm>
            <a:off x="548640" y="23682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如果“技术执行者→技术判断者”被理解为“我再也不需要懂技术细节”，管理者会逐渐失去做出正确判断所需的信息基础。一个不了解Q-Time约束具体含义的CIM主管，无法真正评估一个调度方案的风险等级，他的“判断”会退化为对下属汇报的盲目信任或盲目怀疑。</a:t>
            </a:r>
            <a:endParaRPr lang="en-US" sz="125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〔反例二〕</a:t>
            </a:r>
            <a:endParaRPr lang="en-US" sz="1100" dirty="0"/>
          </a:p>
        </p:txBody>
      </p:sp>
      <p:sp>
        <p:nvSpPr>
          <p:cNvPr id="10" name="Text 8"/>
          <p:cNvSpPr/>
          <p:nvPr/>
        </p:nvSpPr>
        <p:spPr>
          <a:xfrm>
            <a:off x="548640" y="38130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完全抽离一线决策的代价</a:t>
            </a:r>
            <a:endParaRPr lang="en-US" sz="1450" dirty="0"/>
          </a:p>
        </p:txBody>
      </p:sp>
      <p:sp>
        <p:nvSpPr>
          <p:cNvPr id="11" name="Text 9"/>
          <p:cNvSpPr/>
          <p:nvPr/>
        </p:nvSpPr>
        <p:spPr>
          <a:xfrm>
            <a:off x="548640" y="41970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“个人贡献者→资源调配者”如果被理解为“我只做资源分配，不参与具体决策”，会导致管理者对一线实际情况的感知能力逐渐钝化，最终做出的资源调配决策会越来越脱离真实约束条件。</a:t>
            </a:r>
            <a:endParaRPr lang="en-US" sz="1250" dirty="0"/>
          </a:p>
        </p:txBody>
      </p:sp>
      <p:sp>
        <p:nvSpPr>
          <p:cNvPr id="12" name="Shape 10"/>
          <p:cNvSpPr/>
          <p:nvPr/>
        </p:nvSpPr>
        <p:spPr>
          <a:xfrm>
            <a:off x="548640" y="5394960"/>
            <a:ext cx="0" cy="1051560"/>
          </a:xfrm>
          <a:prstGeom prst="line">
            <a:avLst/>
          </a:prstGeom>
          <a:noFill/>
          <a:ln w="38100">
            <a:solidFill>
              <a:srgbClr val="9C5536"/>
            </a:solidFill>
            <a:prstDash val="solid"/>
          </a:ln>
        </p:spPr>
      </p:sp>
      <p:sp>
        <p:nvSpPr>
          <p:cNvPr id="13" name="Text 11"/>
          <p:cNvSpPr/>
          <p:nvPr/>
        </p:nvSpPr>
        <p:spPr>
          <a:xfrm>
            <a:off x="777240" y="539496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96712"/>
            <a:ext cx="10424160" cy="841248"/>
          </a:xfrm>
          <a:prstGeom prst="rect">
            <a:avLst/>
          </a:prstGeom>
          <a:noFill/>
          <a:ln/>
        </p:spPr>
        <p:txBody>
          <a:bodyPr wrap="square" rtlCol="0" anchor="ctr"/>
          <a:lstStyle/>
          <a:p>
            <a:pPr indent="0" marL="0">
              <a:lnSpc>
                <a:spcPct val="125000"/>
              </a:lnSpc>
              <a:buNone/>
            </a:pPr>
            <a:r>
              <a:rPr lang="en-US" sz="1300" i="1" dirty="0">
                <a:solidFill>
                  <a:srgbClr val="1B2A4A"/>
                </a:solidFill>
                <a:latin typeface="Cambria" pitchFamily="34" charset="0"/>
                <a:ea typeface="Cambria" pitchFamily="34" charset="-122"/>
                <a:cs typeface="Cambria" pitchFamily="34" charset="-120"/>
              </a:rPr>
              <a:t>三种跃迁描述的是“认知活动重心”的转移，不是“完全退出”。优秀的管理者会保留一定比例（通常建议10–20%的时间精力）用于维持对一线技术现实的直接感知，这个比例本身就是一种需要管理的资源配置决策。</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二（技术判断维度）</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技术判断者的实际工作样态</a:t>
            </a:r>
            <a:endParaRPr lang="en-US" sz="2700" dirty="0"/>
          </a:p>
        </p:txBody>
      </p:sp>
      <p:sp>
        <p:nvSpPr>
          <p:cNvPr id="6" name="Text 4"/>
          <p:cNvSpPr/>
          <p:nvPr/>
        </p:nvSpPr>
        <p:spPr>
          <a:xfrm>
            <a:off x="548640" y="1691640"/>
            <a:ext cx="10881360" cy="457200"/>
          </a:xfrm>
          <a:prstGeom prst="rect">
            <a:avLst/>
          </a:prstGeom>
          <a:noFill/>
          <a:ln/>
        </p:spPr>
        <p:txBody>
          <a:bodyPr wrap="square" rtlCol="0" anchor="ctr"/>
          <a:lstStyle/>
          <a:p>
            <a:pPr indent="0" marL="0">
              <a:lnSpc>
                <a:spcPct val="125000"/>
              </a:lnSpc>
              <a:buNone/>
            </a:pPr>
            <a:r>
              <a:rPr lang="en-US" sz="1280" dirty="0">
                <a:solidFill>
                  <a:srgbClr val="2B2F36"/>
                </a:solidFill>
                <a:latin typeface="Calibri" pitchFamily="34" charset="0"/>
                <a:ea typeface="Calibri" pitchFamily="34" charset="-122"/>
                <a:cs typeface="Calibri" pitchFamily="34" charset="-120"/>
              </a:rPr>
              <a:t>某CIM团队计划对核心调度算法进行重构，组长没有亲自编写任何一行重构代码，但他做了三件事：</a:t>
            </a:r>
            <a:endParaRPr lang="en-US" sz="1280" dirty="0"/>
          </a:p>
        </p:txBody>
      </p:sp>
      <p:sp>
        <p:nvSpPr>
          <p:cNvPr id="7" name="Text 5"/>
          <p:cNvSpPr/>
          <p:nvPr/>
        </p:nvSpPr>
        <p:spPr>
          <a:xfrm>
            <a:off x="548640" y="2286000"/>
            <a:ext cx="868680" cy="77724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a:t>
            </a:r>
            <a:endParaRPr lang="en-US" sz="1300" dirty="0"/>
          </a:p>
        </p:txBody>
      </p:sp>
      <p:sp>
        <p:nvSpPr>
          <p:cNvPr id="8" name="Text 6"/>
          <p:cNvSpPr/>
          <p:nvPr/>
        </p:nvSpPr>
        <p:spPr>
          <a:xfrm>
            <a:off x="1463040" y="2286000"/>
            <a:ext cx="9966960" cy="7772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在方案评审阶段投入80分钟，逐一审视了三个候选技术路径在停线风险、可维护性、团队学习曲线三个维度上的得分。</a:t>
            </a:r>
            <a:endParaRPr lang="en-US" sz="1230" dirty="0"/>
          </a:p>
        </p:txBody>
      </p:sp>
      <p:sp>
        <p:nvSpPr>
          <p:cNvPr id="9" name="Text 7"/>
          <p:cNvSpPr/>
          <p:nvPr/>
        </p:nvSpPr>
        <p:spPr>
          <a:xfrm>
            <a:off x="548640" y="3154680"/>
            <a:ext cx="868680" cy="77724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a:t>
            </a:r>
            <a:endParaRPr lang="en-US" sz="1300" dirty="0"/>
          </a:p>
        </p:txBody>
      </p:sp>
      <p:sp>
        <p:nvSpPr>
          <p:cNvPr id="10" name="Text 8"/>
          <p:cNvSpPr/>
          <p:nvPr/>
        </p:nvSpPr>
        <p:spPr>
          <a:xfrm>
            <a:off x="1463040" y="3154680"/>
            <a:ext cx="9966960" cy="7772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识别出候选方案中一个团队成员未曾意识到的边界条件冲突（与下游Diffusion模块的状态机存在隐藏依赖），这个判断直接来自他过去对该模块的技术理解积累。</a:t>
            </a:r>
            <a:endParaRPr lang="en-US" sz="1230" dirty="0"/>
          </a:p>
        </p:txBody>
      </p:sp>
      <p:sp>
        <p:nvSpPr>
          <p:cNvPr id="11" name="Text 9"/>
          <p:cNvSpPr/>
          <p:nvPr/>
        </p:nvSpPr>
        <p:spPr>
          <a:xfrm>
            <a:off x="548640" y="4023360"/>
            <a:ext cx="868680" cy="77724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a:t>
            </a:r>
            <a:endParaRPr lang="en-US" sz="1300" dirty="0"/>
          </a:p>
        </p:txBody>
      </p:sp>
      <p:sp>
        <p:nvSpPr>
          <p:cNvPr id="12" name="Text 10"/>
          <p:cNvSpPr/>
          <p:nvPr/>
        </p:nvSpPr>
        <p:spPr>
          <a:xfrm>
            <a:off x="1463040" y="4023360"/>
            <a:ext cx="9966960" cy="777240"/>
          </a:xfrm>
          <a:prstGeom prst="rect">
            <a:avLst/>
          </a:prstGeom>
          <a:noFill/>
          <a:ln/>
        </p:spPr>
        <p:txBody>
          <a:bodyPr wrap="square" rtlCol="0" anchor="ctr"/>
          <a:lstStyle/>
          <a:p>
            <a:pPr indent="0" marL="0">
              <a:lnSpc>
                <a:spcPct val="125000"/>
              </a:lnSpc>
              <a:buNone/>
            </a:pPr>
            <a:r>
              <a:rPr lang="en-US" sz="1230" dirty="0">
                <a:solidFill>
                  <a:srgbClr val="2B2F36"/>
                </a:solidFill>
                <a:latin typeface="Calibri" pitchFamily="34" charset="0"/>
                <a:ea typeface="Calibri" pitchFamily="34" charset="-122"/>
                <a:cs typeface="Calibri" pitchFamily="34" charset="-120"/>
              </a:rPr>
              <a:t>在确定方向后，明确告知团队“接口契约不可变更”是唯一不可妥协的硬约束，其余实现细节完全授权。</a:t>
            </a:r>
            <a:endParaRPr lang="en-US" sz="1230" dirty="0"/>
          </a:p>
        </p:txBody>
      </p:sp>
      <p:sp>
        <p:nvSpPr>
          <p:cNvPr id="13" name="Shape 11"/>
          <p:cNvSpPr/>
          <p:nvPr/>
        </p:nvSpPr>
        <p:spPr>
          <a:xfrm>
            <a:off x="548640" y="4983480"/>
            <a:ext cx="0" cy="960120"/>
          </a:xfrm>
          <a:prstGeom prst="line">
            <a:avLst/>
          </a:prstGeom>
          <a:noFill/>
          <a:ln w="38100">
            <a:solidFill>
              <a:srgbClr val="1B2A4A"/>
            </a:solidFill>
            <a:prstDash val="solid"/>
          </a:ln>
        </p:spPr>
      </p:sp>
      <p:sp>
        <p:nvSpPr>
          <p:cNvPr id="14" name="Text 12"/>
          <p:cNvSpPr/>
          <p:nvPr/>
        </p:nvSpPr>
        <p:spPr>
          <a:xfrm>
            <a:off x="777240" y="4983480"/>
            <a:ext cx="10424160" cy="91440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这个案例说明：技术判断者的价值不在于“亲自写代码”，而在于“用积累的技术理解，识别出团队成员因经验不足而看不到的风险点”。这种判断力本身需要持续的技术接触来维持，不会凭空存在。</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案例对照二 · 技术判断维度</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三（资源调配维度）</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资源调配者的实际决策样态</a:t>
            </a:r>
            <a:endParaRPr lang="en-US" sz="2700" dirty="0"/>
          </a:p>
        </p:txBody>
      </p:sp>
      <p:sp>
        <p:nvSpPr>
          <p:cNvPr id="6" name="Text 4"/>
          <p:cNvSpPr/>
          <p:nvPr/>
        </p:nvSpPr>
        <p:spPr>
          <a:xfrm>
            <a:off x="548640" y="1691640"/>
            <a:ext cx="10881360" cy="100584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某月，CIM团队同时面临两个任务：一个是某产线提出的非紧急功能优化请求，一个是团队中一名入职8个月工程师提出的“我想尝试独立负责一次中等复杂度的模块上线”的成长请求。从单次任务效率最大化的角度，组长亲自处理优化请求显然更快。</a:t>
            </a:r>
            <a:endParaRPr lang="en-US" sz="1250" dirty="0"/>
          </a:p>
        </p:txBody>
      </p:sp>
      <p:sp>
        <p:nvSpPr>
          <p:cNvPr id="7" name="Text 5"/>
          <p:cNvSpPr/>
          <p:nvPr/>
        </p:nvSpPr>
        <p:spPr>
          <a:xfrm>
            <a:off x="548640" y="2743200"/>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但这名组长做出了不同的资源调配决策：</a:t>
            </a:r>
            <a:endParaRPr lang="en-US" sz="1280" dirty="0"/>
          </a:p>
        </p:txBody>
      </p:sp>
      <p:sp>
        <p:nvSpPr>
          <p:cNvPr id="8" name="Text 6"/>
          <p:cNvSpPr/>
          <p:nvPr/>
        </p:nvSpPr>
        <p:spPr>
          <a:xfrm>
            <a:off x="548640" y="3090672"/>
            <a:ext cx="10881360" cy="64008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将优化请求标记为低优先级延后处理，转而将这名工程师设定为某中等复杂度模块上线的负责人，自己承担风险评审和关键节点检查的角色。</a:t>
            </a:r>
            <a:endParaRPr lang="en-US" sz="1250" dirty="0"/>
          </a:p>
        </p:txBody>
      </p:sp>
      <p:sp>
        <p:nvSpPr>
          <p:cNvPr id="9" name="Text 7"/>
          <p:cNvSpPr/>
          <p:nvPr/>
        </p:nvSpPr>
        <p:spPr>
          <a:xfrm>
            <a:off x="548640" y="388620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〔三个月后〕</a:t>
            </a:r>
            <a:endParaRPr lang="en-US" sz="1100" dirty="0"/>
          </a:p>
        </p:txBody>
      </p:sp>
      <p:sp>
        <p:nvSpPr>
          <p:cNvPr id="10" name="Text 8"/>
          <p:cNvSpPr/>
          <p:nvPr/>
        </p:nvSpPr>
        <p:spPr>
          <a:xfrm>
            <a:off x="548640" y="4187952"/>
            <a:ext cx="10881360" cy="64008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这名工程师成为团队中第二个能够独立负责模块上线的人，团队的“高风险任务必须组长亲自完成”的依赖结构被打破。</a:t>
            </a:r>
            <a:endParaRPr lang="en-US" sz="1250" dirty="0"/>
          </a:p>
        </p:txBody>
      </p:sp>
      <p:sp>
        <p:nvSpPr>
          <p:cNvPr id="11" name="Shape 9"/>
          <p:cNvSpPr/>
          <p:nvPr/>
        </p:nvSpPr>
        <p:spPr>
          <a:xfrm>
            <a:off x="548640" y="5074920"/>
            <a:ext cx="0" cy="960120"/>
          </a:xfrm>
          <a:prstGeom prst="line">
            <a:avLst/>
          </a:prstGeom>
          <a:noFill/>
          <a:ln w="38100">
            <a:solidFill>
              <a:srgbClr val="1B2A4A"/>
            </a:solidFill>
            <a:prstDash val="solid"/>
          </a:ln>
        </p:spPr>
      </p:sp>
      <p:sp>
        <p:nvSpPr>
          <p:cNvPr id="12" name="Text 10"/>
          <p:cNvSpPr/>
          <p:nvPr/>
        </p:nvSpPr>
        <p:spPr>
          <a:xfrm>
            <a:off x="777240" y="5074920"/>
            <a:ext cx="10424160" cy="91440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这个决策在当月的任务吞吐量上是“次优”的，但在组织的中长期产出函数上是最优的——这正是资源调配者必须具备的、跨越单一时间窗口的决策视野。</a:t>
            </a:r>
            <a:endParaRPr lang="en-US" sz="130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案例对照三 · 资源调配维度</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新任主管最容易陷入的认知误区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〔误区一〕</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“我必须比团队中任何人都更懂技术细节，否则我没有资格管理他们”</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混淆了“技术权威”和“管理权威”两种不同性质的权威来源。管理权威的合法性来自于能否做出正确的资源配置和风险判断决策，而不是来自于个人技术能力在团队中的排名。一个团队中技术能力最强的人转型为管理者后，如果继续用“技术权威”的逻辑要求自己，会持续陷入“必须亲自验证一切”的疲惫状态。</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〔误区二〕</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“授权出去的任务，我必须随时掌握进展，否则风险不可控”</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把“风险可控”等同于“信息实时可得”，但实际上，风险可控的关键是“在正确的节点设置正确的检查点”，而不是无差别的高频度信息获取。频繁的进度询问不会降低风险，只会降低团队的自主决策意愿，并消耗管理者本应投入到上游判断的时间资源。</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上</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新任主管最容易陷入的认知误区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〔误区三〕</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“团队成员遇到困难来找我，我应该直接告诉他们答案，这样效率最高”</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只优化了“这一次问题解决的速度”，却忽略了组织学习曲线的复利效应。每一次直接给出答案，都是放弃了一次让团队成员建立独立判断能力的机会，这个机会成本在短期不可见，但在18个月的时间尺度上，会决定团队的整体成熟度上限。</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〔误区四〕</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“如果我不亲自参与，万一出了问题，责任就说不清楚”</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误解了管理责任的性质——管理者的责任不是“亲自完成以确保正确”，而是“设计出正确的授权机制和检查机制，使得即便自己不直接参与，结果依然在可接受的风险范围内”。试图通过“亲自参与”来规避责任，本质上是用执行层面的努力来掩盖管理层面的设计缺位。</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下</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为什么技术能力最强的人，管理直觉的自信常常错位</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达克效应在新晋主管身上的体现</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〔概念定义〕</a:t>
            </a:r>
            <a:endParaRPr lang="en-US" sz="1100" dirty="0"/>
          </a:p>
        </p:txBody>
      </p:sp>
      <p:sp>
        <p:nvSpPr>
          <p:cNvPr id="8" name="Text 6"/>
          <p:cNvSpPr/>
          <p:nvPr/>
        </p:nvSpPr>
        <p:spPr>
          <a:xfrm>
            <a:off x="548640" y="2240280"/>
            <a:ext cx="10881360" cy="77724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达克效应（Dunning–Kruger Effect）描述的是：在某个领域能力不足的人，往往会高估自己在该领域的能力水平，因为他们缺乏识别自己不足之处所需的元认知能力。</a:t>
            </a:r>
            <a:endParaRPr lang="en-US" sz="1250" dirty="0"/>
          </a:p>
        </p:txBody>
      </p:sp>
      <p:sp>
        <p:nvSpPr>
          <p:cNvPr id="9" name="Text 7"/>
          <p:cNvSpPr/>
          <p:nvPr/>
        </p:nvSpPr>
        <p:spPr>
          <a:xfrm>
            <a:off x="548640" y="3108960"/>
            <a:ext cx="10881360" cy="548640"/>
          </a:xfrm>
          <a:prstGeom prst="rect">
            <a:avLst/>
          </a:prstGeom>
          <a:noFill/>
          <a:ln/>
        </p:spPr>
        <p:txBody>
          <a:bodyPr wrap="square" rtlCol="0" anchor="ctr"/>
          <a:lstStyle/>
          <a:p>
            <a:pPr indent="0" marL="0">
              <a:lnSpc>
                <a:spcPct val="125000"/>
              </a:lnSpc>
              <a:buNone/>
            </a:pPr>
            <a:r>
              <a:rPr lang="en-US" sz="1300" b="1" dirty="0">
                <a:solidFill>
                  <a:srgbClr val="32436B"/>
                </a:solidFill>
                <a:latin typeface="Calibri" pitchFamily="34" charset="0"/>
                <a:ea typeface="Calibri" pitchFamily="34" charset="-122"/>
                <a:cs typeface="Calibri" pitchFamily="34" charset="-120"/>
              </a:rPr>
              <a:t>这个效应在新晋主管身上呈现出一个特殊的变体：技术能力的高水平自信，被错误地迁移到管理能力的评估上。</a:t>
            </a:r>
            <a:endParaRPr lang="en-US" sz="1300" dirty="0"/>
          </a:p>
        </p:txBody>
      </p:sp>
      <p:sp>
        <p:nvSpPr>
          <p:cNvPr id="10" name="Text 8"/>
          <p:cNvSpPr/>
          <p:nvPr/>
        </p:nvSpPr>
        <p:spPr>
          <a:xfrm>
            <a:off x="548640" y="3703320"/>
            <a:ext cx="10881360" cy="128016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一名工程师在技术维度上对自己的能力有准确认知（因为代码是否正确有明确的客观反馈），但在转型为管理者后，他对自己管理决策质量的自我评估，缺乏同样清晰的反馈机制——团队产出的好坏存在滞后性、归因模糊性，导致管理直觉的校准过程比技术直觉的校准过程慢得多、也更容易被自我感觉误导。</a:t>
            </a:r>
            <a:endParaRPr lang="en-US" sz="1230" dirty="0"/>
          </a:p>
        </p:txBody>
      </p:sp>
      <p:sp>
        <p:nvSpPr>
          <p:cNvPr id="11" name="Shape 9"/>
          <p:cNvSpPr/>
          <p:nvPr/>
        </p:nvSpPr>
        <p:spPr>
          <a:xfrm>
            <a:off x="548640" y="5120640"/>
            <a:ext cx="0" cy="960120"/>
          </a:xfrm>
          <a:prstGeom prst="line">
            <a:avLst/>
          </a:prstGeom>
          <a:noFill/>
          <a:ln w="38100">
            <a:solidFill>
              <a:srgbClr val="9C5536"/>
            </a:solidFill>
            <a:prstDash val="solid"/>
          </a:ln>
        </p:spPr>
      </p:sp>
      <p:sp>
        <p:nvSpPr>
          <p:cNvPr id="12" name="Text 10"/>
          <p:cNvSpPr/>
          <p:nvPr/>
        </p:nvSpPr>
        <p:spPr>
          <a:xfrm>
            <a:off x="777240" y="5120640"/>
            <a:ext cx="10424160" cy="91440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这解释了一个常见现象：技术能力越强的新任主管，初期对自己“管理直觉”的自信程度，反而可能与实际管理决策质量呈现负相关——直到他们经历足够多次的、有明确反馈的管理决策校准。</a:t>
            </a:r>
            <a:endParaRPr lang="en-US" sz="130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延伸视角一 · 达克效应</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过去最擅长的能力，为什么会变成阻力</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能力陷阱（Competency Trap）</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〔概念定义〕</a:t>
            </a:r>
            <a:endParaRPr lang="en-US" sz="1100" dirty="0"/>
          </a:p>
        </p:txBody>
      </p:sp>
      <p:sp>
        <p:nvSpPr>
          <p:cNvPr id="8" name="Text 6"/>
          <p:cNvSpPr/>
          <p:nvPr/>
        </p:nvSpPr>
        <p:spPr>
          <a:xfrm>
            <a:off x="548640" y="2240280"/>
            <a:ext cx="10881360" cy="77724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这个概念描述的是组织和个体学习中的一个共同现象：当某种能力曾经带来过显著的成功回报，行为主体会倾向于持续依赖这种能力，即便环境已经发生变化、这种能力的边际回报已经下降。</a:t>
            </a:r>
            <a:endParaRPr lang="en-US" sz="1250" dirty="0"/>
          </a:p>
        </p:txBody>
      </p:sp>
      <p:sp>
        <p:nvSpPr>
          <p:cNvPr id="9" name="Text 7"/>
          <p:cNvSpPr/>
          <p:nvPr/>
        </p:nvSpPr>
        <p:spPr>
          <a:xfrm>
            <a:off x="548640" y="3108960"/>
            <a:ext cx="10881360" cy="640080"/>
          </a:xfrm>
          <a:prstGeom prst="rect">
            <a:avLst/>
          </a:prstGeom>
          <a:noFill/>
          <a:ln/>
        </p:spPr>
        <p:txBody>
          <a:bodyPr wrap="square" rtlCol="0" anchor="ctr"/>
          <a:lstStyle/>
          <a:p>
            <a:pPr indent="0" marL="0">
              <a:lnSpc>
                <a:spcPct val="125000"/>
              </a:lnSpc>
              <a:buNone/>
            </a:pPr>
            <a:r>
              <a:rPr lang="en-US" sz="1280" b="1" dirty="0">
                <a:solidFill>
                  <a:srgbClr val="32436B"/>
                </a:solidFill>
                <a:latin typeface="Calibri" pitchFamily="34" charset="0"/>
                <a:ea typeface="Calibri" pitchFamily="34" charset="-122"/>
                <a:cs typeface="Calibri" pitchFamily="34" charset="-120"/>
              </a:rPr>
              <a:t>对新任主管而言，“亲自把技术问题解决好”这种能力，正是他过去获得晋升的核心原因——这意味着这种能力对他而言，曾经有极高的正强化历史。</a:t>
            </a:r>
            <a:endParaRPr lang="en-US" sz="1280" dirty="0"/>
          </a:p>
        </p:txBody>
      </p:sp>
      <p:sp>
        <p:nvSpPr>
          <p:cNvPr id="10" name="Text 8"/>
          <p:cNvSpPr/>
          <p:nvPr/>
        </p:nvSpPr>
        <p:spPr>
          <a:xfrm>
            <a:off x="548640" y="388620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〔破坏机制〕</a:t>
            </a:r>
            <a:endParaRPr lang="en-US" sz="1100" dirty="0"/>
          </a:p>
        </p:txBody>
      </p:sp>
      <p:sp>
        <p:nvSpPr>
          <p:cNvPr id="11" name="Text 9"/>
          <p:cNvSpPr/>
          <p:nvPr/>
        </p:nvSpPr>
        <p:spPr>
          <a:xfrm>
            <a:off x="548640" y="4206240"/>
            <a:ext cx="10881360" cy="13716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能力陷阱的破坏性在于：它不是因为人意识不到需要改变，而是因为旧能力带来的即时反馈（问题被解决的成就感、团队的即时感谢）远比新能力（资源调配、技术判断）带来的反馈更直接、更快速。新能力的回报往往需要数周甚至数月才能在团队产出上体现，这种反馈延迟，使得人在压力情境下系统性地倾向于退回旧能力。</a:t>
            </a:r>
            <a:endParaRPr lang="en-US" sz="1230" dirty="0"/>
          </a:p>
        </p:txBody>
      </p:sp>
      <p:sp>
        <p:nvSpPr>
          <p:cNvPr id="12" name="Shape 10"/>
          <p:cNvSpPr/>
          <p:nvPr/>
        </p:nvSpPr>
        <p:spPr>
          <a:xfrm>
            <a:off x="548640" y="5715000"/>
            <a:ext cx="0" cy="594360"/>
          </a:xfrm>
          <a:prstGeom prst="line">
            <a:avLst/>
          </a:prstGeom>
          <a:noFill/>
          <a:ln w="38100">
            <a:solidFill>
              <a:srgbClr val="1B2A4A"/>
            </a:solidFill>
            <a:prstDash val="solid"/>
          </a:ln>
        </p:spPr>
      </p:sp>
      <p:sp>
        <p:nvSpPr>
          <p:cNvPr id="13" name="Text 11"/>
          <p:cNvSpPr/>
          <p:nvPr/>
        </p:nvSpPr>
        <p:spPr>
          <a:xfrm>
            <a:off x="777240" y="5715000"/>
            <a:ext cx="10424160" cy="594360"/>
          </a:xfrm>
          <a:prstGeom prst="rect">
            <a:avLst/>
          </a:prstGeom>
          <a:noFill/>
          <a:ln/>
        </p:spPr>
        <p:txBody>
          <a:bodyPr wrap="square" rtlCol="0" anchor="ctr"/>
          <a:lstStyle/>
          <a:p>
            <a:pPr indent="0" marL="0">
              <a:lnSpc>
                <a:spcPct val="125000"/>
              </a:lnSpc>
              <a:buNone/>
            </a:pPr>
            <a:r>
              <a:rPr lang="en-US" sz="1300" i="1" dirty="0">
                <a:solidFill>
                  <a:srgbClr val="1B2A4A"/>
                </a:solidFill>
                <a:latin typeface="Cambria" pitchFamily="34" charset="0"/>
                <a:ea typeface="Cambria" pitchFamily="34" charset="-122"/>
                <a:cs typeface="Cambria" pitchFamily="34" charset="-120"/>
              </a:rPr>
              <a:t>这正是为什么“角色认知”不能只停留在道理层面，而需要管理者建立主动的、对抗本能反馈偏好的行为机制。</a:t>
            </a:r>
            <a:endParaRPr lang="en-US" sz="13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延伸视角二 · 能力陷阱</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822960"/>
            <a:ext cx="0" cy="4937760"/>
          </a:xfrm>
          <a:prstGeom prst="line">
            <a:avLst/>
          </a:prstGeom>
          <a:noFill/>
          <a:ln w="19050">
            <a:solidFill>
              <a:srgbClr val="1B2A4A"/>
            </a:solidFill>
            <a:prstDash val="solid"/>
          </a:ln>
        </p:spPr>
      </p:sp>
      <p:sp>
        <p:nvSpPr>
          <p:cNvPr id="3" name="Text 1"/>
          <p:cNvSpPr/>
          <p:nvPr/>
        </p:nvSpPr>
        <p:spPr>
          <a:xfrm>
            <a:off x="1188720" y="5029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总结与升华</a:t>
            </a:r>
            <a:endParaRPr lang="en-US" sz="1300" dirty="0"/>
          </a:p>
        </p:txBody>
      </p:sp>
      <p:sp>
        <p:nvSpPr>
          <p:cNvPr id="4" name="Text 2"/>
          <p:cNvSpPr/>
          <p:nvPr/>
        </p:nvSpPr>
        <p:spPr>
          <a:xfrm>
            <a:off x="1188720" y="914400"/>
            <a:ext cx="10058400" cy="685800"/>
          </a:xfrm>
          <a:prstGeom prst="rect">
            <a:avLst/>
          </a:prstGeom>
          <a:noFill/>
          <a:ln/>
        </p:spPr>
        <p:txBody>
          <a:bodyPr wrap="square"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从认知到结构</a:t>
            </a:r>
            <a:endParaRPr lang="en-US" sz="3400" dirty="0"/>
          </a:p>
        </p:txBody>
      </p:sp>
      <p:sp>
        <p:nvSpPr>
          <p:cNvPr id="5" name="Text 3"/>
          <p:cNvSpPr/>
          <p:nvPr/>
        </p:nvSpPr>
        <p:spPr>
          <a:xfrm>
            <a:off x="1188720" y="1783080"/>
            <a:ext cx="9875520" cy="868680"/>
          </a:xfrm>
          <a:prstGeom prst="rect">
            <a:avLst/>
          </a:prstGeom>
          <a:noFill/>
          <a:ln/>
        </p:spPr>
        <p:txBody>
          <a:bodyPr wrap="square" rtlCol="0" anchor="ctr"/>
          <a:lstStyle/>
          <a:p>
            <a:pPr indent="0" marL="0">
              <a:lnSpc>
                <a:spcPct val="128000"/>
              </a:lnSpc>
              <a:buNone/>
            </a:pPr>
            <a:r>
              <a:rPr lang="en-US" sz="1300" dirty="0">
                <a:solidFill>
                  <a:srgbClr val="2B2F36"/>
                </a:solidFill>
                <a:latin typeface="Calibri" pitchFamily="34" charset="0"/>
                <a:ea typeface="Calibri" pitchFamily="34" charset="-122"/>
                <a:cs typeface="Calibri" pitchFamily="34" charset="-120"/>
              </a:rPr>
              <a:t>回到第2页提出的核心问题：为什么最擅长亲自把事情做好的人，最容易在让别人把事情做好这件事上失败？完整的答案现在可以给出：因为这不是态度问题、也不是努力问题，而是三层认知结构的转变问题——</a:t>
            </a:r>
            <a:endParaRPr lang="en-US" sz="1300" dirty="0"/>
          </a:p>
        </p:txBody>
      </p:sp>
      <p:sp>
        <p:nvSpPr>
          <p:cNvPr id="6" name="Text 4"/>
          <p:cNvSpPr/>
          <p:nvPr/>
        </p:nvSpPr>
        <p:spPr>
          <a:xfrm>
            <a:off x="1188720" y="2788920"/>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第一层</a:t>
            </a:r>
            <a:endParaRPr lang="en-US" sz="1300" dirty="0"/>
          </a:p>
        </p:txBody>
      </p:sp>
      <p:sp>
        <p:nvSpPr>
          <p:cNvPr id="7" name="Text 5"/>
          <p:cNvSpPr/>
          <p:nvPr/>
        </p:nvSpPr>
        <p:spPr>
          <a:xfrm>
            <a:off x="2377440" y="2788920"/>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（产出定义）</a:t>
            </a:r>
            <a:endParaRPr lang="en-US" sz="1300" dirty="0"/>
          </a:p>
        </p:txBody>
      </p:sp>
      <p:sp>
        <p:nvSpPr>
          <p:cNvPr id="8" name="Text 6"/>
          <p:cNvSpPr/>
          <p:nvPr/>
        </p:nvSpPr>
        <p:spPr>
          <a:xfrm>
            <a:off x="4800600" y="2807208"/>
            <a:ext cx="6263640" cy="50292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从线性的个人产出函数，转向乘数性的组织产出函数</a:t>
            </a:r>
            <a:endParaRPr lang="en-US" sz="1200" dirty="0"/>
          </a:p>
        </p:txBody>
      </p:sp>
      <p:sp>
        <p:nvSpPr>
          <p:cNvPr id="9" name="Text 7"/>
          <p:cNvSpPr/>
          <p:nvPr/>
        </p:nvSpPr>
        <p:spPr>
          <a:xfrm>
            <a:off x="1188720" y="3355848"/>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第二层</a:t>
            </a:r>
            <a:endParaRPr lang="en-US" sz="1300" dirty="0"/>
          </a:p>
        </p:txBody>
      </p:sp>
      <p:sp>
        <p:nvSpPr>
          <p:cNvPr id="10" name="Text 8"/>
          <p:cNvSpPr/>
          <p:nvPr/>
        </p:nvSpPr>
        <p:spPr>
          <a:xfrm>
            <a:off x="2377440" y="3355848"/>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（角色坐标）</a:t>
            </a:r>
            <a:endParaRPr lang="en-US" sz="1300" dirty="0"/>
          </a:p>
        </p:txBody>
      </p:sp>
      <p:sp>
        <p:nvSpPr>
          <p:cNvPr id="11" name="Text 9"/>
          <p:cNvSpPr/>
          <p:nvPr/>
        </p:nvSpPr>
        <p:spPr>
          <a:xfrm>
            <a:off x="4800600" y="3374136"/>
            <a:ext cx="6263640" cy="50292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从对象层的执行者，转向元层的判断者、调配者、定义者</a:t>
            </a:r>
            <a:endParaRPr lang="en-US" sz="1200" dirty="0"/>
          </a:p>
        </p:txBody>
      </p:sp>
      <p:sp>
        <p:nvSpPr>
          <p:cNvPr id="12" name="Text 10"/>
          <p:cNvSpPr/>
          <p:nvPr/>
        </p:nvSpPr>
        <p:spPr>
          <a:xfrm>
            <a:off x="1188720" y="3922776"/>
            <a:ext cx="1188720" cy="36576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第三层</a:t>
            </a:r>
            <a:endParaRPr lang="en-US" sz="1300" dirty="0"/>
          </a:p>
        </p:txBody>
      </p:sp>
      <p:sp>
        <p:nvSpPr>
          <p:cNvPr id="13" name="Text 11"/>
          <p:cNvSpPr/>
          <p:nvPr/>
        </p:nvSpPr>
        <p:spPr>
          <a:xfrm>
            <a:off x="2377440" y="3922776"/>
            <a:ext cx="2377440" cy="36576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（认知偏误的校正）</a:t>
            </a:r>
            <a:endParaRPr lang="en-US" sz="1300" dirty="0"/>
          </a:p>
        </p:txBody>
      </p:sp>
      <p:sp>
        <p:nvSpPr>
          <p:cNvPr id="14" name="Text 12"/>
          <p:cNvSpPr/>
          <p:nvPr/>
        </p:nvSpPr>
        <p:spPr>
          <a:xfrm>
            <a:off x="4800600" y="3941064"/>
            <a:ext cx="6263640" cy="50292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识别并主动对抗达克效应的误判和能力陷阱的本能拉力</a:t>
            </a:r>
            <a:endParaRPr lang="en-US" sz="1200" dirty="0"/>
          </a:p>
        </p:txBody>
      </p:sp>
      <p:sp>
        <p:nvSpPr>
          <p:cNvPr id="15" name="Text 13"/>
          <p:cNvSpPr/>
          <p:nvPr/>
        </p:nvSpPr>
        <p:spPr>
          <a:xfrm>
            <a:off x="1188720" y="4572000"/>
            <a:ext cx="987552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这三层认知结构的转变，不会因为“知道了”就自动发生——它需要被结构化地实践、被持续地校验。这正是本课程后续模块（停线风险分级、分级授权机制、防火墙建设）存在的原因：它们是这三层认知在具体管理动作上的落地形式。</a:t>
            </a:r>
            <a:endParaRPr lang="en-US" sz="1250" dirty="0"/>
          </a:p>
        </p:txBody>
      </p:sp>
      <p:sp>
        <p:nvSpPr>
          <p:cNvPr id="16" name="Shape 14"/>
          <p:cNvSpPr/>
          <p:nvPr/>
        </p:nvSpPr>
        <p:spPr>
          <a:xfrm>
            <a:off x="1188720" y="5623560"/>
            <a:ext cx="3657600" cy="0"/>
          </a:xfrm>
          <a:prstGeom prst="line">
            <a:avLst/>
          </a:prstGeom>
          <a:noFill/>
          <a:ln w="12700">
            <a:solidFill>
              <a:srgbClr val="C7CDDB"/>
            </a:solidFill>
            <a:prstDash val="solid"/>
          </a:ln>
        </p:spPr>
      </p:sp>
      <p:sp>
        <p:nvSpPr>
          <p:cNvPr id="17" name="Text 15"/>
          <p:cNvSpPr/>
          <p:nvPr/>
        </p:nvSpPr>
        <p:spPr>
          <a:xfrm>
            <a:off x="1188720" y="5760720"/>
            <a:ext cx="7315200" cy="457200"/>
          </a:xfrm>
          <a:prstGeom prst="rect">
            <a:avLst/>
          </a:prstGeom>
          <a:noFill/>
          <a:ln/>
        </p:spPr>
        <p:txBody>
          <a:bodyPr wrap="square" rtlCol="0" anchor="ctr"/>
          <a:lstStyle/>
          <a:p>
            <a:pPr indent="0" marL="0">
              <a:buNone/>
            </a:pPr>
            <a:r>
              <a:rPr lang="en-US" sz="1600" b="1" i="1" dirty="0">
                <a:solidFill>
                  <a:srgbClr val="1B2A4A"/>
                </a:solidFill>
                <a:latin typeface="Cambria" pitchFamily="34" charset="0"/>
                <a:ea typeface="Cambria" pitchFamily="34" charset="-122"/>
                <a:cs typeface="Cambria" pitchFamily="34" charset="-120"/>
              </a:rPr>
              <a:t>认知是起点，结构是终点。</a:t>
            </a:r>
            <a:endParaRPr lang="en-US" sz="16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请结合本讲内容，书面阐述你的判断</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请在课程结束后独立完成书面回答（每题150–300字），并于下次课程前提交。本练习不设“标准答案”，目的是呈现你对相关认知框架的理解方式。</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〔场景一〕</a:t>
            </a:r>
            <a:endParaRPr lang="en-US" sz="1100" dirty="0"/>
          </a:p>
        </p:txBody>
      </p:sp>
      <p:sp>
        <p:nvSpPr>
          <p:cNvPr id="8" name="Text 6"/>
          <p:cNvSpPr/>
          <p:nvPr/>
        </p:nvSpPr>
        <p:spPr>
          <a:xfrm>
            <a:off x="548640" y="24780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你的团队正在开发一个新的数据采集模块，技术难度中等。一名入职3年的工程师向你提交了技术方案，你审阅后认为方案可用，但不是你心目中“最优”的实现方式。你会如何处理？请说明你的判断依据。</a:t>
            </a:r>
            <a:endParaRPr lang="en-US" sz="123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〔场景二〕</a:t>
            </a:r>
            <a:endParaRPr lang="en-US" sz="1100" dirty="0"/>
          </a:p>
        </p:txBody>
      </p:sp>
      <p:sp>
        <p:nvSpPr>
          <p:cNvPr id="10" name="Text 8"/>
          <p:cNvSpPr/>
          <p:nvPr/>
        </p:nvSpPr>
        <p:spPr>
          <a:xfrm>
            <a:off x="548640" y="38496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你手上同时有两件事：一是你亲自处理一个紧急报警可以在20分钟内解决；二是把这个报警交给一名工程师处理，预计他需要90分钟，且这次报警过去半年内已出现过三次。你会如何选择？请说明你的判断依据。</a:t>
            </a:r>
            <a:endParaRPr lang="en-US" sz="1230" dirty="0"/>
          </a:p>
        </p:txBody>
      </p:sp>
      <p:sp>
        <p:nvSpPr>
          <p:cNvPr id="11" name="Text 9"/>
          <p:cNvSpPr/>
          <p:nvPr/>
        </p:nvSpPr>
        <p:spPr>
          <a:xfrm>
            <a:off x="548640" y="48920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〔场景三〕</a:t>
            </a:r>
            <a:endParaRPr lang="en-US" sz="1100" dirty="0"/>
          </a:p>
        </p:txBody>
      </p:sp>
      <p:sp>
        <p:nvSpPr>
          <p:cNvPr id="12" name="Text 10"/>
          <p:cNvSpPr/>
          <p:nvPr/>
        </p:nvSpPr>
        <p:spPr>
          <a:xfrm>
            <a:off x="548640" y="52212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入职两年的同事评价你：“你现在做主管，感觉比以前当工程师还要厉害，处理什么问题都很有把握。”听到这个评价时，你的第一反应是什么？这个反应说明了什么？</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一</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模块一 · 角色认知</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综合场景：以下两题边界更模糊，请审慎作答</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以下场景刻意设计为容易产生“听起来对、实际上偏差”的回答，请结合本讲全部理论框架作答，而非套用单一结论。</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〔场景四〕</a:t>
            </a:r>
            <a:endParaRPr lang="en-US" sz="1100" dirty="0"/>
          </a:p>
        </p:txBody>
      </p:sp>
      <p:sp>
        <p:nvSpPr>
          <p:cNvPr id="8" name="Text 6"/>
          <p:cNvSpPr/>
          <p:nvPr/>
        </p:nvSpPr>
        <p:spPr>
          <a:xfrm>
            <a:off x="548640" y="24780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你团队中能力最强的工程师最近主动承担了越来越多原本不属于他的任务，团队其他人也习惯性地把困难问题转给他。产出数据很好看，他本人也很有成就感。作为主管，你认为这个状态需要干预吗？为什么？</a:t>
            </a:r>
            <a:endParaRPr lang="en-US" sz="1230" dirty="0"/>
          </a:p>
        </p:txBody>
      </p:sp>
      <p:sp>
        <p:nvSpPr>
          <p:cNvPr id="9" name="Text 7"/>
          <p:cNvSpPr/>
          <p:nvPr/>
        </p:nvSpPr>
        <p:spPr>
          <a:xfrm>
            <a:off x="548640" y="37490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〔场景五〕</a:t>
            </a:r>
            <a:endParaRPr lang="en-US" sz="1100" dirty="0"/>
          </a:p>
        </p:txBody>
      </p:sp>
      <p:sp>
        <p:nvSpPr>
          <p:cNvPr id="10" name="Text 8"/>
          <p:cNvSpPr/>
          <p:nvPr/>
        </p:nvSpPr>
        <p:spPr>
          <a:xfrm>
            <a:off x="548640" y="40782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完全采纳了“技术判断者”和“资源调配者”的角色定位，三个月内没有亲自处理过任何一次线上问题，全部交由团队处理。团队整体响应速度比你亲自处理时慢了，但没有出现重大事故。你如何评价这三个月的管理成效？这个状态本身是否存在风险？</a:t>
            </a:r>
            <a:endParaRPr lang="en-US" sz="1230" dirty="0"/>
          </a:p>
        </p:txBody>
      </p:sp>
      <p:sp>
        <p:nvSpPr>
          <p:cNvPr id="11" name="Shape 9"/>
          <p:cNvSpPr/>
          <p:nvPr/>
        </p:nvSpPr>
        <p:spPr>
          <a:xfrm>
            <a:off x="548640" y="5440680"/>
            <a:ext cx="10881360" cy="0"/>
          </a:xfrm>
          <a:prstGeom prst="line">
            <a:avLst/>
          </a:prstGeom>
          <a:noFill/>
          <a:ln w="12700">
            <a:solidFill>
              <a:srgbClr val="E3E7EF"/>
            </a:solidFill>
            <a:prstDash val="solid"/>
          </a:ln>
        </p:spPr>
      </p:sp>
      <p:sp>
        <p:nvSpPr>
          <p:cNvPr id="12" name="Text 10"/>
          <p:cNvSpPr/>
          <p:nvPr/>
        </p:nvSpPr>
        <p:spPr>
          <a:xfrm>
            <a:off x="548640" y="5559552"/>
            <a:ext cx="10881360" cy="320040"/>
          </a:xfrm>
          <a:prstGeom prst="rect">
            <a:avLst/>
          </a:prstGeom>
          <a:noFill/>
          <a:ln/>
        </p:spPr>
        <p:txBody>
          <a:bodyPr wrap="square" rtlCol="0" anchor="ctr"/>
          <a:lstStyle/>
          <a:p>
            <a:pPr indent="0" marL="0">
              <a:buNone/>
            </a:pPr>
            <a:r>
              <a:rPr lang="en-US" sz="1150" dirty="0">
                <a:solidFill>
                  <a:srgbClr val="5B6270"/>
                </a:solidFill>
                <a:latin typeface="Calibri" pitchFamily="34" charset="0"/>
                <a:ea typeface="Calibri" pitchFamily="34" charset="-122"/>
                <a:cs typeface="Calibri" pitchFamily="34" charset="-120"/>
              </a:rPr>
              <a:t>提交方式：与场景一至三合并为一份书面材料，于下次课程开始前提交。</a:t>
            </a:r>
            <a:endParaRPr lang="en-US" sz="115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二</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角色认知：从工程师到主管 · 理论精读版</dc:title>
  <dc:subject>PptxGenJS Presentation</dc:subject>
  <dc:creator>PptxGenJS</dc:creator>
  <cp:lastModifiedBy>PptxGenJS</cp:lastModifiedBy>
  <cp:revision>1</cp:revision>
  <dcterms:created xsi:type="dcterms:W3CDTF">2026-06-18T12:36:27Z</dcterms:created>
  <dcterms:modified xsi:type="dcterms:W3CDTF">2026-06-18T12:36:27Z</dcterms:modified>
</cp:coreProperties>
</file>