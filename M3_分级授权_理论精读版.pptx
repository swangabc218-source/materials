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封面页。本课程为理论精读型课件，强调授权设计框架的建立、论证与边界条件，不含互动讨论环节。建议授课时长50-60分钟，可作为模块三的正式讲授内容，区别于配套的实战工作坊材料。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用两种对立的失败模式建立认知钩子，强调它们有共同的根源——授权不是开关，是需要设计的机制系统。这个定调对后续13页的理论展开至关重要。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讲解两维度授权矩阵，建立全篇理论地基。重点强调「成熟度是针对任务类型的动态评估」这个关键认知，是后续所有论证的基础。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本页是深度版的关键页——主动指出矩阵的适用边界和常见误用方式。误用一（成熟度固定化）是M3最重要的认知纠偏点，要结合CIM场景举例：一名5年工程师在他首次接触的任务类型上，成熟度仍然可以是低的。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从信息论角度系统性拆解全程监控的失效机制，给出三个具体机制名称。这三个机制将在第6页的案例中得到具象化验证。机制三（注意力替代效应）与M2的杠杆率概念形成跨模块呼应。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具象化第3-5页的理论。强调关键差异不是结果质量，而是团队成长轨迹——呼应第3页授权矩阵「渐进向高成熟度移动」的目标。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第二个核心框架。进度汇报 vs Check Point的本质差异要讲清楚——这不是名称的不同，是触发逻辑的根本差异。五要素要逐一讲解，后续第10页的案例将完整示范五要素的实际设计。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反例一（退化为进度汇报）是最常见的实践偏差，要引导学员识别：我们组的Check Point是事件驱动还是时间驱动？这个自检问题本身就是本页的核心价值。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呼应第3页的授权矩阵。核心展示：①成熟度基于任务类型评估（小张4年经验但在这类任务上成熟度中等）；②象限定位直接决定授权策略；③跟随学习者角色纳入设计体现梯队思维。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呼应第7页的五要素框架，完整展示实际设计样态。重点是Gate的三要素（检查内容/判断标准/升级路径）在每个节点都有具体定义，而不是笼统的「看一看」。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误区一和M2误区三（信任可以降低风险等级）形成跨模块呼应——混淆逻辑相同，只是误用的对象不同（一个是Check Point，一个是风险坐标）。讲授时可以点出这个联系。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误区四是最实用的诊断工具——当管理者说「他老是来问我，说明他不适合被授权」时，首先应该自检的是「我有没有在授权时说清楚边界」。这个逆向思考是区分管理能力层级的重要指标。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引入组织心理学概念增加理论厚度。核心是讲清楚「凭感觉信任」和「设计性信任」的区别——前者不稳定，后者通过Gate评审积累可观察的完成记录，形成系统性能力建构复利。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第二个跨学科延伸概念（经济学/组织理论），为Check Point提供了结构性论证——不是「不信任」，而是委托-代理关系本身具有内在的信息不对称，这使Check Point成为一种结构性必要而非可选的管理偏好。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开篇的核心问题，形成完整闭环。三层认知结构是全篇的核心框架图，建议授课时用白板再画一次强化记忆。结尾点出与下一模块（M4防火墙建设）的衔接关系——分级授权机制建立之后，面对跨部门的口头需求，才有了应对的制度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对应第一层框架·成熟度评估，对应第3-4页。
观察要点：回答是否意识到成熟度应针对任务类型评估而非工作年限，是否识别出小张在此任务类型上成熟度低于小李这个反直觉结论。若学员认为「小张更资深应该授权给他负责更多」而未提及任务类型匹配，说明成熟度动态评估这个核心概念尚未内化。
场景二 —— 对应第二层框架·Check Point设计，对应第7-8页。
观察要点：理想回答应指出即使任务成功，授权设计仍有缺陷——没有Check Point意味着管理者错失了在边界条件判断节点给出方向指引的时机，小陈的保守选择是信息不对称下的理性行为，是授权设计缺位的体现，而非值得称赞的结果。若学员认为「任务成功说明授权是对的」，说明对Check Point价值的理解停留在「有没有出问题」层面。
场景三 —— 对应第12页误区四·授权边界不清晰。
观察要点：理想回答应区分「能力不足」和「授权设计不清晰」两个可能的原因，并指出在没有排除授权设计问题之前，把频繁询问归因于「能力不够」是一种过早关闭的推断。若学员直接认同「频繁询问说明能力不够」，说明对误区四的理解停留在文字层面，未能做到自我诊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对应第7页Check Point触发逻辑（里程碑事件触发 vs 主观准备感）。
观察要点：理想回答应识别出Check Point应该由里程碑事件触发而非执行者的主观准备感，同时需要判断「还没完全完成」意味着什么——是真正未就绪，还是执行者对完成标准的理解与设计有偏差？后者本身是需要在这次提前会面中处理的重要信息，而非应该拒绝评审的理由。若学员简单认为「可以提前做评审」或简单认为「应该等到约定时间」，都说明对Gate触发逻辑理解不够深入。
场景五 —— 对应第3页矩阵·象限一策略定义。
观察要点：这是一个没有标准答案的场景——选A（自己做）和选B（师带徒模式）都是象限一的合理策略。核心是学员能否说清楚选择的依据：任务的时间紧迫性、培养机会的战略价值（选B能给执行者建立积累）、高强度监控的可行性（管理者自身带宽是否支撑）。若学员直接选A且认为这当然是正确的，说明对象限一师带徒策略及其团队培养价值理解不深，这是需要重点跟进的信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模块三</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分级授权：</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放手但不放任</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一份关于授权设计的理论框架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全17讲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两种授权失败，根源是同一个认知空白</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授权的两种常见失败模式</a:t>
            </a:r>
            <a:endParaRPr lang="en-US" sz="1500" dirty="0"/>
          </a:p>
        </p:txBody>
      </p:sp>
      <p:sp>
        <p:nvSpPr>
          <p:cNvPr id="8" name="Text 6"/>
          <p:cNvSpPr/>
          <p:nvPr/>
        </p:nvSpPr>
        <p:spPr>
          <a:xfrm>
            <a:off x="548640" y="2304288"/>
            <a:ext cx="10881360" cy="96012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经历过M1和M2之后，许多主管已建立了两个认知：他们理解「应该放手」（M1的产出定义），也理解「哪些任务不能乱放」（M2的风险分级）。但在实践中，他们往往在两种极端之间摆动：失败模式一是「放了之后完全不管」——任务出了问题才知道，此时损失已经发生；失败模式二是「名义上放手，实际全程盯着」——每天询问进度、干预实现细节，实质上还是自己在主导。</a:t>
            </a:r>
            <a:endParaRPr lang="en-US" sz="1250" dirty="0"/>
          </a:p>
        </p:txBody>
      </p:sp>
      <p:sp>
        <p:nvSpPr>
          <p:cNvPr id="9" name="Text 7"/>
          <p:cNvSpPr/>
          <p:nvPr/>
        </p:nvSpPr>
        <p:spPr>
          <a:xfrm>
            <a:off x="548640" y="338328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65760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两种失败的共同根源</a:t>
            </a:r>
            <a:endParaRPr lang="en-US" sz="1500" dirty="0"/>
          </a:p>
        </p:txBody>
      </p:sp>
      <p:sp>
        <p:nvSpPr>
          <p:cNvPr id="11" name="Text 9"/>
          <p:cNvSpPr/>
          <p:nvPr/>
        </p:nvSpPr>
        <p:spPr>
          <a:xfrm>
            <a:off x="548640" y="3995928"/>
            <a:ext cx="10881360" cy="749808"/>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两种失败看起来对立，但根源是同一个认知空白：主管不知道授权之后「应该做什么」。他们把授权理解为一个二元开关——「我管」或者「我不管」——而没有建立起「以什么方式、在什么时机、关注什么信息来维持必要控制」的完整框架。</a:t>
            </a:r>
            <a:endParaRPr lang="en-US" sz="1250" dirty="0"/>
          </a:p>
        </p:txBody>
      </p:sp>
      <p:sp>
        <p:nvSpPr>
          <p:cNvPr id="12" name="Shape 10"/>
          <p:cNvSpPr/>
          <p:nvPr/>
        </p:nvSpPr>
        <p:spPr>
          <a:xfrm>
            <a:off x="548640" y="4892040"/>
            <a:ext cx="0" cy="1234440"/>
          </a:xfrm>
          <a:prstGeom prst="line">
            <a:avLst/>
          </a:prstGeom>
          <a:noFill/>
          <a:ln w="38100">
            <a:solidFill>
              <a:srgbClr val="9C5536"/>
            </a:solidFill>
            <a:prstDash val="solid"/>
          </a:ln>
        </p:spPr>
      </p:sp>
      <p:sp>
        <p:nvSpPr>
          <p:cNvPr id="13" name="Text 11"/>
          <p:cNvSpPr/>
          <p:nvPr/>
        </p:nvSpPr>
        <p:spPr>
          <a:xfrm>
            <a:off x="777240" y="48920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193792"/>
            <a:ext cx="10424160" cy="868680"/>
          </a:xfrm>
          <a:prstGeom prst="rect">
            <a:avLst/>
          </a:prstGeom>
          <a:noFill/>
          <a:ln/>
        </p:spPr>
        <p:txBody>
          <a:bodyPr wrap="square" rtlCol="0" anchor="ctr"/>
          <a:lstStyle/>
          <a:p>
            <a:pPr indent="0" marL="0">
              <a:lnSpc>
                <a:spcPct val="130000"/>
              </a:lnSpc>
              <a:buNone/>
            </a:pPr>
            <a:r>
              <a:rPr lang="en-US" sz="1500" i="1" dirty="0">
                <a:solidFill>
                  <a:srgbClr val="1B2A4A"/>
                </a:solidFill>
                <a:latin typeface="Cambria" pitchFamily="34" charset="0"/>
                <a:ea typeface="Cambria" pitchFamily="34" charset="-122"/>
                <a:cs typeface="Cambria" pitchFamily="34" charset="-120"/>
              </a:rPr>
              <a:t>在不全程介入的前提下，如何保持对任务风险的有效控制？这需要的不是意愿上的平衡，而是一套可操作的授权设计机制。</a:t>
            </a:r>
            <a:endParaRPr lang="en-US" sz="15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授权不是一个决定，是一个坐标系</a:t>
            </a:r>
            <a:endParaRPr lang="en-US" sz="2700" dirty="0"/>
          </a:p>
        </p:txBody>
      </p:sp>
      <p:sp>
        <p:nvSpPr>
          <p:cNvPr id="6" name="Text 4"/>
          <p:cNvSpPr/>
          <p:nvPr/>
        </p:nvSpPr>
        <p:spPr>
          <a:xfrm>
            <a:off x="548640" y="1691640"/>
            <a:ext cx="10881360" cy="548640"/>
          </a:xfrm>
          <a:prstGeom prst="rect">
            <a:avLst/>
          </a:prstGeom>
          <a:noFill/>
          <a:ln/>
        </p:spPr>
        <p:txBody>
          <a:bodyPr wrap="square" rtlCol="0" anchor="ctr"/>
          <a:lstStyle/>
          <a:p>
            <a:pPr indent="0" marL="0">
              <a:lnSpc>
                <a:spcPct val="125000"/>
              </a:lnSpc>
              <a:buNone/>
            </a:pPr>
            <a:r>
              <a:rPr lang="en-US" sz="1300" dirty="0">
                <a:solidFill>
                  <a:srgbClr val="2B2F36"/>
                </a:solidFill>
                <a:latin typeface="Calibri" pitchFamily="34" charset="0"/>
                <a:ea typeface="Calibri" pitchFamily="34" charset="-122"/>
                <a:cs typeface="Calibri" pitchFamily="34" charset="-120"/>
              </a:rPr>
              <a:t>授权决策的常见误区是把它处理成一道「放还是不放」的是非题。更准确的框架是把授权理解为一个需要同时考虑两个独立变量的坐标系定位问题：</a:t>
            </a:r>
            <a:endParaRPr lang="en-US" sz="1300" dirty="0"/>
          </a:p>
        </p:txBody>
      </p:sp>
      <p:sp>
        <p:nvSpPr>
          <p:cNvPr id="7" name="Shape 5"/>
          <p:cNvSpPr/>
          <p:nvPr/>
        </p:nvSpPr>
        <p:spPr>
          <a:xfrm>
            <a:off x="1005840" y="2377440"/>
            <a:ext cx="9418320" cy="0"/>
          </a:xfrm>
          <a:prstGeom prst="line">
            <a:avLst/>
          </a:prstGeom>
          <a:noFill/>
          <a:ln w="12700">
            <a:solidFill>
              <a:srgbClr val="8A6D1F"/>
            </a:solidFill>
            <a:prstDash val="solid"/>
          </a:ln>
        </p:spPr>
      </p:sp>
      <p:sp>
        <p:nvSpPr>
          <p:cNvPr id="8" name="Text 6"/>
          <p:cNvSpPr/>
          <p:nvPr/>
        </p:nvSpPr>
        <p:spPr>
          <a:xfrm>
            <a:off x="1005840" y="2514600"/>
            <a:ext cx="9418320" cy="411480"/>
          </a:xfrm>
          <a:prstGeom prst="rect">
            <a:avLst/>
          </a:prstGeom>
          <a:noFill/>
          <a:ln/>
        </p:spPr>
        <p:txBody>
          <a:bodyPr wrap="square" rtlCol="0" anchor="ctr"/>
          <a:lstStyle/>
          <a:p>
            <a:pPr algn="ctr" indent="0" marL="0">
              <a:buNone/>
            </a:pPr>
            <a:r>
              <a:rPr lang="en-US" sz="1400" i="1" dirty="0">
                <a:solidFill>
                  <a:srgbClr val="8A6D1F"/>
                </a:solidFill>
                <a:latin typeface="Cambria" pitchFamily="34" charset="0"/>
                <a:ea typeface="Cambria" pitchFamily="34" charset="-122"/>
                <a:cs typeface="Cambria" pitchFamily="34" charset="-120"/>
              </a:rPr>
              <a:t>变量一：任务的风险等级（M2已建立判断能力）　　变量二：执行者的成熟度（针对该类任务）</a:t>
            </a:r>
            <a:endParaRPr lang="en-US" sz="1400" dirty="0"/>
          </a:p>
        </p:txBody>
      </p:sp>
      <p:sp>
        <p:nvSpPr>
          <p:cNvPr id="9" name="Shape 7"/>
          <p:cNvSpPr/>
          <p:nvPr/>
        </p:nvSpPr>
        <p:spPr>
          <a:xfrm>
            <a:off x="1005840" y="2999232"/>
            <a:ext cx="9418320" cy="0"/>
          </a:xfrm>
          <a:prstGeom prst="line">
            <a:avLst/>
          </a:prstGeom>
          <a:noFill/>
          <a:ln w="12700">
            <a:solidFill>
              <a:srgbClr val="8A6D1F"/>
            </a:solidFill>
            <a:prstDash val="solid"/>
          </a:ln>
        </p:spPr>
      </p:sp>
      <p:sp>
        <p:nvSpPr>
          <p:cNvPr id="10" name="Text 8"/>
          <p:cNvSpPr/>
          <p:nvPr/>
        </p:nvSpPr>
        <p:spPr>
          <a:xfrm>
            <a:off x="548640" y="3200400"/>
            <a:ext cx="10881360" cy="320040"/>
          </a:xfrm>
          <a:prstGeom prst="rect">
            <a:avLst/>
          </a:prstGeom>
          <a:noFill/>
          <a:ln/>
        </p:spPr>
        <p:txBody>
          <a:bodyPr wrap="square" rtlCol="0" anchor="ctr"/>
          <a:lstStyle/>
          <a:p>
            <a:pPr indent="0" marL="0">
              <a:buNone/>
            </a:pPr>
            <a:r>
              <a:rPr lang="en-US" sz="1250" dirty="0">
                <a:solidFill>
                  <a:srgbClr val="2B2F36"/>
                </a:solidFill>
                <a:latin typeface="Calibri" pitchFamily="34" charset="0"/>
                <a:ea typeface="Calibri" pitchFamily="34" charset="-122"/>
                <a:cs typeface="Calibri" pitchFamily="34" charset="-120"/>
              </a:rPr>
              <a:t>两个变量交叉，产生四个象限，对应四种本质上不同的授权策略：</a:t>
            </a:r>
            <a:endParaRPr lang="en-US" sz="1250" dirty="0"/>
          </a:p>
        </p:txBody>
      </p:sp>
      <p:sp>
        <p:nvSpPr>
          <p:cNvPr id="11" name="Text 9"/>
          <p:cNvSpPr/>
          <p:nvPr/>
        </p:nvSpPr>
        <p:spPr>
          <a:xfrm>
            <a:off x="548640" y="365760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高风险任务</a:t>
            </a:r>
            <a:endParaRPr lang="en-US" sz="1300" dirty="0"/>
          </a:p>
        </p:txBody>
      </p:sp>
      <p:sp>
        <p:nvSpPr>
          <p:cNvPr id="12" name="Shape 10"/>
          <p:cNvSpPr/>
          <p:nvPr/>
        </p:nvSpPr>
        <p:spPr>
          <a:xfrm>
            <a:off x="548640" y="4005072"/>
            <a:ext cx="5257800" cy="0"/>
          </a:xfrm>
          <a:prstGeom prst="line">
            <a:avLst/>
          </a:prstGeom>
          <a:noFill/>
          <a:ln w="12700">
            <a:solidFill>
              <a:srgbClr val="E3E7EF"/>
            </a:solidFill>
            <a:prstDash val="solid"/>
          </a:ln>
        </p:spPr>
      </p:sp>
      <p:sp>
        <p:nvSpPr>
          <p:cNvPr id="13" name="Text 11"/>
          <p:cNvSpPr/>
          <p:nvPr/>
        </p:nvSpPr>
        <p:spPr>
          <a:xfrm>
            <a:off x="548640" y="4114800"/>
            <a:ext cx="5257800" cy="384048"/>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象限一（低成熟度）：主管直接执行，或严格监控下的师带徒模式</a:t>
            </a:r>
            <a:endParaRPr lang="en-US" sz="1200" dirty="0"/>
          </a:p>
        </p:txBody>
      </p:sp>
      <p:sp>
        <p:nvSpPr>
          <p:cNvPr id="14" name="Text 12"/>
          <p:cNvSpPr/>
          <p:nvPr/>
        </p:nvSpPr>
        <p:spPr>
          <a:xfrm>
            <a:off x="548640" y="4572000"/>
            <a:ext cx="5257800" cy="384048"/>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象限二（高成熟度）：授权 + Gate评审（关键节点设置不可绕过的技术评审）</a:t>
            </a:r>
            <a:endParaRPr lang="en-US" sz="1200" dirty="0"/>
          </a:p>
        </p:txBody>
      </p:sp>
      <p:sp>
        <p:nvSpPr>
          <p:cNvPr id="15" name="Shape 13"/>
          <p:cNvSpPr/>
          <p:nvPr/>
        </p:nvSpPr>
        <p:spPr>
          <a:xfrm>
            <a:off x="6080760" y="3657600"/>
            <a:ext cx="0" cy="2331720"/>
          </a:xfrm>
          <a:prstGeom prst="line">
            <a:avLst/>
          </a:prstGeom>
          <a:noFill/>
          <a:ln w="12700">
            <a:solidFill>
              <a:srgbClr val="E3E7EF"/>
            </a:solidFill>
            <a:prstDash val="solid"/>
          </a:ln>
        </p:spPr>
      </p:sp>
      <p:sp>
        <p:nvSpPr>
          <p:cNvPr id="16" name="Text 14"/>
          <p:cNvSpPr/>
          <p:nvPr/>
        </p:nvSpPr>
        <p:spPr>
          <a:xfrm>
            <a:off x="6519672" y="365760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低风险任务</a:t>
            </a:r>
            <a:endParaRPr lang="en-US" sz="1300" dirty="0"/>
          </a:p>
        </p:txBody>
      </p:sp>
      <p:sp>
        <p:nvSpPr>
          <p:cNvPr id="17" name="Shape 15"/>
          <p:cNvSpPr/>
          <p:nvPr/>
        </p:nvSpPr>
        <p:spPr>
          <a:xfrm>
            <a:off x="6519672" y="4005072"/>
            <a:ext cx="5257800" cy="0"/>
          </a:xfrm>
          <a:prstGeom prst="line">
            <a:avLst/>
          </a:prstGeom>
          <a:noFill/>
          <a:ln w="12700">
            <a:solidFill>
              <a:srgbClr val="E3E7EF"/>
            </a:solidFill>
            <a:prstDash val="solid"/>
          </a:ln>
        </p:spPr>
      </p:sp>
      <p:sp>
        <p:nvSpPr>
          <p:cNvPr id="18" name="Text 16"/>
          <p:cNvSpPr/>
          <p:nvPr/>
        </p:nvSpPr>
        <p:spPr>
          <a:xfrm>
            <a:off x="6519672" y="4114800"/>
            <a:ext cx="5257800" cy="384048"/>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象限三（低成熟度）：授权 + 密集陪跑（高频辅导，允许犯错，及时纠偏）</a:t>
            </a:r>
            <a:endParaRPr lang="en-US" sz="1200" dirty="0"/>
          </a:p>
        </p:txBody>
      </p:sp>
      <p:sp>
        <p:nvSpPr>
          <p:cNvPr id="19" name="Text 17"/>
          <p:cNvSpPr/>
          <p:nvPr/>
        </p:nvSpPr>
        <p:spPr>
          <a:xfrm>
            <a:off x="6519672" y="4572000"/>
            <a:ext cx="5257800" cy="384048"/>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象限四（高成熟度）：完全授权，结果验收，过程不干预</a:t>
            </a:r>
            <a:endParaRPr lang="en-US" sz="1200" dirty="0"/>
          </a:p>
        </p:txBody>
      </p:sp>
      <p:sp>
        <p:nvSpPr>
          <p:cNvPr id="20" name="Text 18"/>
          <p:cNvSpPr/>
          <p:nvPr/>
        </p:nvSpPr>
        <p:spPr>
          <a:xfrm>
            <a:off x="548640" y="6053328"/>
            <a:ext cx="10881360" cy="320040"/>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这个矩阵的意义：不只是告诉主管「该不该放」，而是告诉主管「放手的程度应该是什么，对应的介入方式应该是什么」。</a:t>
            </a:r>
            <a:endParaRPr lang="en-US" sz="120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矩阵的三个常见误用</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把「执行者成熟度」固定化</a:t>
            </a:r>
            <a:endParaRPr lang="en-US" sz="1450" dirty="0"/>
          </a:p>
        </p:txBody>
      </p:sp>
      <p:sp>
        <p:nvSpPr>
          <p:cNvPr id="8" name="Text 6"/>
          <p:cNvSpPr/>
          <p:nvPr/>
        </p:nvSpPr>
        <p:spPr>
          <a:xfrm>
            <a:off x="548640" y="236829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成熟度不是一个固定属性，而是针对特定任务类型的动态评估。同一名工程师，在他熟悉的接口封装任务上成熟度很高（象限四），在他从未接触过的多厂区状态同步任务上成熟度却很低（象限一或三）。把「这个人很资深」等同于「所有任务都高成熟度」，是导致授权失控的最常见原因。</a:t>
            </a:r>
            <a:endParaRPr lang="en-US" sz="1250" dirty="0"/>
          </a:p>
        </p:txBody>
      </p:sp>
      <p:sp>
        <p:nvSpPr>
          <p:cNvPr id="9" name="Text 7"/>
          <p:cNvSpPr/>
          <p:nvPr/>
        </p:nvSpPr>
        <p:spPr>
          <a:xfrm>
            <a:off x="548640" y="347472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6732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象限之间的跳跃性授权</a:t>
            </a:r>
            <a:endParaRPr lang="en-US" sz="1450" dirty="0"/>
          </a:p>
        </p:txBody>
      </p:sp>
      <p:sp>
        <p:nvSpPr>
          <p:cNvPr id="11" name="Text 9"/>
          <p:cNvSpPr/>
          <p:nvPr/>
        </p:nvSpPr>
        <p:spPr>
          <a:xfrm>
            <a:off x="548640" y="415137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正确的授权路径通常是渐进的——从象限一/三（低成熟度）逐步向象限二/四（高成熟度）移动，每次成熟度的提升都需要可观察的完成记录来支撑。跳跃性授权（直接把象限一的任务交给象限三的执行者）通常是信任驱动下做出的，但跳跃本身并不能缩短执行者实际建立能力所需的时间。</a:t>
            </a:r>
            <a:endParaRPr lang="en-US" sz="1250" dirty="0"/>
          </a:p>
        </p:txBody>
      </p:sp>
      <p:sp>
        <p:nvSpPr>
          <p:cNvPr id="12" name="Shape 10"/>
          <p:cNvSpPr/>
          <p:nvPr/>
        </p:nvSpPr>
        <p:spPr>
          <a:xfrm>
            <a:off x="548640" y="5303520"/>
            <a:ext cx="0" cy="1188720"/>
          </a:xfrm>
          <a:prstGeom prst="line">
            <a:avLst/>
          </a:prstGeom>
          <a:noFill/>
          <a:ln w="38100">
            <a:solidFill>
              <a:srgbClr val="9C5536"/>
            </a:solidFill>
            <a:prstDash val="solid"/>
          </a:ln>
        </p:spPr>
      </p:sp>
      <p:sp>
        <p:nvSpPr>
          <p:cNvPr id="13" name="Text 11"/>
          <p:cNvSpPr/>
          <p:nvPr/>
        </p:nvSpPr>
        <p:spPr>
          <a:xfrm>
            <a:off x="777240" y="53035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05272"/>
            <a:ext cx="10424160" cy="86868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矩阵在「管理者能够准确评估两个变量」的前提下才有效。如果对任务风险等级的评估（M2的能力）或对执行者成熟度的评估存在系统性偏差，矩阵会给出错误的象限定位，授权策略就会与实际情况不匹配。矩阵是辅助工具，不是替代管理者做判断的算法。</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为什么「全程监控」是低效策略</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从信息论角度，拆解全程监控的失效路径</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信息的边际价值递减</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任务初期，了解方向选择和关键设计决策的信息价值极高（此时介入成本低，影响范围大）；任务中后期，获取每日代码提交量的信息价值极低（即使发现问题，改动成本也已很高）。全程均等监控把高价值和低价值的信息获取同等对待，消耗了管理者的稀缺带宽，却没有对应提升对关键风险节点的识别能力。</a:t>
            </a:r>
            <a:endParaRPr lang="en-US" sz="118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监控本身的激励扭曲</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持续高频的进度监控会向执行者传递隐性信号：「主管对我的独立判断没有信心。」这会抑制执行者的自主决策意愿，使他们倾向于在每个小决策前都向上确认，而不是积累足够信息后汇总汇报。这不是执行者「不负责任」，而是对监控信号的理性响应——最终后果是主管的决策负担没有下降，反而通过监控行为制造了更多上行请求。</a:t>
            </a:r>
            <a:endParaRPr lang="en-US" sz="118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监控的注意力替代效应</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管理者投入到监控低风险任务日常进度的时间，直接挤占本应用于高价值活动（高风险任务的Gate评审、跨部门协调、团队能力规划）的注意力。全程监控的真实代价不只是对被监控者的抑制，更是对监控者自身注意力资源的低效占用。</a:t>
            </a:r>
            <a:endParaRPr lang="en-US" sz="118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三个机制共同指向一个结论：有效的授权控制，不是来自监控频率的提升，而是来自监控时机的精准选择——这正是Check Point机制的设计基础。</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两种控制策略的真实分野</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全程监控〕</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7772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某CIM组长把一个中等复杂度的接口改造任务授权给入职2年的工程师小陈，但每天上午都在群里询问进展，并在小陈发来的代码片段上直接给出实现方向的建议。</a:t>
            </a:r>
            <a:endParaRPr lang="en-US" sz="1200" dirty="0"/>
          </a:p>
        </p:txBody>
      </p:sp>
      <p:sp>
        <p:nvSpPr>
          <p:cNvPr id="9" name="Text 7"/>
          <p:cNvSpPr/>
          <p:nvPr/>
        </p:nvSpPr>
        <p:spPr>
          <a:xfrm>
            <a:off x="548640" y="3044952"/>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结果：</a:t>
            </a:r>
            <a:endParaRPr lang="en-US" sz="1200" dirty="0"/>
          </a:p>
        </p:txBody>
      </p:sp>
      <p:sp>
        <p:nvSpPr>
          <p:cNvPr id="10" name="Text 8"/>
          <p:cNvSpPr/>
          <p:nvPr/>
        </p:nvSpPr>
        <p:spPr>
          <a:xfrm>
            <a:off x="548640" y="3355848"/>
            <a:ext cx="5257800" cy="11887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三周后任务完成，但小陈几乎没有做过一个独立的技术决策。下次类似任务来时，小陈仍然需要同等强度的监控才能完成——没有能力积累。</a:t>
            </a:r>
            <a:endParaRPr lang="en-US" sz="1200" dirty="0"/>
          </a:p>
        </p:txBody>
      </p:sp>
      <p:sp>
        <p:nvSpPr>
          <p:cNvPr id="11" name="Shape 9"/>
          <p:cNvSpPr/>
          <p:nvPr/>
        </p:nvSpPr>
        <p:spPr>
          <a:xfrm>
            <a:off x="6080760" y="1691640"/>
            <a:ext cx="0" cy="393192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〔案例B · Check Point控制〕</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9601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另一位组长把同类任务授权给同等经验的工程师小王，明确约定：第3天看接口定义（确认方向），第8天看核心逻辑设计草图（评估主要风险），第15天集成测试前做代码评审，其余时间不主动询问进度。</a:t>
            </a:r>
            <a:endParaRPr lang="en-US" sz="1200" dirty="0"/>
          </a:p>
        </p:txBody>
      </p:sp>
      <p:sp>
        <p:nvSpPr>
          <p:cNvPr id="15" name="Text 13"/>
          <p:cNvSpPr/>
          <p:nvPr/>
        </p:nvSpPr>
        <p:spPr>
          <a:xfrm>
            <a:off x="6519672" y="3227832"/>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结果：</a:t>
            </a:r>
            <a:endParaRPr lang="en-US" sz="1200" dirty="0"/>
          </a:p>
        </p:txBody>
      </p:sp>
      <p:sp>
        <p:nvSpPr>
          <p:cNvPr id="16" name="Text 14"/>
          <p:cNvSpPr/>
          <p:nvPr/>
        </p:nvSpPr>
        <p:spPr>
          <a:xfrm>
            <a:off x="6519672" y="3538728"/>
            <a:ext cx="5257800" cy="10058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任务同样三周内完成。第3天的评审发现了一个潜在边界条件问题并给出指引，避免了后续返工。小王对这类任务建立了独立处理能力，下次类似任务所需Check Point数量可以减少一个。</a:t>
            </a:r>
            <a:endParaRPr lang="en-US" sz="1200" dirty="0"/>
          </a:p>
        </p:txBody>
      </p:sp>
      <p:sp>
        <p:nvSpPr>
          <p:cNvPr id="17" name="Shape 15"/>
          <p:cNvSpPr/>
          <p:nvPr/>
        </p:nvSpPr>
        <p:spPr>
          <a:xfrm>
            <a:off x="548640" y="5806440"/>
            <a:ext cx="0" cy="548640"/>
          </a:xfrm>
          <a:prstGeom prst="line">
            <a:avLst/>
          </a:prstGeom>
          <a:noFill/>
          <a:ln w="38100">
            <a:solidFill>
              <a:srgbClr val="1B2A4A"/>
            </a:solidFill>
            <a:prstDash val="solid"/>
          </a:ln>
        </p:spPr>
      </p:sp>
      <p:sp>
        <p:nvSpPr>
          <p:cNvPr id="18" name="Text 16"/>
          <p:cNvSpPr/>
          <p:nvPr/>
        </p:nvSpPr>
        <p:spPr>
          <a:xfrm>
            <a:off x="777240" y="5806440"/>
            <a:ext cx="10424160" cy="566928"/>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两个任务的结果质量相当，但两个团队的成长轨迹完全不同。三个Check Point覆盖了真正高价值的信息获取时机，而每日进度询问覆盖的主要是低价值信息。</a:t>
            </a:r>
            <a:endParaRPr lang="en-US" sz="1250" dirty="0"/>
          </a:p>
        </p:txBody>
      </p:sp>
      <p:sp>
        <p:nvSpPr>
          <p:cNvPr id="19" name="Shape 17"/>
          <p:cNvSpPr/>
          <p:nvPr/>
        </p:nvSpPr>
        <p:spPr>
          <a:xfrm>
            <a:off x="548640" y="6446520"/>
            <a:ext cx="11091672" cy="0"/>
          </a:xfrm>
          <a:prstGeom prst="line">
            <a:avLst/>
          </a:prstGeom>
          <a:noFill/>
          <a:ln w="9525">
            <a:solidFill>
              <a:srgbClr val="C7CDDB"/>
            </a:solidFill>
            <a:prstDash val="solid"/>
          </a:ln>
        </p:spPr>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21" name="Text 19"/>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Check Point不是监控工具，是风险控制的时间结构</a:t>
            </a:r>
            <a:endParaRPr lang="en-US" sz="2700" dirty="0"/>
          </a:p>
        </p:txBody>
      </p:sp>
      <p:sp>
        <p:nvSpPr>
          <p:cNvPr id="6" name="Text 4"/>
          <p:cNvSpPr/>
          <p:nvPr/>
        </p:nvSpPr>
        <p:spPr>
          <a:xfrm>
            <a:off x="548640" y="1691640"/>
            <a:ext cx="10881360" cy="365760"/>
          </a:xfrm>
          <a:prstGeom prst="rect">
            <a:avLst/>
          </a:prstGeom>
          <a:noFill/>
          <a:ln/>
        </p:spPr>
        <p:txBody>
          <a:bodyPr wrap="square" rtlCol="0" anchor="ctr"/>
          <a:lstStyle/>
          <a:p>
            <a:pPr indent="0" marL="0">
              <a:buNone/>
            </a:pPr>
            <a:r>
              <a:rPr lang="en-US" sz="1300" dirty="0">
                <a:solidFill>
                  <a:srgbClr val="2B2F36"/>
                </a:solidFill>
                <a:latin typeface="Calibri" pitchFamily="34" charset="0"/>
                <a:ea typeface="Calibri" pitchFamily="34" charset="-122"/>
                <a:cs typeface="Calibri" pitchFamily="34" charset="-120"/>
              </a:rPr>
              <a:t>Check Point的设计逻辑和常规的「进度汇报」存在本质差异——</a:t>
            </a:r>
            <a:endParaRPr lang="en-US" sz="1300" dirty="0"/>
          </a:p>
        </p:txBody>
      </p:sp>
      <p:sp>
        <p:nvSpPr>
          <p:cNvPr id="7" name="Text 5"/>
          <p:cNvSpPr/>
          <p:nvPr/>
        </p:nvSpPr>
        <p:spPr>
          <a:xfrm>
            <a:off x="548640" y="2176272"/>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进度汇报的逻辑</a:t>
            </a:r>
            <a:endParaRPr lang="en-US" sz="1300" dirty="0"/>
          </a:p>
        </p:txBody>
      </p:sp>
      <p:sp>
        <p:nvSpPr>
          <p:cNvPr id="8" name="Shape 6"/>
          <p:cNvSpPr/>
          <p:nvPr/>
        </p:nvSpPr>
        <p:spPr>
          <a:xfrm>
            <a:off x="548640" y="2523744"/>
            <a:ext cx="5257800" cy="0"/>
          </a:xfrm>
          <a:prstGeom prst="line">
            <a:avLst/>
          </a:prstGeom>
          <a:noFill/>
          <a:ln w="12700">
            <a:solidFill>
              <a:srgbClr val="E3E7EF"/>
            </a:solidFill>
            <a:prstDash val="solid"/>
          </a:ln>
        </p:spPr>
      </p:sp>
      <p:sp>
        <p:nvSpPr>
          <p:cNvPr id="9" name="Text 7"/>
          <p:cNvSpPr/>
          <p:nvPr/>
        </p:nvSpPr>
        <p:spPr>
          <a:xfrm>
            <a:off x="548640" y="2633472"/>
            <a:ext cx="5257800" cy="594360"/>
          </a:xfrm>
          <a:prstGeom prst="rect">
            <a:avLst/>
          </a:prstGeom>
          <a:noFill/>
          <a:ln/>
        </p:spPr>
        <p:txBody>
          <a:bodyPr wrap="square" rtlCol="0" anchor="ctr"/>
          <a:lstStyle/>
          <a:p>
            <a:pPr indent="0" marL="0">
              <a:lnSpc>
                <a:spcPct val="120000"/>
              </a:lnSpc>
              <a:buNone/>
            </a:pPr>
            <a:r>
              <a:rPr lang="en-US" sz="1250" i="1" dirty="0">
                <a:solidFill>
                  <a:srgbClr val="2B2F36"/>
                </a:solidFill>
                <a:latin typeface="Cambria" pitchFamily="34" charset="0"/>
                <a:ea typeface="Cambria" pitchFamily="34" charset="-122"/>
                <a:cs typeface="Cambria" pitchFamily="34" charset="-120"/>
              </a:rPr>
              <a:t>定期（按时间）获取任务状态</a:t>
            </a:r>
            <a:endParaRPr lang="en-US" sz="1250" dirty="0"/>
          </a:p>
          <a:p>
            <a:pPr indent="0" marL="0">
              <a:lnSpc>
                <a:spcPct val="120000"/>
              </a:lnSpc>
              <a:buNone/>
            </a:pPr>
            <a:r>
              <a:rPr lang="en-US" sz="1250" i="1" dirty="0">
                <a:solidFill>
                  <a:srgbClr val="2B2F36"/>
                </a:solidFill>
                <a:latin typeface="Cambria" pitchFamily="34" charset="0"/>
                <a:ea typeface="Cambria" pitchFamily="34" charset="-122"/>
                <a:cs typeface="Cambria" pitchFamily="34" charset="-120"/>
              </a:rPr>
              <a:t>目的是「了解进展」</a:t>
            </a:r>
            <a:endParaRPr lang="en-US" sz="1250" dirty="0"/>
          </a:p>
        </p:txBody>
      </p:sp>
      <p:sp>
        <p:nvSpPr>
          <p:cNvPr id="10" name="Shape 8"/>
          <p:cNvSpPr/>
          <p:nvPr/>
        </p:nvSpPr>
        <p:spPr>
          <a:xfrm>
            <a:off x="6080760" y="2176272"/>
            <a:ext cx="0" cy="1371600"/>
          </a:xfrm>
          <a:prstGeom prst="line">
            <a:avLst/>
          </a:prstGeom>
          <a:noFill/>
          <a:ln w="12700">
            <a:solidFill>
              <a:srgbClr val="E3E7EF"/>
            </a:solidFill>
            <a:prstDash val="solid"/>
          </a:ln>
        </p:spPr>
      </p:sp>
      <p:sp>
        <p:nvSpPr>
          <p:cNvPr id="11" name="Text 9"/>
          <p:cNvSpPr/>
          <p:nvPr/>
        </p:nvSpPr>
        <p:spPr>
          <a:xfrm>
            <a:off x="6519672" y="2176272"/>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Check Point的逻辑</a:t>
            </a:r>
            <a:endParaRPr lang="en-US" sz="1300" dirty="0"/>
          </a:p>
        </p:txBody>
      </p:sp>
      <p:sp>
        <p:nvSpPr>
          <p:cNvPr id="12" name="Shape 10"/>
          <p:cNvSpPr/>
          <p:nvPr/>
        </p:nvSpPr>
        <p:spPr>
          <a:xfrm>
            <a:off x="6519672" y="2523744"/>
            <a:ext cx="5257800" cy="0"/>
          </a:xfrm>
          <a:prstGeom prst="line">
            <a:avLst/>
          </a:prstGeom>
          <a:noFill/>
          <a:ln w="12700">
            <a:solidFill>
              <a:srgbClr val="E3E7EF"/>
            </a:solidFill>
            <a:prstDash val="solid"/>
          </a:ln>
        </p:spPr>
      </p:sp>
      <p:sp>
        <p:nvSpPr>
          <p:cNvPr id="13" name="Text 11"/>
          <p:cNvSpPr/>
          <p:nvPr/>
        </p:nvSpPr>
        <p:spPr>
          <a:xfrm>
            <a:off x="6519672" y="2633472"/>
            <a:ext cx="5257800" cy="594360"/>
          </a:xfrm>
          <a:prstGeom prst="rect">
            <a:avLst/>
          </a:prstGeom>
          <a:noFill/>
          <a:ln/>
        </p:spPr>
        <p:txBody>
          <a:bodyPr wrap="square" rtlCol="0" anchor="ctr"/>
          <a:lstStyle/>
          <a:p>
            <a:pPr indent="0" marL="0">
              <a:lnSpc>
                <a:spcPct val="120000"/>
              </a:lnSpc>
              <a:buNone/>
            </a:pPr>
            <a:r>
              <a:rPr lang="en-US" sz="1250" i="1" dirty="0">
                <a:solidFill>
                  <a:srgbClr val="1B2A4A"/>
                </a:solidFill>
                <a:latin typeface="Cambria" pitchFamily="34" charset="0"/>
                <a:ea typeface="Cambria" pitchFamily="34" charset="-122"/>
                <a:cs typeface="Cambria" pitchFamily="34" charset="-120"/>
              </a:rPr>
              <a:t>在关键决策节点（按风险事件）触发介入</a:t>
            </a:r>
            <a:endParaRPr lang="en-US" sz="1250" dirty="0"/>
          </a:p>
          <a:p>
            <a:pPr indent="0" marL="0">
              <a:lnSpc>
                <a:spcPct val="120000"/>
              </a:lnSpc>
              <a:buNone/>
            </a:pPr>
            <a:r>
              <a:rPr lang="en-US" sz="1250" i="1" dirty="0">
                <a:solidFill>
                  <a:srgbClr val="1B2A4A"/>
                </a:solidFill>
                <a:latin typeface="Cambria" pitchFamily="34" charset="0"/>
                <a:ea typeface="Cambria" pitchFamily="34" charset="-122"/>
                <a:cs typeface="Cambria" pitchFamily="34" charset="-120"/>
              </a:rPr>
              <a:t>目的是「在损失发生之前识别并纠正方向偏差」</a:t>
            </a:r>
            <a:endParaRPr lang="en-US" sz="1250" dirty="0"/>
          </a:p>
        </p:txBody>
      </p:sp>
      <p:sp>
        <p:nvSpPr>
          <p:cNvPr id="14" name="Text 12"/>
          <p:cNvSpPr/>
          <p:nvPr/>
        </p:nvSpPr>
        <p:spPr>
          <a:xfrm>
            <a:off x="548640" y="3657600"/>
            <a:ext cx="10881360" cy="320040"/>
          </a:xfrm>
          <a:prstGeom prst="rect">
            <a:avLst/>
          </a:prstGeom>
          <a:noFill/>
          <a:ln/>
        </p:spPr>
        <p:txBody>
          <a:bodyPr wrap="square" rtlCol="0" anchor="ctr"/>
          <a:lstStyle/>
          <a:p>
            <a:pPr indent="0" marL="0">
              <a:buNone/>
            </a:pPr>
            <a:r>
              <a:rPr lang="en-US" sz="1250" b="1" dirty="0">
                <a:solidFill>
                  <a:srgbClr val="32436B"/>
                </a:solidFill>
                <a:latin typeface="Calibri" pitchFamily="34" charset="0"/>
                <a:ea typeface="Calibri" pitchFamily="34" charset="-122"/>
                <a:cs typeface="Calibri" pitchFamily="34" charset="-120"/>
              </a:rPr>
              <a:t>有效的Check Point设计包含五个要素，缺一不可：</a:t>
            </a:r>
            <a:endParaRPr lang="en-US" sz="1250" dirty="0"/>
          </a:p>
        </p:txBody>
      </p:sp>
      <p:sp>
        <p:nvSpPr>
          <p:cNvPr id="15" name="Text 13"/>
          <p:cNvSpPr/>
          <p:nvPr/>
        </p:nvSpPr>
        <p:spPr>
          <a:xfrm>
            <a:off x="548640" y="4069080"/>
            <a:ext cx="1600200" cy="347472"/>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① 触发时机</a:t>
            </a:r>
            <a:endParaRPr lang="en-US" sz="1150" dirty="0"/>
          </a:p>
        </p:txBody>
      </p:sp>
      <p:sp>
        <p:nvSpPr>
          <p:cNvPr id="16" name="Text 14"/>
          <p:cNvSpPr/>
          <p:nvPr/>
        </p:nvSpPr>
        <p:spPr>
          <a:xfrm>
            <a:off x="2194560" y="4069080"/>
            <a:ext cx="90982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以里程碑事件而非日历时间为节点，确保介入时机和风险暴露时机对齐</a:t>
            </a:r>
            <a:endParaRPr lang="en-US" sz="1150" dirty="0"/>
          </a:p>
        </p:txBody>
      </p:sp>
      <p:sp>
        <p:nvSpPr>
          <p:cNvPr id="17" name="Text 15"/>
          <p:cNvSpPr/>
          <p:nvPr/>
        </p:nvSpPr>
        <p:spPr>
          <a:xfrm>
            <a:off x="548640" y="4471416"/>
            <a:ext cx="1600200" cy="347472"/>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② 检查内容</a:t>
            </a:r>
            <a:endParaRPr lang="en-US" sz="1150" dirty="0"/>
          </a:p>
        </p:txBody>
      </p:sp>
      <p:sp>
        <p:nvSpPr>
          <p:cNvPr id="18" name="Text 16"/>
          <p:cNvSpPr/>
          <p:nvPr/>
        </p:nvSpPr>
        <p:spPr>
          <a:xfrm>
            <a:off x="2194560" y="4471416"/>
            <a:ext cx="90982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事先明确在这个节点要检查什么——方向选择、接口契约、边界条件处理</a:t>
            </a:r>
            <a:endParaRPr lang="en-US" sz="1150" dirty="0"/>
          </a:p>
        </p:txBody>
      </p:sp>
      <p:sp>
        <p:nvSpPr>
          <p:cNvPr id="19" name="Text 17"/>
          <p:cNvSpPr/>
          <p:nvPr/>
        </p:nvSpPr>
        <p:spPr>
          <a:xfrm>
            <a:off x="548640" y="4873752"/>
            <a:ext cx="1600200" cy="347472"/>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③ 判断标准</a:t>
            </a:r>
            <a:endParaRPr lang="en-US" sz="1150" dirty="0"/>
          </a:p>
        </p:txBody>
      </p:sp>
      <p:sp>
        <p:nvSpPr>
          <p:cNvPr id="20" name="Text 18"/>
          <p:cNvSpPr/>
          <p:nvPr/>
        </p:nvSpPr>
        <p:spPr>
          <a:xfrm>
            <a:off x="2194560" y="4873752"/>
            <a:ext cx="90982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预设「通过」和「需要介入」的判断标准，而非临时决定——要求事先想清楚核心风险点</a:t>
            </a:r>
            <a:endParaRPr lang="en-US" sz="1150" dirty="0"/>
          </a:p>
        </p:txBody>
      </p:sp>
      <p:sp>
        <p:nvSpPr>
          <p:cNvPr id="21" name="Text 19"/>
          <p:cNvSpPr/>
          <p:nvPr/>
        </p:nvSpPr>
        <p:spPr>
          <a:xfrm>
            <a:off x="548640" y="5276088"/>
            <a:ext cx="1600200" cy="347472"/>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④ 升级路径</a:t>
            </a:r>
            <a:endParaRPr lang="en-US" sz="1150" dirty="0"/>
          </a:p>
        </p:txBody>
      </p:sp>
      <p:sp>
        <p:nvSpPr>
          <p:cNvPr id="22" name="Text 20"/>
          <p:cNvSpPr/>
          <p:nvPr/>
        </p:nvSpPr>
        <p:spPr>
          <a:xfrm>
            <a:off x="2194560" y="5276088"/>
            <a:ext cx="90982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预设「如果发现问题，下一步是什么」——避免发现问题时处置混乱</a:t>
            </a:r>
            <a:endParaRPr lang="en-US" sz="1150" dirty="0"/>
          </a:p>
        </p:txBody>
      </p:sp>
      <p:sp>
        <p:nvSpPr>
          <p:cNvPr id="23" name="Text 21"/>
          <p:cNvSpPr/>
          <p:nvPr/>
        </p:nvSpPr>
        <p:spPr>
          <a:xfrm>
            <a:off x="548640" y="5678424"/>
            <a:ext cx="1600200" cy="347472"/>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⑤ 与执行者事前对齐</a:t>
            </a:r>
            <a:endParaRPr lang="en-US" sz="1150" dirty="0"/>
          </a:p>
        </p:txBody>
      </p:sp>
      <p:sp>
        <p:nvSpPr>
          <p:cNvPr id="24" name="Text 22"/>
          <p:cNvSpPr/>
          <p:nvPr/>
        </p:nvSpPr>
        <p:spPr>
          <a:xfrm>
            <a:off x="2194560" y="5678424"/>
            <a:ext cx="90982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授权时就明确沟通，使Check Point作为协作工具而非单向控制手段运作</a:t>
            </a:r>
            <a:endParaRPr lang="en-US" sz="1150" dirty="0"/>
          </a:p>
        </p:txBody>
      </p:sp>
      <p:sp>
        <p:nvSpPr>
          <p:cNvPr id="25" name="Shape 23"/>
          <p:cNvSpPr/>
          <p:nvPr/>
        </p:nvSpPr>
        <p:spPr>
          <a:xfrm>
            <a:off x="548640" y="6446520"/>
            <a:ext cx="11091672" cy="0"/>
          </a:xfrm>
          <a:prstGeom prst="line">
            <a:avLst/>
          </a:prstGeom>
          <a:noFill/>
          <a:ln w="9525">
            <a:solidFill>
              <a:srgbClr val="C7CDDB"/>
            </a:solidFill>
            <a:prstDash val="solid"/>
          </a:ln>
        </p:spPr>
      </p:sp>
      <p:sp>
        <p:nvSpPr>
          <p:cNvPr id="26" name="Text 2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7" name="Text 2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Check Point机制的两种退化形式</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Check Point退化为「进度汇报」</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当Check Point的触发时机从「里程碑事件」滑向「固定时间」（比如每周一次），它就失去了「在关键风险暴露时机精准介入」的核心特性，退化为一种定期信息收集机制。这种退化往往不知不觉——「每周汇报」在操作上更简单，但它等价于把第7页描述的有效设计降级回了第5页批判的全程监控的变体。</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Check Point数量过多导致实质性干预</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如果管理者把所有可能的风险节点都设为Check Point，执行者几乎在每个决策点都要等待确认，这和不授权的效果没有本质差别。有效的Check Point设计要求管理者做出取舍——选择哪些节点是真正高价值的介入时机，而不是试图覆盖所有可能的风险。这种取舍本身是一种管理判断，也是风险仲裁者角色（M2）的具体体现。</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Check Point机制有效的前提是：数量精简（覆盖关键风险节点而非所有节点）、时机事件驱动（而非时间驱动）、内容明确（事先知道检查什么）。三个条件同时成立，「放手但不放任」才能同时成立。</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二（授权矩阵定位）</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授权矩阵的实际应用样态</a:t>
            </a:r>
            <a:endParaRPr lang="en-US" sz="2700" dirty="0"/>
          </a:p>
        </p:txBody>
      </p:sp>
      <p:sp>
        <p:nvSpPr>
          <p:cNvPr id="6" name="Text 4"/>
          <p:cNvSpPr/>
          <p:nvPr/>
        </p:nvSpPr>
        <p:spPr>
          <a:xfrm>
            <a:off x="548640" y="1691640"/>
            <a:ext cx="10881360" cy="84124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某CIM团队面临一个新厂区的EAP接入任务，涉及与三个不同类型设备的协议适配，属于中高风险任务。团队中有两名候选执行者：工程师小张（入职4年，曾独立完成过两次EAP接入，但都是单设备类型）和工程师小李（入职2年，从未独立负责过EAP接入）。</a:t>
            </a:r>
            <a:endParaRPr lang="en-US" sz="1250" dirty="0"/>
          </a:p>
        </p:txBody>
      </p:sp>
      <p:sp>
        <p:nvSpPr>
          <p:cNvPr id="7" name="Text 5"/>
          <p:cNvSpPr/>
          <p:nvPr/>
        </p:nvSpPr>
        <p:spPr>
          <a:xfrm>
            <a:off x="548640" y="2606040"/>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组长的矩阵定位分析：</a:t>
            </a:r>
            <a:endParaRPr lang="en-US" sz="1280" dirty="0"/>
          </a:p>
        </p:txBody>
      </p:sp>
      <p:sp>
        <p:nvSpPr>
          <p:cNvPr id="8" name="Text 6"/>
          <p:cNvSpPr/>
          <p:nvPr/>
        </p:nvSpPr>
        <p:spPr>
          <a:xfrm>
            <a:off x="548640" y="3017520"/>
            <a:ext cx="868680" cy="64008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小张</a:t>
            </a:r>
            <a:endParaRPr lang="en-US" sz="1300" dirty="0"/>
          </a:p>
        </p:txBody>
      </p:sp>
      <p:sp>
        <p:nvSpPr>
          <p:cNvPr id="9" name="Text 7"/>
          <p:cNvSpPr/>
          <p:nvPr/>
        </p:nvSpPr>
        <p:spPr>
          <a:xfrm>
            <a:off x="1463040" y="3017520"/>
            <a:ext cx="9966960" cy="64008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任务风险中高，成熟度中等（有相关经验但未处理过多设备类型同时接入）→ 定位象限二</a:t>
            </a:r>
            <a:endParaRPr lang="en-US" sz="1230" dirty="0"/>
          </a:p>
        </p:txBody>
      </p:sp>
      <p:sp>
        <p:nvSpPr>
          <p:cNvPr id="10" name="Text 8"/>
          <p:cNvSpPr/>
          <p:nvPr/>
        </p:nvSpPr>
        <p:spPr>
          <a:xfrm>
            <a:off x="548640" y="3703320"/>
            <a:ext cx="868680" cy="64008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小李</a:t>
            </a:r>
            <a:endParaRPr lang="en-US" sz="1300" dirty="0"/>
          </a:p>
        </p:txBody>
      </p:sp>
      <p:sp>
        <p:nvSpPr>
          <p:cNvPr id="11" name="Text 9"/>
          <p:cNvSpPr/>
          <p:nvPr/>
        </p:nvSpPr>
        <p:spPr>
          <a:xfrm>
            <a:off x="1463040" y="3703320"/>
            <a:ext cx="9966960" cy="64008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任务风险不变，成熟度低（无同类独立完成记录）→ 定位象限一</a:t>
            </a:r>
            <a:endParaRPr lang="en-US" sz="1230" dirty="0"/>
          </a:p>
        </p:txBody>
      </p:sp>
      <p:sp>
        <p:nvSpPr>
          <p:cNvPr id="12" name="Text 10"/>
          <p:cNvSpPr/>
          <p:nvPr/>
        </p:nvSpPr>
        <p:spPr>
          <a:xfrm>
            <a:off x="548640" y="448056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〔最终决策〕</a:t>
            </a:r>
            <a:endParaRPr lang="en-US" sz="1100" dirty="0"/>
          </a:p>
        </p:txBody>
      </p:sp>
      <p:sp>
        <p:nvSpPr>
          <p:cNvPr id="13" name="Text 11"/>
          <p:cNvSpPr/>
          <p:nvPr/>
        </p:nvSpPr>
        <p:spPr>
          <a:xfrm>
            <a:off x="548640" y="4773168"/>
            <a:ext cx="10881360" cy="64008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任务授权给小张（象限二策略：授权+三个Gate评审节点，不干预具体实现选择）。同时，设计小李作为跟随学习者参与每次Gate评审，为下次同类任务的独立负责建立积累。</a:t>
            </a:r>
            <a:endParaRPr lang="en-US" sz="1250" dirty="0"/>
          </a:p>
        </p:txBody>
      </p:sp>
      <p:sp>
        <p:nvSpPr>
          <p:cNvPr id="14" name="Shape 12"/>
          <p:cNvSpPr/>
          <p:nvPr/>
        </p:nvSpPr>
        <p:spPr>
          <a:xfrm>
            <a:off x="548640" y="5577840"/>
            <a:ext cx="0" cy="749808"/>
          </a:xfrm>
          <a:prstGeom prst="line">
            <a:avLst/>
          </a:prstGeom>
          <a:noFill/>
          <a:ln w="38100">
            <a:solidFill>
              <a:srgbClr val="1B2A4A"/>
            </a:solidFill>
            <a:prstDash val="solid"/>
          </a:ln>
        </p:spPr>
      </p:sp>
      <p:sp>
        <p:nvSpPr>
          <p:cNvPr id="15" name="Text 13"/>
          <p:cNvSpPr/>
          <p:nvPr/>
        </p:nvSpPr>
        <p:spPr>
          <a:xfrm>
            <a:off x="777240" y="5577840"/>
            <a:ext cx="10424160" cy="749808"/>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授权矩阵不只是决定「谁来做」，也包含了「这次任务对下一次谁来做」的梯队设计思维。</a:t>
            </a:r>
            <a:endParaRPr lang="en-US" sz="1300" dirty="0"/>
          </a:p>
        </p:txBody>
      </p:sp>
      <p:sp>
        <p:nvSpPr>
          <p:cNvPr id="16" name="Shape 14"/>
          <p:cNvSpPr/>
          <p:nvPr/>
        </p:nvSpPr>
        <p:spPr>
          <a:xfrm>
            <a:off x="548640" y="6446520"/>
            <a:ext cx="11091672" cy="0"/>
          </a:xfrm>
          <a:prstGeom prst="line">
            <a:avLst/>
          </a:prstGeom>
          <a:noFill/>
          <a:ln w="9525">
            <a:solidFill>
              <a:srgbClr val="C7CDDB"/>
            </a:solidFill>
            <a:prstDash val="solid"/>
          </a:ln>
        </p:spPr>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授权矩阵定位</a:t>
            </a:r>
            <a:endParaRPr lang="en-US" sz="9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三（Check Point设计）</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五要素Check Point的实际设计样态</a:t>
            </a:r>
            <a:endParaRPr lang="en-US" sz="2700" dirty="0"/>
          </a:p>
        </p:txBody>
      </p:sp>
      <p:sp>
        <p:nvSpPr>
          <p:cNvPr id="6" name="Text 4"/>
          <p:cNvSpPr/>
          <p:nvPr/>
        </p:nvSpPr>
        <p:spPr>
          <a:xfrm>
            <a:off x="548640" y="1691640"/>
            <a:ext cx="10881360" cy="411480"/>
          </a:xfrm>
          <a:prstGeom prst="rect">
            <a:avLst/>
          </a:prstGeom>
          <a:noFill/>
          <a:ln/>
        </p:spPr>
        <p:txBody>
          <a:bodyPr wrap="square" rtlCol="0" anchor="ctr"/>
          <a:lstStyle/>
          <a:p>
            <a:pPr indent="0" marL="0">
              <a:buNone/>
            </a:pPr>
            <a:r>
              <a:rPr lang="en-US" sz="1250" dirty="0">
                <a:solidFill>
                  <a:srgbClr val="2B2F36"/>
                </a:solidFill>
                <a:latin typeface="Calibri" pitchFamily="34" charset="0"/>
                <a:ea typeface="Calibri" pitchFamily="34" charset="-122"/>
                <a:cs typeface="Calibri" pitchFamily="34" charset="-120"/>
              </a:rPr>
              <a:t>以第9页中小张负责的EAP接入任务为例，组长对三个Gate评审节点做了如下设计：</a:t>
            </a:r>
            <a:endParaRPr lang="en-US" sz="1250" dirty="0"/>
          </a:p>
        </p:txBody>
      </p:sp>
      <p:sp>
        <p:nvSpPr>
          <p:cNvPr id="7" name="Text 5"/>
          <p:cNvSpPr/>
          <p:nvPr/>
        </p:nvSpPr>
        <p:spPr>
          <a:xfrm>
            <a:off x="548640" y="2194560"/>
            <a:ext cx="1088136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Gate 1　协议定义完成后触发</a:t>
            </a:r>
            <a:endParaRPr lang="en-US" sz="1200" dirty="0"/>
          </a:p>
        </p:txBody>
      </p:sp>
      <p:sp>
        <p:nvSpPr>
          <p:cNvPr id="8" name="Text 6"/>
          <p:cNvSpPr/>
          <p:nvPr/>
        </p:nvSpPr>
        <p:spPr>
          <a:xfrm>
            <a:off x="548640" y="2468880"/>
            <a:ext cx="10881360" cy="237744"/>
          </a:xfrm>
          <a:prstGeom prst="rect">
            <a:avLst/>
          </a:prstGeom>
          <a:noFill/>
          <a:ln/>
        </p:spPr>
        <p:txBody>
          <a:bodyPr wrap="square" rtlCol="0" anchor="ctr"/>
          <a:lstStyle/>
          <a:p>
            <a:pPr indent="0" marL="0">
              <a:buNone/>
            </a:pPr>
            <a:r>
              <a:rPr lang="en-US" sz="1080" dirty="0">
                <a:solidFill>
                  <a:srgbClr val="2B2F36"/>
                </a:solidFill>
                <a:latin typeface="Calibri" pitchFamily="34" charset="0"/>
                <a:ea typeface="Calibri" pitchFamily="34" charset="-122"/>
                <a:cs typeface="Calibri" pitchFamily="34" charset="-120"/>
              </a:rPr>
              <a:t>检查：三类设备的协议报文格式、状态机转换逻辑、异常处理约定</a:t>
            </a:r>
            <a:endParaRPr lang="en-US" sz="1080" dirty="0"/>
          </a:p>
        </p:txBody>
      </p:sp>
      <p:sp>
        <p:nvSpPr>
          <p:cNvPr id="9" name="Text 7"/>
          <p:cNvSpPr/>
          <p:nvPr/>
        </p:nvSpPr>
        <p:spPr>
          <a:xfrm>
            <a:off x="548640" y="2724912"/>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标准：通过：所有异常状态码有明确处理路径  |  介入：存在未定义的边界状态</a:t>
            </a:r>
            <a:endParaRPr lang="en-US" sz="1080" dirty="0"/>
          </a:p>
        </p:txBody>
      </p:sp>
      <p:sp>
        <p:nvSpPr>
          <p:cNvPr id="10" name="Text 8"/>
          <p:cNvSpPr/>
          <p:nvPr/>
        </p:nvSpPr>
        <p:spPr>
          <a:xfrm>
            <a:off x="548640" y="2962656"/>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升级：组长与小张共同梳理设备厂商文档，当天解决</a:t>
            </a:r>
            <a:endParaRPr lang="en-US" sz="1080" dirty="0"/>
          </a:p>
        </p:txBody>
      </p:sp>
      <p:sp>
        <p:nvSpPr>
          <p:cNvPr id="11" name="Text 9"/>
          <p:cNvSpPr/>
          <p:nvPr/>
        </p:nvSpPr>
        <p:spPr>
          <a:xfrm>
            <a:off x="548640" y="3456432"/>
            <a:ext cx="1088136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Gate 2　第一个设备类型接入完成后触发</a:t>
            </a:r>
            <a:endParaRPr lang="en-US" sz="1200" dirty="0"/>
          </a:p>
        </p:txBody>
      </p:sp>
      <p:sp>
        <p:nvSpPr>
          <p:cNvPr id="12" name="Text 10"/>
          <p:cNvSpPr/>
          <p:nvPr/>
        </p:nvSpPr>
        <p:spPr>
          <a:xfrm>
            <a:off x="548640" y="3730752"/>
            <a:ext cx="10881360" cy="237744"/>
          </a:xfrm>
          <a:prstGeom prst="rect">
            <a:avLst/>
          </a:prstGeom>
          <a:noFill/>
          <a:ln/>
        </p:spPr>
        <p:txBody>
          <a:bodyPr wrap="square" rtlCol="0" anchor="ctr"/>
          <a:lstStyle/>
          <a:p>
            <a:pPr indent="0" marL="0">
              <a:buNone/>
            </a:pPr>
            <a:r>
              <a:rPr lang="en-US" sz="1080" dirty="0">
                <a:solidFill>
                  <a:srgbClr val="2B2F36"/>
                </a:solidFill>
                <a:latin typeface="Calibri" pitchFamily="34" charset="0"/>
                <a:ea typeface="Calibri" pitchFamily="34" charset="-122"/>
                <a:cs typeface="Calibri" pitchFamily="34" charset="-120"/>
              </a:rPr>
              <a:t>检查：实际通信日志中是否出现未预期的报文格式，错误处理逻辑是否符合Gate 1约定</a:t>
            </a:r>
            <a:endParaRPr lang="en-US" sz="1080" dirty="0"/>
          </a:p>
        </p:txBody>
      </p:sp>
      <p:sp>
        <p:nvSpPr>
          <p:cNvPr id="13" name="Text 11"/>
          <p:cNvSpPr/>
          <p:nvPr/>
        </p:nvSpPr>
        <p:spPr>
          <a:xfrm>
            <a:off x="548640" y="3986784"/>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标准：通过：实际行为与协议定义吻合  |  介入：出现设计外的设备行为</a:t>
            </a:r>
            <a:endParaRPr lang="en-US" sz="1080" dirty="0"/>
          </a:p>
        </p:txBody>
      </p:sp>
      <p:sp>
        <p:nvSpPr>
          <p:cNvPr id="14" name="Text 12"/>
          <p:cNvSpPr/>
          <p:nvPr/>
        </p:nvSpPr>
        <p:spPr>
          <a:xfrm>
            <a:off x="548640" y="4224528"/>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升级：重新评估另外两类设备是否存在类似情况，可能增加一个预防性检查点</a:t>
            </a:r>
            <a:endParaRPr lang="en-US" sz="1080" dirty="0"/>
          </a:p>
        </p:txBody>
      </p:sp>
      <p:sp>
        <p:nvSpPr>
          <p:cNvPr id="15" name="Text 13"/>
          <p:cNvSpPr/>
          <p:nvPr/>
        </p:nvSpPr>
        <p:spPr>
          <a:xfrm>
            <a:off x="548640" y="4718304"/>
            <a:ext cx="1088136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Gate 3　三类设备全部接入并完成初步联调后触发</a:t>
            </a:r>
            <a:endParaRPr lang="en-US" sz="1200" dirty="0"/>
          </a:p>
        </p:txBody>
      </p:sp>
      <p:sp>
        <p:nvSpPr>
          <p:cNvPr id="16" name="Text 14"/>
          <p:cNvSpPr/>
          <p:nvPr/>
        </p:nvSpPr>
        <p:spPr>
          <a:xfrm>
            <a:off x="548640" y="4992624"/>
            <a:ext cx="10881360" cy="237744"/>
          </a:xfrm>
          <a:prstGeom prst="rect">
            <a:avLst/>
          </a:prstGeom>
          <a:noFill/>
          <a:ln/>
        </p:spPr>
        <p:txBody>
          <a:bodyPr wrap="square" rtlCol="0" anchor="ctr"/>
          <a:lstStyle/>
          <a:p>
            <a:pPr indent="0" marL="0">
              <a:buNone/>
            </a:pPr>
            <a:r>
              <a:rPr lang="en-US" sz="1080" dirty="0">
                <a:solidFill>
                  <a:srgbClr val="2B2F36"/>
                </a:solidFill>
                <a:latin typeface="Calibri" pitchFamily="34" charset="0"/>
                <a:ea typeface="Calibri" pitchFamily="34" charset="-122"/>
                <a:cs typeface="Calibri" pitchFamily="34" charset="-120"/>
              </a:rPr>
              <a:t>检查：在产线模拟环境中跑完一个完整生产班次，观察是否有非预期的状态跳转或报警</a:t>
            </a:r>
            <a:endParaRPr lang="en-US" sz="1080" dirty="0"/>
          </a:p>
        </p:txBody>
      </p:sp>
      <p:sp>
        <p:nvSpPr>
          <p:cNvPr id="17" name="Text 15"/>
          <p:cNvSpPr/>
          <p:nvPr/>
        </p:nvSpPr>
        <p:spPr>
          <a:xfrm>
            <a:off x="548640" y="5248656"/>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标准：通过：整个班次无非预期事件  |  介入：出现任何非计划停机</a:t>
            </a:r>
            <a:endParaRPr lang="en-US" sz="1080" dirty="0"/>
          </a:p>
        </p:txBody>
      </p:sp>
      <p:sp>
        <p:nvSpPr>
          <p:cNvPr id="18" name="Text 16"/>
          <p:cNvSpPr/>
          <p:nvPr/>
        </p:nvSpPr>
        <p:spPr>
          <a:xfrm>
            <a:off x="548640" y="5486400"/>
            <a:ext cx="10881360" cy="237744"/>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升级：暂停上线计划，组长介入根因分析</a:t>
            </a:r>
            <a:endParaRPr lang="en-US" sz="1080" dirty="0"/>
          </a:p>
        </p:txBody>
      </p:sp>
      <p:sp>
        <p:nvSpPr>
          <p:cNvPr id="19" name="Shape 17"/>
          <p:cNvSpPr/>
          <p:nvPr/>
        </p:nvSpPr>
        <p:spPr>
          <a:xfrm>
            <a:off x="548640" y="6025896"/>
            <a:ext cx="10881360" cy="0"/>
          </a:xfrm>
          <a:prstGeom prst="line">
            <a:avLst/>
          </a:prstGeom>
          <a:noFill/>
          <a:ln w="12700">
            <a:solidFill>
              <a:srgbClr val="E3E7EF"/>
            </a:solidFill>
            <a:prstDash val="solid"/>
          </a:ln>
        </p:spPr>
      </p:sp>
      <p:sp>
        <p:nvSpPr>
          <p:cNvPr id="20" name="Text 18"/>
          <p:cNvSpPr/>
          <p:nvPr/>
        </p:nvSpPr>
        <p:spPr>
          <a:xfrm>
            <a:off x="548640" y="6117336"/>
            <a:ext cx="10881360" cy="347472"/>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有效的Check Point不是「到时间看一下」，而是事先想清楚在这个节点自己要看什么、怎么判断、判断后怎么行动。</a:t>
            </a:r>
            <a:endParaRPr lang="en-US" sz="120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Check Point设计</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分级授权中最常见的认知误区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「我信任这个人，所以可以不设Check Point」</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这种认知混淆了「对人的信任」和「对任务风险的控制」两个本质上独立的事项。Check Point的设计逻辑不是「我不信任你」，而是「这类任务存在某些风险节点，如果在那些节点没有及时发现偏差，后续损失代价会超过设置Check Point的协作成本」。即使对一名非常信任的工程师，高风险任务的Gate评审仍然是必要的——不是因为怀疑他，而是因为他也可能在某个边界条件上做出独立但不准确的判断，而这正是Gate的价值所在。</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「设了Check Point，如果最后还是出了问题，那Check Point没有用」</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这种认知误解了Check Point的作用边界。Check Point的目标不是「保证任务必然成功」，而是「把潜在问题的暴露时机提前到损失最小化的阶段」。一个精心设计的Check Point体系，发现问题和避免了问题都是成功——前者代价更低，后者代价为零。如果一个问题绕过了所有Check Point才在最终暴露，说明的是Check Point设计需要改进（选取了错误的节点或检查内容），而不是Check Point机制本身无效。</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分级授权中最常见的认知误区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「授权给他做，结果出了问题，责任应该是他的」</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这种认知误解了管理责任在授权行为中的性质。授权不是责任的转移，而是责任的分担——执行者承担执行层面的责任（具体实现决策的质量），管理者承担设计层面的责任（授权决策的正确性、Check Point设计的合理性、在Check Point识别风险的准确性）。如果一个象限一的任务被错误地按照象限四的策略处理，最终出了问题，执行层面的失误固然存在，但管理层面的授权设计失误是更根本的原因。</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「我授权了，但他总是来问我，说明他能力不够，不该授权」</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没有区分「执行者能力不足」和「授权设计不清晰」两种情况。执行者频繁来询问，有时确实说明成熟度评估有误，但更多时候是因为授权时没有明确说清楚边界——什么问题在他的独立判断权限内，什么情况需要上报，判断标准是什么。没有明确边界的授权，执行者向上询问是理性的保险行为，而不是能力不足的表现。</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授权为什么需要被设计，而不只是被意愿驱动</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信任的脚手架理论（Trust Scaffolding）</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〔核心洞察〕</a:t>
            </a:r>
            <a:endParaRPr lang="en-US" sz="1100" dirty="0"/>
          </a:p>
        </p:txBody>
      </p:sp>
      <p:sp>
        <p:nvSpPr>
          <p:cNvPr id="8" name="Text 6"/>
          <p:cNvSpPr/>
          <p:nvPr/>
        </p:nvSpPr>
        <p:spPr>
          <a:xfrm>
            <a:off x="548640" y="2240280"/>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高效的授权关系，不是在一方「决定信任」另一方的瞬间建立的，而是通过一系列可观察的、可积累的经验逐步搭建起来的——就像建筑工程中的脚手架，它不是建筑本身，但没有它，建筑就无法在安全的条件下升至足够的高度。</a:t>
            </a:r>
            <a:endParaRPr lang="en-US" sz="1250" dirty="0"/>
          </a:p>
        </p:txBody>
      </p:sp>
      <p:sp>
        <p:nvSpPr>
          <p:cNvPr id="9" name="Text 7"/>
          <p:cNvSpPr/>
          <p:nvPr/>
        </p:nvSpPr>
        <p:spPr>
          <a:xfrm>
            <a:off x="548640" y="3246120"/>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这个理论对授权实践有两个重要含义：</a:t>
            </a:r>
            <a:endParaRPr lang="en-US" sz="1280" dirty="0"/>
          </a:p>
        </p:txBody>
      </p:sp>
      <p:sp>
        <p:nvSpPr>
          <p:cNvPr id="10" name="Text 8"/>
          <p:cNvSpPr/>
          <p:nvPr/>
        </p:nvSpPr>
        <p:spPr>
          <a:xfrm>
            <a:off x="548640" y="363931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〔含义一〕</a:t>
            </a:r>
            <a:endParaRPr lang="en-US" sz="1100" dirty="0"/>
          </a:p>
        </p:txBody>
      </p:sp>
      <p:sp>
        <p:nvSpPr>
          <p:cNvPr id="11" name="Text 9"/>
          <p:cNvSpPr/>
          <p:nvPr/>
        </p:nvSpPr>
        <p:spPr>
          <a:xfrm>
            <a:off x="548640" y="3931920"/>
            <a:ext cx="10881360" cy="84124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信任需要被设计，而不只是被感知——仅仅「感觉这个人值得信任」不足以支撑高风险任务的授权，需要有足够数量的、相关任务类型上的可观察完成记录来支撑这种感知。在这些记录积累之前，管理者的「信任感」只是一种主观印象，不能作为授权决策的可靠依据。</a:t>
            </a:r>
            <a:endParaRPr lang="en-US" sz="1200" dirty="0"/>
          </a:p>
        </p:txBody>
      </p:sp>
      <p:sp>
        <p:nvSpPr>
          <p:cNvPr id="12" name="Text 10"/>
          <p:cNvSpPr/>
          <p:nvPr/>
        </p:nvSpPr>
        <p:spPr>
          <a:xfrm>
            <a:off x="548640" y="484632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〔含义二〕</a:t>
            </a:r>
            <a:endParaRPr lang="en-US" sz="1100" dirty="0"/>
          </a:p>
        </p:txBody>
      </p:sp>
      <p:sp>
        <p:nvSpPr>
          <p:cNvPr id="13" name="Text 11"/>
          <p:cNvSpPr/>
          <p:nvPr/>
        </p:nvSpPr>
        <p:spPr>
          <a:xfrm>
            <a:off x="548640" y="5138928"/>
            <a:ext cx="10881360" cy="84124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每一次成功的Gate评审都是在加厚脚手架——执行者积累了「在这类高风险任务上有可参考完成记录」的数据点，让下次同类任务的成熟度评估可以上移，Check Point数量可以减少，授权强度可以降低。这是设计良好的授权体系应该产生的正向复利效应。</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信任脚手架理论</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没有Check Point的授权，为什么在结构上必然失控</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委托-代理问题（Principal-Agent Problem）</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〔概念定义〕</a:t>
            </a:r>
            <a:endParaRPr lang="en-US" sz="1100" dirty="0"/>
          </a:p>
        </p:txBody>
      </p:sp>
      <p:sp>
        <p:nvSpPr>
          <p:cNvPr id="8" name="Text 6"/>
          <p:cNvSpPr/>
          <p:nvPr/>
        </p:nvSpPr>
        <p:spPr>
          <a:xfrm>
            <a:off x="548640" y="2240280"/>
            <a:ext cx="10881360" cy="14173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当一方（委托人）把某项工作委托给另一方（代理人）执行时，两方之间不可避免地存在信息不对称——代理人拥有关于任务执行过程的第一手信息，而委托人只能通过代理人的报告或最终结果来判断执行质量。在没有有效监控机制的情况下，这种信息不对称会产生结构性后果：代理人自然倾向于最大化自身利益（比如选择他最熟悉的技术路径而非最适合任务的路径）；委托人缺乏足够信息来判断代理人的选择是否最优。</a:t>
            </a:r>
            <a:endParaRPr lang="en-US" sz="1250" dirty="0"/>
          </a:p>
        </p:txBody>
      </p:sp>
      <p:sp>
        <p:nvSpPr>
          <p:cNvPr id="9" name="Text 7"/>
          <p:cNvSpPr/>
          <p:nvPr/>
        </p:nvSpPr>
        <p:spPr>
          <a:xfrm>
            <a:off x="548640" y="3749040"/>
            <a:ext cx="10881360" cy="594360"/>
          </a:xfrm>
          <a:prstGeom prst="rect">
            <a:avLst/>
          </a:prstGeom>
          <a:noFill/>
          <a:ln/>
        </p:spPr>
        <p:txBody>
          <a:bodyPr wrap="square" rtlCol="0" anchor="ctr"/>
          <a:lstStyle/>
          <a:p>
            <a:pPr indent="0" marL="0">
              <a:lnSpc>
                <a:spcPct val="125000"/>
              </a:lnSpc>
              <a:buNone/>
            </a:pPr>
            <a:r>
              <a:rPr lang="en-US" sz="1280" b="1" dirty="0">
                <a:solidFill>
                  <a:srgbClr val="32436B"/>
                </a:solidFill>
                <a:latin typeface="Calibri" pitchFamily="34" charset="0"/>
                <a:ea typeface="Calibri" pitchFamily="34" charset="-122"/>
                <a:cs typeface="Calibri" pitchFamily="34" charset="-120"/>
              </a:rPr>
              <a:t>委托-代理问题的经典解法不是「取消委托」（回到自己做），而是「设计有效的监督机制」——这正是Check Point在授权关系中扮演的角色。</a:t>
            </a:r>
            <a:endParaRPr lang="en-US" sz="1280" dirty="0"/>
          </a:p>
        </p:txBody>
      </p:sp>
      <p:sp>
        <p:nvSpPr>
          <p:cNvPr id="10" name="Text 8"/>
          <p:cNvSpPr/>
          <p:nvPr/>
        </p:nvSpPr>
        <p:spPr>
          <a:xfrm>
            <a:off x="548640" y="448056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〔结构性论证〕</a:t>
            </a:r>
            <a:endParaRPr lang="en-US" sz="1100" dirty="0"/>
          </a:p>
        </p:txBody>
      </p:sp>
      <p:sp>
        <p:nvSpPr>
          <p:cNvPr id="11" name="Text 9"/>
          <p:cNvSpPr/>
          <p:nvPr/>
        </p:nvSpPr>
        <p:spPr>
          <a:xfrm>
            <a:off x="548640" y="4773168"/>
            <a:ext cx="10881360" cy="1298448"/>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Check Point创造的是双方在关键节点上的信息同步时机，而不是持续的信息收集，从而在最小化委托人信息获取成本的同时，保留了对代理人行为方向的实质性影响能力。这给出了一个清晰的结构性论证：不是因为「不信任」才需要Check Point，而是因为委托-代理关系本身具有内在的信息不对称结构，Check Point是平衡这种不对称的有效且低成本的工具。</a:t>
            </a:r>
            <a:endParaRPr lang="en-US" sz="1230" dirty="0"/>
          </a:p>
        </p:txBody>
      </p:sp>
      <p:sp>
        <p:nvSpPr>
          <p:cNvPr id="12" name="Shape 10"/>
          <p:cNvSpPr/>
          <p:nvPr/>
        </p:nvSpPr>
        <p:spPr>
          <a:xfrm>
            <a:off x="548640" y="6446520"/>
            <a:ext cx="11091672" cy="0"/>
          </a:xfrm>
          <a:prstGeom prst="line">
            <a:avLst/>
          </a:prstGeom>
          <a:noFill/>
          <a:ln w="9525">
            <a:solidFill>
              <a:srgbClr val="C7CDDB"/>
            </a:solidFill>
            <a:prstDash val="solid"/>
          </a:ln>
        </p:spPr>
      </p:sp>
      <p:sp>
        <p:nvSpPr>
          <p:cNvPr id="13" name="Text 11"/>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委托-代理问题</a:t>
            </a:r>
            <a:endParaRPr lang="en-US" sz="900" dirty="0"/>
          </a:p>
        </p:txBody>
      </p:sp>
      <p:sp>
        <p:nvSpPr>
          <p:cNvPr id="14" name="Text 12"/>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从意愿到设计</a:t>
            </a:r>
            <a:endParaRPr lang="en-US" sz="34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回到第2页提出的核心问题：在不全程介入的前提下，如何保持对任务风险的有效控制？现在可以给出完整的回答——这套能力建立在三层结构之上：</a:t>
            </a:r>
            <a:endParaRPr lang="en-US" sz="1300" dirty="0"/>
          </a:p>
        </p:txBody>
      </p:sp>
      <p:sp>
        <p:nvSpPr>
          <p:cNvPr id="6" name="Text 4"/>
          <p:cNvSpPr/>
          <p:nvPr/>
        </p:nvSpPr>
        <p:spPr>
          <a:xfrm>
            <a:off x="1188720" y="2788920"/>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788920"/>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(授权的坐标)</a:t>
            </a:r>
            <a:endParaRPr lang="en-US" sz="1300" dirty="0"/>
          </a:p>
        </p:txBody>
      </p:sp>
      <p:sp>
        <p:nvSpPr>
          <p:cNvPr id="8" name="Text 6"/>
          <p:cNvSpPr/>
          <p:nvPr/>
        </p:nvSpPr>
        <p:spPr>
          <a:xfrm>
            <a:off x="4800600" y="2807208"/>
            <a:ext cx="6263640" cy="54864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用任务风险x执行者成熟度，把授权从「放还是不放」转化为「放多少、怎么放」的坐标定位</a:t>
            </a:r>
            <a:endParaRPr lang="en-US" sz="1200" dirty="0"/>
          </a:p>
        </p:txBody>
      </p:sp>
      <p:sp>
        <p:nvSpPr>
          <p:cNvPr id="9" name="Text 7"/>
          <p:cNvSpPr/>
          <p:nvPr/>
        </p:nvSpPr>
        <p:spPr>
          <a:xfrm>
            <a:off x="1188720" y="3383280"/>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383280"/>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(控制的时间结构)</a:t>
            </a:r>
            <a:endParaRPr lang="en-US" sz="1300" dirty="0"/>
          </a:p>
        </p:txBody>
      </p:sp>
      <p:sp>
        <p:nvSpPr>
          <p:cNvPr id="11" name="Text 9"/>
          <p:cNvSpPr/>
          <p:nvPr/>
        </p:nvSpPr>
        <p:spPr>
          <a:xfrm>
            <a:off x="4800600" y="3401568"/>
            <a:ext cx="6263640" cy="54864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用Check Point替代全程监控——在对的时刻精准介入，利用信息边际价值最高的窗口控制风险</a:t>
            </a:r>
            <a:endParaRPr lang="en-US" sz="1200" dirty="0"/>
          </a:p>
        </p:txBody>
      </p:sp>
      <p:sp>
        <p:nvSpPr>
          <p:cNvPr id="12" name="Text 10"/>
          <p:cNvSpPr/>
          <p:nvPr/>
        </p:nvSpPr>
        <p:spPr>
          <a:xfrm>
            <a:off x="1188720" y="3977640"/>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3977640"/>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(系统的复利效应)</a:t>
            </a:r>
            <a:endParaRPr lang="en-US" sz="1300" dirty="0"/>
          </a:p>
        </p:txBody>
      </p:sp>
      <p:sp>
        <p:nvSpPr>
          <p:cNvPr id="14" name="Text 12"/>
          <p:cNvSpPr/>
          <p:nvPr/>
        </p:nvSpPr>
        <p:spPr>
          <a:xfrm>
            <a:off x="4800600" y="3995928"/>
            <a:ext cx="6263640" cy="54864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授权体系设计正确时，每次Gate评审都在积累执行者成熟度，形成可持续的团队能力建构复利</a:t>
            </a:r>
            <a:endParaRPr lang="en-US" sz="1200" dirty="0"/>
          </a:p>
        </p:txBody>
      </p:sp>
      <p:sp>
        <p:nvSpPr>
          <p:cNvPr id="15" name="Text 13"/>
          <p:cNvSpPr/>
          <p:nvPr/>
        </p:nvSpPr>
        <p:spPr>
          <a:xfrm>
            <a:off x="1188720" y="4709160"/>
            <a:ext cx="9875520" cy="7772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「放手」作用于任务的执行过程（不全程介入），「不放任」作用于任务的关键风险节点（精准介入）。两者不矛盾，但两者同时成立需要的是设计，而不是意愿。</a:t>
            </a:r>
            <a:endParaRPr lang="en-US" sz="1250" dirty="0"/>
          </a:p>
        </p:txBody>
      </p:sp>
      <p:sp>
        <p:nvSpPr>
          <p:cNvPr id="16" name="Shape 14"/>
          <p:cNvSpPr/>
          <p:nvPr/>
        </p:nvSpPr>
        <p:spPr>
          <a:xfrm>
            <a:off x="1188720" y="5596128"/>
            <a:ext cx="3657600" cy="0"/>
          </a:xfrm>
          <a:prstGeom prst="line">
            <a:avLst/>
          </a:prstGeom>
          <a:noFill/>
          <a:ln w="12700">
            <a:solidFill>
              <a:srgbClr val="C7CDDB"/>
            </a:solidFill>
            <a:prstDash val="solid"/>
          </a:ln>
        </p:spPr>
      </p:sp>
      <p:sp>
        <p:nvSpPr>
          <p:cNvPr id="17" name="Text 15"/>
          <p:cNvSpPr/>
          <p:nvPr/>
        </p:nvSpPr>
        <p:spPr>
          <a:xfrm>
            <a:off x="1188720" y="5742432"/>
            <a:ext cx="7315200" cy="457200"/>
          </a:xfrm>
          <a:prstGeom prst="rect">
            <a:avLst/>
          </a:prstGeom>
          <a:noFill/>
          <a:ln/>
        </p:spPr>
        <p:txBody>
          <a:bodyPr wrap="square" rtlCol="0" anchor="ctr"/>
          <a:lstStyle/>
          <a:p>
            <a:pPr indent="0" marL="0">
              <a:buNone/>
            </a:pPr>
            <a:r>
              <a:rPr lang="en-US" sz="1600" b="1" i="1" dirty="0">
                <a:solidFill>
                  <a:srgbClr val="1B2A4A"/>
                </a:solidFill>
                <a:latin typeface="Cambria" pitchFamily="34" charset="0"/>
                <a:ea typeface="Cambria" pitchFamily="34" charset="-122"/>
                <a:cs typeface="Cambria" pitchFamily="34" charset="-120"/>
              </a:rPr>
              <a:t>设计是授权的真正工作。</a:t>
            </a:r>
            <a:endParaRPr lang="en-US" sz="16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团队中有两名工程师：小张入职5年，技术能力强，但这次任务涉及他从未独立完成过的模块类型；小李入职3年，技术能力中等，但这类任务他已独立完成过两次，均无重大问题。你会如何确定两人各自在这次任务上的成熟度评级，并据此决定授权策略？</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你把一个中等风险任务授权给工程师小陈，但没有设置任何Check Point——你告诉他「你来负责，遇到问题随时来找我」。三周后任务交付，没有重大问题，但你发现小陈在执行过程中有几次遇到边界条件判断不确定时，选择了一个保守但次优的实现方案。请评价这次授权的质量。</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你刚刚完成了一次授权任务，执行者在过程中频繁来找你询问「这个怎么处理、那个怎么决定」。你的第一反应是「他能力不够，下次不能再授权给他了」。请分析这个第一反应可能存在哪些认知偏差。</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模块三 · 分级授权</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你设计了一套三个Check Point的授权方案，并在授权时和执行者仔细沟通了每个Check Point的时机和内容。到第一个Check Point时，执行者主动提前来找你说「我觉得已经准备好了，可以开始Gate评审了」，但时间比约定的早了三天，对应的里程碑事件还没有完全完成。你会怎么处理？这个场景中存在哪些需要权衡的因素？</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你的团队面临一个高风险任务，你判断现有团队中没有人的成熟度达到象限二。你有两个选择：选项A是你自己直接处理；选项B是把任务授权给成熟度最高的成员（但他仍在象限一），同时设计一套高强度的Check Point和监控方案。你会选择哪个？你选择的依据是什么？</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分级授权：放手但不放任 · 理论精读版</dc:title>
  <dc:subject>PptxGenJS Presentation</dc:subject>
  <dc:creator>PptxGenJS</dc:creator>
  <cp:lastModifiedBy>PptxGenJS</cp:lastModifiedBy>
  <cp:revision>1</cp:revision>
  <dcterms:created xsi:type="dcterms:W3CDTF">2026-06-19T02:42:49Z</dcterms:created>
  <dcterms:modified xsi:type="dcterms:W3CDTF">2026-06-19T02:42:49Z</dcterms:modified>
</cp:coreProperties>
</file>