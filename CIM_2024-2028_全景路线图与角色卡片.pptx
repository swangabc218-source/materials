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82880"/>
            <a:ext cx="3840480" cy="3840480"/>
          </a:xfrm>
          <a:prstGeom prst="ellipse">
            <a:avLst/>
          </a:prstGeom>
          <a:solidFill>
            <a:srgbClr val="1C3553">
              <a:alpha val="4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822960"/>
            <a:ext cx="2560320" cy="2560320"/>
          </a:xfrm>
          <a:prstGeom prst="ellipse">
            <a:avLst/>
          </a:prstGeom>
          <a:solidFill>
            <a:srgbClr val="2563EB">
              <a:alpha val="35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2377440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CIM集团 · 内部机密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2028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全景发展路线图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与角色成长卡片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从80人到180人 · 从信息流到体系化能力 · 五年组织成熟之路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2563EB">
              <a:alpha val="7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完整五年时间轴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93192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931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四角色成长卡片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77840" y="3931920"/>
            <a:ext cx="233172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931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能力域全景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半导体大厂 CIM集团开发总监 ·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— 2028 全景发展时间轴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从80人到180人 · 五年组织成熟路径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8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已完成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91640" y="658368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658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规划推进中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8503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" y="2542032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2024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109728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3756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333756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信息流建设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" y="368503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9级以上员工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定义为管理者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9184" y="42336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早会制度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信息流畅通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9184" y="4599432"/>
            <a:ext cx="987552" cy="246888"/>
          </a:xfrm>
          <a:prstGeom prst="roundRect">
            <a:avLst>
              <a:gd name="adj" fmla="val 14815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459943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80人规模·起点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67512" y="2944368"/>
            <a:ext cx="0" cy="393192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655064" y="2542032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5506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2025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463040" y="914400"/>
            <a:ext cx="109728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463040" y="9144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99616" y="914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虚拟组织建设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17904" y="12618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产品/PM/架构/质量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四大虚拟组织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17904" y="181051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职能从无到有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共识先于编制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17904" y="2176272"/>
            <a:ext cx="987552" cy="246888"/>
          </a:xfrm>
          <a:prstGeom prst="roundRect">
            <a:avLst>
              <a:gd name="adj" fmla="val 14815"/>
            </a:avLst>
          </a:prstGeom>
          <a:solidFill>
            <a:srgbClr val="10B981">
              <a:alpha val="20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17904" y="217627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关键中间层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856232" y="2487168"/>
            <a:ext cx="0" cy="54864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843784" y="2542032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4378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97480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2026上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51760" y="3337560"/>
            <a:ext cx="109728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51760" y="333756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88336" y="333756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责任意识强化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06624" y="368503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实体四级组织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规划启动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706624" y="42336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强化9级以上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员工责任认定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706624" y="4599432"/>
            <a:ext cx="987552" cy="246888"/>
          </a:xfrm>
          <a:prstGeom prst="roundRect">
            <a:avLst>
              <a:gd name="adj" fmla="val 14815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06624" y="459943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组织编制化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44952" y="2944368"/>
            <a:ext cx="0" cy="393192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032504" y="254203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3250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886200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2026下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840480" y="914400"/>
            <a:ext cx="109728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840480" y="9144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7056" y="914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项目管理基础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895344" y="12618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方法论包v1.0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895344" y="181051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L1导师上岗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交付基线建立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895344" y="2176272"/>
            <a:ext cx="987552" cy="246888"/>
          </a:xfrm>
          <a:prstGeom prst="roundRect">
            <a:avLst>
              <a:gd name="adj" fmla="val 14815"/>
            </a:avLst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95344" y="217627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阶段一·进行中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233672" y="2487168"/>
            <a:ext cx="0" cy="54864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5221224" y="254203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2122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74920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2027上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5029200" y="3337560"/>
            <a:ext cx="109728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029200" y="333756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65776" y="333756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PM推广+质量启动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84064" y="368503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PM全团队覆盖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084064" y="42336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质量SOPv1.0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缺陷率基线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84064" y="4599432"/>
            <a:ext cx="987552" cy="246888"/>
          </a:xfrm>
          <a:prstGeom prst="roundRect">
            <a:avLst>
              <a:gd name="adj" fmla="val 14815"/>
            </a:avLst>
          </a:prstGeom>
          <a:solidFill>
            <a:srgbClr val="2563EB">
              <a:alpha val="20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84064" y="459943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</a:rPr>
              <a:t>阶段二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422392" y="2944368"/>
            <a:ext cx="0" cy="393192"/>
          </a:xfrm>
          <a:prstGeom prst="line">
            <a:avLst/>
          </a:prstGeom>
          <a:noFill/>
          <a:ln w="12700">
            <a:solidFill>
              <a:srgbClr val="2563EB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6409944" y="25420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994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6263640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2027下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217920" y="914400"/>
            <a:ext cx="109728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217920" y="91440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54496" y="91440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质量深化+架构启动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272784" y="12618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质量门禁全员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272784" y="181051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ADR机制·架构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文档补齐≥80%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272784" y="2176272"/>
            <a:ext cx="987552" cy="246888"/>
          </a:xfrm>
          <a:prstGeom prst="roundRect">
            <a:avLst>
              <a:gd name="adj" fmla="val 14815"/>
            </a:avLst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72784" y="217627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阶段三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611112" y="2487168"/>
            <a:ext cx="0" cy="54864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7598664" y="254203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9866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452360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2028上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406640" y="3337560"/>
            <a:ext cx="1097280" cy="1572768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7406640" y="3337560"/>
            <a:ext cx="109728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43216" y="3337560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架构+AI规模化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461504" y="368503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AI场景试点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461504" y="4233672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两年能力盘点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+Year3规划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7461504" y="4599432"/>
            <a:ext cx="987552" cy="246888"/>
          </a:xfrm>
          <a:prstGeom prst="roundRect">
            <a:avLst>
              <a:gd name="adj" fmla="val 14815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61504" y="4599432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阶段四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99832" y="2944368"/>
            <a:ext cx="0" cy="393192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3200400" y="676656"/>
            <a:ext cx="557784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46120" y="6766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▶  规模：80人（2024起点）→ 约110人（2026当前）→ 180人（2028目标）  ·  短板能力突破顺序：项目管理 → 质量 → 产品架构 → AI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CIM集团 2024-2028 全景路线图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502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初级工程师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Junior Engineer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1508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预计规模：80-90人 （占比最大）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当前画像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23042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技术执行为主，编码能力是核心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2651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对PM/质量/产品几乎无概念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" y="29992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对为什么做某个需求缺乏理解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33467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AI工具使用零散，无体系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4617720"/>
            <a:ext cx="22860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成长方向 → 资深工程师（技术专家通道）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0"/>
            <a:ext cx="6583680" cy="59436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角色成长卡片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初级工程师 · 两年成长路径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1  ·  2026年7月 — 2027年6月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理解WBS背后逻辑而非被动填表；在自己任务层面做到准确估算与透明上报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体系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6616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接触质量SOP，理解代码评审标准与缺陷分级逻辑，参与双周质量复盘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认知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6616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开始理解需求的为什么，而不只看做什么；参与需求评审旁听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0EA5E9">
              <a:alpha val="8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能力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6616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AI辅助编码工具日常化使用（Copilot类），建立工具使用习惯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2  ·  2027年7月 — 2028年6月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1228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独立完成模块级WBS拆解；稳定做到计划偏差率可控，状态透明上报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0760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体系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1228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在自己负责模块内执行质量门禁，独立处理一级缺陷根因分析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0760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认知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1228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能参与需求讨论并提出技术视角反馈；理解模块级trade-off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8932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932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0760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能力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228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参与AI试点场景执行层落地，将AI工具融入日常开发流程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0" y="4828032"/>
            <a:ext cx="6583680" cy="31546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项目管理  基础认知→模块执行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315968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质量体系  规范执行→内建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888736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88736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产品架构  需求理解→参与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461504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61504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AI能力  工具使用→流程融入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CIM集团 2024-2028 全景路线图 · 初级工程师 角色卡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502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资深工程师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Senior Engineer  ·  独立技术专家序列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1508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多为9级以上 · 预计规模：35-45人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当前画像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23042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技术深度强，是组织技术能力的主力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2651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缺产品/架构/PM方法论体系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" y="29992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隐性知识多，带新人能力参差不齐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33467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不强制转管理，是独立成长终点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4617720"/>
            <a:ext cx="22860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成长方向 → 技术专家 / 首席工程师（独立序列，非管理跳板）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0"/>
            <a:ext cx="6583680" cy="59436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角色成长卡片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资深工程师 · 两年成长路径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1  ·  2026年7月 — 2027年6月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独立带模块级WBS拆解与进度管理；成为L1导师候选，学习如何把经验方法论化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体系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6616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参与质量SOP试点，开始承担局部质量owner角色，参与缺陷根因分析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架构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设计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6616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参与设计评审委员会，开始学习ADR框架，为高风险模块补充架构文档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能力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6616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成为AI试点场景的候选owner，评估技术可行性，推动小范围验证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2  ·  2027年7月 — 2028年6月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1228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主导跨模块/跨团队的交付协调，成为稳定运转的L1导师，带2-3名初级工程师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0760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体系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1228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独立承担系统级质量owner，主导缺陷逃逸分析，推动质量指标改善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0760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架构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设计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1228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主导新特性架构设计并撰写ADR，参与组织级架构决策评审，补齐存量文档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8932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932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0760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能力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228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主导AI试点场景技术实现，将AI能力内建入自己负责的技术域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0" y="4828032"/>
            <a:ext cx="6583680" cy="31546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EA5E9">
              <a:alpha val="7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技术深度  持续领先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315968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项目管理  模块级→跨团队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888736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88736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质量体系  参与→系统owner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461504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61504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产品架构  执行→主导决策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34272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34272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AI能力  评估→场景主导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CIM集团 2024-2028 全景路线图 · 资深工程师 角色卡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502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初级管理者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Team Lead  ·  从技术专家转团队负责人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1508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现有/新晋9级以上leader · 预计规模：15-20人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当前画像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23042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有扎实技术背景，刚转向团队管理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2651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缺系统性人员管理与项目管理方法论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" y="29992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带团队靠直觉经验，缺结构化工具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33467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是L1导师的主要来源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4617720"/>
            <a:ext cx="22860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成长方向 → 资深管理者（需经组织层面认定与遴选）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0"/>
            <a:ext cx="6583680" cy="59436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角色成长卡片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初级管理者 · 两年成长路径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1  ·  2026年7月 — 2027年6月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用新方法论（WBS/风险登记/周度评审）实际管理自己团队项目；成为L1导师主力，参与方法论盘点访谈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人员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6616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建立1:1机制，学习目标设定与反馈方式，开始做团队成员的能力评估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体系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6616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推动质量SOP在团队落地，代表团队参与质量现状诊断与SOP设计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能力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6616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了解AI工具现状，识别团队内可用AI提效的场景，支持资深工程师开展试点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2  ·  2027年7月 — 2028年6月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1228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独立带团队全年目标交付；主导团队级项目评审，向上汇报交付确定性指标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0760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思维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1228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用产品方法论做团队需求优先级排序，参与需求评审并提出团队视角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0760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体系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1228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主导团队质量指标持续改善，推动质量门禁日常执行，识别高风险点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8932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932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0760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落地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228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推动AI试点场景在团队内落地，跟踪产出价值，为规模化提供数据支撑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0" y="4828032"/>
            <a:ext cx="6583680" cy="31546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项目管理  方法到实战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315968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组织管理  直觉到结构化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888736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88736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质量体系  执行到推动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461504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61504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产品架构  理解到代表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34272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34272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AI能力  识别到推动落地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CIM集团 2024-2028 全景路线图 · 初级管理者 角色卡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" y="502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资深管理者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" y="1097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Senior Manager  ·  新设层级 · 组织级负责人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37160" y="15087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从初级管理者中遴选培养 · 目标规模：5-8人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0299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当前画像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4592" y="230428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新设层级，尚在培养与遴选中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26517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需要跨团队视野和资源协调能力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4592" y="299923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是组织级能力治理的责任人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3346704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· 对外关系管理（fab/客户/供应商）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37160" y="4617720"/>
            <a:ext cx="2286000" cy="411480"/>
          </a:xfrm>
          <a:prstGeom prst="roundRect">
            <a:avLst>
              <a:gd name="adj" fmla="val 1555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4617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成长方向 → 组织级技术/管理Leader（最终对接总监）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0"/>
            <a:ext cx="6583680" cy="59436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角色成长卡片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0"/>
            <a:ext cx="6217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资深管理者 · 两年成长路径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1  ·  2026年7月 — 2027年6月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负责跨团队交付数据汇总与向上汇报；参与PM方法论与质量标准的设计决策，提供组织视角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人才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管理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6616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建立团队层面的人才画像，参与L1导师遴选，识别高潜力员工并制定个性化成长计划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6148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治理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6616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参与质量SOP制定，主导质量数据的组织级汇总与趋势分析，向总监汇报质量健康度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6148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架构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治理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6616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主导跨团队架构治理讨论（模块边界划分、接口标准），对接架构虚拟组织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713232"/>
            <a:ext cx="2971800" cy="384048"/>
          </a:xfrm>
          <a:prstGeom prst="roundRect">
            <a:avLst>
              <a:gd name="adj" fmla="val 16667"/>
            </a:avLst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7132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Year 2  ·  2027年7月 — 2028年6月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989320" y="11887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89320" y="11887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07608" y="11887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策略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12280" y="12527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制定组织级产品roadmap，主导与内部客户（fab/工艺/设备）的需求对话机制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89320" y="21031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21031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07608" y="21031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人才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梯队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812280" y="21671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建立可持续的人才发展机制，主导年度能力盘点，输出晋升候选人推荐与依据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89320" y="30175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89320" y="30175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07608" y="30175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战略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12280" y="30815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主导AI试点评估与规模化决策，识别高价值场景，规划Year 3的AI投入策略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989320" y="393192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C355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9320" y="3931920"/>
            <a:ext cx="777240" cy="841248"/>
          </a:xfrm>
          <a:prstGeom prst="roundRect">
            <a:avLst>
              <a:gd name="adj" fmla="val 9412"/>
            </a:avLst>
          </a:prstGeom>
          <a:solidFill>
            <a:srgbClr val="1C3553">
              <a:alpha val="85000"/>
            </a:srgbClr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07608" y="3931920"/>
            <a:ext cx="7406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组织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治理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812280" y="3995928"/>
            <a:ext cx="20848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设计Year 3自转机制，明确哪些体系能力已可由组织自维护，规划下阶段工作重心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0" y="4828032"/>
            <a:ext cx="6583680" cy="31546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43200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0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组织管理  团队→跨团队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315968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15968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产品架构  策略级参与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888736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88736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质量体系  组织级治理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461504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61504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项目管理  数据汇总→决策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034272" y="4855464"/>
            <a:ext cx="14173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34272" y="48554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AI能力  战略规划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CIM集团 2024-2028 全景路线图 · 资深管理者 角色卡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四角色 × 四能力域  ·  成长路径对比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EA5E9"/>
                </a:solidFill>
              </a:rPr>
              <a:t>两年后各层级的能力里程碑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331720" y="68580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31720" y="6858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项目管理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95928" y="68580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95928" y="6858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质量体系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0136" y="68580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0136" y="6858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产品架构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24344" y="685800"/>
            <a:ext cx="1536192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24344" y="685800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AI能力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18872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1887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初级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工程师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031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资深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工程师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初级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管理者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93192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资深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管理者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331720" y="11887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86584" y="12344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准确估算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透明上报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95928" y="11887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50792" y="12344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SOP执行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基础缺陷分析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660136" y="11887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12344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需求理解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技术反馈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24344" y="11887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79208" y="12344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工具使用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流程融入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31720" y="21031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386584" y="21488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模块级带队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L1导师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95928" y="21031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050792" y="21488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系统质量owner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逃逸分析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0136" y="21031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15000" y="21488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ADR撰写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架构文档主导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24344" y="21031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79208" y="21488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场景owner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技术实现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31720" y="30175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86584" y="30632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全年目标交付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团队评审汇报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95928" y="30175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050792" y="30632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门禁推动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团队质量指标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0136" y="30175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715000" y="30632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需求优先级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产品方法论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24344" y="30175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379208" y="30632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识别场景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推动落地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331720" y="39319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386584" y="39776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跨团队数据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向上汇报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95928" y="39319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050792" y="39776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组织级治理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趋势分析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660136" y="39319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889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715000" y="39776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Roadmap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客户对话机制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24344" y="3931920"/>
            <a:ext cx="15361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379208" y="3977640"/>
            <a:ext cx="14264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AI战略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规模化决策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818888"/>
            <a:ext cx="8595360" cy="274320"/>
          </a:xfrm>
          <a:prstGeom prst="roundRect">
            <a:avLst>
              <a:gd name="adj" fmla="val 16667"/>
            </a:avLst>
          </a:prstGeom>
          <a:solidFill>
            <a:srgbClr val="E0F2FE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3553"/>
                </a:solidFill>
              </a:rPr>
              <a:t>表中内容为两年后（2028年6月）各层级应达到的能力里程碑，作为年度晋升参考依据（非强制门槛）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C3553"/>
          </a:solidFill>
          <a:ln w="12700">
            <a:solidFill>
              <a:srgbClr val="1C355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CIM集团 2024-2028 全景路线图与角色卡片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CIM集团 2024-2028 全景路线图与角色卡片</dc:title>
  <dc:subject>PptxGenJS Presentation</dc:subject>
  <dc:creator>PptxGenJS</dc:creator>
  <cp:lastModifiedBy>PptxGenJS</cp:lastModifiedBy>
  <cp:revision>1</cp:revision>
  <dcterms:created xsi:type="dcterms:W3CDTF">2026-06-19T12:27:58Z</dcterms:created>
  <dcterms:modified xsi:type="dcterms:W3CDTF">2026-06-19T12:27:58Z</dcterms:modified>
</cp:coreProperties>
</file>