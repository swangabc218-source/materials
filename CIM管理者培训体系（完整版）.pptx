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完整版培训体系封面。两个层级各10个模块，本PPT覆盖所有模块的内容精要。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目录页。向学员介绍全年课程地图时使用。建议打印A3版本张贴在培训教室。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层级一课程开始。提醒内训师：这批学员的核心痛点是「角色还没转换」，课程设计的底层逻辑是让他们亲身体验到「一个人做」和「带团队做」的产出差距。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[开场]：放一张PPT：「你比以前更累，是因为你在用旧方法做新工作。」停顿5秒，看看有没有人点头。
[框架拆解要点]：产出公式是整堂课的核心，要用白板写出来让学员看清楚「线性产出」和「杠杆产出」的差异。不要念PPT，要讲故事。
[情景题点评要点]：先让学员说答案，内训师不要急着纠正。当有人说「自己写完了最安全」时，追问：「你的下属这个月学到了什么？明年你离职了这个系统谁维护？」
[承诺卡]：要求写具体任务名称，不接受「授权给某个人做某件事」这种模糊表述。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[开场]：问学员：「你们组里有没有让你睡不着觉的任务？为什么睡不着？」等几个人说完，再问：「这些任务现在是谁在做？你上次看它是什么时候？」
[框架拆解]：停线风险矩阵建议画成2×2（风险高低 × 员工成熟度高低），讲四个象限各自的授权策略。
[情景题点评]：重点是让学员意识到「放手 ≠ 不管」。老王的问题不是放了手，而是在关键模块上没有设置门控（Gate）。
[注意]：有学员会说「我全程都在看」，追问：「你在看什么？你能看出代码哪里有死锁风险吗？如果能，为什么不让新人多写一些让你来看？」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[开场]：问学员：「有没有人授权出去的任务最后自己又接回来做了？发生了什么？」收集2-3个真实故事，让大家感受到「授权失败」的痛。
[框架拆解]：4象限矩阵要让学员自己填：「把你们现在手里的任务，按两个维度标注一下，看看你们现在的授权策略对不对。」
[情景题点评]：第15天发现问题是最关键的讨论点。核心结论是：「越早发现问题成本越低，Check Point的意义就是让问题尽早暴露，而不是等到最后交付时才爆」。
[承诺卡]：要求写具体任务名和Check Point内容，不接受「我会设置Check Point」这样的空话。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[开场]：问学员：「上个月有没有因为一个口头答应的需求，后来后悔了的？」收集故事。如果没有人举手，直接讲一个你知道的真实停线案例（隐去姓名）。
[现场演练]：情景题要求学员两两配对，一个扮演「老赵」一个扮演「主管」，当场演练三步法对话，2分钟，然后换角色。这是本模块最重要的练习。
[框架拆解]：重点讲「为什么不能直接拒绝」——因为直接拒绝会破坏跨部门关系，「引导到流程」是既保护团队又维持关系的最优解。
[点评要点]：很多学员会说「我不敢拒绝领导」，追问：「如果你答应了，系统出了问题，责任在谁？」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[开场]：问学员：「有没有被Fab或工艺部投诉过？当时的第一反应是什么？」等答案，然后问：「你觉得对方投诉你是因为什么原因？」让双方视角都浮现出来。
[框架重点]：「翻译手册」部分建议让学员自己先翻译：「如果你说『这个功能需要评估』，Fab主管听到的是什么？」引导他们意识到沟通的语言鸿沟。
[情景题点评]：回复总经理的@是难点，要引导学员找到「既不推卸责任、又不全部承揽」的表达方式，比如：「感谢总经理关注，我今天下午和张主管当面沟通，了解具体情况后给大家一个反馈。」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[开场]：问学员：「有没有准备了很久的汇报，但领导好像没听进去？当时什么感觉？」然后问：「你觉得问题出在哪里？」
[框架重点]：SCQA的关键是「先说结论」。很多工程师背景的主管习惯「铺垫」，要专门练习「我的结论是……原因是……」的句式。
[演练要点]：90秒汇报演练是本课最重要的环节。要求其他学员扮演「最挑剔的领导」，可以随时打断问：「你的结论是什么？」「你需要我做什么？」
[承诺卡]：要求学员承诺下次真实汇报用SCQA，并带着「记录领导反馈」的动作，形成迭代。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[开场]：问学员：「你们最近一次和直属下属做1on1是什么时候？聊了什么？」如果很多人说「没有正式做过1on1」，这正是本课的切入点。
[框架重点]：「主管在1on1里说话不超过30%」这个规则要专门强调。可以计时演练：设定5分钟，主管在这5分钟内只能说「嗯」「然后呢？」「你觉得为什么？」
[情景题点评]：回应「感觉没意义」的正确示范：「我听到你说感觉没有成长，能说说你希望自己在技术上或者职业上下一步往哪里走吗？」——不评价，不给建议，继续问开放式问题。
[承诺卡]：必须填写具体的人名和时间，不接受「我会做1on1」。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[开场]：问学员：「有没有人收到过让你印象深刻的绩效反馈？是什么感受？」也问：「有没有人做过反馈，但效果和预期完全不一样的？」
[框架重点]：SBI模型的关键是「B（行为）」——必须是可观察的具体行为，不能是性格判断。让学员把「态度不好」翻译成SBI格式，会发现这需要具体的观察素材。
[情景题点评]：小赵说「我说的没错」时，正确回应是：「你的判断可能是对的，但表达方式已经影响到了团队协作效率，这是两件不同的事。」把「对不对」和「怎么说」分开。
[承诺卡]：强调本周内执行，不接受「等绩效季再做反馈」。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[注意]：本课禁止提前告知学员场景，必须当堂宣读，模拟真实的「突发状况」感。
[分组]：每组3-4人，组内必须有不同厂区背景的学员（如果条件允许），模拟跨组协调。
[发言阶段]：每组发言后，主持人要问其他组：「你们对这个方案有什么不同意见？」激发挑战和辩论。
[复盘重点]：最重要的是揭示「为什么不能通宵一个人搞定」——答案是：你一个人搞定，意味着没有人帮你Review，出错风险更高；同时你的组员失去了一次在高压场景下成长的机会。
[产出物]：「上线应急预案模板」可以在课后整理成团队标准文档，成为真实的管理工具。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[场景设计说明]：Q-Time超时是CIM系统最常见的高风险故障类型，学员应该有强烈共鸣。
[重点1]：「总监问谁的责任」是最敏感的部分。正确答案是：「这次故障的直接原因是边界条件测试不完整，作为组长，测试规范是我的职责，责任在我；但更重要的是我们要一起看流程哪里有漏洞。」——既承担责任，又把焦点引向改进而非追责。
[重点2]：「所有改动都要总监审批」这个建议要帮学员分析：这会把总监变成流程瓶颈，且无法解决根本问题。正确的改进是「完善测试矩阵」和「上线前增设边界条件检查单」。
[产出物]：5-Why分析要留作业，下次课分享，形成跨课程的学习连接。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层级二课程开始。提醒内训师：这批学员经验丰富，容易产生防御性（「我早知道了」）。破防的方法是用他们自己的真实行为作为案例——越级指挥、沉迷Debug的故事要从他们自己嘴里说出来，不能是内训师教他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[开场]：让学员在纸上列出「今天下午要做的3件事」，然后逐一问：「这件事，你不做的话会怎样？」如果答案是「没什么影响，只是我习惯这样做」，这就是低杠杆。
[框架重点]：「指名要你去」的会议是最难处理的，很多经理会说「我不得不去」。引导他们思考：如果你不去，派组长去，会发生什么？最坏的情况是什么？这个最坏情况值得你牺牲高杠杆时间吗？
[复盘要点]：这门课的核心行为改变是「学会说不」。但不是粗暴地拒绝，而是用「授权+监控」来替代「亲自参与」。
[承诺卡]：要求写具体事项，不接受「我会减少低杠杆活动」。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[开场]：不要直接问「你有没有越级过」，而是问「有没有哪次你解决了一个技术问题，后来发现其实可以不用你亲自解决？」然后追问：「当时组长在哪里？」
[框架重点]：「5分钟能搞定」是最危险的心理，要专门破解。问学员：「你花5分钟搞定了，你的组长在这件事上学到了什么？下次再发生，他能独立处理吗？」
[情景题点评]：正确的做法是——立刻电话/微信小张（组长）：「小张，EAP报警了，小王说不知道怎么处理，你现在能脱身吗？如果15分钟内没法脱身，告诉我，我们再想办法。」——先给组长机会，明确时间底线，再考虑是否直接介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[开场]：问学员：「你手下最强的组长，能完整负责一个从0到1的新厂区上线吗？如果不行，是他不够强，还是你没给过他这个机会？」
[框架重点]：「完整授权书」是本课的核心工具，要让学员当堂填写一份：「你现在手里有没有一个可以授权的完整交付物？如果有，填写授权书三要素。」
[情景题点评]：「架构分叉点」是经典的反问场景。正确回应：「这两条路各自的利弊你评估过了吗？哪条路对我们的非功能性需求（稳定性/可维护性）更友好？你带组里讨论过吗？」——逼他自己给出答案。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[开场]：问学员：「这一周，你被组长或工程师问了几次技术问题？你每次是怎么回答的？」让他们自己数，然后问：「其中有多少次，其实他们自己能想出来答案？」
[演练环节]：两两配对，一个扮演「来问问题的组长」（用课件中的场景），一个扮演「用四步法回应的经理」，5分钟后交换。重点练习「你倾向A，说说你的理由是什么？」这句话的语气——要有好奇心而不是考试感。
[情景题点评]：「这种事应该你来决定」这句话是关键时刻。正确回应：「这个决策在你的权限范围内，我信任你的判断。我们约好：下周一你给我一个正式的决策说明，我帮你Review一下逻辑有没有漏洞。」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[开场]：问学员：「有没有哪个月，你发现团队实际上在做的事情和你以为在做的事情不一样？」这种情况说明需求入口失控了。
[框架重点]：ROI漏斗的关键不是「要数据才做」，而是「拿不出数据的需求先延后，让提需求方做功课」。这给了经理一个合理的过滤机制，不需要直接拒绝。
[情景题点评]：总监施压前的准备最关键：准备一张「三个需求的ROI对比表」和「团队资源已满的证据（当月已承诺的交付项）」，去总监办公室主动汇报，而不是等总监叫你。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[开场]：问学员：「去年你们部门做的最重要的一件事，是公司年度最重要的事情之一吗？如果不是，为什么不是？」
[框架重点]：「CIM部门的战略价值叙事」是这节课最重要的内容。让学员当堂写：「用2句话向制造总监解释CIM部门明年的价值」。写完后互相点评，看谁写的制造总监最容易听懂。
[情景题点评]：技术翻译成业务语言的示范：「我们开发这套APC系统，相当于给每台机台配了一个经验丰富的工艺专家来实时调参，预计每个月能帮车间少报废3-5片晶圆，全年节省约XXX万元。」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[开场]：问学员：「有没有哪次，你的下属出了问题，你在对外的时候把责任推给了他/她？当时是什么感受？他/她后来的行为发生变化了吗？」
[框架重点]：「背黑锅」和「免责」的区别要说清楚：背黑锅是「对外承担」，但对内必须有严肃复盘，不然会养成「反正有人背」的惰性。
[情景题点评]：大群里的回应是难点，示范：「感谢厂长指出这个问题。这次上线方案是我审核批准的，最终责任在我。今天下午我会和小张一起梳理事故原因，明天上午给厂长和相关方一份完整的复盘报告，请见谅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[开场]：问学员：「如果你明天请假一周，你的部门会自动运转还是会有问题？如果有问题，最大的问题是什么？」这个问题让学员意识到梯队断层的风险。
[框架重点]：「高曝光任务」是最有效的梯队培养工具，建议让学员现场列：「我手下有哪位工程师可以在下次跨部门会议上代替我去做汇报？如果没有，为什么？」
[情景题点评]：「小陈被挖走」是关键场景。正确答案不是「怎么留住他」，而是「我有没有提前培养了第二个小陈」。留人靠成长机会，不靠补贴。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[场景设计说明]：A项目和B项目代表两种不同的压力来源：「高层战略压力」vs「线上质量压力」。这个两难是经理日常最真实的困境。
[重点引导]：正确答案不是「先B后A的一部分」，而是：立刻做B（质量缺陷必须立刻修），同时立刻联系A厂厂长，主动说明情况，并要求他和总经理一起决策是否可以延期1-2周，或者协调其他资源支援。把「资源不够」这个问题推回给更高层决策。
[沟通方式示范]：联系A厂厂长的话术：「厂长，我今天发现B厂出现了Q-Time防呆漏洞，这是一个正在进行的质量事故，必须本周解决，否则会继续扩大影响。我的团队本月剩余资源会优先在这里，预计会导致您那边的EAP接入推迟一周到两周。我建议我们明天一起向总经理说明情况，请他做最终排序决策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[场景设计说明]：三个月三件事代表三种不同的组织问题：①流程/测试不完善，②人才风险管理缺失，③授权边界不清导致跨部门承诺失控。这三件事实际上可能有共同根因：「经理对组长的监控机制不够」。
[重点引导]：经理自我反思是本课最难的部分。引导学员：「这三件事里，你作为经理，有没有哪个时刻可以更早发现苗头？如果有，为什么没发现？」
[复盘主持技巧]：经理开场应该先说：「今天的复盘目的是让我们下一个三个月做得更好，不是追责。我先说我自己这三个月在哪里判断不够准——」（先自我揭短，为心理安全定调）。
[产出物]：改进行动清单是本课和全年培训体系的收尾产出物，建议正式打印归档，季度末检查执行情况。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这是内训师手册的最后一页，建议打印A4版本附在讲义包里。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结尾封底页。建议在每一年度培训启动仪式上，全体内训师和学员一起大声朗读这段话。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1D9E75">
              <a:alpha val="7000"/>
            </a:srgbClr>
          </a:solidFill>
          <a:ln w="635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914400"/>
            <a:ext cx="4572000" cy="4572000"/>
          </a:xfrm>
          <a:prstGeom prst="ellipse">
            <a:avLst/>
          </a:prstGeom>
          <a:solidFill>
            <a:srgbClr val="7F77DD">
              <a:alpha val="11000"/>
            </a:srgbClr>
          </a:solidFill>
          <a:ln w="6350">
            <a:solidFill>
              <a:srgbClr val="7F77DD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半导体CIM管理者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培训体系（完整版）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双轨并行 · 两个层级 · 各10个模块 · 内训师授课版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3566160" cy="804672"/>
          </a:xfrm>
          <a:prstGeom prst="roundRect">
            <a:avLst>
              <a:gd name="adj" fmla="val 11364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133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7–9年经验 · M1–M10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4069080"/>
            <a:ext cx="3566160" cy="804672"/>
          </a:xfrm>
          <a:prstGeom prst="roundRect">
            <a:avLst>
              <a:gd name="adj" fmla="val 11364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4133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425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15–20年经验 · M1–M10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069080"/>
            <a:ext cx="3566160" cy="804672"/>
          </a:xfrm>
          <a:prstGeom prst="roundRect">
            <a:avLst>
              <a:gd name="adj" fmla="val 11364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0" y="4133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每周1小时 · 行为追踪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4425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 + 情景卡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内部资料 · 请勿外传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目录总览  ·  两个层级 · 各十个模块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5577840" cy="562356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86384"/>
            <a:ext cx="55778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初任主管（7–9年）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37160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533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12984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 角色认知：从工程师到主管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187452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56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180136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 技术判断力：停线风险分级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237744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59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3042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 分级授权：放手但不放任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88036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62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28072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防火墙：挡住口头需求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" y="338328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3649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331012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 跨部门沟通：与Fab建立信任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88620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8679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38130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 向上汇报：结构化影响力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" y="438912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370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" y="431596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 1on1实战：有效辅导技术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" y="489204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8737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48188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 绩效反馈：让评价不尴尬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" y="539496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5376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" y="53218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 实战推演（上）：极端上线场景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" y="5897880"/>
            <a:ext cx="201168" cy="201168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5879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" y="582472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实战推演（下）：故障归因与复盘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786384"/>
            <a:ext cx="5577840" cy="562356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786384"/>
            <a:ext cx="557784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822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部门经理（15–20年）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19088" y="137160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13533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20840" y="12984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 管理杠杆率：高产出经理的逻辑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19088" y="187452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1856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20840" y="180136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 拒绝越级：架空主管的代价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19088" y="237744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2359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20840" y="23042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 给舞台：为组长设计成长机会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19088" y="288036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2862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20840" y="28072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给方法：逼组长独立思考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419088" y="338328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33649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720840" y="331012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 需求仲裁：ROI漏斗与优先级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419088" y="388620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38679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20840" y="38130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 战略对齐：读懂公司优先级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419088" y="438912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4370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720840" y="431596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 背黑锅：建立担当文化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19088" y="489204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19088" y="48737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720840" y="48188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 梯队规划：培养下一任主管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419088" y="539496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19088" y="5376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720840" y="53218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 实战推演（上）：多厂区冲突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419088" y="5897880"/>
            <a:ext cx="201168" cy="201168"/>
          </a:xfrm>
          <a:prstGeom prst="ellipse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19088" y="5879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720840" y="582472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实战推演（下）：部门级复盘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目录总览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731520"/>
            <a:ext cx="6858000" cy="6858000"/>
          </a:xfrm>
          <a:prstGeom prst="ellipse">
            <a:avLst/>
          </a:prstGeom>
          <a:solidFill>
            <a:srgbClr val="1D9E75">
              <a:alpha val="7000"/>
            </a:srgbClr>
          </a:solidFill>
          <a:ln w="635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011680"/>
            <a:ext cx="4114800" cy="4114800"/>
          </a:xfrm>
          <a:prstGeom prst="ellipse">
            <a:avLst/>
          </a:prstGeom>
          <a:solidFill>
            <a:srgbClr val="1D9E75">
              <a:alpha val="13000"/>
            </a:srgbClr>
          </a:solidFill>
          <a:ln w="6350">
            <a:solidFill>
              <a:srgbClr val="1D9E7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层级一：初任主管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7–9年经验 · M1–M10 完整模块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角色认知：从工程师到主管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「上任三个月，你比当工程师的时候更累。这是正常的吗？」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核心概念一：产出重新定义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工程师产出 = 个人代码量 + 个人解Bug + 模块稳定性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主管产出 = 个人直接产出 + 团队被驱动后的总产出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结论：你的产出上限从「一个人10小时」变成了「N个人×10小时」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核心概念二：个人英雄主义的失效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过去的优势（技术最强、交付最快）若不调整，会成为绊脚石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典型错误：「算了，我来写」——你做完了，下属学到什么？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核心概念三：三种身份的跃迁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技术执行者 → 技术判断者（我来决定做什么）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个人贡献者 → 资源调配者（我来决定谁做）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问题解决者 → 问题定义者（我来决定做哪个问题）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某资深工程师小张刚升任组长。下个月要上线一套全新的Q-Time严苛控制系统，涉及核心调度逻辑重构。小张手里有4名工程师，其中2人有3年以上经验，2人刚入职1年。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如果小张选择「自己通宵把系统写完」，他是一个好主管吗？为什么？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合格的主管应该如何分配这个项目？自己应该死守哪些部分？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项目结束后，小张作为主管，他的「产出」是什么？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「下周我将把一项本来打算自己完成的任务交给组员负责，并在____天后设置一个Check Point，观察他的进展。」（填写具体任务名称和时间节点）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角色认知：从工程师到主管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技术判断力：停线风险分级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「CIM一挂，全厂停线——所以你什么都不敢放，结果自己被压死了。」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核心概念一：停线风险分级矩阵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高风险（停线级）：涉及核心调度逻辑、Q-Time防御、数据库表结构、多厂区联动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主管必须死守：技术方案评审 + Code Review关键节点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不是不让新人做，是主管要把好两个门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低风险（非核心）：监控看板、非核心接口封装、报表模块、工具类脚本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彻底放手，允许试错，这是培养人的机会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核心概念二：主管的技术判断职责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从「写代码」转向「判断这段代码的风险等级」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技术判断力不能退化：要持续参与架构评审，但不参与具体实现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禁止两种极端：①什么都不看（失职）②什么都亲自改（退回工程师角色）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核心概念三：Check Point设计原则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不是全程盯，是在关键节点介入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示例：周二看接口定义，周四看核心死锁逻辑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原则：「我需要在这个节点知道什么信息，才能决定要不要介入？」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工程师小李（入职2年）说要重构湿法/扩散区域的联合调度算法（Wet-Diffusion联调），这是停线级高风险模块。组长老王最近很忙，想直接交给小李自己去做。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老王的做法有什么风险？如果出了问题，责任在谁？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正确的做法：老王应该在哪几个时间节点介入？每次介入检查什么？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如果小李是5年经验的资深工程师，老王的介入方式会有变化吗？为什么？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「我将对本组所有进行中的任务，在____天内完成停线风险标注（高/低），并对高风险任务补充设置至少____个Check Point，本周内告知对应的工程师。」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技术判断力：停线风险分级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分级授权：放手但不放任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「你不是不敢放手，你是不知道怎么放手。」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核心概念一：授权的两个维度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维度A：任务的停线风险（高/低）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维度B：执行者的成熟度（高/低）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四象限策略：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高风险+低成熟度 → 主管直接执行或强监控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高风险+高成熟度 → 授权+设Gate（门控审批）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低风险+低成熟度 → 授权+密集陪跑（教练式）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低风险+高成熟度 → 完全授权，结果验收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核心概念二：Check Point设计的5个要素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明确触发时机（时间节点 or 里程碑节点）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明确检查内容（接口？逻辑？测试覆盖率？）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明确判断标准（看到什么算过关，看到什么需要介入）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明确升级路径（如果不过关，下一步是什么）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明确沟通方式（代码Review？站会汇报？还是正式评审？）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核心概念三：授权常见失败模式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一放到底：没有Check Point，等出问题才发现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假授权：名义上交给别人，但每天询问进度5次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授权不清：「你去做这个」但没说验收标准是什么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工程师小陈（3年经验，能力中等）被老王授权独立完成新厂区EAP通信模块的接入工作，工期45天，涉及与设备层的协议适配，属于中等风险任务。第15天，老王发现小陈方向跑偏了，但已经写了大量代码。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老王在授权时犯了什么错误？应该如何设计这45天的Check Point？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现在第15天发现问题，老王应该怎么处理？直接接管还是辅助纠偏？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为了避免下次再出现这种情况，老王的授权流程需要改变什么？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「我将在本周对一个已授权任务，补充设计完整的Check Point（含时机、检查内容、判断标准），并在____前与执行者对齐，双方签字确认。」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分级授权：放手但不放任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防火墙：挡住口头需求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「走廊上一句『顺手帮我改个逻辑』，晚上系统就崩了。」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核心概念一：口头需求为什么危险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没有进入Backlog → 没有排期 → 没有测试 → 没有回归验证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「临时改动」是CIM系统停线事故的高频来源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不拒绝的代价：团队疲于奔命 + 系统稳定性持续恶化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主管面子薄是根源：怕得罪制造部、工艺部、设备部的主管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核心概念二：防火墙三步法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礼貌引导（永远不要直接拒绝，而是转移到流程）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「这个需求对生产线很重要，我们规范一下，请在系统里提个正式的变更单，我这边才能排进去。」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价值反问（过滤掉ROI不明确的需求）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「这个改动预期能帮车间提升多少OEE？或者减少多少批次报废？我们需要这个数据来决定优先级。」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流程闭合（所有需求统一入口，即使是高管口头交代的）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「高管的需求我会优先考虑，麻烦把具体需求发到我们的需求系统，我亲自跟进。」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核心概念三：建立需求防火墙的系统保障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明确团队统一的需求入口（Jira/禅道/钉钉工单）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发布给所有协作方：「我们团队所有需求，必须通过系统提交」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个人承诺：「本周起，凡口头需求一律当场引导提单，不私下答应」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制造部主管老赵在走廊碰到了你，说：「哎，你们那边帮我在清洗线的系统里加个临时过滤逻辑呗，我们最近进了一批特殊实验片，急着用，明天要。」此时你的团队排期已经满了，而且这个改动涉及与下游扩散区的逻辑衔接，存在一定停线风险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现场演练：用防火墙三步法，逐字说出你的回应（不能直接拒绝，不能直接答应）。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如果老赵说「我直接找你们总监了，总监同意了」，你怎么处理？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如果你已经答应了，现在想反悔，如何补救并建立后续的防火墙？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「从本周起，我将对所有口头需求执行防火墙三步法，不再当场直接答应任何未经系统提交的需求。本周预计会遇到____次类似情况，我将在下次课上汇报执行结果。」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防火墙：挡住口头需求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跨部门沟通：与Fab建立信任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「你的团队技术最强，但制造部说你们'不配合'——这是谁的问题？」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核心概念一：为什么CIM团队经常被说「不配合」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CIM工程师用技术语言，Fab用生产语言，两者存在系统性误解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典型冲突：「这个改不了」（技术表达）= 「不想帮我」（Fab理解）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信任赤字的来源：承诺了没做到、没解释为什么做不到、没给替代方案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核心概念二：CIM-Fab沟通翻译手册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Fab说「OEE下降了」→ 问清楚：哪台机台？哪个时间段？下降多少？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Fab说「系统有问题」→ 问清楚：什么症状？什么时候开始的？有没有报警记录？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你说「这个功能需要评估」→ 翻译成：「我理解你的需求，我们下周三前给你一个可行性答复」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原则：永远给时间承诺，即使答案是「暂时做不了」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核心概念三：建立主动信任的三个动作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定期同步：每月一次简短的CIM-Fab协作回顾（15分钟）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主动告知：系统有计划变更时，提前48小时通知相关Fab主管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故障透明：发生停线时，第一时间推送进展，不等Fab来问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清洗区Fab主管张姐上周在微信群里直接投诉：「CIM团队完全不配合，我们提的需求放了两个月没动静，你们到底在做什么？」这条消息被总经理看到了，@了你。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现在你要回复总经理的@，怎么说？（注意：不能甩锅给张姐，也不能全揽责任）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事后你要和张姐单独沟通，如何修复这个关系？具体说什么？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为了避免下次再出现这种情况，你需要建立什么机制？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「我将在____天内主动联系一个和我们团队存在摩擦的跨部门协作方，约一次15分钟的沟通，目的是建立定期同步机制。」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跨部门沟通：与Fab建立信任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向上汇报：结构化影响力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「你每次和领导开会，说了20分钟，领导还是不知道你要什么。」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核心概念一：向上汇报的本质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不是「汇报我做了什么」，而是「帮领导做决策」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领导最关心的三件事：①有没有风险？②需不需要我做什么？③我们还OK吗？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结论：汇报要以领导关心的问题为起点，不以你做的事为起点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核心概念二：SCQA汇报框架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S（Situation）：现状是什么？一句话说清楚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C（Complication）：出现了什么问题/变化？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Q（Question）：由此带来的核心问题是什么？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A（Answer）：我的建议/方案是什么？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关键原则：先说结论，再讲理由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核心概念三：主管级汇报的常见错误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流水账：把自己做的事一件一件列出来（领导不需要知道你怎么做的）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问题放最后：说了一堆好消息，最后轻描淡写提一个大风险（领导会爆）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没有立场：「这个有利有弊……要看情况……」（领导要的是你的判断）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要资源不说清楚：「我们团队压力比较大」而不是「我需要再招1个人，理由如下」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下周你要在部门月会上做5分钟汇报，内容是：上个月CIM系统升级项目推进顺利，但某条产线的EAP通信稳定性有隐患，预计影响下个月的WPH。你需要额外争取1个测试工程师支援2周。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用SCQA框架，写出这5分钟汇报的提纲（S/C/Q/A各一句话）。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现场演练：每人用90秒完成这个汇报（其他人扮演领导，可以打断）。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汇报后领导说「先看看情况再说」，你怎么跟进？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「在下次团队月会/项目汇报中，我将使用SCQA框架准备汇报提纲，先把结论写在第一句，并在汇报完成后记录领导的反馈和我的改进点。」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向上汇报：结构化影响力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1on1实战：有效辅导技术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「你每天和团队沟通，但你们有没有真正的1on1？」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核心概念一：1on1的本质和误区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1on1不是进度汇报会：不要问「这周任务做到哪里了？」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1on1不是批评会：不要积攒问题一起发泄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1on1的真正目的：让下属感到被关注、帮他们解决障碍、了解他们的成长需求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频率建议：每位直属下属每2周一次，每次30分钟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核心概念二：1on1的三段式结构（30分钟）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前10分钟：下属说（主管闭嘴，听）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开场问题：「最近工作上让你最有挫败感的一件事是什么？」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或：「你现在最担心的事是什么？」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中10分钟：聚焦最重要的障碍（最多1-2个问题）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「你觉得这个障碍的根因是什么？」→ 「你已经尝试过什么？」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后10分钟：下属自己给出行动计划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「接下来你打算怎么做？我能帮你什么？」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核心概念三：辅导中的核心禁忌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禁止直接给答案：「你应该这样做……」→ 破坏下属的独立思考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禁止假聆听：边听边看手机/消息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禁止评价性语言：「这个你早该知道」「这么简单都不会」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工程师小周今年3年经验，技术能力中等偏上，但最近两个月情绪低落，代码提交量明显下降，你们上次深入沟通已经是3个月前了。你今天约了小周做1on1。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你的开场问题怎么问？（不能是「最近任务完成情况怎么样？」）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小周说：「感觉做的东西没什么意义，天天改Bug，不知道自己在成长吗……」你怎么回应？（注意：不能直接给建议）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如果小周隐约透露出在考虑离职，你怎么在不逼迫他的情况下了解真实想法？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「我将在____天内与一位已经超过____周未进行1on1的直属下属约一次30分钟的1on1，用三段式结构，并在结束后记录对方最核心的一个障碍和我们约定的行动项。」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1on1实战：有效辅导技术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绩效反馈：让评价不再尴尬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「绩效面谈，你说了30分钟，对方出门就找HR投诉了。」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核心概念一：为什么绩效反馈经常失败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时机错误：攒了一整年的问题，年终一起发泄（对方完全没有心理准备）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内容模糊：「你的工作态度需要改进」（什么是态度？改进到什么程度？）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只批评不认可：完全不提对方做对的事，对方无法建立信心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反馈≠评分：许多主管把绩效面谈变成「宣布分数」而不是「共同改进」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核心概念二：SBI反馈模型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S（Situation）：具体情境/时间/场合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「上个月项目上线的那个星期……」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B（Behavior）：可观察的具体行为（不是性格，不是动机）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「你在三次Code Review会议上没有提前看代码，会上直接说「我没看」」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I（Impact）：这个行为造成的具体影响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「导致每次会议至少浪费40分钟，团队对你的专业性有质疑」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最后：一个改进建议+时间节点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「下次我们约定：Code Review前一天你给我确认已经看过，可以吗？」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核心概念三：正向反馈同样需要SBI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错误：「你最近表现不错！」（对方不知道哪里好）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正确：「上周上线前那次测试，你主动发现了那个边界条件Bug，避免了停线，这个行为非常有价值，希望继续保持。」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工程师小赵技术能力很强，但有一个问题：在设计评审会上经常打断别人发言，并且用很强硬的语气否定同事的方案，导致团队气氛越来越差。你需要给他做一次绩效反馈。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用SBI模型，写出这次反馈的完整表达（情境/行为/影响/建议各一段）。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小赵听完后说：「我就是这个性格，我说的也没错啊，那些方案确实有问题。」你怎么回应？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如果你发现小赵最近情绪不稳定可能和家里的事有关，你在绩效反馈中如何处理？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「我将在____天内用SBI模型对一位下属做一次具体的反馈（可以是正向或改进方向），并在给出反馈后记录对方的反应和我们约定的后续行动。」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绩效反馈：让评价不再尴尬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实战推演（上）：极端上线场景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「资深工程师突然请假、新人手忙脚乱、上线窗口明天就到——你怎么办？」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本模块为实战推演课，无传统「核心概念」讲授。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课程结构（55分钟）：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0–5 min：主持人宣读场景（不提前告知学员）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5–20 min：小组讨论，制定方案（每组3–4人）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20–40 min：各组代表发言，10分钟/组，其他组可以挑战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40–55 min：主持人逐项复盘，揭示标准评分维度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核心评分维度（内训师用）：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风险识别能力：是否正确识别了哪些是「停线级风险」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资源调配能力：是否合理使用了剩余的团队成员和外部资源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沟通决策能力：是否及时向上通报风险，是否主动协调相关方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预案完备性：是否包含回滚方案（Rollback Plan）和应急联系机制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禁忌识别：是否出现「我自己通宵搞定」的个人英雄主义答案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本场景关键约束（学员必须遵守）：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禁止答案中出现主管本人「通宵写代码」搞定的方案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必须体现团队调配和资源协调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必须包含上线前的最后一道技术评审环节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必须包含上线后的应急响应窗口（至少4小时在线监控）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下周一某Fab厂的MES核心模块要进行版本升级（涉及核心数据库表结构变更，一旦出错将导致全Fab停线）。突发情况：你组里最资深的架构工程师（负责这个升级的关键人）今天下午突然请病假，预计一周不能回来。目前团队里还有两名工程师：小李（2年经验，代码已经写好90%）、小陈（1年经验，负责测试）。你在今天下午4点知道了这个消息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未来三天（今天下午到周日），你作为主管，每天的关键动作是什么？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你是否建议推迟上线？如果要推，怎么和Fab厂说？如果不推，你的底线条件是什么？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周一上线窗口，你需要在现场吗？上线过程中你的职责是什么（不是亲自操作）？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（本模块无个人承诺卡，改为小组在推演结束后提交一份「上线应急预案模板」作为本次课的产出物。）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实战推演（上）：极端上线场景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7150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715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实战推演（下）：故障归因与复盘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「系统出了问题，你是第一个被问到的人——你准备好了吗？」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本模块为实战推演课（第二场），聚焦「故障后的行为」。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课程结构（55分钟）：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0–5 min：宣读故障场景（包含时间线和症状）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5–25 min：小组完成「故障时间线还原」和「根因分析」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25–40 min：小组发言，复盘报告要点陈述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40–55 min：主持人点评，重点讲「主管在故障中的正确行为模式」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复盘报告标准格式（学员输出要求）：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故障概述：什么时间、什么系统、什么影响（停线多久？影响多少台机台？）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时间线还原：从故障发生到恢复，关键时间节点和动作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根因分析（5-Why法）：至少追问5层，不接受「系统Bug」作为根因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直接原因 vs 系统原因（为什么这个Bug没有在测试中被发现？流程上的漏洞是什么？）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改进措施（分三类）：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立即行动（72小时内）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短期优化（一个月内）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长期机制（流程/工具/规范层面）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责任声明：不是「追责」，而是「谁在哪个环节承担改进责任」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上周五夜班，CIM系统在推送一条清洗线的派工指令时，触发了一个边界条件Bug，导致某批次晶圆在非计划时间进入湿法清洗槽，超出Q-Time上限15分钟，潜在影响良率。事故持续2小时才被手动恢复。今天是周一上午，你需要在下午2点向总监汇报这次事故的复盘报告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用标准复盘格式，完成这份报告的提纲（每项一到两句话）。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在汇报中，总监问：「这件事是谁的责任？」你怎么回答？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在改进措施中，有人提议「以后所有改动都要总监审批才能上线」，你同意吗？为什么？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（本模块产出物：每位学员完成一份「本团队历史上最重要的一次故障」的5-Why根因分析，下次课带来分享。）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实战推演（下）：故障归因与复盘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731520"/>
            <a:ext cx="6858000" cy="6858000"/>
          </a:xfrm>
          <a:prstGeom prst="ellipse">
            <a:avLst/>
          </a:prstGeom>
          <a:solidFill>
            <a:srgbClr val="7F77DD">
              <a:alpha val="7000"/>
            </a:srgbClr>
          </a:solidFill>
          <a:ln w="6350">
            <a:solidFill>
              <a:srgbClr val="7F77D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011680"/>
            <a:ext cx="4114800" cy="4114800"/>
          </a:xfrm>
          <a:prstGeom prst="ellipse">
            <a:avLst/>
          </a:prstGeom>
          <a:solidFill>
            <a:srgbClr val="7F77DD">
              <a:alpha val="13000"/>
            </a:srgbClr>
          </a:solidFill>
          <a:ln w="6350">
            <a:solidFill>
              <a:srgbClr val="7F77DD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层级二：部门经理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15–20年经验 · M1–M10 完整模块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管理杠杆率：高产出经理的底层逻辑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「你每天都很忙，但你的部门产出在提升吗？」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核心概念一：格鲁夫公式（Andy Grove，《高产出管理》）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经理的产出 = Σ（管理活动 × 对应杠杆率）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关键洞察：经理的时间不是线性产出，而是通过「影响他人」产生杠杆效应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你的产出上限 = 你影响的人数 × 他们单位时间的产出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核心概念二：高/低杠杆活动的判断标准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高杠杆活动（单次投入，长期多人受益）：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建立跨Fab统一的代码规范和接口标准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系统性培养一名基层组长（他的成长会持续产出）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在评审会上砍掉ROI不明确的伪需求（节省全团队资源）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制定故障分级和响应SOP（减少未来所有人的重复决策消耗）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低杠杆活动（只影响自己，立刻产出消失）：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亲自去厂区调一个特定机台的派工参数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帮某个项目组Debug一个具体的系统错误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出席一个只需要你「人在场」的状态汇报会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核心概念三：杠杆率自检方法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每周一早上，看你的日程：划出所有「只有我能做」的事（真正高杠杆）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所有「我做了之后别人就不需要做决定」的事 → 这是低杠杆，应该授权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目标：你的日程里，高杠杆活动占比 ≥ 60%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CIM部门经理，直接管理3个基层组长。本周你的日程如下：①周一上午：参加某厂区MES故障排查会（对方指名要你去）②周二：帮A组审查一段新工程师写的状态机代码③周三：起草跨Fab统一部署规范文档④周四下午：培养B组组长做下一个版本的架构评审主持人⑤周五：出席一个信息传达会（内容可以发邮件代替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对上述5件事进行杠杆率评估，哪些是高杠杆？哪些可以删掉或授权？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周一那个「指名要你去」的故障排查会，你去吗？如果不去，怎么安排？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如果你把所有低杠杆活动都取消，腾出的时间你打算做什么「高杠杆」的事？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「我将对本周日程中的所有事项进行杠杆率标注，找出其中至少2项低杠杆活动，授权给对应的组长处理，并在下次课汇报执行情况。」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管理杠杆率：高产出经理的底层逻辑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拒绝越级：架空主管的致命代价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「你绕过组长直接指挥工程师——那你的组长在这件事里是什么？」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核心概念一：越级指挥的三重负杠杆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组长被架空：他失去了在这件事上建立权威、做决策、承担责任的机会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长此以往，他变成「传话筒」，不再主动思考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工程师多头汇报：不知道该听组长的还是听经理的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执行混乱，效率下降，出了问题也没人负责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经理自己成为瓶颈：所有事情都得经过你，你的带宽决定了整个部门的上限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你越「能干」，部门越低效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核心概念二：高技术经理的「越级冲动」来源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「这个问题我5分钟能搞定，让组长处理要1小时」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「这个风险太高了，我不放心」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「对方指名要找我，我不得不去」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这三种心理都是真实的，但代价都是系统性的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核心概念三：「介入」vs「越级」的边界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合理介入：在组长做完决策后，和组长私下复盘「这个决策你考虑了哪些因素」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越级：直接告诉工程师「按我说的做」，不通过组长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关键原则：你的意见可以通过组长传达，但决策权必须在组长手里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高风险场景例外：停线级故障时，经理可以直接介入，但事后必须立刻和组长复盘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周五下午，某厂区EAP系统报警，对应的A组工程师小王在群里说「不知道怎么处理」。A组组长小张当时在开另一个会。你（经理）看到了消息，判断这个报警5分钟能解决。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你会怎么做？（列出你的第一反应，然后分析这个行为是「越级」还是「合理介入」）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如果你选择「直接告诉小王怎么修」，这会带来什么后果？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正确的做法是什么？如何在「解决紧急问题」和「不越级」之间找到平衡？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「本周遇到需要紧急处理的技术问题时，我将先通过对应组长处理（哪怕多花15分钟），记录发生了几次、我是怎么做的，下次课汇报。」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拒绝越级：架空主管的致命代价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给舞台：为组长设计成长机会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「你最得力的组长能独立负责一个完整项目吗？还是只能负责一个模块？」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核心概念一：「完整授权」vs「碎片化授权」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碎片化授权（常见错误）：交给组长「开发子系统A的模块3」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组长只是一个高级工程师，没有端到端的责任感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完整授权：交给组长「负责XX厂区CIM上线，预算、人员、时间节点、对外协调全权负责」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组长必须思考架构、资源调配、风险控制，真正进入「主管模式」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关键原则：「交付物」而非「任务」——组长要对一个完整的结果负责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核心概念二：完整授权的三要素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明确交付物（不是任务列表）：「XX月XX日前，XX厂区CIM系统上线并稳定运行14天」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明确资源权限：「你可以调配本组所有成员，可以向我申请跨组支援」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明确升级条件：「遇到停线级风险或涉及超出预算20%的情况，需要告知我」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核心概念三：里程碑监控而非过程监控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经理的角色：定里程碑，在里程碑节点做评估，不干预实现路径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错误示范：「你今天进展怎么样？那段代码写了吗？为什么要用这个架构？」（这是过程监控）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正确示范：「下周三里程碑：接口定义文档完成并通过评审。周三下午我们做一次正式Review。」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A组组长小张已经在你手下做了两年，技术能力和沟通能力都不错，但一直都是在「负责模块」而没有机会「负责项目」。现在有一个新需求：为D厂区建立全新的CIM系统（从零开始，3个月工期）。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你是否愿意把这个项目完整授权给小张？你的顾虑是什么？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如果授权，你的「完整授权书」应该包含哪些要素？（交付物、资源权限、升级条件、里程碑节点）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小张在第6周汇报说「遇到了一个技术架构的分叉点，不确定哪条路更好」，你怎么回应？（注意：不能直接告诉他选哪条）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「本月内，我将把一个完整的交付物授权给一位组长，用『完整授权书』格式明确交付物、资源权限和升级条件，并设置不超过3个里程碑节点，不干预实现路径。」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给舞台：为组长设计成长机会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给方法：逼组长独立思考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「组长每次来找你，你都给了答案——这是在帮他还是在害他？」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核心概念一：为什么「直接给答案」是负杠杆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每次给答案，组长就少练一次独立判断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组长慢慢习惯「遇到问题找经理」，变成执行机器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你的时间被「回答问题」占据，无法做高杠杆的事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最终结果：部门的思考能力全集中在你一个人身上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核心概念二：苏格拉底式反问四步法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「你对这个问题的判断是什么？」（先让他表态，不能说「我不知道才来问你」）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「你评估过哪些方案？各自的利弊是什么？」（逼他做分析，不是让他搜索答案）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「如果你来决策，你会选哪个？为什么？」（让他承担判断的责任）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「好，你按这个方向推进，出了问题我们一起复盘」（给他背书，让他承担后果）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核心概念三：何时可以直接给答案（例外情况）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停线级风险正在发生（没有时间让他慢慢思考）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组长已经做了充分分析，只是需要你帮他确认最终决策是否超出他的权限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新入职组长（前3个月，可以多给指引，逐步减少）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原则：让「直接给答案」成为例外，而不是常态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C组组长小陈来找你：「经理，我们现在有两个技术方向都可行：方案A是改造现有系统，工作量小但有技术债；方案B是重写核心模块，工作量大但更干净。我倾向A，但不确定，所以来问你。」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用苏格拉底四步法，写出你的完整回应（逐步追问，不给答案）。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小陈说：「我来问你就是因为这种事应该你来决定」，你怎么回应？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如果你反问后小陈选了方案A，三个月后出现了技术债问题，怎么处理（复盘还是追责）？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「本周遇到组长来请示时，我将用苏格拉底四步法回应，不直接给答案（停线级紧急情况除外），并记录用了几次、每次对方的反应如何，下次课分享。」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给方法：逼组长独立思考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需求仲裁：ROI漏斗与优先级主导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「所有人都说自己的需求最紧急——而你是最后一个知道资源不够的人。」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核心概念一：为什么经理必须主导需求仲裁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不仲裁的代价：资源被「声音最大的人」或「级别最高的人」占据，而不是「ROI最高的需求」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典型失控场景：Fab厂长直接找你的组长要人，组长不敢拒绝，悄悄改了排期，你事后才知道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经理的职责：建立统一的需求入口和优先级决策机制，不是让每个部门直接绕过你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核心概念二：ROI漏斗过滤四步法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掐死需求入口：所有跨模块/跨Fab的需求，必须通过经理本人才能进入排期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要求提需求方提供硬指标：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「这个功能上线后，预期提升多少OEE？减少多少批次报废？节省多少人工时？」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拿不出数据的，延后评估（不是拒绝，是要求对方做功课）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内部优先级排序：基于ROI对比，制定本季度需求优先级清单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战略对齐：把优先级清单提交给业务层（厂长/总监）确认，把跨部门冲突推回给业务层决策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核心概念三：仲裁时的常见陷阱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陷阱一：「高管说了要做」→ 要求高管把需求文档化，走正常优先级流程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陷阱二：「这个需求做起来不复杂」→ 复杂度不等于优先级，ROI才是标准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陷阱三：「我们团队加班可以两件事都做」→ 用加班掩盖业务层的决策混乱，不可持续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本月三个需求同时找到你：①Fab厂长：要求在本月底前上线「智能PM排程优化」模块（预估提升OEE 2%，但厂长没有提供数据来源）②工艺总监：要求实现「湿法清洗严苛Q-Time防呆」功能（每月可减少3-5片Wafer报废，有数据）③设备部长：要求开发「机台预测性维护看板」（提升PM效率，但无法量化收益）。你的团队本月只有能力做1个完整需求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用ROI漏斗，对三个需求进行初步排序，并说明理由。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Fab厂长听说你要推迟他的需求，直接找你的总监施压。你在总监找你谈话之前，应该做什么准备？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如何设计一个机制，让下个月不再出现「三方争资源」的情况？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「我将在本月内建立一个部门需求入口机制（哪怕只是一个共享文档），要求所有跨组需求通过该入口提交，并附上预期ROI指标，由我统一评估后排期。」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需求仲裁：ROI漏斗与优先级主导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战略对齐：读懂公司优先级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「你做的事很重要——但和公司今年的战略方向对齐了吗？」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核心概念一：为什么部门经理需要「战略嗅觉」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工程师和组长的优先级来自任务列表，部门经理的优先级来自公司战略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没有战略嗅觉的经理：做了很多事，但在年底绩效复盘时发现「没做到公司最想要的事」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战略嗅觉的来源：主动参与跨部门会议、和上级保持对话、阅读公司OKR/年度计划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核心概念二：CIM部门的战略价值叙事框架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短期价值（季度）：减少X次停线事故 / 提升X%WPH / 减少X%的批次报废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中期价值（年度）：建立X个厂区的数字化基础设施 / 实现X条产线的APC闭环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长期价值（3年）：把CIM部门从「IT支持角色」转变为「产线利润贡献角色」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关键能力：把你的技术规划翻译成业务语言，让制造、工艺、管理层都听得懂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核心概念三：技术规划如何服务业务目标（OKR连接法）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公司OKR：「提升整体良率X%」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部门KR：「实现全厂区APC参数自动推荐，减少人工干预X次/月」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组级任务：「完成XX算法模型的训练和上线」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每个技术决策都应该能回溯到「这件事支撑哪个业务目标」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明年战略重心是「降低生产成本10%，其中良率提升贡献4%」。CIM部门面临一个技术选型决策：方案A是升级现有系统（工作量小，对良率提升无直接帮助，但能减少运维故障）；方案B是开发新一代APC自动推荐系统（工作量大，预计提升良率0.5-1%，但风险高）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从战略对齐的角度，你的建议是什么？如何向总监汇报这个决策？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如果选择方案B，你如何说服制造部和工艺部配合你的开发团队做数据采集和验证？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如何把这个技术项目的价值，翻译成总经理能听懂的「业务语言」？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「我将在____天内和我的上级做一次『战略对齐』沟通，确认我们部门下个季度的技术规划和公司的战略重心是否一致，并把结果同步给三位组长。」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战略对齐：读懂公司优先级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背黑锅：建立担当文化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「你的组长出了问题，第一反应是找你背锅——还是自己扛？」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核心概念一：为什么「背黑锅」是高杠杆管理行为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表面上：经理承担了不该是他的责任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实际上：经理在用自己的信用为组长创造安全空间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长期效果：组长敢于做决策、敢于承担责任、不再缩手缩脚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如果经理不背：组长下次遇到风险就会「往上推」，永远不会成长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核心概念二：「背黑锅」的完整操作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对外（在跨部门会议/事故复盘/高管追责时）：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「这个方案是我拍板同意的，最终责任在我，我来给大家说明情况。」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对内（关上门之后，私下和组长）：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「这次出了问题，我帮你挡住了外部压力。但我们需要认真复盘：哪个环节的判断有问题？下次怎么改？」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底线条件（以下情况不背）：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组长明确知道风险但没有上报（不是能力问题，是诚信问题）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违反公司合规流程（背黑锅不等于共同违规）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核心概念三：担当文化的系统建立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定期宣言：在团队会议上明确说「你们按流程做决策、出了问题我来扛」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行为一致：第一次出问题时，经理必须做到对外担当——这是建立信任的关键时刻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复盘文化：担当≠免责，事后必须和组长认真复盘，否则会养成「反正有经理背锅」的心态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组组长小张负责的项目，在上周五上线后出现了一个Bug，导致某条产线停线2小时。事后查明：小张在上线前做了充分的测试，但漏掉了一个极端边界条件。今天上午，Fab厂长在大群里点名批评：「这次事故责任在A组，组长小张应该给出解释。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你作为经理，在大群里如何回应？（写出具体的文字）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下午你关上门和小张谈，怎么开始这个对话？（不是批评，也不是安慰，而是复盘）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如果小张事后说「经理你帮我背了，我感觉很内疚」，你怎么回应？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「我将在本周团队会议上，明确向三位组长说：『你们按正规流程做的决策，出了问题我来扛，但我们一定要一起复盘』——说出来，当众承诺。」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背黑锅：建立担当文化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梯队规划：培养下一任主管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「如果你今天离职，这个部门三个月后会怎样？」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核心概念一：为什么梯队建设是经理的核心职责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短视：「我现在不需要考虑这个，组长还好」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现实：人才突然流失（离职/晋升/调岗）是CIM部门最常见的能力断层来源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经理的核心产出之一：让部门的能力不依赖于任何一个个体（包括你自己）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目标：每位组长都能在你不在的情况下独立负责他的领域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核心概念二：潜力人才识别的三个维度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学习速度：遇到新问题，能不能比别人更快建立模型、找到方法？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影响力范围：他的想法能不能让同事认可、愿意跟？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主动承担：遇到模糊的情况，主动还是等待？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（注意：技术能力强不等于有管理潜力，要区分「技术担当」和「领导担当」）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核心概念三：梯队建设的四个动作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明确继任计划：每位组长，都有一个「如果他明天离职，我让谁来接」的答案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分配高曝光任务：给潜力人才设计「只有主管才会做的事」——跨部门会议代表、方案汇报、对外谈判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定期复盘成长：每季度一次「组长成长Review」，对照六个月前的状态讨论进步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主动创造危机：在可控范围内让潜力人才「独自面对困难」，观察他如何应对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部门有三位组长：小张（能力强、但喜欢独自工作，不太善于协调跨部门）、小李（沟通能力强、但技术判断力偏弱）、小陈（全面发展中，是最有潜力的继任者候选人）。小陈最近找你谈话，说想了解自己的晋升路径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对小陈，你的发展计划是什么？未来6个月，你打算给他安排哪些高曝光机会？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对小张和小李，他们各自的能力短板，你作为经理如何有针对性地弥补？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如果小陈被其他部门挖走，你怎么看？你有预案吗？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「我将在____天内，完成本部门三位组长的继任计划草稿：如果每位组长明天离职，谁来接？差距是什么？我需要提前做什么准备？」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梯队规划：培养下一任主管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实战推演（上）：多厂区资源冲突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「两个厂长同时说他们的需求最紧急，资源只有一份——你怎么办？」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本模块为实战推演课（部门经理版），聚焦「多方利益冲突下的资源决策」。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课程结构（55分钟）：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0–5 min：宣读场景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5–20 min：个人独立完成决策方案（不分组，经理级的决策需要个人承担）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20–40 min：逐一发言，每人5分钟，其他人可以质疑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40–55 min：主持人逐项复盘，重点分析「决策依据」和「沟通方式」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核心评估维度（内训师用）：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决策依据：是否有清晰的优先级标准（ROI/战略对齐/风险等级），还是凭感觉？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沟通策略：是否主动向上对齐，还是独自扛住所有压力？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预期管理：是否提前告知「不优先处理的那一方」，还是让对方事后发现？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资源创造性：是否探索了「两件事都做一部分」的可能性，还是非此即彼？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机制设计：是否提出了「下次避免这种情况」的机制改进建议？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特别关注（内训师重点引导）：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避免「用团队加班来解决业务层决策混乱」的答案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避免「我去向两方都承诺，然后悄悄安排」的答案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鼓励「主动推动业务层做决策，把球踢回去」的答案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本月最后一周，以下情况同时出现：A厂Fab厂长（直接上报给公司总经理）：「我们下个月要引入一批新设备，需要CIM团队本月完成EAP接入和派工逻辑适配，这是战略项目。」B厂工艺总监：「我们的湿法清洗Q-Time防呆功能出了一个严重漏洞，已经影响两个批次，必须本周修复。」你的团队本月资源：只剩一个3年经验工程师和一个1年经验工程师。A项目预计需要10人天，B项目预计需要3人天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你的决策是什么？（先做B，再做A的部分？同时推进？推迟A？）说明决策依据。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你如何向A厂厂长说明情况？（他的项目是「战略项目」，你不能简单说「我先做B」）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为了避免下个月再出现「两头火」的情况，你打算建立什么机制？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（本模块无个人承诺卡，改为每位学员在发言中必须提出一个「下个月我将建立的机制」，课后整理汇总。）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实战推演（上）：多厂区资源冲突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57150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5715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5544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实战推演（下）：部门级复盘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1521440" cy="402336"/>
          </a:xfrm>
          <a:prstGeom prst="roundRect">
            <a:avLst>
              <a:gd name="adj" fmla="val 15909"/>
            </a:avLst>
          </a:prstGeom>
          <a:solidFill>
            <a:srgbClr val="7F77DD">
              <a:alpha val="1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77824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「一次大的组织失误之后，你是如何复盘的——还是根本没有复盘？」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核心概念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本模块为实战推演课（第二场），聚焦「部门级事故/失误的系统性复盘」。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课程结构（55分钟）：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0–5 min：宣读场景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5–25 min：个人完成复盘报告框架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25–45 min：逐一发言，其他人质疑和补充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45–55 min：主持人总结「部门级复盘」vs「项目级复盘」的关键差异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部门级复盘的特殊要素（与项目复盘的区别）：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覆盖面更广：不只是「这一次的问题」，而是「这类问题为什么在我们部门反复出现」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组织原因分析：人才配置是否合理？流程是否清晰？信息是否畅通？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领导行为反思（经理自身）：「我在这件事里哪个决策有问题？我本可以做什么防止它发生？」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改进措施分级：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立即行动（48小时内）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流程优化（1个月内，更新SOP）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能力建设（3个月内，培训/招聘/工具）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文化改变（6个月内，如何让团队更主动汇报风险）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复盘会议设计：如何主持一个「有心理安全感、不变成追责大会」的复盘？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情景题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过去三个月，你的部门发生了以下几件事（时间线）：第1个月：A组一个上线项目漏测，导致停线1小时；第2个月：B组一个工程师突然离职，导致一个关键项目停滞两周；第3个月：C组在没有通知你的情况下，答应了Fab的一个计划外需求，最后做了一半因为资源不够被迫放弃，让Fab非常不满。今天你决定做一次部门级复盘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这三件事的表面原因分别是什么？深层的组织原因是什么（可能只有一两个根本原因）？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在复盘会议上，你作为经理，应该首先说什么（而不是让组长们先说）？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复盘结束后，你计划在未来3个月内做哪三件事来防止类似情况再发生？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389888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389888"/>
            <a:ext cx="3703320" cy="420624"/>
          </a:xfrm>
          <a:prstGeom prst="roundRect">
            <a:avLst>
              <a:gd name="adj" fmla="val 21739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38988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当堂承诺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65592" y="1883664"/>
            <a:ext cx="3410712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本课结束前，每位学员当场写下：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「我将在____天内组织一次部门级复盘会议，主题是『过去三个月最应该复盘的一件事』，用本课的框架主持，并在会后产出一份改进行动清单，抄送所有三位组长。」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实战推演（下）：部门级复盘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内训师使用指南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657600" cy="2304288"/>
          </a:xfrm>
          <a:prstGeom prst="roundRect">
            <a:avLst>
              <a:gd name="adj" fmla="val 3968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每模块结构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401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每张模块幻灯片包含：开场钩子 / 核心概念 / 情景题（含场景描述和讨论问题）/ 当堂承诺卡。三栏布局，左栏概念、中栏情景、右栏承诺。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841248"/>
            <a:ext cx="3657600" cy="2304288"/>
          </a:xfrm>
          <a:prstGeom prst="roundRect">
            <a:avLst>
              <a:gd name="adj" fmla="val 3968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841248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84124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60分钟节奏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1335024"/>
            <a:ext cx="3401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痛点激活 0–10min：念开场钩子，收集真实经历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框架拆解 10–30min：结合左栏核心概念讲解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实战演练 30–55min：用中栏情景题小组讨论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承诺落地 55–60min：填写右栏承诺卡收走存档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841248"/>
            <a:ext cx="3657600" cy="2304288"/>
          </a:xfrm>
          <a:prstGeom prst="roundRect">
            <a:avLst>
              <a:gd name="adj" fmla="val 3968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841248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84124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情景题使用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1335024"/>
            <a:ext cx="3401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情景题建议印刷成A5卡片，每组一套。讨论前不要揭示「标准答案」，让学员先充分讨论。发言后，内训师用评分维度表评估，最后再揭示重点。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3657600" cy="2304288"/>
          </a:xfrm>
          <a:prstGeom prst="roundRect">
            <a:avLst>
              <a:gd name="adj" fmla="val 3968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28416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2841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承诺卡管理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3401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每次课收走承诺卡存档，下次课开场前5分钟抽查2-3人上周承诺执行情况。季度末把所有承诺卡归还学员，让他们自己对照成长。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3328416"/>
            <a:ext cx="3657600" cy="2304288"/>
          </a:xfrm>
          <a:prstGeom prst="roundRect">
            <a:avLst>
              <a:gd name="adj" fmla="val 3968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3328416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378ADD">
              <a:alpha val="86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32841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配套材料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3822192"/>
            <a:ext cx="3401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每模块需要提前准备：① 总监逐字稿（本PPT演讲者备注已包含）② 学员讲义A4单页 ③ 情景卡（印刷版）④ 内训师评分维度表。所有材料在课前1周完成。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3328416"/>
            <a:ext cx="3657600" cy="2304288"/>
          </a:xfrm>
          <a:prstGeom prst="roundRect">
            <a:avLst>
              <a:gd name="adj" fmla="val 3968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3328416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9FE1CB">
              <a:alpha val="86000"/>
            </a:srgbClr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32841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年度周期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0" y="3822192"/>
            <a:ext cx="34015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两个层级同步进行，各10个月完成M1-M10，11-12月做360°评估和IDP制定。实战推演模块（M9/M10）建议安排在有足够案例积累的第9-10个月。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 · 内训师使用指南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1828800"/>
            <a:ext cx="6400800" cy="6400800"/>
          </a:xfrm>
          <a:prstGeom prst="ellipse">
            <a:avLst/>
          </a:prstGeom>
          <a:solidFill>
            <a:srgbClr val="1D9E75">
              <a:alpha val="7000"/>
            </a:srgbClr>
          </a:solidFill>
          <a:ln w="635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-1371600"/>
            <a:ext cx="6400800" cy="6400800"/>
          </a:xfrm>
          <a:prstGeom prst="ellipse">
            <a:avLst/>
          </a:prstGeom>
          <a:solidFill>
            <a:srgbClr val="7F77DD">
              <a:alpha val="10000"/>
            </a:srgbClr>
          </a:solidFill>
          <a:ln w="6350">
            <a:solidFill>
              <a:srgbClr val="7F77DD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188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培训体系的终极目标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把CIM部门从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245059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被动救火的IT支持组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3822192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用数据和算法为晶圆厂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371600" y="4498848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挤出核心利润的数字化引擎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371600" y="5532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这个转变，从每周一小时 · 每张行为承诺卡 · 每一次不给答案开始。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半导体CIM管理者培训体系（完整版）· 内部资料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半导体CIM管理者培训体系（完整版）</dc:title>
  <dc:subject>PptxGenJS Presentation</dc:subject>
  <dc:creator>PptxGenJS</dc:creator>
  <cp:lastModifiedBy>PptxGenJS</cp:lastModifiedBy>
  <cp:revision>1</cp:revision>
  <dcterms:created xsi:type="dcterms:W3CDTF">2026-06-15T14:53:25Z</dcterms:created>
  <dcterms:modified xsi:type="dcterms:W3CDTF">2026-06-15T14:53:25Z</dcterms:modified>
</cp:coreProperties>
</file>