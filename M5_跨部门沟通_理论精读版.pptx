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封面页。本课程为理论精读型课件，强调跨部门信任建设框架的建立、论证与边界条件，不含互动讨论环节。建议授课时长50-60分钟，可作为模块五的正式讲授内容，区别于配套的实战工作坊材料。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用「双向挫败感」建立认知钩子，强调这不是态度问题而是结构性问题——两件事都可以被设计和改变。这个定调是后续所有内容的基础。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讲解语言共同体框架，建立全篇理论地基。重点强调「语义落差」不是信息量不足，而是编码框架不匹配——这个认知改变让「解决沟通问题」的路径从「多解释」变成「建立桥接层」。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本页是深度版的关键页，主动指出语义落差框架的误用边界。误用二（让Fab学CIM语言）是最常见的错误处理方式，要明确指出责任归属——语言适配是CIM主管的设计责任。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从社会交换理论角度拆解被动沟通的失效路径，给出三个具体机制。这三个机制将在第6页的案例中得到具象化验证，并在第7页的「三个主动机制」中得到系统性回应。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具象化第3-5页的理论。核心要点：案例A的CIM团队没有做错，但因为被动沟通，所有工作都是「不可见的」——这是信任建设的结构性障碍，不是意愿问题。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个核心框架。三个机制要逐一讲清楚「底层逻辑」——它们不是三个操作技巧，而是三种把「不可见工作」变成「可见正向交换」的系统性设计。后续第9-10页的案例将分别展示语言适配和故障透明的实际样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反例一（定期同步变成技术汇报）是最常见的实践偏差，要引导学员做自检：我发给Fab的定期简报，他们能不能不靠追问就完全理解对自己生产的影响？反例二（告警疲劳）对应第7页预警机制的触发阈值设计，需要有量化标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呼应第3-4页的语言共同体框架。这个案例要让学员自己判断：「如果我收到这两个版本的通知，我需要追问的次数有什么不同？」——让他们直接感受语言适配的实际效果差异。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呼应第7页故障透明机制。这个案例的关键数据：模式B比模式A多消耗了CIM约30分钟的时间（写三条进展更新），但换来的是Fab对CIM专业性的正面认知积累——这是信任资本最高效的建设方式之一。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误区一（技术好=信任）呼应第5页机制一（被动响应让工作不可见）。误区二（沟通是软技能）是M5课程价值定位的直接对应——要在这里明确说出「跨部门沟通不是软技能，是信任工程」。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误区三（对方催是添乱）呼应第10页案例——频繁追问是信息缺失的理性响应，解法是故障透明而不是让对方「少问」。误区四呼应第8页反例一（形式上的主动沟通=增加噪音）。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引入语言学概念增加理论厚度。核心是给学员一个具体的「桥接层词汇体系」——这四组替换关系是可以直接用于改进定期简报和故障通知语言的操作性工具，不只是理论概念。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个跨学科延伸概念（组织行为学）。核心价值是解释「为什么双方都不愿意主动暴露问题」——这不是坏意，而是面对不确定后果时的理性选择。打破循环的关键是CIM主管「先动」，通过故障透明建立「主动报告被鼓励」的协作规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收束全篇，呼应第2页的核心问题。结尾金句「技术能力决定你能做什么，沟通能力决定别人是否知道」是M5的核心价值表达，也和M1-M4形成了完整的认知升级链条：认知（M1）→判断（M2）→设计（M3）→边界（M4）→信任（M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【内训师诊断指引 · 不对学员展示】
场景一 —— 对应第3-4页语言共同体框架+第9页语言适配案例。
观察要点：回答是否真正完成了语言视角的转换——从「我们做了什么」转向「对你们有什么影响、需要你们做什么准备、有什么好处」。若通知以CIM工作内容为主体（「我们完成了XX系统的XX功能升级」），未翻译成Fab的业务影响语言，说明语言适配认知停留在理论层面，未能内化为写作行为。
场景二 —— 对应第7页故障透明机制+第10页案例对照三。
观察要点：这道题故意设计了「不确定」的信息状态来测试学员对故障透明时机的判断。理想回答应该选择「现在就通知」并给出第一条消息的内容（「发现异常，正在定位，预计30-60分钟有结论，期间三号产线自动派工可能受影响…」）。若学员选择「等定位清楚再通知」，说明仍停留在「出事了才联系」的被动模式——信息的价值在于及时而非完整，这是故障透明机制的核心逻辑。
场景三 —— 对应第8页反例一（定期同步变成CIM技术汇报）+第4页边界条件。
观察要点：理想回答应该首先自检「简报的语言是否真正做到了语言适配」，并提出具体的改进方向（询问Fab组长「你最需要知道的是什么信息」+重新设计简报格式）。若学员认为「Fab不看周报是因为他们不重视沟通，是对方的问题」，说明对语言适配责任归属的理解有偏差——语言适配是CIM主管的责任，不是Fab的责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【内训师诊断指引 · 不对学员展示】
场景四 —— 对应第3页语言共同体框架。
观察要点：理想回答应识别出工艺部和设备部的「业务关注维度」与制造部不同（工艺部更关注参数精度和工艺一致性，设备部更关注设备状态和PM窗口），并提出针对各自业务语言的适配方案，而非简单复制制造部的方案。若学员认为「三个机制对所有部门都适用，执行一套方案就行了」，说明对语言共同体理论的理解停留在「CIM vs 非CIM」的二元切分，未能识别Fab内部不同职能之间也存在语言差异——这是需要重点跟进的信号。
场景五 —— 对应第5页社会交换理论+第7-8页主动信任建设机制的定位边界。
观察要点：这道题刻意设计成「三个机制都执行了但对方还是生气」的场景，测试学员是否会对主动沟通机制过度期待。理想回答应识别出，主动沟通机制建立的是「协作信任」（信任你会告诉我正在发生什么），但不能消除因为系统故障本身带来的生产损失和合理不满——两者是不同维度的关系资本。Fab经理的生气是合理的，CIM不应该期待「因为沟通做得好所以对方不会对问题本身生气」。若学员认为「他们还是生气说明主动沟通没有用」，说明对主动沟通机制的作用边界理解有偏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1371600"/>
            <a:ext cx="0" cy="4206240"/>
          </a:xfrm>
          <a:prstGeom prst="line">
            <a:avLst/>
          </a:prstGeom>
          <a:noFill/>
          <a:ln w="19050">
            <a:solidFill>
              <a:srgbClr val="1B2A4A"/>
            </a:solidFill>
            <a:prstDash val="solid"/>
          </a:ln>
        </p:spPr>
      </p:sp>
      <p:sp>
        <p:nvSpPr>
          <p:cNvPr id="3" name="Text 1"/>
          <p:cNvSpPr/>
          <p:nvPr/>
        </p:nvSpPr>
        <p:spPr>
          <a:xfrm>
            <a:off x="1188720" y="1508760"/>
            <a:ext cx="9144000" cy="365760"/>
          </a:xfrm>
          <a:prstGeom prst="rect">
            <a:avLst/>
          </a:prstGeom>
          <a:noFill/>
          <a:ln/>
        </p:spPr>
        <p:txBody>
          <a:bodyPr wrap="square" rtlCol="0" anchor="ctr"/>
          <a:lstStyle/>
          <a:p>
            <a:pPr indent="0" marL="0">
              <a:buNone/>
            </a:pPr>
            <a:r>
              <a:rPr lang="en-US" sz="1300" b="1" spc="150" kern="0" dirty="0">
                <a:solidFill>
                  <a:srgbClr val="32436B"/>
                </a:solidFill>
                <a:latin typeface="Calibri" pitchFamily="34" charset="0"/>
                <a:ea typeface="Calibri" pitchFamily="34" charset="-122"/>
                <a:cs typeface="Calibri" pitchFamily="34" charset="-120"/>
              </a:rPr>
              <a:t>半导体CIM管理者认知课程</a:t>
            </a:r>
            <a:endParaRPr lang="en-US" sz="1300" dirty="0"/>
          </a:p>
        </p:txBody>
      </p:sp>
      <p:sp>
        <p:nvSpPr>
          <p:cNvPr id="4" name="Text 2"/>
          <p:cNvSpPr/>
          <p:nvPr/>
        </p:nvSpPr>
        <p:spPr>
          <a:xfrm>
            <a:off x="1188720" y="1920240"/>
            <a:ext cx="9144000" cy="411480"/>
          </a:xfrm>
          <a:prstGeom prst="rect">
            <a:avLst/>
          </a:prstGeom>
          <a:noFill/>
          <a:ln/>
        </p:spPr>
        <p:txBody>
          <a:bodyPr wrap="square" rtlCol="0" anchor="ctr"/>
          <a:lstStyle/>
          <a:p>
            <a:pPr indent="0" marL="0">
              <a:buNone/>
            </a:pPr>
            <a:r>
              <a:rPr lang="en-US" sz="1600" i="1" dirty="0">
                <a:solidFill>
                  <a:srgbClr val="9C5536"/>
                </a:solidFill>
                <a:latin typeface="Cambria" pitchFamily="34" charset="0"/>
                <a:ea typeface="Cambria" pitchFamily="34" charset="-122"/>
                <a:cs typeface="Cambria" pitchFamily="34" charset="-120"/>
              </a:rPr>
              <a:t>模块五</a:t>
            </a:r>
            <a:endParaRPr lang="en-US" sz="1600" dirty="0"/>
          </a:p>
        </p:txBody>
      </p:sp>
      <p:sp>
        <p:nvSpPr>
          <p:cNvPr id="5" name="Text 3"/>
          <p:cNvSpPr/>
          <p:nvPr/>
        </p:nvSpPr>
        <p:spPr>
          <a:xfrm>
            <a:off x="1188720" y="2468880"/>
            <a:ext cx="10058400" cy="868680"/>
          </a:xfrm>
          <a:prstGeom prst="rect">
            <a:avLst/>
          </a:prstGeom>
          <a:noFill/>
          <a:ln/>
        </p:spPr>
        <p:txBody>
          <a:bodyPr wrap="square" rtlCol="0" anchor="ctr"/>
          <a:lstStyle/>
          <a:p>
            <a:pPr indent="0" marL="0">
              <a:buNone/>
            </a:pPr>
            <a:r>
              <a:rPr lang="en-US" sz="4600" b="1" dirty="0">
                <a:solidFill>
                  <a:srgbClr val="1B2A4A"/>
                </a:solidFill>
                <a:latin typeface="Cambria" pitchFamily="34" charset="0"/>
                <a:ea typeface="Cambria" pitchFamily="34" charset="-122"/>
                <a:cs typeface="Cambria" pitchFamily="34" charset="-120"/>
              </a:rPr>
              <a:t>跨部门沟通：</a:t>
            </a:r>
            <a:endParaRPr lang="en-US" sz="4600" dirty="0"/>
          </a:p>
        </p:txBody>
      </p:sp>
      <p:sp>
        <p:nvSpPr>
          <p:cNvPr id="6" name="Text 4"/>
          <p:cNvSpPr/>
          <p:nvPr/>
        </p:nvSpPr>
        <p:spPr>
          <a:xfrm>
            <a:off x="1188720" y="3246120"/>
            <a:ext cx="10058400" cy="868680"/>
          </a:xfrm>
          <a:prstGeom prst="rect">
            <a:avLst/>
          </a:prstGeom>
          <a:noFill/>
          <a:ln/>
        </p:spPr>
        <p:txBody>
          <a:bodyPr wrap="square" rtlCol="0" anchor="ctr"/>
          <a:lstStyle/>
          <a:p>
            <a:pPr indent="0" marL="0">
              <a:buNone/>
            </a:pPr>
            <a:r>
              <a:rPr lang="en-US" sz="4600" b="1" dirty="0">
                <a:solidFill>
                  <a:srgbClr val="1B2A4A"/>
                </a:solidFill>
                <a:latin typeface="Cambria" pitchFamily="34" charset="0"/>
                <a:ea typeface="Cambria" pitchFamily="34" charset="-122"/>
                <a:cs typeface="Cambria" pitchFamily="34" charset="-120"/>
              </a:rPr>
              <a:t>与Fab建立信任</a:t>
            </a:r>
            <a:endParaRPr lang="en-US" sz="4600" dirty="0"/>
          </a:p>
        </p:txBody>
      </p:sp>
      <p:sp>
        <p:nvSpPr>
          <p:cNvPr id="7" name="Shape 5"/>
          <p:cNvSpPr/>
          <p:nvPr/>
        </p:nvSpPr>
        <p:spPr>
          <a:xfrm>
            <a:off x="1188720" y="4343400"/>
            <a:ext cx="4754880" cy="0"/>
          </a:xfrm>
          <a:prstGeom prst="line">
            <a:avLst/>
          </a:prstGeom>
          <a:noFill/>
          <a:ln w="12700">
            <a:solidFill>
              <a:srgbClr val="C7CDDB"/>
            </a:solidFill>
            <a:prstDash val="solid"/>
          </a:ln>
        </p:spPr>
      </p:sp>
      <p:sp>
        <p:nvSpPr>
          <p:cNvPr id="8" name="Text 6"/>
          <p:cNvSpPr/>
          <p:nvPr/>
        </p:nvSpPr>
        <p:spPr>
          <a:xfrm>
            <a:off x="1188720" y="4526280"/>
            <a:ext cx="8229600" cy="685800"/>
          </a:xfrm>
          <a:prstGeom prst="rect">
            <a:avLst/>
          </a:prstGeom>
          <a:noFill/>
          <a:ln/>
        </p:spPr>
        <p:txBody>
          <a:bodyPr wrap="square" rtlCol="0" anchor="ctr"/>
          <a:lstStyle/>
          <a:p>
            <a:pPr indent="0" marL="0">
              <a:buNone/>
            </a:pPr>
            <a:r>
              <a:rPr lang="en-US" sz="1400" i="1" dirty="0">
                <a:solidFill>
                  <a:srgbClr val="5B6270"/>
                </a:solidFill>
                <a:latin typeface="Calibri" pitchFamily="34" charset="0"/>
                <a:ea typeface="Calibri" pitchFamily="34" charset="-122"/>
                <a:cs typeface="Calibri" pitchFamily="34" charset="-120"/>
              </a:rPr>
              <a:t>一份关于跨部门信任建设的理论框架</a:t>
            </a:r>
            <a:endParaRPr lang="en-US" sz="1400" dirty="0"/>
          </a:p>
          <a:p>
            <a:pPr indent="0" marL="0">
              <a:buNone/>
            </a:pPr>
            <a:r>
              <a:rPr lang="en-US" sz="1400" i="1" dirty="0">
                <a:solidFill>
                  <a:srgbClr val="5B6270"/>
                </a:solidFill>
                <a:latin typeface="Calibri" pitchFamily="34" charset="0"/>
                <a:ea typeface="Calibri" pitchFamily="34" charset="-122"/>
                <a:cs typeface="Calibri" pitchFamily="34" charset="-120"/>
              </a:rPr>
              <a:t>写给7–9年经验、初次带队的技术主管</a:t>
            </a:r>
            <a:endParaRPr lang="en-US" sz="1400" dirty="0"/>
          </a:p>
        </p:txBody>
      </p:sp>
      <p:sp>
        <p:nvSpPr>
          <p:cNvPr id="9" name="Text 7"/>
          <p:cNvSpPr/>
          <p:nvPr/>
        </p:nvSpPr>
        <p:spPr>
          <a:xfrm>
            <a:off x="1188720" y="6126480"/>
            <a:ext cx="5486400" cy="274320"/>
          </a:xfrm>
          <a:prstGeom prst="rect">
            <a:avLst/>
          </a:prstGeom>
          <a:noFill/>
          <a:ln/>
        </p:spPr>
        <p:txBody>
          <a:bodyPr wrap="square" rtlCol="0" anchor="ctr"/>
          <a:lstStyle/>
          <a:p>
            <a:pPr indent="0" marL="0">
              <a:buNone/>
            </a:pPr>
            <a:r>
              <a:rPr lang="en-US" sz="1000" dirty="0">
                <a:solidFill>
                  <a:srgbClr val="5B6270"/>
                </a:solidFill>
                <a:latin typeface="Calibri" pitchFamily="34" charset="0"/>
                <a:ea typeface="Calibri" pitchFamily="34" charset="-122"/>
                <a:cs typeface="Calibri" pitchFamily="34" charset="-120"/>
              </a:rPr>
              <a:t>理论精读版 · 全17讲</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模块五 · 跨部门沟通</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现象与问题</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为什么CIM和Fab之间总是「鸡同鸭讲」</a:t>
            </a:r>
            <a:endParaRPr lang="en-US" sz="2700" dirty="0"/>
          </a:p>
        </p:txBody>
      </p:sp>
      <p:sp>
        <p:nvSpPr>
          <p:cNvPr id="6" name="Text 4"/>
          <p:cNvSpPr/>
          <p:nvPr/>
        </p:nvSpPr>
        <p:spPr>
          <a:xfrm>
            <a:off x="548640" y="1691640"/>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〔观察一〕</a:t>
            </a:r>
            <a:endParaRPr lang="en-US" sz="1100" dirty="0"/>
          </a:p>
        </p:txBody>
      </p:sp>
      <p:sp>
        <p:nvSpPr>
          <p:cNvPr id="7" name="Text 5"/>
          <p:cNvSpPr/>
          <p:nvPr/>
        </p:nvSpPr>
        <p:spPr>
          <a:xfrm>
            <a:off x="548640" y="1965960"/>
            <a:ext cx="10881360" cy="320040"/>
          </a:xfrm>
          <a:prstGeom prst="rect">
            <a:avLst/>
          </a:prstGeom>
          <a:noFill/>
          <a:ln/>
        </p:spPr>
        <p:txBody>
          <a:bodyPr wrap="square" rtlCol="0" anchor="ctr"/>
          <a:lstStyle/>
          <a:p>
            <a:pPr indent="0" marL="0">
              <a:buNone/>
            </a:pPr>
            <a:r>
              <a:rPr lang="en-US" sz="1500" b="1" dirty="0">
                <a:solidFill>
                  <a:srgbClr val="32436B"/>
                </a:solidFill>
                <a:latin typeface="Calibri" pitchFamily="34" charset="0"/>
                <a:ea typeface="Calibri" pitchFamily="34" charset="-122"/>
                <a:cs typeface="Calibri" pitchFamily="34" charset="-120"/>
              </a:rPr>
              <a:t>技术能力强，不代表沟通有效</a:t>
            </a:r>
            <a:endParaRPr lang="en-US" sz="1500" dirty="0"/>
          </a:p>
        </p:txBody>
      </p:sp>
      <p:sp>
        <p:nvSpPr>
          <p:cNvPr id="8" name="Text 6"/>
          <p:cNvSpPr/>
          <p:nvPr/>
        </p:nvSpPr>
        <p:spPr>
          <a:xfrm>
            <a:off x="548640" y="2304288"/>
            <a:ext cx="10881360" cy="822960"/>
          </a:xfrm>
          <a:prstGeom prst="rect">
            <a:avLst/>
          </a:prstGeom>
          <a:noFill/>
          <a:ln/>
        </p:spPr>
        <p:txBody>
          <a:bodyPr wrap="square" rtlCol="0" anchor="ctr"/>
          <a:lstStyle/>
          <a:p>
            <a:pPr indent="0" marL="0">
              <a:lnSpc>
                <a:spcPct val="125000"/>
              </a:lnSpc>
              <a:buNone/>
            </a:pPr>
            <a:r>
              <a:rPr lang="en-US" sz="1250" dirty="0">
                <a:solidFill>
                  <a:srgbClr val="2B2F36"/>
                </a:solidFill>
                <a:latin typeface="Calibri" pitchFamily="34" charset="0"/>
                <a:ea typeface="Calibri" pitchFamily="34" charset="-122"/>
                <a:cs typeface="Calibri" pitchFamily="34" charset="-120"/>
              </a:rPr>
              <a:t>在日常与Fab（制造）、工艺、设备团队的协作中，一个极为普遍的现象是：CIM工程师说的话，对方听不懂；对方提的需求，CIM工程师觉得表达不清楚。更糟糕的是，双方都感觉「我已经说清楚了，是对方不认真听」。这种相互的挫败感在工厂里几乎是常态，而不是例外。</a:t>
            </a:r>
            <a:endParaRPr lang="en-US" sz="1250" dirty="0"/>
          </a:p>
        </p:txBody>
      </p:sp>
      <p:sp>
        <p:nvSpPr>
          <p:cNvPr id="9" name="Text 7"/>
          <p:cNvSpPr/>
          <p:nvPr/>
        </p:nvSpPr>
        <p:spPr>
          <a:xfrm>
            <a:off x="548640" y="3255264"/>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〔观察二〕</a:t>
            </a:r>
            <a:endParaRPr lang="en-US" sz="1100" dirty="0"/>
          </a:p>
        </p:txBody>
      </p:sp>
      <p:sp>
        <p:nvSpPr>
          <p:cNvPr id="10" name="Text 8"/>
          <p:cNvSpPr/>
          <p:nvPr/>
        </p:nvSpPr>
        <p:spPr>
          <a:xfrm>
            <a:off x="548640" y="3529584"/>
            <a:ext cx="10881360" cy="320040"/>
          </a:xfrm>
          <a:prstGeom prst="rect">
            <a:avLst/>
          </a:prstGeom>
          <a:noFill/>
          <a:ln/>
        </p:spPr>
        <p:txBody>
          <a:bodyPr wrap="square" rtlCol="0" anchor="ctr"/>
          <a:lstStyle/>
          <a:p>
            <a:pPr indent="0" marL="0">
              <a:buNone/>
            </a:pPr>
            <a:r>
              <a:rPr lang="en-US" sz="1500" b="1" dirty="0">
                <a:solidFill>
                  <a:srgbClr val="32436B"/>
                </a:solidFill>
                <a:latin typeface="Calibri" pitchFamily="34" charset="0"/>
                <a:ea typeface="Calibri" pitchFamily="34" charset="-122"/>
                <a:cs typeface="Calibri" pitchFamily="34" charset="-120"/>
              </a:rPr>
              <a:t>信任从来没有被建立起来</a:t>
            </a:r>
            <a:endParaRPr lang="en-US" sz="1500" dirty="0"/>
          </a:p>
        </p:txBody>
      </p:sp>
      <p:sp>
        <p:nvSpPr>
          <p:cNvPr id="11" name="Text 9"/>
          <p:cNvSpPr/>
          <p:nvPr/>
        </p:nvSpPr>
        <p:spPr>
          <a:xfrm>
            <a:off x="548640" y="3867912"/>
            <a:ext cx="10881360" cy="914400"/>
          </a:xfrm>
          <a:prstGeom prst="rect">
            <a:avLst/>
          </a:prstGeom>
          <a:noFill/>
          <a:ln/>
        </p:spPr>
        <p:txBody>
          <a:bodyPr wrap="square" rtlCol="0" anchor="ctr"/>
          <a:lstStyle/>
          <a:p>
            <a:pPr indent="0" marL="0">
              <a:lnSpc>
                <a:spcPct val="125000"/>
              </a:lnSpc>
              <a:buNone/>
            </a:pPr>
            <a:r>
              <a:rPr lang="en-US" sz="1250" dirty="0">
                <a:solidFill>
                  <a:srgbClr val="2B2F36"/>
                </a:solidFill>
                <a:latin typeface="Calibri" pitchFamily="34" charset="0"/>
                <a:ea typeface="Calibri" pitchFamily="34" charset="-122"/>
                <a:cs typeface="Calibri" pitchFamily="34" charset="-120"/>
              </a:rPr>
              <a:t>在很多Fab工厂中，制造部对CIM团队的典型印象是：「他们很厉害，但你不知道他们在做什么，出了事才知道」。CIM团队对制造部的典型印象是：「他们提的需求总是说不清楚，又急，又不懂技术限制」。这两种印象的并存，说明双方之间的信任关系从来没有被主动设计和建立过——它被默认成了「靠时间慢慢培养」的东西，而实际上从来没有真正发生。</a:t>
            </a:r>
            <a:endParaRPr lang="en-US" sz="1250" dirty="0"/>
          </a:p>
        </p:txBody>
      </p:sp>
      <p:sp>
        <p:nvSpPr>
          <p:cNvPr id="12" name="Shape 10"/>
          <p:cNvSpPr/>
          <p:nvPr/>
        </p:nvSpPr>
        <p:spPr>
          <a:xfrm>
            <a:off x="548640" y="4919472"/>
            <a:ext cx="0" cy="1207008"/>
          </a:xfrm>
          <a:prstGeom prst="line">
            <a:avLst/>
          </a:prstGeom>
          <a:noFill/>
          <a:ln w="38100">
            <a:solidFill>
              <a:srgbClr val="9C5536"/>
            </a:solidFill>
            <a:prstDash val="solid"/>
          </a:ln>
        </p:spPr>
      </p:sp>
      <p:sp>
        <p:nvSpPr>
          <p:cNvPr id="13" name="Text 11"/>
          <p:cNvSpPr/>
          <p:nvPr/>
        </p:nvSpPr>
        <p:spPr>
          <a:xfrm>
            <a:off x="777240" y="4919472"/>
            <a:ext cx="274320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核心问题</a:t>
            </a:r>
            <a:endParaRPr lang="en-US" sz="1100" dirty="0"/>
          </a:p>
        </p:txBody>
      </p:sp>
      <p:sp>
        <p:nvSpPr>
          <p:cNvPr id="14" name="Text 12"/>
          <p:cNvSpPr/>
          <p:nvPr/>
        </p:nvSpPr>
        <p:spPr>
          <a:xfrm>
            <a:off x="777240" y="5221224"/>
            <a:ext cx="10424160" cy="841248"/>
          </a:xfrm>
          <a:prstGeom prst="rect">
            <a:avLst/>
          </a:prstGeom>
          <a:noFill/>
          <a:ln/>
        </p:spPr>
        <p:txBody>
          <a:bodyPr wrap="square" rtlCol="0" anchor="ctr"/>
          <a:lstStyle/>
          <a:p>
            <a:pPr indent="0" marL="0">
              <a:lnSpc>
                <a:spcPct val="130000"/>
              </a:lnSpc>
              <a:buNone/>
            </a:pPr>
            <a:r>
              <a:rPr lang="en-US" sz="1500" i="1" dirty="0">
                <a:solidFill>
                  <a:srgbClr val="1B2A4A"/>
                </a:solidFill>
                <a:latin typeface="Cambria" pitchFamily="34" charset="0"/>
                <a:ea typeface="Cambria" pitchFamily="34" charset="-122"/>
                <a:cs typeface="Cambria" pitchFamily="34" charset="-120"/>
              </a:rPr>
              <a:t>CIM和Fab之间的沟通困境，根源不在于沟通意愿，而在于两件可以被设计和改变的事：语言系统的不匹配，以及信任建设机制的缺失。</a:t>
            </a:r>
            <a:endParaRPr lang="en-US" sz="1500" dirty="0"/>
          </a:p>
        </p:txBody>
      </p:sp>
      <p:sp>
        <p:nvSpPr>
          <p:cNvPr id="15" name="Shape 13"/>
          <p:cNvSpPr/>
          <p:nvPr/>
        </p:nvSpPr>
        <p:spPr>
          <a:xfrm>
            <a:off x="548640" y="6446520"/>
            <a:ext cx="11091672" cy="0"/>
          </a:xfrm>
          <a:prstGeom prst="line">
            <a:avLst/>
          </a:prstGeom>
          <a:noFill/>
          <a:ln w="9525">
            <a:solidFill>
              <a:srgbClr val="C7CDDB"/>
            </a:solidFill>
            <a:prstDash val="solid"/>
          </a:ln>
        </p:spPr>
      </p:sp>
      <p:sp>
        <p:nvSpPr>
          <p:cNvPr id="16" name="Text 14"/>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现象与问题</a:t>
            </a:r>
            <a:endParaRPr lang="en-US" sz="900" dirty="0"/>
          </a:p>
        </p:txBody>
      </p:sp>
      <p:sp>
        <p:nvSpPr>
          <p:cNvPr id="17" name="Text 15"/>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2 / 17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模块五 · 跨部门沟通</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理论框架一 · 提出</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「鸡同鸭讲」的结构性根源</a:t>
            </a:r>
            <a:endParaRPr lang="en-US" sz="2700" dirty="0"/>
          </a:p>
        </p:txBody>
      </p:sp>
      <p:sp>
        <p:nvSpPr>
          <p:cNvPr id="6" name="Text 4"/>
          <p:cNvSpPr/>
          <p:nvPr/>
        </p:nvSpPr>
        <p:spPr>
          <a:xfrm>
            <a:off x="548640" y="1691640"/>
            <a:ext cx="10881360" cy="640080"/>
          </a:xfrm>
          <a:prstGeom prst="rect">
            <a:avLst/>
          </a:prstGeom>
          <a:noFill/>
          <a:ln/>
        </p:spPr>
        <p:txBody>
          <a:bodyPr wrap="square" rtlCol="0" anchor="ctr"/>
          <a:lstStyle/>
          <a:p>
            <a:pPr indent="0" marL="0">
              <a:lnSpc>
                <a:spcPct val="128000"/>
              </a:lnSpc>
              <a:buNone/>
            </a:pPr>
            <a:r>
              <a:rPr lang="en-US" sz="1280" dirty="0">
                <a:solidFill>
                  <a:srgbClr val="2B2F36"/>
                </a:solidFill>
                <a:latin typeface="Calibri" pitchFamily="34" charset="0"/>
                <a:ea typeface="Calibri" pitchFamily="34" charset="-122"/>
                <a:cs typeface="Calibri" pitchFamily="34" charset="-120"/>
              </a:rPr>
              <a:t>语言学中有一个重要概念：语言共同体（Speech Community）。不同的职业群体会发展出各自的专业语言系统——不只是术语的不同，更是对同一类现象的分类方式、描述框架、关注维度的系统性差异。</a:t>
            </a:r>
            <a:endParaRPr lang="en-US" sz="1280" dirty="0"/>
          </a:p>
        </p:txBody>
      </p:sp>
      <p:sp>
        <p:nvSpPr>
          <p:cNvPr id="7" name="Text 5"/>
          <p:cNvSpPr/>
          <p:nvPr/>
        </p:nvSpPr>
        <p:spPr>
          <a:xfrm>
            <a:off x="548640" y="2487168"/>
            <a:ext cx="5257800" cy="292608"/>
          </a:xfrm>
          <a:prstGeom prst="rect">
            <a:avLst/>
          </a:prstGeom>
          <a:noFill/>
          <a:ln/>
        </p:spPr>
        <p:txBody>
          <a:bodyPr wrap="square" rtlCol="0" anchor="ctr"/>
          <a:lstStyle/>
          <a:p>
            <a:pPr indent="0" marL="0">
              <a:buNone/>
            </a:pPr>
            <a:r>
              <a:rPr lang="en-US" sz="1300" b="1" dirty="0">
                <a:solidFill>
                  <a:srgbClr val="32436B"/>
                </a:solidFill>
                <a:latin typeface="Calibri" pitchFamily="34" charset="0"/>
                <a:ea typeface="Calibri" pitchFamily="34" charset="-122"/>
                <a:cs typeface="Calibri" pitchFamily="34" charset="-120"/>
              </a:rPr>
              <a:t>CIM语言共同体</a:t>
            </a:r>
            <a:endParaRPr lang="en-US" sz="1300" dirty="0"/>
          </a:p>
        </p:txBody>
      </p:sp>
      <p:sp>
        <p:nvSpPr>
          <p:cNvPr id="8" name="Shape 6"/>
          <p:cNvSpPr/>
          <p:nvPr/>
        </p:nvSpPr>
        <p:spPr>
          <a:xfrm>
            <a:off x="548640" y="2834640"/>
            <a:ext cx="5257800" cy="0"/>
          </a:xfrm>
          <a:prstGeom prst="line">
            <a:avLst/>
          </a:prstGeom>
          <a:noFill/>
          <a:ln w="12700">
            <a:solidFill>
              <a:srgbClr val="E3E7EF"/>
            </a:solidFill>
            <a:prstDash val="solid"/>
          </a:ln>
        </p:spPr>
      </p:sp>
      <p:sp>
        <p:nvSpPr>
          <p:cNvPr id="9" name="Text 7"/>
          <p:cNvSpPr/>
          <p:nvPr/>
        </p:nvSpPr>
        <p:spPr>
          <a:xfrm>
            <a:off x="548640" y="2944368"/>
            <a:ext cx="5257800" cy="1005840"/>
          </a:xfrm>
          <a:prstGeom prst="rect">
            <a:avLst/>
          </a:prstGeom>
          <a:noFill/>
          <a:ln/>
        </p:spPr>
        <p:txBody>
          <a:bodyPr wrap="square" rtlCol="0" anchor="ctr"/>
          <a:lstStyle/>
          <a:p>
            <a:pPr indent="0" marL="0">
              <a:lnSpc>
                <a:spcPct val="128000"/>
              </a:lnSpc>
              <a:buNone/>
            </a:pPr>
            <a:r>
              <a:rPr lang="en-US" sz="1200" dirty="0">
                <a:solidFill>
                  <a:srgbClr val="2B2F36"/>
                </a:solidFill>
                <a:latin typeface="Calibri" pitchFamily="34" charset="0"/>
                <a:ea typeface="Calibri" pitchFamily="34" charset="-122"/>
                <a:cs typeface="Calibri" pitchFamily="34" charset="-120"/>
              </a:rPr>
              <a:t>关注：系统状态、逻辑流转、接口协议、异常处理路径</a:t>
            </a:r>
            <a:endParaRPr lang="en-US" sz="1200" dirty="0"/>
          </a:p>
          <a:p>
            <a:pPr indent="0" marL="0">
              <a:lnSpc>
                <a:spcPct val="128000"/>
              </a:lnSpc>
              <a:buNone/>
            </a:pPr>
            <a:r>
              <a:rPr lang="en-US" sz="1200" dirty="0">
                <a:solidFill>
                  <a:srgbClr val="2B2F36"/>
                </a:solidFill>
                <a:latin typeface="Calibri" pitchFamily="34" charset="0"/>
                <a:ea typeface="Calibri" pitchFamily="34" charset="-122"/>
                <a:cs typeface="Calibri" pitchFamily="34" charset="-120"/>
              </a:rPr>
              <a:t>描述：「哪个模块的哪个逻辑出了什么类型的错误」</a:t>
            </a:r>
            <a:endParaRPr lang="en-US" sz="1200" dirty="0"/>
          </a:p>
          <a:p>
            <a:pPr indent="0" marL="0">
              <a:lnSpc>
                <a:spcPct val="128000"/>
              </a:lnSpc>
              <a:buNone/>
            </a:pPr>
            <a:r>
              <a:rPr lang="en-US" sz="1200" dirty="0">
                <a:solidFill>
                  <a:srgbClr val="2B2F36"/>
                </a:solidFill>
                <a:latin typeface="Calibri" pitchFamily="34" charset="0"/>
                <a:ea typeface="Calibri" pitchFamily="34" charset="-122"/>
                <a:cs typeface="Calibri" pitchFamily="34" charset="-120"/>
              </a:rPr>
              <a:t>时间单位：系统响应时间、处理队列长度、并发冲突频率</a:t>
            </a:r>
            <a:endParaRPr lang="en-US" sz="1200" dirty="0"/>
          </a:p>
        </p:txBody>
      </p:sp>
      <p:sp>
        <p:nvSpPr>
          <p:cNvPr id="10" name="Shape 8"/>
          <p:cNvSpPr/>
          <p:nvPr/>
        </p:nvSpPr>
        <p:spPr>
          <a:xfrm>
            <a:off x="6080760" y="2487168"/>
            <a:ext cx="0" cy="2286000"/>
          </a:xfrm>
          <a:prstGeom prst="line">
            <a:avLst/>
          </a:prstGeom>
          <a:noFill/>
          <a:ln w="12700">
            <a:solidFill>
              <a:srgbClr val="E3E7EF"/>
            </a:solidFill>
            <a:prstDash val="solid"/>
          </a:ln>
        </p:spPr>
      </p:sp>
      <p:sp>
        <p:nvSpPr>
          <p:cNvPr id="11" name="Text 9"/>
          <p:cNvSpPr/>
          <p:nvPr/>
        </p:nvSpPr>
        <p:spPr>
          <a:xfrm>
            <a:off x="6519672" y="2487168"/>
            <a:ext cx="5257800" cy="292608"/>
          </a:xfrm>
          <a:prstGeom prst="rect">
            <a:avLst/>
          </a:prstGeom>
          <a:noFill/>
          <a:ln/>
        </p:spPr>
        <p:txBody>
          <a:bodyPr wrap="square" rtlCol="0" anchor="ctr"/>
          <a:lstStyle/>
          <a:p>
            <a:pPr indent="0" marL="0">
              <a:buNone/>
            </a:pPr>
            <a:r>
              <a:rPr lang="en-US" sz="1300" b="1" dirty="0">
                <a:solidFill>
                  <a:srgbClr val="32436B"/>
                </a:solidFill>
                <a:latin typeface="Calibri" pitchFamily="34" charset="0"/>
                <a:ea typeface="Calibri" pitchFamily="34" charset="-122"/>
                <a:cs typeface="Calibri" pitchFamily="34" charset="-120"/>
              </a:rPr>
              <a:t>Fab语言共同体</a:t>
            </a:r>
            <a:endParaRPr lang="en-US" sz="1300" dirty="0"/>
          </a:p>
        </p:txBody>
      </p:sp>
      <p:sp>
        <p:nvSpPr>
          <p:cNvPr id="12" name="Shape 10"/>
          <p:cNvSpPr/>
          <p:nvPr/>
        </p:nvSpPr>
        <p:spPr>
          <a:xfrm>
            <a:off x="6519672" y="2834640"/>
            <a:ext cx="5257800" cy="0"/>
          </a:xfrm>
          <a:prstGeom prst="line">
            <a:avLst/>
          </a:prstGeom>
          <a:noFill/>
          <a:ln w="12700">
            <a:solidFill>
              <a:srgbClr val="E3E7EF"/>
            </a:solidFill>
            <a:prstDash val="solid"/>
          </a:ln>
        </p:spPr>
      </p:sp>
      <p:sp>
        <p:nvSpPr>
          <p:cNvPr id="13" name="Text 11"/>
          <p:cNvSpPr/>
          <p:nvPr/>
        </p:nvSpPr>
        <p:spPr>
          <a:xfrm>
            <a:off x="6519672" y="2944368"/>
            <a:ext cx="5257800" cy="1005840"/>
          </a:xfrm>
          <a:prstGeom prst="rect">
            <a:avLst/>
          </a:prstGeom>
          <a:noFill/>
          <a:ln/>
        </p:spPr>
        <p:txBody>
          <a:bodyPr wrap="square" rtlCol="0" anchor="ctr"/>
          <a:lstStyle/>
          <a:p>
            <a:pPr indent="0" marL="0">
              <a:lnSpc>
                <a:spcPct val="128000"/>
              </a:lnSpc>
              <a:buNone/>
            </a:pPr>
            <a:r>
              <a:rPr lang="en-US" sz="1200" dirty="0">
                <a:solidFill>
                  <a:srgbClr val="2B2F36"/>
                </a:solidFill>
                <a:latin typeface="Calibri" pitchFamily="34" charset="0"/>
                <a:ea typeface="Calibri" pitchFamily="34" charset="-122"/>
                <a:cs typeface="Calibri" pitchFamily="34" charset="-120"/>
              </a:rPr>
              <a:t>关注：批次状态、产线节拍、设备利用率、良率影响</a:t>
            </a:r>
            <a:endParaRPr lang="en-US" sz="1200" dirty="0"/>
          </a:p>
          <a:p>
            <a:pPr indent="0" marL="0">
              <a:lnSpc>
                <a:spcPct val="128000"/>
              </a:lnSpc>
              <a:buNone/>
            </a:pPr>
            <a:r>
              <a:rPr lang="en-US" sz="1200" dirty="0">
                <a:solidFill>
                  <a:srgbClr val="2B2F36"/>
                </a:solidFill>
                <a:latin typeface="Calibri" pitchFamily="34" charset="0"/>
                <a:ea typeface="Calibri" pitchFamily="34" charset="-122"/>
                <a:cs typeface="Calibri" pitchFamily="34" charset="-120"/>
              </a:rPr>
              <a:t>描述：「这批片子什么时候能过、哪里卡住了、会不会报废」</a:t>
            </a:r>
            <a:endParaRPr lang="en-US" sz="1200" dirty="0"/>
          </a:p>
          <a:p>
            <a:pPr indent="0" marL="0">
              <a:lnSpc>
                <a:spcPct val="128000"/>
              </a:lnSpc>
              <a:buNone/>
            </a:pPr>
            <a:r>
              <a:rPr lang="en-US" sz="1200" dirty="0">
                <a:solidFill>
                  <a:srgbClr val="2B2F36"/>
                </a:solidFill>
                <a:latin typeface="Calibri" pitchFamily="34" charset="0"/>
                <a:ea typeface="Calibri" pitchFamily="34" charset="-122"/>
                <a:cs typeface="Calibri" pitchFamily="34" charset="-120"/>
              </a:rPr>
              <a:t>时间单位：这班能不能完成、交期会不会延误</a:t>
            </a:r>
            <a:endParaRPr lang="en-US" sz="1200" dirty="0"/>
          </a:p>
        </p:txBody>
      </p:sp>
      <p:sp>
        <p:nvSpPr>
          <p:cNvPr id="14" name="Shape 12"/>
          <p:cNvSpPr/>
          <p:nvPr/>
        </p:nvSpPr>
        <p:spPr>
          <a:xfrm>
            <a:off x="548640" y="4937760"/>
            <a:ext cx="0" cy="1298448"/>
          </a:xfrm>
          <a:prstGeom prst="line">
            <a:avLst/>
          </a:prstGeom>
          <a:noFill/>
          <a:ln w="38100">
            <a:solidFill>
              <a:srgbClr val="9C5536"/>
            </a:solidFill>
            <a:prstDash val="solid"/>
          </a:ln>
        </p:spPr>
      </p:sp>
      <p:sp>
        <p:nvSpPr>
          <p:cNvPr id="15" name="Text 13"/>
          <p:cNvSpPr/>
          <p:nvPr/>
        </p:nvSpPr>
        <p:spPr>
          <a:xfrm>
            <a:off x="777240" y="4937760"/>
            <a:ext cx="365760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语义落差的本质</a:t>
            </a:r>
            <a:endParaRPr lang="en-US" sz="1100" dirty="0"/>
          </a:p>
        </p:txBody>
      </p:sp>
      <p:sp>
        <p:nvSpPr>
          <p:cNvPr id="16" name="Text 14"/>
          <p:cNvSpPr/>
          <p:nvPr/>
        </p:nvSpPr>
        <p:spPr>
          <a:xfrm>
            <a:off x="777240" y="5239512"/>
            <a:ext cx="10424160" cy="960120"/>
          </a:xfrm>
          <a:prstGeom prst="rect">
            <a:avLst/>
          </a:prstGeom>
          <a:noFill/>
          <a:ln/>
        </p:spPr>
        <p:txBody>
          <a:bodyPr wrap="square" rtlCol="0" anchor="ctr"/>
          <a:lstStyle/>
          <a:p>
            <a:pPr indent="0" marL="0">
              <a:lnSpc>
                <a:spcPct val="130000"/>
              </a:lnSpc>
              <a:buNone/>
            </a:pPr>
            <a:r>
              <a:rPr lang="en-US" sz="1300" i="1" dirty="0">
                <a:solidFill>
                  <a:srgbClr val="1B2A4A"/>
                </a:solidFill>
                <a:latin typeface="Cambria" pitchFamily="34" charset="0"/>
                <a:ea typeface="Cambria" pitchFamily="34" charset="-122"/>
                <a:cs typeface="Cambria" pitchFamily="34" charset="-120"/>
              </a:rPr>
              <a:t>不是信息量不够，而是编码框架不同——同一个事件被用两套完全不同的框架描述，接收者必须先完成一次「翻译」才能理解，而这次翻译通常是不完整的、有损耗的。</a:t>
            </a:r>
            <a:endParaRPr lang="en-US" sz="1300" dirty="0"/>
          </a:p>
        </p:txBody>
      </p:sp>
      <p:sp>
        <p:nvSpPr>
          <p:cNvPr id="17" name="Shape 15"/>
          <p:cNvSpPr/>
          <p:nvPr/>
        </p:nvSpPr>
        <p:spPr>
          <a:xfrm>
            <a:off x="548640" y="6446520"/>
            <a:ext cx="11091672" cy="0"/>
          </a:xfrm>
          <a:prstGeom prst="line">
            <a:avLst/>
          </a:prstGeom>
          <a:noFill/>
          <a:ln w="9525">
            <a:solidFill>
              <a:srgbClr val="C7CDDB"/>
            </a:solidFill>
            <a:prstDash val="solid"/>
          </a:ln>
        </p:spPr>
      </p:sp>
      <p:sp>
        <p:nvSpPr>
          <p:cNvPr id="18" name="Text 16"/>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理论框架一 · 提出</a:t>
            </a:r>
            <a:endParaRPr lang="en-US" sz="900" dirty="0"/>
          </a:p>
        </p:txBody>
      </p:sp>
      <p:sp>
        <p:nvSpPr>
          <p:cNvPr id="19" name="Text 17"/>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3 / 17</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模块五 · 跨部门沟通</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理论框架一 · 边界与反例</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语义落差不能靠「说清楚一点」来解决</a:t>
            </a:r>
            <a:endParaRPr lang="en-US" sz="2700" dirty="0"/>
          </a:p>
        </p:txBody>
      </p:sp>
      <p:sp>
        <p:nvSpPr>
          <p:cNvPr id="6" name="Text 4"/>
          <p:cNvSpPr/>
          <p:nvPr/>
        </p:nvSpPr>
        <p:spPr>
          <a:xfrm>
            <a:off x="548640" y="169164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〔误用一〕</a:t>
            </a:r>
            <a:endParaRPr lang="en-US" sz="1100" dirty="0"/>
          </a:p>
        </p:txBody>
      </p:sp>
      <p:sp>
        <p:nvSpPr>
          <p:cNvPr id="7" name="Text 5"/>
          <p:cNvSpPr/>
          <p:nvPr/>
        </p:nvSpPr>
        <p:spPr>
          <a:xfrm>
            <a:off x="548640" y="1984248"/>
            <a:ext cx="10881360" cy="365760"/>
          </a:xfrm>
          <a:prstGeom prst="rect">
            <a:avLst/>
          </a:prstGeom>
          <a:noFill/>
          <a:ln/>
        </p:spPr>
        <p:txBody>
          <a:bodyPr wrap="square" rtlCol="0" anchor="ctr"/>
          <a:lstStyle/>
          <a:p>
            <a:pPr indent="0" marL="0">
              <a:buNone/>
            </a:pPr>
            <a:r>
              <a:rPr lang="en-US" sz="1450" b="1" dirty="0">
                <a:solidFill>
                  <a:srgbClr val="32436B"/>
                </a:solidFill>
                <a:latin typeface="Calibri" pitchFamily="34" charset="0"/>
                <a:ea typeface="Calibri" pitchFamily="34" charset="-122"/>
                <a:cs typeface="Calibri" pitchFamily="34" charset="-120"/>
              </a:rPr>
              <a:t>把「对方听不懂」归因于对方不够认真</a:t>
            </a:r>
            <a:endParaRPr lang="en-US" sz="1450" dirty="0"/>
          </a:p>
        </p:txBody>
      </p:sp>
      <p:sp>
        <p:nvSpPr>
          <p:cNvPr id="8" name="Text 6"/>
          <p:cNvSpPr/>
          <p:nvPr/>
        </p:nvSpPr>
        <p:spPr>
          <a:xfrm>
            <a:off x="548640" y="2368296"/>
            <a:ext cx="10881360" cy="914400"/>
          </a:xfrm>
          <a:prstGeom prst="rect">
            <a:avLst/>
          </a:prstGeom>
          <a:noFill/>
          <a:ln/>
        </p:spPr>
        <p:txBody>
          <a:bodyPr wrap="square" rtlCol="0" anchor="ctr"/>
          <a:lstStyle/>
          <a:p>
            <a:pPr indent="0" marL="0">
              <a:lnSpc>
                <a:spcPct val="128000"/>
              </a:lnSpc>
              <a:buNone/>
            </a:pPr>
            <a:r>
              <a:rPr lang="en-US" sz="1250" dirty="0">
                <a:solidFill>
                  <a:srgbClr val="2B2F36"/>
                </a:solidFill>
                <a:latin typeface="Calibri" pitchFamily="34" charset="0"/>
                <a:ea typeface="Calibri" pitchFamily="34" charset="-122"/>
                <a:cs typeface="Calibri" pitchFamily="34" charset="-120"/>
              </a:rPr>
              <a:t>这种归因忽略了语义落差的结构性本质。当一名制造部的班长无法理解「Q-Time窗口超限」这个表达时，这不是因为他不认真，而是因为他的工作框架中根本没有这个概念的位置——他关心的是「这批片子会不会报废」，这个关切是完全合理的，只是表达形式和CIM的语言系统不在同一个框架内。</a:t>
            </a:r>
            <a:endParaRPr lang="en-US" sz="1250" dirty="0"/>
          </a:p>
        </p:txBody>
      </p:sp>
      <p:sp>
        <p:nvSpPr>
          <p:cNvPr id="9" name="Text 7"/>
          <p:cNvSpPr/>
          <p:nvPr/>
        </p:nvSpPr>
        <p:spPr>
          <a:xfrm>
            <a:off x="548640" y="347472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〔误用二〕</a:t>
            </a:r>
            <a:endParaRPr lang="en-US" sz="1100" dirty="0"/>
          </a:p>
        </p:txBody>
      </p:sp>
      <p:sp>
        <p:nvSpPr>
          <p:cNvPr id="10" name="Text 8"/>
          <p:cNvSpPr/>
          <p:nvPr/>
        </p:nvSpPr>
        <p:spPr>
          <a:xfrm>
            <a:off x="548640" y="3767328"/>
            <a:ext cx="10881360" cy="365760"/>
          </a:xfrm>
          <a:prstGeom prst="rect">
            <a:avLst/>
          </a:prstGeom>
          <a:noFill/>
          <a:ln/>
        </p:spPr>
        <p:txBody>
          <a:bodyPr wrap="square" rtlCol="0" anchor="ctr"/>
          <a:lstStyle/>
          <a:p>
            <a:pPr indent="0" marL="0">
              <a:buNone/>
            </a:pPr>
            <a:r>
              <a:rPr lang="en-US" sz="1450" b="1" dirty="0">
                <a:solidFill>
                  <a:srgbClr val="32436B"/>
                </a:solidFill>
                <a:latin typeface="Calibri" pitchFamily="34" charset="0"/>
                <a:ea typeface="Calibri" pitchFamily="34" charset="-122"/>
                <a:cs typeface="Calibri" pitchFamily="34" charset="-120"/>
              </a:rPr>
              <a:t>把「沟通问题」处理成「培训问题」——让Fab去学CIM的语言</a:t>
            </a:r>
            <a:endParaRPr lang="en-US" sz="1450" dirty="0"/>
          </a:p>
        </p:txBody>
      </p:sp>
      <p:sp>
        <p:nvSpPr>
          <p:cNvPr id="11" name="Text 9"/>
          <p:cNvSpPr/>
          <p:nvPr/>
        </p:nvSpPr>
        <p:spPr>
          <a:xfrm>
            <a:off x="548640" y="4151376"/>
            <a:ext cx="10881360" cy="914400"/>
          </a:xfrm>
          <a:prstGeom prst="rect">
            <a:avLst/>
          </a:prstGeom>
          <a:noFill/>
          <a:ln/>
        </p:spPr>
        <p:txBody>
          <a:bodyPr wrap="square" rtlCol="0" anchor="ctr"/>
          <a:lstStyle/>
          <a:p>
            <a:pPr indent="0" marL="0">
              <a:lnSpc>
                <a:spcPct val="128000"/>
              </a:lnSpc>
              <a:buNone/>
            </a:pPr>
            <a:r>
              <a:rPr lang="en-US" sz="1250" dirty="0">
                <a:solidFill>
                  <a:srgbClr val="2B2F36"/>
                </a:solidFill>
                <a:latin typeface="Calibri" pitchFamily="34" charset="0"/>
                <a:ea typeface="Calibri" pitchFamily="34" charset="-122"/>
                <a:cs typeface="Calibri" pitchFamily="34" charset="-120"/>
              </a:rPr>
              <a:t>这种处理方式在逻辑上是不对称的：CIM作为服务提供方，有责任把自己的工作状态翻译成服务接收方（Fab）能够理解和使用的语言，而不是要求服务接收方学会服务提供方的专业语言。有效沟通的语言适配责任，在CIM主管一侧。</a:t>
            </a:r>
            <a:endParaRPr lang="en-US" sz="1250" dirty="0"/>
          </a:p>
        </p:txBody>
      </p:sp>
      <p:sp>
        <p:nvSpPr>
          <p:cNvPr id="12" name="Shape 10"/>
          <p:cNvSpPr/>
          <p:nvPr/>
        </p:nvSpPr>
        <p:spPr>
          <a:xfrm>
            <a:off x="548640" y="5303520"/>
            <a:ext cx="0" cy="1051560"/>
          </a:xfrm>
          <a:prstGeom prst="line">
            <a:avLst/>
          </a:prstGeom>
          <a:noFill/>
          <a:ln w="38100">
            <a:solidFill>
              <a:srgbClr val="9C5536"/>
            </a:solidFill>
            <a:prstDash val="solid"/>
          </a:ln>
        </p:spPr>
      </p:sp>
      <p:sp>
        <p:nvSpPr>
          <p:cNvPr id="13" name="Text 11"/>
          <p:cNvSpPr/>
          <p:nvPr/>
        </p:nvSpPr>
        <p:spPr>
          <a:xfrm>
            <a:off x="777240" y="5303520"/>
            <a:ext cx="274320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边界条件总结</a:t>
            </a:r>
            <a:endParaRPr lang="en-US" sz="1100" dirty="0"/>
          </a:p>
        </p:txBody>
      </p:sp>
      <p:sp>
        <p:nvSpPr>
          <p:cNvPr id="14" name="Text 12"/>
          <p:cNvSpPr/>
          <p:nvPr/>
        </p:nvSpPr>
        <p:spPr>
          <a:xfrm>
            <a:off x="777240" y="5605272"/>
            <a:ext cx="10424160" cy="777240"/>
          </a:xfrm>
          <a:prstGeom prst="rect">
            <a:avLst/>
          </a:prstGeom>
          <a:noFill/>
          <a:ln/>
        </p:spPr>
        <p:txBody>
          <a:bodyPr wrap="square" rtlCol="0" anchor="ctr"/>
          <a:lstStyle/>
          <a:p>
            <a:pPr indent="0" marL="0">
              <a:lnSpc>
                <a:spcPct val="128000"/>
              </a:lnSpc>
              <a:buNone/>
            </a:pPr>
            <a:r>
              <a:rPr lang="en-US" sz="1300" i="1" dirty="0">
                <a:solidFill>
                  <a:srgbClr val="1B2A4A"/>
                </a:solidFill>
                <a:latin typeface="Cambria" pitchFamily="34" charset="0"/>
                <a:ea typeface="Cambria" pitchFamily="34" charset="-122"/>
                <a:cs typeface="Cambria" pitchFamily="34" charset="-120"/>
              </a:rPr>
              <a:t>语义落差是结构性问题，解决路径是建立一套「翻译机制」——把CIM的技术状态信息，系统性地转换成Fab的业务影响语言。这个翻译机制的设计，是主管层面的沟通设计责任。</a:t>
            </a:r>
            <a:endParaRPr lang="en-US" sz="1300" dirty="0"/>
          </a:p>
        </p:txBody>
      </p:sp>
      <p:sp>
        <p:nvSpPr>
          <p:cNvPr id="15" name="Shape 13"/>
          <p:cNvSpPr/>
          <p:nvPr/>
        </p:nvSpPr>
        <p:spPr>
          <a:xfrm>
            <a:off x="548640" y="6446520"/>
            <a:ext cx="11091672" cy="0"/>
          </a:xfrm>
          <a:prstGeom prst="line">
            <a:avLst/>
          </a:prstGeom>
          <a:noFill/>
          <a:ln w="9525">
            <a:solidFill>
              <a:srgbClr val="C7CDDB"/>
            </a:solidFill>
            <a:prstDash val="solid"/>
          </a:ln>
        </p:spPr>
      </p:sp>
      <p:sp>
        <p:nvSpPr>
          <p:cNvPr id="16" name="Text 14"/>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理论框架一 · 边界与反例</a:t>
            </a:r>
            <a:endParaRPr lang="en-US" sz="900" dirty="0"/>
          </a:p>
        </p:txBody>
      </p:sp>
      <p:sp>
        <p:nvSpPr>
          <p:cNvPr id="17" name="Text 15"/>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4 / 17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模块五 · 跨部门沟通</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机制解释</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为什么「被动响应」无法建立信任</a:t>
            </a:r>
            <a:endParaRPr lang="en-US" sz="2700" dirty="0"/>
          </a:p>
        </p:txBody>
      </p:sp>
      <p:sp>
        <p:nvSpPr>
          <p:cNvPr id="6" name="Text 4"/>
          <p:cNvSpPr/>
          <p:nvPr/>
        </p:nvSpPr>
        <p:spPr>
          <a:xfrm>
            <a:off x="548640" y="1481328"/>
            <a:ext cx="10881360" cy="320040"/>
          </a:xfrm>
          <a:prstGeom prst="rect">
            <a:avLst/>
          </a:prstGeom>
          <a:noFill/>
          <a:ln/>
        </p:spPr>
        <p:txBody>
          <a:bodyPr wrap="square" rtlCol="0" anchor="ctr"/>
          <a:lstStyle/>
          <a:p>
            <a:pPr indent="0" marL="0">
              <a:buNone/>
            </a:pPr>
            <a:r>
              <a:rPr lang="en-US" sz="1300" i="1" dirty="0">
                <a:solidFill>
                  <a:srgbClr val="5B6270"/>
                </a:solidFill>
                <a:latin typeface="Calibri" pitchFamily="34" charset="0"/>
                <a:ea typeface="Calibri" pitchFamily="34" charset="-122"/>
                <a:cs typeface="Calibri" pitchFamily="34" charset="-120"/>
              </a:rPr>
              <a:t>从社会交换理论角度，拆解被动沟通的失效路径</a:t>
            </a:r>
            <a:endParaRPr lang="en-US" sz="1300" dirty="0"/>
          </a:p>
        </p:txBody>
      </p:sp>
      <p:sp>
        <p:nvSpPr>
          <p:cNvPr id="7" name="Text 5"/>
          <p:cNvSpPr/>
          <p:nvPr/>
        </p:nvSpPr>
        <p:spPr>
          <a:xfrm>
            <a:off x="548640" y="1965960"/>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〔机制一〕</a:t>
            </a:r>
            <a:endParaRPr lang="en-US" sz="1100" dirty="0"/>
          </a:p>
        </p:txBody>
      </p:sp>
      <p:sp>
        <p:nvSpPr>
          <p:cNvPr id="8" name="Text 6"/>
          <p:cNvSpPr/>
          <p:nvPr/>
        </p:nvSpPr>
        <p:spPr>
          <a:xfrm>
            <a:off x="2148840" y="1965960"/>
            <a:ext cx="9281160" cy="274320"/>
          </a:xfrm>
          <a:prstGeom prst="rect">
            <a:avLst/>
          </a:prstGeom>
          <a:noFill/>
          <a:ln/>
        </p:spPr>
        <p:txBody>
          <a:bodyPr wrap="square" rtlCol="0" anchor="ctr"/>
          <a:lstStyle/>
          <a:p>
            <a:pPr indent="0" marL="0">
              <a:buNone/>
            </a:pPr>
            <a:r>
              <a:rPr lang="en-US" sz="1300" b="1" dirty="0">
                <a:solidFill>
                  <a:srgbClr val="32436B"/>
                </a:solidFill>
                <a:latin typeface="Calibri" pitchFamily="34" charset="0"/>
                <a:ea typeface="Calibri" pitchFamily="34" charset="-122"/>
                <a:cs typeface="Calibri" pitchFamily="34" charset="-120"/>
              </a:rPr>
              <a:t>被动响应只在「扣分事件」时才被感知</a:t>
            </a:r>
            <a:endParaRPr lang="en-US" sz="1300" dirty="0"/>
          </a:p>
        </p:txBody>
      </p:sp>
      <p:sp>
        <p:nvSpPr>
          <p:cNvPr id="9" name="Text 7"/>
          <p:cNvSpPr/>
          <p:nvPr/>
        </p:nvSpPr>
        <p:spPr>
          <a:xfrm>
            <a:off x="548640" y="2295144"/>
            <a:ext cx="10881360" cy="713232"/>
          </a:xfrm>
          <a:prstGeom prst="rect">
            <a:avLst/>
          </a:prstGeom>
          <a:noFill/>
          <a:ln/>
        </p:spPr>
        <p:txBody>
          <a:bodyPr wrap="square" rtlCol="0" anchor="ctr"/>
          <a:lstStyle/>
          <a:p>
            <a:pPr indent="0" marL="0">
              <a:lnSpc>
                <a:spcPct val="122000"/>
              </a:lnSpc>
              <a:buNone/>
            </a:pPr>
            <a:r>
              <a:rPr lang="en-US" sz="1180" dirty="0">
                <a:solidFill>
                  <a:srgbClr val="2B2F36"/>
                </a:solidFill>
                <a:latin typeface="Calibri" pitchFamily="34" charset="0"/>
                <a:ea typeface="Calibri" pitchFamily="34" charset="-122"/>
                <a:cs typeface="Calibri" pitchFamily="34" charset="-120"/>
              </a:rPr>
              <a:t>当CIM团队采用纯被动的沟通模式（Fab来问了才回，出了问题才通知），Fab对CIM的感知主要发生在两种情境：一是出了问题来问，二是出了问题CIM通知他们。即使CIM在背后做了大量的正向工作（系统维护、风险预防、性能优化），Fab完全感知不到，因为那些工作没有产生任何可见的「交换行为」。</a:t>
            </a:r>
            <a:endParaRPr lang="en-US" sz="1180" dirty="0"/>
          </a:p>
        </p:txBody>
      </p:sp>
      <p:sp>
        <p:nvSpPr>
          <p:cNvPr id="10" name="Text 8"/>
          <p:cNvSpPr/>
          <p:nvPr/>
        </p:nvSpPr>
        <p:spPr>
          <a:xfrm>
            <a:off x="548640" y="3044952"/>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〔机制二〕</a:t>
            </a:r>
            <a:endParaRPr lang="en-US" sz="1100" dirty="0"/>
          </a:p>
        </p:txBody>
      </p:sp>
      <p:sp>
        <p:nvSpPr>
          <p:cNvPr id="11" name="Text 9"/>
          <p:cNvSpPr/>
          <p:nvPr/>
        </p:nvSpPr>
        <p:spPr>
          <a:xfrm>
            <a:off x="2148840" y="3044952"/>
            <a:ext cx="9281160" cy="274320"/>
          </a:xfrm>
          <a:prstGeom prst="rect">
            <a:avLst/>
          </a:prstGeom>
          <a:noFill/>
          <a:ln/>
        </p:spPr>
        <p:txBody>
          <a:bodyPr wrap="square" rtlCol="0" anchor="ctr"/>
          <a:lstStyle/>
          <a:p>
            <a:pPr indent="0" marL="0">
              <a:buNone/>
            </a:pPr>
            <a:r>
              <a:rPr lang="en-US" sz="1300" b="1" dirty="0">
                <a:solidFill>
                  <a:srgbClr val="32436B"/>
                </a:solidFill>
                <a:latin typeface="Calibri" pitchFamily="34" charset="0"/>
                <a:ea typeface="Calibri" pitchFamily="34" charset="-122"/>
                <a:cs typeface="Calibri" pitchFamily="34" charset="-120"/>
              </a:rPr>
              <a:t>被动响应让Fab产生「CIM不透明」的感知</a:t>
            </a:r>
            <a:endParaRPr lang="en-US" sz="1300" dirty="0"/>
          </a:p>
        </p:txBody>
      </p:sp>
      <p:sp>
        <p:nvSpPr>
          <p:cNvPr id="12" name="Text 10"/>
          <p:cNvSpPr/>
          <p:nvPr/>
        </p:nvSpPr>
        <p:spPr>
          <a:xfrm>
            <a:off x="548640" y="3374136"/>
            <a:ext cx="10881360" cy="713232"/>
          </a:xfrm>
          <a:prstGeom prst="rect">
            <a:avLst/>
          </a:prstGeom>
          <a:noFill/>
          <a:ln/>
        </p:spPr>
        <p:txBody>
          <a:bodyPr wrap="square" rtlCol="0" anchor="ctr"/>
          <a:lstStyle/>
          <a:p>
            <a:pPr indent="0" marL="0">
              <a:lnSpc>
                <a:spcPct val="122000"/>
              </a:lnSpc>
              <a:buNone/>
            </a:pPr>
            <a:r>
              <a:rPr lang="en-US" sz="1180" dirty="0">
                <a:solidFill>
                  <a:srgbClr val="2B2F36"/>
                </a:solidFill>
                <a:latin typeface="Calibri" pitchFamily="34" charset="0"/>
                <a:ea typeface="Calibri" pitchFamily="34" charset="-122"/>
                <a:cs typeface="Calibri" pitchFamily="34" charset="-120"/>
              </a:rPr>
              <a:t>当Fab只在出问题时才听到CIM的消息，他们会形成一个认知：「CIM的工作是黑盒子，我不知道他们在做什么，也不知道会不会影响到我」。社会交换理论的研究表明，不确定性（不知道对方在做什么）是信任关系最主要的侵蚀源之一，而不是主动的负面行为。</a:t>
            </a:r>
            <a:endParaRPr lang="en-US" sz="1180" dirty="0"/>
          </a:p>
        </p:txBody>
      </p:sp>
      <p:sp>
        <p:nvSpPr>
          <p:cNvPr id="13" name="Text 11"/>
          <p:cNvSpPr/>
          <p:nvPr/>
        </p:nvSpPr>
        <p:spPr>
          <a:xfrm>
            <a:off x="548640" y="4123944"/>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〔机制三〕</a:t>
            </a:r>
            <a:endParaRPr lang="en-US" sz="1100" dirty="0"/>
          </a:p>
        </p:txBody>
      </p:sp>
      <p:sp>
        <p:nvSpPr>
          <p:cNvPr id="14" name="Text 12"/>
          <p:cNvSpPr/>
          <p:nvPr/>
        </p:nvSpPr>
        <p:spPr>
          <a:xfrm>
            <a:off x="2148840" y="4123944"/>
            <a:ext cx="9281160" cy="274320"/>
          </a:xfrm>
          <a:prstGeom prst="rect">
            <a:avLst/>
          </a:prstGeom>
          <a:noFill/>
          <a:ln/>
        </p:spPr>
        <p:txBody>
          <a:bodyPr wrap="square" rtlCol="0" anchor="ctr"/>
          <a:lstStyle/>
          <a:p>
            <a:pPr indent="0" marL="0">
              <a:buNone/>
            </a:pPr>
            <a:r>
              <a:rPr lang="en-US" sz="1300" b="1" dirty="0">
                <a:solidFill>
                  <a:srgbClr val="32436B"/>
                </a:solidFill>
                <a:latin typeface="Calibri" pitchFamily="34" charset="0"/>
                <a:ea typeface="Calibri" pitchFamily="34" charset="-122"/>
                <a:cs typeface="Calibri" pitchFamily="34" charset="-120"/>
              </a:rPr>
              <a:t>被动响应使「问题通知」变成「追责触发」</a:t>
            </a:r>
            <a:endParaRPr lang="en-US" sz="1300" dirty="0"/>
          </a:p>
        </p:txBody>
      </p:sp>
      <p:sp>
        <p:nvSpPr>
          <p:cNvPr id="15" name="Text 13"/>
          <p:cNvSpPr/>
          <p:nvPr/>
        </p:nvSpPr>
        <p:spPr>
          <a:xfrm>
            <a:off x="548640" y="4453128"/>
            <a:ext cx="10881360" cy="713232"/>
          </a:xfrm>
          <a:prstGeom prst="rect">
            <a:avLst/>
          </a:prstGeom>
          <a:noFill/>
          <a:ln/>
        </p:spPr>
        <p:txBody>
          <a:bodyPr wrap="square" rtlCol="0" anchor="ctr"/>
          <a:lstStyle/>
          <a:p>
            <a:pPr indent="0" marL="0">
              <a:lnSpc>
                <a:spcPct val="122000"/>
              </a:lnSpc>
              <a:buNone/>
            </a:pPr>
            <a:r>
              <a:rPr lang="en-US" sz="1180" dirty="0">
                <a:solidFill>
                  <a:srgbClr val="2B2F36"/>
                </a:solidFill>
                <a:latin typeface="Calibri" pitchFamily="34" charset="0"/>
                <a:ea typeface="Calibri" pitchFamily="34" charset="-122"/>
                <a:cs typeface="Calibri" pitchFamily="34" charset="-120"/>
              </a:rPr>
              <a:t>在被动沟通模式下，CIM通知Fab「系统出现了X问题」，Fab的第一反应往往不是「好的，我们配合处理」，而是「你们系统又出问题了，影响到我们了」。被动响应创造的是「出事才联系」的条件反射——每一次CIM主动联系都被框架成了一个问题报告，而不是一个主动的协作行为。</a:t>
            </a:r>
            <a:endParaRPr lang="en-US" sz="1180" dirty="0"/>
          </a:p>
        </p:txBody>
      </p:sp>
      <p:sp>
        <p:nvSpPr>
          <p:cNvPr id="16" name="Shape 14"/>
          <p:cNvSpPr/>
          <p:nvPr/>
        </p:nvSpPr>
        <p:spPr>
          <a:xfrm>
            <a:off x="548640" y="6126480"/>
            <a:ext cx="10881360" cy="0"/>
          </a:xfrm>
          <a:prstGeom prst="line">
            <a:avLst/>
          </a:prstGeom>
          <a:noFill/>
          <a:ln w="12700">
            <a:solidFill>
              <a:srgbClr val="E3E7EF"/>
            </a:solidFill>
            <a:prstDash val="solid"/>
          </a:ln>
        </p:spPr>
      </p:sp>
      <p:sp>
        <p:nvSpPr>
          <p:cNvPr id="17" name="Text 15"/>
          <p:cNvSpPr/>
          <p:nvPr/>
        </p:nvSpPr>
        <p:spPr>
          <a:xfrm>
            <a:off x="548640" y="6199632"/>
            <a:ext cx="10881360" cy="292608"/>
          </a:xfrm>
          <a:prstGeom prst="rect">
            <a:avLst/>
          </a:prstGeom>
          <a:noFill/>
          <a:ln/>
        </p:spPr>
        <p:txBody>
          <a:bodyPr wrap="square" rtlCol="0" anchor="ctr"/>
          <a:lstStyle/>
          <a:p>
            <a:pPr indent="0" marL="0">
              <a:buNone/>
            </a:pPr>
            <a:r>
              <a:rPr lang="en-US" sz="1250" i="1" dirty="0">
                <a:solidFill>
                  <a:srgbClr val="9C5536"/>
                </a:solidFill>
                <a:latin typeface="Calibri" pitchFamily="34" charset="0"/>
                <a:ea typeface="Calibri" pitchFamily="34" charset="-122"/>
                <a:cs typeface="Calibri" pitchFamily="34" charset="-120"/>
              </a:rPr>
              <a:t>三个机制共同指向一个结论：信任不是「被动地不出错」就能建立的，它需要通过主动的、可见的、持续的交换行为来积累。</a:t>
            </a:r>
            <a:endParaRPr lang="en-US" sz="1250" dirty="0"/>
          </a:p>
        </p:txBody>
      </p:sp>
      <p:sp>
        <p:nvSpPr>
          <p:cNvPr id="18" name="Shape 16"/>
          <p:cNvSpPr/>
          <p:nvPr/>
        </p:nvSpPr>
        <p:spPr>
          <a:xfrm>
            <a:off x="548640" y="6446520"/>
            <a:ext cx="11091672" cy="0"/>
          </a:xfrm>
          <a:prstGeom prst="line">
            <a:avLst/>
          </a:prstGeom>
          <a:noFill/>
          <a:ln w="9525">
            <a:solidFill>
              <a:srgbClr val="C7CDDB"/>
            </a:solidFill>
            <a:prstDash val="solid"/>
          </a:ln>
        </p:spPr>
      </p:sp>
      <p:sp>
        <p:nvSpPr>
          <p:cNvPr id="19" name="Text 17"/>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机制解释</a:t>
            </a:r>
            <a:endParaRPr lang="en-US" sz="900" dirty="0"/>
          </a:p>
        </p:txBody>
      </p:sp>
      <p:sp>
        <p:nvSpPr>
          <p:cNvPr id="20" name="Text 18"/>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5 / 17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模块五 · 跨部门沟通</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案例对照 · 一</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被动沟通与主动沟通的真实分野</a:t>
            </a:r>
            <a:endParaRPr lang="en-US" sz="2700" dirty="0"/>
          </a:p>
        </p:txBody>
      </p:sp>
      <p:sp>
        <p:nvSpPr>
          <p:cNvPr id="6" name="Text 4"/>
          <p:cNvSpPr/>
          <p:nvPr/>
        </p:nvSpPr>
        <p:spPr>
          <a:xfrm>
            <a:off x="548640" y="169164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〔案例A · 被动沟通〕</a:t>
            </a:r>
            <a:endParaRPr lang="en-US" sz="1100" dirty="0"/>
          </a:p>
        </p:txBody>
      </p:sp>
      <p:sp>
        <p:nvSpPr>
          <p:cNvPr id="7" name="Shape 5"/>
          <p:cNvSpPr/>
          <p:nvPr/>
        </p:nvSpPr>
        <p:spPr>
          <a:xfrm>
            <a:off x="548640" y="2057400"/>
            <a:ext cx="5257800" cy="0"/>
          </a:xfrm>
          <a:prstGeom prst="line">
            <a:avLst/>
          </a:prstGeom>
          <a:noFill/>
          <a:ln w="19050">
            <a:solidFill>
              <a:srgbClr val="9C5536"/>
            </a:solidFill>
            <a:prstDash val="solid"/>
          </a:ln>
        </p:spPr>
      </p:sp>
      <p:sp>
        <p:nvSpPr>
          <p:cNvPr id="8" name="Text 6"/>
          <p:cNvSpPr/>
          <p:nvPr/>
        </p:nvSpPr>
        <p:spPr>
          <a:xfrm>
            <a:off x="548640" y="2194560"/>
            <a:ext cx="5257800" cy="1298448"/>
          </a:xfrm>
          <a:prstGeom prst="rect">
            <a:avLst/>
          </a:prstGeom>
          <a:noFill/>
          <a:ln/>
        </p:spPr>
        <p:txBody>
          <a:bodyPr wrap="square" rtlCol="0" anchor="ctr"/>
          <a:lstStyle/>
          <a:p>
            <a:pPr indent="0" marL="0">
              <a:lnSpc>
                <a:spcPct val="125000"/>
              </a:lnSpc>
              <a:buNone/>
            </a:pPr>
            <a:r>
              <a:rPr lang="en-US" sz="1200" dirty="0">
                <a:solidFill>
                  <a:srgbClr val="2B2F36"/>
                </a:solidFill>
                <a:latin typeface="Calibri" pitchFamily="34" charset="0"/>
                <a:ea typeface="Calibri" pitchFamily="34" charset="-122"/>
                <a:cs typeface="Calibri" pitchFamily="34" charset="-120"/>
              </a:rPr>
              <a:t>某CIM团队长期保持「有问题找我」的沟通模式。半年后，制造部在跨部门会议上反映：「CIM团队技术很强，但很难合作——你们经常出了问题我们才知道，也不知道你们平时在做什么维护，每次出事都措手不及。」</a:t>
            </a:r>
            <a:endParaRPr lang="en-US" sz="1200" dirty="0"/>
          </a:p>
        </p:txBody>
      </p:sp>
      <p:sp>
        <p:nvSpPr>
          <p:cNvPr id="9" name="Text 7"/>
          <p:cNvSpPr/>
          <p:nvPr/>
        </p:nvSpPr>
        <p:spPr>
          <a:xfrm>
            <a:off x="548640" y="3566160"/>
            <a:ext cx="5257800" cy="274320"/>
          </a:xfrm>
          <a:prstGeom prst="rect">
            <a:avLst/>
          </a:prstGeom>
          <a:noFill/>
          <a:ln/>
        </p:spPr>
        <p:txBody>
          <a:bodyPr wrap="square" rtlCol="0" anchor="ctr"/>
          <a:lstStyle/>
          <a:p>
            <a:pPr indent="0" marL="0">
              <a:buNone/>
            </a:pPr>
            <a:r>
              <a:rPr lang="en-US" sz="1200" b="1" dirty="0">
                <a:solidFill>
                  <a:srgbClr val="9C5536"/>
                </a:solidFill>
                <a:latin typeface="Calibri" pitchFamily="34" charset="0"/>
                <a:ea typeface="Calibri" pitchFamily="34" charset="-122"/>
                <a:cs typeface="Calibri" pitchFamily="34" charset="-120"/>
              </a:rPr>
              <a:t>CIM组长的感受：</a:t>
            </a:r>
            <a:endParaRPr lang="en-US" sz="1200" dirty="0"/>
          </a:p>
        </p:txBody>
      </p:sp>
      <p:sp>
        <p:nvSpPr>
          <p:cNvPr id="10" name="Text 8"/>
          <p:cNvSpPr/>
          <p:nvPr/>
        </p:nvSpPr>
        <p:spPr>
          <a:xfrm>
            <a:off x="548640" y="3867912"/>
            <a:ext cx="5257800" cy="1508760"/>
          </a:xfrm>
          <a:prstGeom prst="rect">
            <a:avLst/>
          </a:prstGeom>
          <a:noFill/>
          <a:ln/>
        </p:spPr>
        <p:txBody>
          <a:bodyPr wrap="square" rtlCol="0" anchor="ctr"/>
          <a:lstStyle/>
          <a:p>
            <a:pPr indent="0" marL="0">
              <a:lnSpc>
                <a:spcPct val="125000"/>
              </a:lnSpc>
              <a:buNone/>
            </a:pPr>
            <a:r>
              <a:rPr lang="en-US" sz="1200" dirty="0">
                <a:solidFill>
                  <a:srgbClr val="2B2F36"/>
                </a:solidFill>
                <a:latin typeface="Calibri" pitchFamily="34" charset="0"/>
                <a:ea typeface="Calibri" pitchFamily="34" charset="-122"/>
                <a:cs typeface="Calibri" pitchFamily="34" charset="-120"/>
              </a:rPr>
              <a:t>「我们明明一直在维护系统，哪里出了问题都第一时间处理了，对方凭什么说我们不透明？」——CIM做了大量工作，但因为没有可见的交换行为，Fab完全感知不到，双方对协作质量的评估出现了完全相反的结论。</a:t>
            </a:r>
            <a:endParaRPr lang="en-US" sz="1200" dirty="0"/>
          </a:p>
        </p:txBody>
      </p:sp>
      <p:sp>
        <p:nvSpPr>
          <p:cNvPr id="11" name="Shape 9"/>
          <p:cNvSpPr/>
          <p:nvPr/>
        </p:nvSpPr>
        <p:spPr>
          <a:xfrm>
            <a:off x="6080760" y="1691640"/>
            <a:ext cx="0" cy="4297680"/>
          </a:xfrm>
          <a:prstGeom prst="line">
            <a:avLst/>
          </a:prstGeom>
          <a:noFill/>
          <a:ln w="12700">
            <a:solidFill>
              <a:srgbClr val="E3E7EF"/>
            </a:solidFill>
            <a:prstDash val="solid"/>
          </a:ln>
        </p:spPr>
      </p:sp>
      <p:sp>
        <p:nvSpPr>
          <p:cNvPr id="12" name="Text 10"/>
          <p:cNvSpPr/>
          <p:nvPr/>
        </p:nvSpPr>
        <p:spPr>
          <a:xfrm>
            <a:off x="6519672" y="1691640"/>
            <a:ext cx="2377440" cy="274320"/>
          </a:xfrm>
          <a:prstGeom prst="rect">
            <a:avLst/>
          </a:prstGeom>
          <a:noFill/>
          <a:ln/>
        </p:spPr>
        <p:txBody>
          <a:bodyPr wrap="square" rtlCol="0" anchor="ctr"/>
          <a:lstStyle/>
          <a:p>
            <a:pPr indent="0" marL="0">
              <a:buNone/>
            </a:pPr>
            <a:r>
              <a:rPr lang="en-US" sz="1100" b="1" dirty="0">
                <a:solidFill>
                  <a:srgbClr val="4F6F52"/>
                </a:solidFill>
                <a:latin typeface="Calibri" pitchFamily="34" charset="0"/>
                <a:ea typeface="Calibri" pitchFamily="34" charset="-122"/>
                <a:cs typeface="Calibri" pitchFamily="34" charset="-120"/>
              </a:rPr>
              <a:t>〔案例B · 主动沟通〕</a:t>
            </a:r>
            <a:endParaRPr lang="en-US" sz="1100" dirty="0"/>
          </a:p>
        </p:txBody>
      </p:sp>
      <p:sp>
        <p:nvSpPr>
          <p:cNvPr id="13" name="Shape 11"/>
          <p:cNvSpPr/>
          <p:nvPr/>
        </p:nvSpPr>
        <p:spPr>
          <a:xfrm>
            <a:off x="6519672" y="2057400"/>
            <a:ext cx="5257800" cy="0"/>
          </a:xfrm>
          <a:prstGeom prst="line">
            <a:avLst/>
          </a:prstGeom>
          <a:noFill/>
          <a:ln w="19050">
            <a:solidFill>
              <a:srgbClr val="4F6F52"/>
            </a:solidFill>
            <a:prstDash val="solid"/>
          </a:ln>
        </p:spPr>
      </p:sp>
      <p:sp>
        <p:nvSpPr>
          <p:cNvPr id="14" name="Text 12"/>
          <p:cNvSpPr/>
          <p:nvPr/>
        </p:nvSpPr>
        <p:spPr>
          <a:xfrm>
            <a:off x="6519672" y="2194560"/>
            <a:ext cx="5257800" cy="1298448"/>
          </a:xfrm>
          <a:prstGeom prst="rect">
            <a:avLst/>
          </a:prstGeom>
          <a:noFill/>
          <a:ln/>
        </p:spPr>
        <p:txBody>
          <a:bodyPr wrap="square" rtlCol="0" anchor="ctr"/>
          <a:lstStyle/>
          <a:p>
            <a:pPr indent="0" marL="0">
              <a:lnSpc>
                <a:spcPct val="125000"/>
              </a:lnSpc>
              <a:buNone/>
            </a:pPr>
            <a:r>
              <a:rPr lang="en-US" sz="1200" dirty="0">
                <a:solidFill>
                  <a:srgbClr val="2B2F36"/>
                </a:solidFill>
                <a:latin typeface="Calibri" pitchFamily="34" charset="0"/>
                <a:ea typeface="Calibri" pitchFamily="34" charset="-122"/>
                <a:cs typeface="Calibri" pitchFamily="34" charset="-120"/>
              </a:rPr>
              <a:t>另一个CIM团队建立了三个主动沟通机制：每周向制造部发送「系统健康简报」（用Fab的语言描述本周维护和下周计划）；每次高风险变更前48小时告知相关Fab班组；出了问题后30分钟内主动推送第一个进展更新。</a:t>
            </a:r>
            <a:endParaRPr lang="en-US" sz="1200" dirty="0"/>
          </a:p>
        </p:txBody>
      </p:sp>
      <p:sp>
        <p:nvSpPr>
          <p:cNvPr id="15" name="Text 13"/>
          <p:cNvSpPr/>
          <p:nvPr/>
        </p:nvSpPr>
        <p:spPr>
          <a:xfrm>
            <a:off x="6519672" y="3566160"/>
            <a:ext cx="5257800" cy="274320"/>
          </a:xfrm>
          <a:prstGeom prst="rect">
            <a:avLst/>
          </a:prstGeom>
          <a:noFill/>
          <a:ln/>
        </p:spPr>
        <p:txBody>
          <a:bodyPr wrap="square" rtlCol="0" anchor="ctr"/>
          <a:lstStyle/>
          <a:p>
            <a:pPr indent="0" marL="0">
              <a:buNone/>
            </a:pPr>
            <a:r>
              <a:rPr lang="en-US" sz="1200" b="1" dirty="0">
                <a:solidFill>
                  <a:srgbClr val="4F6F52"/>
                </a:solidFill>
                <a:latin typeface="Calibri" pitchFamily="34" charset="0"/>
                <a:ea typeface="Calibri" pitchFamily="34" charset="-122"/>
                <a:cs typeface="Calibri" pitchFamily="34" charset="-120"/>
              </a:rPr>
              <a:t>半年后：</a:t>
            </a:r>
            <a:endParaRPr lang="en-US" sz="1200" dirty="0"/>
          </a:p>
        </p:txBody>
      </p:sp>
      <p:sp>
        <p:nvSpPr>
          <p:cNvPr id="16" name="Text 14"/>
          <p:cNvSpPr/>
          <p:nvPr/>
        </p:nvSpPr>
        <p:spPr>
          <a:xfrm>
            <a:off x="6519672" y="3867912"/>
            <a:ext cx="5257800" cy="1508760"/>
          </a:xfrm>
          <a:prstGeom prst="rect">
            <a:avLst/>
          </a:prstGeom>
          <a:noFill/>
          <a:ln/>
        </p:spPr>
        <p:txBody>
          <a:bodyPr wrap="square" rtlCol="0" anchor="ctr"/>
          <a:lstStyle/>
          <a:p>
            <a:pPr indent="0" marL="0">
              <a:lnSpc>
                <a:spcPct val="125000"/>
              </a:lnSpc>
              <a:buNone/>
            </a:pPr>
            <a:r>
              <a:rPr lang="en-US" sz="1200" dirty="0">
                <a:solidFill>
                  <a:srgbClr val="2B2F36"/>
                </a:solidFill>
                <a:latin typeface="Calibri" pitchFamily="34" charset="0"/>
                <a:ea typeface="Calibri" pitchFamily="34" charset="-122"/>
                <a:cs typeface="Calibri" pitchFamily="34" charset="-120"/>
              </a:rPr>
              <a:t>制造部组长主动找CIM组长说：「你们现在做得很好，我们提前知道你们在做什么，出了事也第一时间知道进展，现在配合顺多了。」——CIM的工作量未必更大，但三个主动机制把本来不可见的工作变成了可见的正向交换行为。</a:t>
            </a:r>
            <a:endParaRPr lang="en-US" sz="1200" dirty="0"/>
          </a:p>
        </p:txBody>
      </p:sp>
      <p:sp>
        <p:nvSpPr>
          <p:cNvPr id="17" name="Shape 15"/>
          <p:cNvSpPr/>
          <p:nvPr/>
        </p:nvSpPr>
        <p:spPr>
          <a:xfrm>
            <a:off x="548640" y="6446520"/>
            <a:ext cx="11091672" cy="0"/>
          </a:xfrm>
          <a:prstGeom prst="line">
            <a:avLst/>
          </a:prstGeom>
          <a:noFill/>
          <a:ln w="9525">
            <a:solidFill>
              <a:srgbClr val="C7CDDB"/>
            </a:solidFill>
            <a:prstDash val="solid"/>
          </a:ln>
        </p:spPr>
      </p:sp>
      <p:sp>
        <p:nvSpPr>
          <p:cNvPr id="18" name="Text 16"/>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案例对照一</a:t>
            </a:r>
            <a:endParaRPr lang="en-US" sz="900" dirty="0"/>
          </a:p>
        </p:txBody>
      </p:sp>
      <p:sp>
        <p:nvSpPr>
          <p:cNvPr id="19" name="Text 17"/>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6 / 17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模块五 · 跨部门沟通</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理论框架二 · 提出</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信任不是感觉，是可以被设计的行为积累</a:t>
            </a:r>
            <a:endParaRPr lang="en-US" sz="2700" dirty="0"/>
          </a:p>
        </p:txBody>
      </p:sp>
      <p:sp>
        <p:nvSpPr>
          <p:cNvPr id="6" name="Text 4"/>
          <p:cNvSpPr/>
          <p:nvPr/>
        </p:nvSpPr>
        <p:spPr>
          <a:xfrm>
            <a:off x="548640" y="1691640"/>
            <a:ext cx="10881360" cy="411480"/>
          </a:xfrm>
          <a:prstGeom prst="rect">
            <a:avLst/>
          </a:prstGeom>
          <a:noFill/>
          <a:ln/>
        </p:spPr>
        <p:txBody>
          <a:bodyPr wrap="square" rtlCol="0" anchor="ctr"/>
          <a:lstStyle/>
          <a:p>
            <a:pPr indent="0" marL="0">
              <a:buNone/>
            </a:pPr>
            <a:r>
              <a:rPr lang="en-US" sz="1300" dirty="0">
                <a:solidFill>
                  <a:srgbClr val="2B2F36"/>
                </a:solidFill>
                <a:latin typeface="Calibri" pitchFamily="34" charset="0"/>
                <a:ea typeface="Calibri" pitchFamily="34" charset="-122"/>
                <a:cs typeface="Calibri" pitchFamily="34" charset="-120"/>
              </a:rPr>
              <a:t>基于社会交换理论和组织沟通研究，在CIM-Fab协作场景中，有三类高杠杆的主动信任建设行为机制：</a:t>
            </a:r>
            <a:endParaRPr lang="en-US" sz="1300" dirty="0"/>
          </a:p>
        </p:txBody>
      </p:sp>
      <p:sp>
        <p:nvSpPr>
          <p:cNvPr id="7" name="Text 5"/>
          <p:cNvSpPr/>
          <p:nvPr/>
        </p:nvSpPr>
        <p:spPr>
          <a:xfrm>
            <a:off x="548640" y="2240280"/>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〔机制一〕</a:t>
            </a:r>
            <a:endParaRPr lang="en-US" sz="1100" dirty="0"/>
          </a:p>
        </p:txBody>
      </p:sp>
      <p:sp>
        <p:nvSpPr>
          <p:cNvPr id="8" name="Text 6"/>
          <p:cNvSpPr/>
          <p:nvPr/>
        </p:nvSpPr>
        <p:spPr>
          <a:xfrm>
            <a:off x="2148840" y="2240280"/>
            <a:ext cx="9281160" cy="256032"/>
          </a:xfrm>
          <a:prstGeom prst="rect">
            <a:avLst/>
          </a:prstGeom>
          <a:noFill/>
          <a:ln/>
        </p:spPr>
        <p:txBody>
          <a:bodyPr wrap="square" rtlCol="0" anchor="ctr"/>
          <a:lstStyle/>
          <a:p>
            <a:pPr indent="0" marL="0">
              <a:buNone/>
            </a:pPr>
            <a:r>
              <a:rPr lang="en-US" sz="1300" b="1" dirty="0">
                <a:solidFill>
                  <a:srgbClr val="32436B"/>
                </a:solidFill>
                <a:latin typeface="Calibri" pitchFamily="34" charset="0"/>
                <a:ea typeface="Calibri" pitchFamily="34" charset="-122"/>
                <a:cs typeface="Calibri" pitchFamily="34" charset="-120"/>
              </a:rPr>
              <a:t>定期同步（从被动响应到主动告知）</a:t>
            </a:r>
            <a:endParaRPr lang="en-US" sz="1300" dirty="0"/>
          </a:p>
        </p:txBody>
      </p:sp>
      <p:sp>
        <p:nvSpPr>
          <p:cNvPr id="9" name="Text 7"/>
          <p:cNvSpPr/>
          <p:nvPr/>
        </p:nvSpPr>
        <p:spPr>
          <a:xfrm>
            <a:off x="548640" y="2551176"/>
            <a:ext cx="10881360" cy="749808"/>
          </a:xfrm>
          <a:prstGeom prst="rect">
            <a:avLst/>
          </a:prstGeom>
          <a:noFill/>
          <a:ln/>
        </p:spPr>
        <p:txBody>
          <a:bodyPr wrap="square" rtlCol="0" anchor="ctr"/>
          <a:lstStyle/>
          <a:p>
            <a:pPr indent="0" marL="0">
              <a:lnSpc>
                <a:spcPct val="122000"/>
              </a:lnSpc>
              <a:buNone/>
            </a:pPr>
            <a:r>
              <a:rPr lang="en-US" sz="1180" dirty="0">
                <a:solidFill>
                  <a:srgbClr val="2B2F36"/>
                </a:solidFill>
                <a:latin typeface="Calibri" pitchFamily="34" charset="0"/>
                <a:ea typeface="Calibri" pitchFamily="34" charset="-122"/>
                <a:cs typeface="Calibri" pitchFamily="34" charset="-120"/>
              </a:rPr>
              <a:t>不等对方来问，而是主动、定期地向协作方提供「他们需要知道的信息」。关键是语言适配——同步的内容不是CIM的技术进展，而是对Fab业务的影响摘要：「本周做了什么，对你们有什么影响，下周有什么计划，你们需要知道什么」。</a:t>
            </a:r>
            <a:endParaRPr lang="en-US" sz="1180" dirty="0"/>
          </a:p>
        </p:txBody>
      </p:sp>
      <p:sp>
        <p:nvSpPr>
          <p:cNvPr id="10" name="Text 8"/>
          <p:cNvSpPr/>
          <p:nvPr/>
        </p:nvSpPr>
        <p:spPr>
          <a:xfrm>
            <a:off x="548640" y="3355848"/>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〔机制二〕</a:t>
            </a:r>
            <a:endParaRPr lang="en-US" sz="1100" dirty="0"/>
          </a:p>
        </p:txBody>
      </p:sp>
      <p:sp>
        <p:nvSpPr>
          <p:cNvPr id="11" name="Text 9"/>
          <p:cNvSpPr/>
          <p:nvPr/>
        </p:nvSpPr>
        <p:spPr>
          <a:xfrm>
            <a:off x="2148840" y="3355848"/>
            <a:ext cx="9281160" cy="256032"/>
          </a:xfrm>
          <a:prstGeom prst="rect">
            <a:avLst/>
          </a:prstGeom>
          <a:noFill/>
          <a:ln/>
        </p:spPr>
        <p:txBody>
          <a:bodyPr wrap="square" rtlCol="0" anchor="ctr"/>
          <a:lstStyle/>
          <a:p>
            <a:pPr indent="0" marL="0">
              <a:buNone/>
            </a:pPr>
            <a:r>
              <a:rPr lang="en-US" sz="1300" b="1" dirty="0">
                <a:solidFill>
                  <a:srgbClr val="32436B"/>
                </a:solidFill>
                <a:latin typeface="Calibri" pitchFamily="34" charset="0"/>
                <a:ea typeface="Calibri" pitchFamily="34" charset="-122"/>
                <a:cs typeface="Calibri" pitchFamily="34" charset="-120"/>
              </a:rPr>
              <a:t>主动预警（在问题影响Fab之前告知）</a:t>
            </a:r>
            <a:endParaRPr lang="en-US" sz="1300" dirty="0"/>
          </a:p>
        </p:txBody>
      </p:sp>
      <p:sp>
        <p:nvSpPr>
          <p:cNvPr id="12" name="Text 10"/>
          <p:cNvSpPr/>
          <p:nvPr/>
        </p:nvSpPr>
        <p:spPr>
          <a:xfrm>
            <a:off x="548640" y="3666744"/>
            <a:ext cx="10881360" cy="749808"/>
          </a:xfrm>
          <a:prstGeom prst="rect">
            <a:avLst/>
          </a:prstGeom>
          <a:noFill/>
          <a:ln/>
        </p:spPr>
        <p:txBody>
          <a:bodyPr wrap="square" rtlCol="0" anchor="ctr"/>
          <a:lstStyle/>
          <a:p>
            <a:pPr indent="0" marL="0">
              <a:lnSpc>
                <a:spcPct val="122000"/>
              </a:lnSpc>
              <a:buNone/>
            </a:pPr>
            <a:r>
              <a:rPr lang="en-US" sz="1180" dirty="0">
                <a:solidFill>
                  <a:srgbClr val="2B2F36"/>
                </a:solidFill>
                <a:latin typeface="Calibri" pitchFamily="34" charset="0"/>
                <a:ea typeface="Calibri" pitchFamily="34" charset="-122"/>
                <a:cs typeface="Calibri" pitchFamily="34" charset="-120"/>
              </a:rPr>
              <a:t>当CIM系统检测到或预判到可能影响Fab的风险事件时，主动提前告知，而不是等问题真的发生了再通知。预警不只让Fab有时间准备，更从根本上改变了「CIM联系Fab」这个动作的意义——从「出事了找你」变成「提前帮你准备」。</a:t>
            </a:r>
            <a:endParaRPr lang="en-US" sz="1180" dirty="0"/>
          </a:p>
        </p:txBody>
      </p:sp>
      <p:sp>
        <p:nvSpPr>
          <p:cNvPr id="13" name="Text 11"/>
          <p:cNvSpPr/>
          <p:nvPr/>
        </p:nvSpPr>
        <p:spPr>
          <a:xfrm>
            <a:off x="548640" y="4471416"/>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〔机制三〕</a:t>
            </a:r>
            <a:endParaRPr lang="en-US" sz="1100" dirty="0"/>
          </a:p>
        </p:txBody>
      </p:sp>
      <p:sp>
        <p:nvSpPr>
          <p:cNvPr id="14" name="Text 12"/>
          <p:cNvSpPr/>
          <p:nvPr/>
        </p:nvSpPr>
        <p:spPr>
          <a:xfrm>
            <a:off x="2148840" y="4471416"/>
            <a:ext cx="9281160" cy="256032"/>
          </a:xfrm>
          <a:prstGeom prst="rect">
            <a:avLst/>
          </a:prstGeom>
          <a:noFill/>
          <a:ln/>
        </p:spPr>
        <p:txBody>
          <a:bodyPr wrap="square" rtlCol="0" anchor="ctr"/>
          <a:lstStyle/>
          <a:p>
            <a:pPr indent="0" marL="0">
              <a:buNone/>
            </a:pPr>
            <a:r>
              <a:rPr lang="en-US" sz="1300" b="1" dirty="0">
                <a:solidFill>
                  <a:srgbClr val="32436B"/>
                </a:solidFill>
                <a:latin typeface="Calibri" pitchFamily="34" charset="0"/>
                <a:ea typeface="Calibri" pitchFamily="34" charset="-122"/>
                <a:cs typeface="Calibri" pitchFamily="34" charset="-120"/>
              </a:rPr>
              <a:t>故障透明（出了问题主动推送进展，不等追问）</a:t>
            </a:r>
            <a:endParaRPr lang="en-US" sz="1300" dirty="0"/>
          </a:p>
        </p:txBody>
      </p:sp>
      <p:sp>
        <p:nvSpPr>
          <p:cNvPr id="15" name="Text 13"/>
          <p:cNvSpPr/>
          <p:nvPr/>
        </p:nvSpPr>
        <p:spPr>
          <a:xfrm>
            <a:off x="548640" y="4782312"/>
            <a:ext cx="10881360" cy="749808"/>
          </a:xfrm>
          <a:prstGeom prst="rect">
            <a:avLst/>
          </a:prstGeom>
          <a:noFill/>
          <a:ln/>
        </p:spPr>
        <p:txBody>
          <a:bodyPr wrap="square" rtlCol="0" anchor="ctr"/>
          <a:lstStyle/>
          <a:p>
            <a:pPr indent="0" marL="0">
              <a:lnSpc>
                <a:spcPct val="122000"/>
              </a:lnSpc>
              <a:buNone/>
            </a:pPr>
            <a:r>
              <a:rPr lang="en-US" sz="1180" dirty="0">
                <a:solidFill>
                  <a:srgbClr val="2B2F36"/>
                </a:solidFill>
                <a:latin typeface="Calibri" pitchFamily="34" charset="0"/>
                <a:ea typeface="Calibri" pitchFamily="34" charset="-122"/>
                <a:cs typeface="Calibri" pitchFamily="34" charset="-120"/>
              </a:rPr>
              <a:t>当系统出现影响Fab的故障时，在发现问题后30分钟内主动向相关Fab负责人发送第一个进展更新（「我们发现了X问题，正在定位，预计XX分钟内有结果，会持续更新」），此后每隔固定时间推送一次。故障透明不会让Fab感觉「CIM出了更多问题」，反而让Fab感觉「CIM在积极处理，我能看到进展，不用一直来追问」。</a:t>
            </a:r>
            <a:endParaRPr lang="en-US" sz="1180" dirty="0"/>
          </a:p>
        </p:txBody>
      </p:sp>
      <p:sp>
        <p:nvSpPr>
          <p:cNvPr id="16" name="Shape 14"/>
          <p:cNvSpPr/>
          <p:nvPr/>
        </p:nvSpPr>
        <p:spPr>
          <a:xfrm>
            <a:off x="548640" y="5632704"/>
            <a:ext cx="10881360" cy="0"/>
          </a:xfrm>
          <a:prstGeom prst="line">
            <a:avLst/>
          </a:prstGeom>
          <a:noFill/>
          <a:ln w="12700">
            <a:solidFill>
              <a:srgbClr val="E3E7EF"/>
            </a:solidFill>
            <a:prstDash val="solid"/>
          </a:ln>
        </p:spPr>
      </p:sp>
      <p:sp>
        <p:nvSpPr>
          <p:cNvPr id="17" name="Text 15"/>
          <p:cNvSpPr/>
          <p:nvPr/>
        </p:nvSpPr>
        <p:spPr>
          <a:xfrm>
            <a:off x="548640" y="5724144"/>
            <a:ext cx="10881360" cy="347472"/>
          </a:xfrm>
          <a:prstGeom prst="rect">
            <a:avLst/>
          </a:prstGeom>
          <a:noFill/>
          <a:ln/>
        </p:spPr>
        <p:txBody>
          <a:bodyPr wrap="square" rtlCol="0" anchor="ctr"/>
          <a:lstStyle/>
          <a:p>
            <a:pPr indent="0" marL="0">
              <a:buNone/>
            </a:pPr>
            <a:r>
              <a:rPr lang="en-US" sz="1200" i="1" dirty="0">
                <a:solidFill>
                  <a:srgbClr val="9C5536"/>
                </a:solidFill>
                <a:latin typeface="Calibri" pitchFamily="34" charset="0"/>
                <a:ea typeface="Calibri" pitchFamily="34" charset="-122"/>
                <a:cs typeface="Calibri" pitchFamily="34" charset="-120"/>
              </a:rPr>
              <a:t>三个机制共同的底层逻辑：把本来「不可见的」CIM工作，通过主动的信息传递行为变成「可见的正向交换」，系统性地积累信任资本。</a:t>
            </a:r>
            <a:endParaRPr lang="en-US" sz="1200" dirty="0"/>
          </a:p>
        </p:txBody>
      </p:sp>
      <p:sp>
        <p:nvSpPr>
          <p:cNvPr id="18" name="Shape 16"/>
          <p:cNvSpPr/>
          <p:nvPr/>
        </p:nvSpPr>
        <p:spPr>
          <a:xfrm>
            <a:off x="548640" y="6446520"/>
            <a:ext cx="11091672" cy="0"/>
          </a:xfrm>
          <a:prstGeom prst="line">
            <a:avLst/>
          </a:prstGeom>
          <a:noFill/>
          <a:ln w="9525">
            <a:solidFill>
              <a:srgbClr val="C7CDDB"/>
            </a:solidFill>
            <a:prstDash val="solid"/>
          </a:ln>
        </p:spPr>
      </p:sp>
      <p:sp>
        <p:nvSpPr>
          <p:cNvPr id="19" name="Text 17"/>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理论框架二 · 提出</a:t>
            </a:r>
            <a:endParaRPr lang="en-US" sz="900" dirty="0"/>
          </a:p>
        </p:txBody>
      </p:sp>
      <p:sp>
        <p:nvSpPr>
          <p:cNvPr id="20" name="Text 18"/>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7 / 17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模块五 · 跨部门沟通</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理论框架二 · 边界与反例</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主动沟通机制的两种退化形式</a:t>
            </a:r>
            <a:endParaRPr lang="en-US" sz="2700" dirty="0"/>
          </a:p>
        </p:txBody>
      </p:sp>
      <p:sp>
        <p:nvSpPr>
          <p:cNvPr id="6" name="Text 4"/>
          <p:cNvSpPr/>
          <p:nvPr/>
        </p:nvSpPr>
        <p:spPr>
          <a:xfrm>
            <a:off x="548640" y="169164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〔反例一〕</a:t>
            </a:r>
            <a:endParaRPr lang="en-US" sz="1100" dirty="0"/>
          </a:p>
        </p:txBody>
      </p:sp>
      <p:sp>
        <p:nvSpPr>
          <p:cNvPr id="7" name="Text 5"/>
          <p:cNvSpPr/>
          <p:nvPr/>
        </p:nvSpPr>
        <p:spPr>
          <a:xfrm>
            <a:off x="548640" y="1984248"/>
            <a:ext cx="10881360" cy="365760"/>
          </a:xfrm>
          <a:prstGeom prst="rect">
            <a:avLst/>
          </a:prstGeom>
          <a:noFill/>
          <a:ln/>
        </p:spPr>
        <p:txBody>
          <a:bodyPr wrap="square" rtlCol="0" anchor="ctr"/>
          <a:lstStyle/>
          <a:p>
            <a:pPr indent="0" marL="0">
              <a:buNone/>
            </a:pPr>
            <a:r>
              <a:rPr lang="en-US" sz="1450" b="1" dirty="0">
                <a:solidFill>
                  <a:srgbClr val="32436B"/>
                </a:solidFill>
                <a:latin typeface="Calibri" pitchFamily="34" charset="0"/>
                <a:ea typeface="Calibri" pitchFamily="34" charset="-122"/>
                <a:cs typeface="Calibri" pitchFamily="34" charset="-120"/>
              </a:rPr>
              <a:t>定期同步变成「CIM技术汇报」</a:t>
            </a:r>
            <a:endParaRPr lang="en-US" sz="1450" dirty="0"/>
          </a:p>
        </p:txBody>
      </p:sp>
      <p:sp>
        <p:nvSpPr>
          <p:cNvPr id="8" name="Text 6"/>
          <p:cNvSpPr/>
          <p:nvPr/>
        </p:nvSpPr>
        <p:spPr>
          <a:xfrm>
            <a:off x="548640" y="2368296"/>
            <a:ext cx="10881360" cy="960120"/>
          </a:xfrm>
          <a:prstGeom prst="rect">
            <a:avLst/>
          </a:prstGeom>
          <a:noFill/>
          <a:ln/>
        </p:spPr>
        <p:txBody>
          <a:bodyPr wrap="square" rtlCol="0" anchor="ctr"/>
          <a:lstStyle/>
          <a:p>
            <a:pPr indent="0" marL="0">
              <a:lnSpc>
                <a:spcPct val="128000"/>
              </a:lnSpc>
              <a:buNone/>
            </a:pPr>
            <a:r>
              <a:rPr lang="en-US" sz="1250" dirty="0">
                <a:solidFill>
                  <a:srgbClr val="2B2F36"/>
                </a:solidFill>
                <a:latin typeface="Calibri" pitchFamily="34" charset="0"/>
                <a:ea typeface="Calibri" pitchFamily="34" charset="-122"/>
                <a:cs typeface="Calibri" pitchFamily="34" charset="-120"/>
              </a:rPr>
              <a:t>当定期同步的内容仍然用CIM的技术语言写（「本周完成了X模块的Y功能重构，修复了Z类型的并发锁问题」），对Fab而言等于没有收到任何有意义的信息——他们不知道这意味着什么，对他们有什么影响，需不需要做任何准备。形式上的「主动沟通」不会积累信任资本，因为接收方无法解码信息的业务含义，这次信息传递对他们而言等于噪音。</a:t>
            </a:r>
            <a:endParaRPr lang="en-US" sz="1250" dirty="0"/>
          </a:p>
        </p:txBody>
      </p:sp>
      <p:sp>
        <p:nvSpPr>
          <p:cNvPr id="9" name="Text 7"/>
          <p:cNvSpPr/>
          <p:nvPr/>
        </p:nvSpPr>
        <p:spPr>
          <a:xfrm>
            <a:off x="548640" y="352044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〔反例二〕</a:t>
            </a:r>
            <a:endParaRPr lang="en-US" sz="1100" dirty="0"/>
          </a:p>
        </p:txBody>
      </p:sp>
      <p:sp>
        <p:nvSpPr>
          <p:cNvPr id="10" name="Text 8"/>
          <p:cNvSpPr/>
          <p:nvPr/>
        </p:nvSpPr>
        <p:spPr>
          <a:xfrm>
            <a:off x="548640" y="3813048"/>
            <a:ext cx="10881360" cy="365760"/>
          </a:xfrm>
          <a:prstGeom prst="rect">
            <a:avLst/>
          </a:prstGeom>
          <a:noFill/>
          <a:ln/>
        </p:spPr>
        <p:txBody>
          <a:bodyPr wrap="square" rtlCol="0" anchor="ctr"/>
          <a:lstStyle/>
          <a:p>
            <a:pPr indent="0" marL="0">
              <a:buNone/>
            </a:pPr>
            <a:r>
              <a:rPr lang="en-US" sz="1450" b="1" dirty="0">
                <a:solidFill>
                  <a:srgbClr val="32436B"/>
                </a:solidFill>
                <a:latin typeface="Calibri" pitchFamily="34" charset="0"/>
                <a:ea typeface="Calibri" pitchFamily="34" charset="-122"/>
                <a:cs typeface="Calibri" pitchFamily="34" charset="-120"/>
              </a:rPr>
              <a:t>主动预警变成「频繁告警疲劳」</a:t>
            </a:r>
            <a:endParaRPr lang="en-US" sz="1450" dirty="0"/>
          </a:p>
        </p:txBody>
      </p:sp>
      <p:sp>
        <p:nvSpPr>
          <p:cNvPr id="11" name="Text 9"/>
          <p:cNvSpPr/>
          <p:nvPr/>
        </p:nvSpPr>
        <p:spPr>
          <a:xfrm>
            <a:off x="548640" y="4197096"/>
            <a:ext cx="10881360" cy="960120"/>
          </a:xfrm>
          <a:prstGeom prst="rect">
            <a:avLst/>
          </a:prstGeom>
          <a:noFill/>
          <a:ln/>
        </p:spPr>
        <p:txBody>
          <a:bodyPr wrap="square" rtlCol="0" anchor="ctr"/>
          <a:lstStyle/>
          <a:p>
            <a:pPr indent="0" marL="0">
              <a:lnSpc>
                <a:spcPct val="128000"/>
              </a:lnSpc>
              <a:buNone/>
            </a:pPr>
            <a:r>
              <a:rPr lang="en-US" sz="1250" dirty="0">
                <a:solidFill>
                  <a:srgbClr val="2B2F36"/>
                </a:solidFill>
                <a:latin typeface="Calibri" pitchFamily="34" charset="0"/>
                <a:ea typeface="Calibri" pitchFamily="34" charset="-122"/>
                <a:cs typeface="Calibri" pitchFamily="34" charset="-120"/>
              </a:rPr>
              <a:t>如果主动预警的阈值设置过低（每一个微小的系统波动都触发预警），Fab会很快进入「告警疲劳」状态——当他们开始忽略CIM的预警消息，真正重要的预警反而失去了效果。主动预警需要有明确的触发标准：「预计影响Fab生产节拍超过X分钟」或「涉及停线风险」这类可量化的门槛，而不是把所有技术异常都推送给Fab。</a:t>
            </a:r>
            <a:endParaRPr lang="en-US" sz="1250" dirty="0"/>
          </a:p>
        </p:txBody>
      </p:sp>
      <p:sp>
        <p:nvSpPr>
          <p:cNvPr id="12" name="Shape 10"/>
          <p:cNvSpPr/>
          <p:nvPr/>
        </p:nvSpPr>
        <p:spPr>
          <a:xfrm>
            <a:off x="548640" y="5394960"/>
            <a:ext cx="0" cy="1051560"/>
          </a:xfrm>
          <a:prstGeom prst="line">
            <a:avLst/>
          </a:prstGeom>
          <a:noFill/>
          <a:ln w="38100">
            <a:solidFill>
              <a:srgbClr val="9C5536"/>
            </a:solidFill>
            <a:prstDash val="solid"/>
          </a:ln>
        </p:spPr>
      </p:sp>
      <p:sp>
        <p:nvSpPr>
          <p:cNvPr id="13" name="Text 11"/>
          <p:cNvSpPr/>
          <p:nvPr/>
        </p:nvSpPr>
        <p:spPr>
          <a:xfrm>
            <a:off x="777240" y="5394960"/>
            <a:ext cx="274320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边界条件总结</a:t>
            </a:r>
            <a:endParaRPr lang="en-US" sz="1100" dirty="0"/>
          </a:p>
        </p:txBody>
      </p:sp>
      <p:sp>
        <p:nvSpPr>
          <p:cNvPr id="14" name="Text 12"/>
          <p:cNvSpPr/>
          <p:nvPr/>
        </p:nvSpPr>
        <p:spPr>
          <a:xfrm>
            <a:off x="777240" y="5696712"/>
            <a:ext cx="10424160" cy="777240"/>
          </a:xfrm>
          <a:prstGeom prst="rect">
            <a:avLst/>
          </a:prstGeom>
          <a:noFill/>
          <a:ln/>
        </p:spPr>
        <p:txBody>
          <a:bodyPr wrap="square" rtlCol="0" anchor="ctr"/>
          <a:lstStyle/>
          <a:p>
            <a:pPr indent="0" marL="0">
              <a:lnSpc>
                <a:spcPct val="128000"/>
              </a:lnSpc>
              <a:buNone/>
            </a:pPr>
            <a:r>
              <a:rPr lang="en-US" sz="1300" i="1" dirty="0">
                <a:solidFill>
                  <a:srgbClr val="1B2A4A"/>
                </a:solidFill>
                <a:latin typeface="Cambria" pitchFamily="34" charset="0"/>
                <a:ea typeface="Cambria" pitchFamily="34" charset="-122"/>
                <a:cs typeface="Cambria" pitchFamily="34" charset="-120"/>
              </a:rPr>
              <a:t>三个信任建设机制有效的前提是「语言适配」和「信息精准」——定期同步必须用Fab的业务语言；主动预警必须有明确的触发阈值；故障透明必须给出可理解的进展信息而非技术Debug日志。缺少这两个前提，主动沟通会变成制造新的沟通噪音。</a:t>
            </a:r>
            <a:endParaRPr lang="en-US" sz="1300" dirty="0"/>
          </a:p>
        </p:txBody>
      </p:sp>
      <p:sp>
        <p:nvSpPr>
          <p:cNvPr id="15" name="Shape 13"/>
          <p:cNvSpPr/>
          <p:nvPr/>
        </p:nvSpPr>
        <p:spPr>
          <a:xfrm>
            <a:off x="548640" y="6446520"/>
            <a:ext cx="11091672" cy="0"/>
          </a:xfrm>
          <a:prstGeom prst="line">
            <a:avLst/>
          </a:prstGeom>
          <a:noFill/>
          <a:ln w="9525">
            <a:solidFill>
              <a:srgbClr val="C7CDDB"/>
            </a:solidFill>
            <a:prstDash val="solid"/>
          </a:ln>
        </p:spPr>
      </p:sp>
      <p:sp>
        <p:nvSpPr>
          <p:cNvPr id="16" name="Text 14"/>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理论框架二 · 边界与反例</a:t>
            </a:r>
            <a:endParaRPr lang="en-US" sz="900" dirty="0"/>
          </a:p>
        </p:txBody>
      </p:sp>
      <p:sp>
        <p:nvSpPr>
          <p:cNvPr id="17" name="Text 15"/>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8 / 17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模块五 · 跨部门沟通</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案例对照 · 二（语言适配）</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同一件事，两种语言的真实差距</a:t>
            </a:r>
            <a:endParaRPr lang="en-US" sz="2700" dirty="0"/>
          </a:p>
        </p:txBody>
      </p:sp>
      <p:sp>
        <p:nvSpPr>
          <p:cNvPr id="6" name="Text 4"/>
          <p:cNvSpPr/>
          <p:nvPr/>
        </p:nvSpPr>
        <p:spPr>
          <a:xfrm>
            <a:off x="548640" y="1691640"/>
            <a:ext cx="10881360" cy="384048"/>
          </a:xfrm>
          <a:prstGeom prst="rect">
            <a:avLst/>
          </a:prstGeom>
          <a:noFill/>
          <a:ln/>
        </p:spPr>
        <p:txBody>
          <a:bodyPr wrap="square" rtlCol="0" anchor="ctr"/>
          <a:lstStyle/>
          <a:p>
            <a:pPr indent="0" marL="0">
              <a:buNone/>
            </a:pPr>
            <a:r>
              <a:rPr lang="en-US" sz="1250" dirty="0">
                <a:solidFill>
                  <a:srgbClr val="2B2F36"/>
                </a:solidFill>
                <a:latin typeface="Calibri" pitchFamily="34" charset="0"/>
                <a:ea typeface="Calibri" pitchFamily="34" charset="-122"/>
                <a:cs typeface="Calibri" pitchFamily="34" charset="-120"/>
              </a:rPr>
              <a:t>某次CIM系统的计划性维护窗口，同一个事件，用两种语言写成了两个版本的通知：</a:t>
            </a:r>
            <a:endParaRPr lang="en-US" sz="1250" dirty="0"/>
          </a:p>
        </p:txBody>
      </p:sp>
      <p:sp>
        <p:nvSpPr>
          <p:cNvPr id="7" name="Text 5"/>
          <p:cNvSpPr/>
          <p:nvPr/>
        </p:nvSpPr>
        <p:spPr>
          <a:xfrm>
            <a:off x="548640" y="2212848"/>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〔CIM技术语言版本〕</a:t>
            </a:r>
            <a:endParaRPr lang="en-US" sz="1100" dirty="0"/>
          </a:p>
        </p:txBody>
      </p:sp>
      <p:sp>
        <p:nvSpPr>
          <p:cNvPr id="8" name="Shape 6"/>
          <p:cNvSpPr/>
          <p:nvPr/>
        </p:nvSpPr>
        <p:spPr>
          <a:xfrm>
            <a:off x="548640" y="2578608"/>
            <a:ext cx="5257800" cy="0"/>
          </a:xfrm>
          <a:prstGeom prst="line">
            <a:avLst/>
          </a:prstGeom>
          <a:noFill/>
          <a:ln w="12700">
            <a:solidFill>
              <a:srgbClr val="9C5536"/>
            </a:solidFill>
            <a:prstDash val="solid"/>
          </a:ln>
        </p:spPr>
      </p:sp>
      <p:sp>
        <p:nvSpPr>
          <p:cNvPr id="9" name="Text 7"/>
          <p:cNvSpPr/>
          <p:nvPr/>
        </p:nvSpPr>
        <p:spPr>
          <a:xfrm>
            <a:off x="548640" y="2715768"/>
            <a:ext cx="5257800" cy="1691640"/>
          </a:xfrm>
          <a:prstGeom prst="rect">
            <a:avLst/>
          </a:prstGeom>
          <a:noFill/>
          <a:ln/>
        </p:spPr>
        <p:txBody>
          <a:bodyPr wrap="square" rtlCol="0" anchor="ctr"/>
          <a:lstStyle/>
          <a:p>
            <a:pPr indent="0" marL="0">
              <a:lnSpc>
                <a:spcPct val="128000"/>
              </a:lnSpc>
              <a:buNone/>
            </a:pPr>
            <a:r>
              <a:rPr lang="en-US" sz="1200" dirty="0">
                <a:solidFill>
                  <a:srgbClr val="2B2F36"/>
                </a:solidFill>
                <a:latin typeface="Calibri" pitchFamily="34" charset="0"/>
                <a:ea typeface="Calibri" pitchFamily="34" charset="-122"/>
                <a:cs typeface="Calibri" pitchFamily="34" charset="-120"/>
              </a:rPr>
              <a:t>「本次维护涉及调度引擎的批次优先级算法模块重构，预计于周二凌晨02:00-04:00执行，期间调度服务将进入只读模式，历史批次数据可查询，新批次派工请求将被缓存至队列，维护结束后自动重放。」</a:t>
            </a:r>
            <a:endParaRPr lang="en-US" sz="1200" dirty="0"/>
          </a:p>
        </p:txBody>
      </p:sp>
      <p:sp>
        <p:nvSpPr>
          <p:cNvPr id="10" name="Text 8"/>
          <p:cNvSpPr/>
          <p:nvPr/>
        </p:nvSpPr>
        <p:spPr>
          <a:xfrm>
            <a:off x="548640" y="4480560"/>
            <a:ext cx="5257800" cy="384048"/>
          </a:xfrm>
          <a:prstGeom prst="rect">
            <a:avLst/>
          </a:prstGeom>
          <a:noFill/>
          <a:ln/>
        </p:spPr>
        <p:txBody>
          <a:bodyPr wrap="square" rtlCol="0" anchor="ctr"/>
          <a:lstStyle/>
          <a:p>
            <a:pPr indent="0" marL="0">
              <a:lnSpc>
                <a:spcPct val="120000"/>
              </a:lnSpc>
              <a:buNone/>
            </a:pPr>
            <a:r>
              <a:rPr lang="en-US" sz="1100" i="1" dirty="0">
                <a:solidFill>
                  <a:srgbClr val="9C5536"/>
                </a:solidFill>
                <a:latin typeface="Calibri" pitchFamily="34" charset="0"/>
                <a:ea typeface="Calibri" pitchFamily="34" charset="-122"/>
                <a:cs typeface="Calibri" pitchFamily="34" charset="-120"/>
              </a:rPr>
              <a:t>Fab收到后通常还需要追问：「那我们的片子怎么办？」</a:t>
            </a:r>
            <a:endParaRPr lang="en-US" sz="1100" dirty="0"/>
          </a:p>
        </p:txBody>
      </p:sp>
      <p:sp>
        <p:nvSpPr>
          <p:cNvPr id="11" name="Shape 9"/>
          <p:cNvSpPr/>
          <p:nvPr/>
        </p:nvSpPr>
        <p:spPr>
          <a:xfrm>
            <a:off x="6080760" y="2212848"/>
            <a:ext cx="0" cy="3474720"/>
          </a:xfrm>
          <a:prstGeom prst="line">
            <a:avLst/>
          </a:prstGeom>
          <a:noFill/>
          <a:ln w="12700">
            <a:solidFill>
              <a:srgbClr val="E3E7EF"/>
            </a:solidFill>
            <a:prstDash val="solid"/>
          </a:ln>
        </p:spPr>
      </p:sp>
      <p:sp>
        <p:nvSpPr>
          <p:cNvPr id="12" name="Text 10"/>
          <p:cNvSpPr/>
          <p:nvPr/>
        </p:nvSpPr>
        <p:spPr>
          <a:xfrm>
            <a:off x="6519672" y="2212848"/>
            <a:ext cx="2377440" cy="274320"/>
          </a:xfrm>
          <a:prstGeom prst="rect">
            <a:avLst/>
          </a:prstGeom>
          <a:noFill/>
          <a:ln/>
        </p:spPr>
        <p:txBody>
          <a:bodyPr wrap="square" rtlCol="0" anchor="ctr"/>
          <a:lstStyle/>
          <a:p>
            <a:pPr indent="0" marL="0">
              <a:buNone/>
            </a:pPr>
            <a:r>
              <a:rPr lang="en-US" sz="1100" b="1" dirty="0">
                <a:solidFill>
                  <a:srgbClr val="4F6F52"/>
                </a:solidFill>
                <a:latin typeface="Calibri" pitchFamily="34" charset="0"/>
                <a:ea typeface="Calibri" pitchFamily="34" charset="-122"/>
                <a:cs typeface="Calibri" pitchFamily="34" charset="-120"/>
              </a:rPr>
              <a:t>〔Fab业务语言版本〕</a:t>
            </a:r>
            <a:endParaRPr lang="en-US" sz="1100" dirty="0"/>
          </a:p>
        </p:txBody>
      </p:sp>
      <p:sp>
        <p:nvSpPr>
          <p:cNvPr id="13" name="Shape 11"/>
          <p:cNvSpPr/>
          <p:nvPr/>
        </p:nvSpPr>
        <p:spPr>
          <a:xfrm>
            <a:off x="6519672" y="2578608"/>
            <a:ext cx="5257800" cy="0"/>
          </a:xfrm>
          <a:prstGeom prst="line">
            <a:avLst/>
          </a:prstGeom>
          <a:noFill/>
          <a:ln w="12700">
            <a:solidFill>
              <a:srgbClr val="4F6F52"/>
            </a:solidFill>
            <a:prstDash val="solid"/>
          </a:ln>
        </p:spPr>
      </p:sp>
      <p:sp>
        <p:nvSpPr>
          <p:cNvPr id="14" name="Text 12"/>
          <p:cNvSpPr/>
          <p:nvPr/>
        </p:nvSpPr>
        <p:spPr>
          <a:xfrm>
            <a:off x="6519672" y="2715768"/>
            <a:ext cx="5257800" cy="1691640"/>
          </a:xfrm>
          <a:prstGeom prst="rect">
            <a:avLst/>
          </a:prstGeom>
          <a:noFill/>
          <a:ln/>
        </p:spPr>
        <p:txBody>
          <a:bodyPr wrap="square" rtlCol="0" anchor="ctr"/>
          <a:lstStyle/>
          <a:p>
            <a:pPr indent="0" marL="0">
              <a:lnSpc>
                <a:spcPct val="128000"/>
              </a:lnSpc>
              <a:buNone/>
            </a:pPr>
            <a:r>
              <a:rPr lang="en-US" sz="1200" dirty="0">
                <a:solidFill>
                  <a:srgbClr val="2B2F36"/>
                </a:solidFill>
                <a:latin typeface="Calibri" pitchFamily="34" charset="0"/>
                <a:ea typeface="Calibri" pitchFamily="34" charset="-122"/>
                <a:cs typeface="Calibri" pitchFamily="34" charset="-120"/>
              </a:rPr>
              <a:t>「下周二凌晨2点到4点，我们会对调度系统做一次升级。正在进行中的批次不受影响，可以继续运行；但新开批次的自动派工会暂停，需要班组手动指定机台。维护结束后自动恢复正常。如果你们有批次需要在这个时间窗口之前赶出来，请在周一下午4点前告知我们，我们可以提前调整优先级。」</a:t>
            </a:r>
            <a:endParaRPr lang="en-US" sz="1200" dirty="0"/>
          </a:p>
        </p:txBody>
      </p:sp>
      <p:sp>
        <p:nvSpPr>
          <p:cNvPr id="15" name="Text 13"/>
          <p:cNvSpPr/>
          <p:nvPr/>
        </p:nvSpPr>
        <p:spPr>
          <a:xfrm>
            <a:off x="6519672" y="4480560"/>
            <a:ext cx="5257800" cy="384048"/>
          </a:xfrm>
          <a:prstGeom prst="rect">
            <a:avLst/>
          </a:prstGeom>
          <a:noFill/>
          <a:ln/>
        </p:spPr>
        <p:txBody>
          <a:bodyPr wrap="square" rtlCol="0" anchor="ctr"/>
          <a:lstStyle/>
          <a:p>
            <a:pPr indent="0" marL="0">
              <a:lnSpc>
                <a:spcPct val="120000"/>
              </a:lnSpc>
              <a:buNone/>
            </a:pPr>
            <a:r>
              <a:rPr lang="en-US" sz="1100" i="1" dirty="0">
                <a:solidFill>
                  <a:srgbClr val="4F6F52"/>
                </a:solidFill>
                <a:latin typeface="Calibri" pitchFamily="34" charset="0"/>
                <a:ea typeface="Calibri" pitchFamily="34" charset="-122"/>
                <a:cs typeface="Calibri" pitchFamily="34" charset="-120"/>
              </a:rPr>
              <a:t>Fab收到后通常直接开始准备操作安排，无需追问。</a:t>
            </a:r>
            <a:endParaRPr lang="en-US" sz="1100" dirty="0"/>
          </a:p>
        </p:txBody>
      </p:sp>
      <p:sp>
        <p:nvSpPr>
          <p:cNvPr id="16" name="Shape 14"/>
          <p:cNvSpPr/>
          <p:nvPr/>
        </p:nvSpPr>
        <p:spPr>
          <a:xfrm>
            <a:off x="548640" y="5870448"/>
            <a:ext cx="0" cy="457200"/>
          </a:xfrm>
          <a:prstGeom prst="line">
            <a:avLst/>
          </a:prstGeom>
          <a:noFill/>
          <a:ln w="38100">
            <a:solidFill>
              <a:srgbClr val="1B2A4A"/>
            </a:solidFill>
            <a:prstDash val="solid"/>
          </a:ln>
        </p:spPr>
      </p:sp>
      <p:sp>
        <p:nvSpPr>
          <p:cNvPr id="17" name="Text 15"/>
          <p:cNvSpPr/>
          <p:nvPr/>
        </p:nvSpPr>
        <p:spPr>
          <a:xfrm>
            <a:off x="777240" y="5870448"/>
            <a:ext cx="10424160" cy="457200"/>
          </a:xfrm>
          <a:prstGeom prst="rect">
            <a:avLst/>
          </a:prstGeom>
          <a:noFill/>
          <a:ln/>
        </p:spPr>
        <p:txBody>
          <a:bodyPr wrap="square" rtlCol="0" anchor="ctr"/>
          <a:lstStyle/>
          <a:p>
            <a:pPr indent="0" marL="0">
              <a:lnSpc>
                <a:spcPct val="120000"/>
              </a:lnSpc>
              <a:buNone/>
            </a:pPr>
            <a:r>
              <a:rPr lang="en-US" sz="1250" i="1" dirty="0">
                <a:solidFill>
                  <a:srgbClr val="1B2A4A"/>
                </a:solidFill>
                <a:latin typeface="Cambria" pitchFamily="34" charset="0"/>
                <a:ea typeface="Cambria" pitchFamily="34" charset="-122"/>
                <a:cs typeface="Cambria" pitchFamily="34" charset="-120"/>
              </a:rPr>
              <a:t>语言适配的核心技术：把CIM关心的「系统做了什么」翻译成Fab关心的「对我的生产有什么影响、我需要做什么准备、我的批次怎么处理」。</a:t>
            </a:r>
            <a:endParaRPr lang="en-US" sz="1250" dirty="0"/>
          </a:p>
        </p:txBody>
      </p:sp>
      <p:sp>
        <p:nvSpPr>
          <p:cNvPr id="18" name="Shape 16"/>
          <p:cNvSpPr/>
          <p:nvPr/>
        </p:nvSpPr>
        <p:spPr>
          <a:xfrm>
            <a:off x="548640" y="6446520"/>
            <a:ext cx="11091672" cy="0"/>
          </a:xfrm>
          <a:prstGeom prst="line">
            <a:avLst/>
          </a:prstGeom>
          <a:noFill/>
          <a:ln w="9525">
            <a:solidFill>
              <a:srgbClr val="C7CDDB"/>
            </a:solidFill>
            <a:prstDash val="solid"/>
          </a:ln>
        </p:spPr>
      </p:sp>
      <p:sp>
        <p:nvSpPr>
          <p:cNvPr id="19" name="Text 17"/>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案例对照二 · 语言适配</a:t>
            </a:r>
            <a:endParaRPr lang="en-US" sz="900" dirty="0"/>
          </a:p>
        </p:txBody>
      </p:sp>
      <p:sp>
        <p:nvSpPr>
          <p:cNvPr id="20" name="Text 18"/>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9 / 17</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模块五 · 跨部门沟通</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案例对照 · 三（故障透明）</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故障响应的两种模式，信任积累效果的天壤之别</a:t>
            </a:r>
            <a:endParaRPr lang="en-US" sz="2700" dirty="0"/>
          </a:p>
        </p:txBody>
      </p:sp>
      <p:sp>
        <p:nvSpPr>
          <p:cNvPr id="6" name="Text 4"/>
          <p:cNvSpPr/>
          <p:nvPr/>
        </p:nvSpPr>
        <p:spPr>
          <a:xfrm>
            <a:off x="548640" y="169164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〔模式A · 等问题解决才通知〕</a:t>
            </a:r>
            <a:endParaRPr lang="en-US" sz="1100" dirty="0"/>
          </a:p>
        </p:txBody>
      </p:sp>
      <p:sp>
        <p:nvSpPr>
          <p:cNvPr id="7" name="Shape 5"/>
          <p:cNvSpPr/>
          <p:nvPr/>
        </p:nvSpPr>
        <p:spPr>
          <a:xfrm>
            <a:off x="548640" y="2057400"/>
            <a:ext cx="5257800" cy="0"/>
          </a:xfrm>
          <a:prstGeom prst="line">
            <a:avLst/>
          </a:prstGeom>
          <a:noFill/>
          <a:ln w="19050">
            <a:solidFill>
              <a:srgbClr val="9C5536"/>
            </a:solidFill>
            <a:prstDash val="solid"/>
          </a:ln>
        </p:spPr>
      </p:sp>
      <p:sp>
        <p:nvSpPr>
          <p:cNvPr id="8" name="Text 6"/>
          <p:cNvSpPr/>
          <p:nvPr/>
        </p:nvSpPr>
        <p:spPr>
          <a:xfrm>
            <a:off x="548640" y="2194560"/>
            <a:ext cx="5257800" cy="1024128"/>
          </a:xfrm>
          <a:prstGeom prst="rect">
            <a:avLst/>
          </a:prstGeom>
          <a:noFill/>
          <a:ln/>
        </p:spPr>
        <p:txBody>
          <a:bodyPr wrap="square" rtlCol="0" anchor="ctr"/>
          <a:lstStyle/>
          <a:p>
            <a:pPr indent="0" marL="0">
              <a:lnSpc>
                <a:spcPct val="128000"/>
              </a:lnSpc>
              <a:buNone/>
            </a:pPr>
            <a:r>
              <a:rPr lang="en-US" sz="1200" dirty="0">
                <a:solidFill>
                  <a:srgbClr val="2B2F36"/>
                </a:solidFill>
                <a:latin typeface="Calibri" pitchFamily="34" charset="0"/>
                <a:ea typeface="Calibri" pitchFamily="34" charset="-122"/>
                <a:cs typeface="Calibri" pitchFamily="34" charset="-120"/>
              </a:rPr>
              <a:t>凌晨3:07 — CIM发现系统异常，开始处理。</a:t>
            </a:r>
            <a:endParaRPr lang="en-US" sz="1200" dirty="0"/>
          </a:p>
          <a:p>
            <a:pPr indent="0" marL="0">
              <a:lnSpc>
                <a:spcPct val="128000"/>
              </a:lnSpc>
              <a:buNone/>
            </a:pPr>
            <a:r>
              <a:rPr lang="en-US" sz="1200" dirty="0">
                <a:solidFill>
                  <a:srgbClr val="2B2F36"/>
                </a:solidFill>
                <a:latin typeface="Calibri" pitchFamily="34" charset="0"/>
                <a:ea typeface="Calibri" pitchFamily="34" charset="-122"/>
                <a:cs typeface="Calibri" pitchFamily="34" charset="-120"/>
              </a:rPr>
              <a:t>凌晨4:52 — 问题解决，CIM发送消息：「之前系统出了一个问题，现在已经修复，不影响今天白班的生产。」</a:t>
            </a:r>
            <a:endParaRPr lang="en-US" sz="1200" dirty="0"/>
          </a:p>
        </p:txBody>
      </p:sp>
      <p:sp>
        <p:nvSpPr>
          <p:cNvPr id="9" name="Text 7"/>
          <p:cNvSpPr/>
          <p:nvPr/>
        </p:nvSpPr>
        <p:spPr>
          <a:xfrm>
            <a:off x="548640" y="3291840"/>
            <a:ext cx="5257800" cy="256032"/>
          </a:xfrm>
          <a:prstGeom prst="rect">
            <a:avLst/>
          </a:prstGeom>
          <a:noFill/>
          <a:ln/>
        </p:spPr>
        <p:txBody>
          <a:bodyPr wrap="square" rtlCol="0" anchor="ctr"/>
          <a:lstStyle/>
          <a:p>
            <a:pPr indent="0" marL="0">
              <a:buNone/>
            </a:pPr>
            <a:r>
              <a:rPr lang="en-US" sz="1200" b="1" dirty="0">
                <a:solidFill>
                  <a:srgbClr val="9C5536"/>
                </a:solidFill>
                <a:latin typeface="Calibri" pitchFamily="34" charset="0"/>
                <a:ea typeface="Calibri" pitchFamily="34" charset="-122"/>
                <a:cs typeface="Calibri" pitchFamily="34" charset="-120"/>
              </a:rPr>
              <a:t>Fab早班组长的感受：</a:t>
            </a:r>
            <a:endParaRPr lang="en-US" sz="1200" dirty="0"/>
          </a:p>
        </p:txBody>
      </p:sp>
      <p:sp>
        <p:nvSpPr>
          <p:cNvPr id="10" name="Text 8"/>
          <p:cNvSpPr/>
          <p:nvPr/>
        </p:nvSpPr>
        <p:spPr>
          <a:xfrm>
            <a:off x="548640" y="3566160"/>
            <a:ext cx="5257800" cy="868680"/>
          </a:xfrm>
          <a:prstGeom prst="rect">
            <a:avLst/>
          </a:prstGeom>
          <a:noFill/>
          <a:ln/>
        </p:spPr>
        <p:txBody>
          <a:bodyPr wrap="square" rtlCol="0" anchor="ctr"/>
          <a:lstStyle/>
          <a:p>
            <a:pPr indent="0" marL="0">
              <a:lnSpc>
                <a:spcPct val="128000"/>
              </a:lnSpc>
              <a:buNone/>
            </a:pPr>
            <a:r>
              <a:rPr lang="en-US" sz="1200" dirty="0">
                <a:solidFill>
                  <a:srgbClr val="2B2F36"/>
                </a:solidFill>
                <a:latin typeface="Calibri" pitchFamily="34" charset="0"/>
                <a:ea typeface="Calibri" pitchFamily="34" charset="-122"/>
                <a:cs typeface="Calibri" pitchFamily="34" charset="-120"/>
              </a:rPr>
              <a:t>「什么时候出的事不知道，影响了多久不知道，出了什么问题不知道。下次再出这种情况我该怎么应对？」</a:t>
            </a:r>
            <a:endParaRPr lang="en-US" sz="1200" dirty="0"/>
          </a:p>
        </p:txBody>
      </p:sp>
      <p:sp>
        <p:nvSpPr>
          <p:cNvPr id="11" name="Shape 9"/>
          <p:cNvSpPr/>
          <p:nvPr/>
        </p:nvSpPr>
        <p:spPr>
          <a:xfrm>
            <a:off x="6080760" y="1691640"/>
            <a:ext cx="0" cy="4572000"/>
          </a:xfrm>
          <a:prstGeom prst="line">
            <a:avLst/>
          </a:prstGeom>
          <a:noFill/>
          <a:ln w="12700">
            <a:solidFill>
              <a:srgbClr val="E3E7EF"/>
            </a:solidFill>
            <a:prstDash val="solid"/>
          </a:ln>
        </p:spPr>
      </p:sp>
      <p:sp>
        <p:nvSpPr>
          <p:cNvPr id="12" name="Text 10"/>
          <p:cNvSpPr/>
          <p:nvPr/>
        </p:nvSpPr>
        <p:spPr>
          <a:xfrm>
            <a:off x="6519672" y="1691640"/>
            <a:ext cx="2377440" cy="274320"/>
          </a:xfrm>
          <a:prstGeom prst="rect">
            <a:avLst/>
          </a:prstGeom>
          <a:noFill/>
          <a:ln/>
        </p:spPr>
        <p:txBody>
          <a:bodyPr wrap="square" rtlCol="0" anchor="ctr"/>
          <a:lstStyle/>
          <a:p>
            <a:pPr indent="0" marL="0">
              <a:buNone/>
            </a:pPr>
            <a:r>
              <a:rPr lang="en-US" sz="1100" b="1" dirty="0">
                <a:solidFill>
                  <a:srgbClr val="4F6F52"/>
                </a:solidFill>
                <a:latin typeface="Calibri" pitchFamily="34" charset="0"/>
                <a:ea typeface="Calibri" pitchFamily="34" charset="-122"/>
                <a:cs typeface="Calibri" pitchFamily="34" charset="-120"/>
              </a:rPr>
              <a:t>〔模式B · 故障透明式响应〕</a:t>
            </a:r>
            <a:endParaRPr lang="en-US" sz="1100" dirty="0"/>
          </a:p>
        </p:txBody>
      </p:sp>
      <p:sp>
        <p:nvSpPr>
          <p:cNvPr id="13" name="Shape 11"/>
          <p:cNvSpPr/>
          <p:nvPr/>
        </p:nvSpPr>
        <p:spPr>
          <a:xfrm>
            <a:off x="6519672" y="2057400"/>
            <a:ext cx="5257800" cy="0"/>
          </a:xfrm>
          <a:prstGeom prst="line">
            <a:avLst/>
          </a:prstGeom>
          <a:noFill/>
          <a:ln w="19050">
            <a:solidFill>
              <a:srgbClr val="4F6F52"/>
            </a:solidFill>
            <a:prstDash val="solid"/>
          </a:ln>
        </p:spPr>
      </p:sp>
      <p:sp>
        <p:nvSpPr>
          <p:cNvPr id="14" name="Text 12"/>
          <p:cNvSpPr/>
          <p:nvPr/>
        </p:nvSpPr>
        <p:spPr>
          <a:xfrm>
            <a:off x="6519672" y="2194560"/>
            <a:ext cx="5257800" cy="2148840"/>
          </a:xfrm>
          <a:prstGeom prst="rect">
            <a:avLst/>
          </a:prstGeom>
          <a:noFill/>
          <a:ln/>
        </p:spPr>
        <p:txBody>
          <a:bodyPr wrap="square" rtlCol="0" anchor="ctr"/>
          <a:lstStyle/>
          <a:p>
            <a:pPr indent="0" marL="0">
              <a:lnSpc>
                <a:spcPct val="128000"/>
              </a:lnSpc>
              <a:buNone/>
            </a:pPr>
            <a:r>
              <a:rPr lang="en-US" sz="1150" dirty="0">
                <a:solidFill>
                  <a:srgbClr val="2B2F36"/>
                </a:solidFill>
                <a:latin typeface="Calibri" pitchFamily="34" charset="0"/>
                <a:ea typeface="Calibri" pitchFamily="34" charset="-122"/>
                <a:cs typeface="Calibri" pitchFamily="34" charset="-120"/>
              </a:rPr>
              <a:t>凌晨3:14 — 「调度系统出现异常，正在定位原因，预计30分钟内有明确结论，期间XX产线的自动派工可能受影响，建议暂时人工确认派工。」</a:t>
            </a:r>
            <a:endParaRPr lang="en-US" sz="1150" dirty="0"/>
          </a:p>
          <a:p>
            <a:pPr indent="0" marL="0">
              <a:lnSpc>
                <a:spcPct val="128000"/>
              </a:lnSpc>
              <a:buNone/>
            </a:pPr>
            <a:r>
              <a:rPr lang="en-US" sz="1150" dirty="0">
                <a:solidFill>
                  <a:srgbClr val="2B2F36"/>
                </a:solidFill>
                <a:latin typeface="Calibri" pitchFamily="34" charset="0"/>
                <a:ea typeface="Calibri" pitchFamily="34" charset="-122"/>
                <a:cs typeface="Calibri" pitchFamily="34" charset="-120"/>
              </a:rPr>
              <a:t>凌晨3:38 — 「已定位：XX模块配置文件冲突，正在修复，预计20分钟内恢复，XX产线的XX批次已人工保级，不受影响。」</a:t>
            </a:r>
            <a:endParaRPr lang="en-US" sz="1150" dirty="0"/>
          </a:p>
          <a:p>
            <a:pPr indent="0" marL="0">
              <a:lnSpc>
                <a:spcPct val="128000"/>
              </a:lnSpc>
              <a:buNone/>
            </a:pPr>
            <a:r>
              <a:rPr lang="en-US" sz="1150" dirty="0">
                <a:solidFill>
                  <a:srgbClr val="2B2F36"/>
                </a:solidFill>
                <a:latin typeface="Calibri" pitchFamily="34" charset="0"/>
                <a:ea typeface="Calibri" pitchFamily="34" charset="-122"/>
                <a:cs typeface="Calibri" pitchFamily="34" charset="-120"/>
              </a:rPr>
              <a:t>凌晨3:59 — 「系统已恢复正常，请确认你们的批次状态，今天会出一份根因分析报告。」</a:t>
            </a:r>
            <a:endParaRPr lang="en-US" sz="1150" dirty="0"/>
          </a:p>
        </p:txBody>
      </p:sp>
      <p:sp>
        <p:nvSpPr>
          <p:cNvPr id="15" name="Text 13"/>
          <p:cNvSpPr/>
          <p:nvPr/>
        </p:nvSpPr>
        <p:spPr>
          <a:xfrm>
            <a:off x="6519672" y="4416552"/>
            <a:ext cx="5257800" cy="256032"/>
          </a:xfrm>
          <a:prstGeom prst="rect">
            <a:avLst/>
          </a:prstGeom>
          <a:noFill/>
          <a:ln/>
        </p:spPr>
        <p:txBody>
          <a:bodyPr wrap="square" rtlCol="0" anchor="ctr"/>
          <a:lstStyle/>
          <a:p>
            <a:pPr indent="0" marL="0">
              <a:buNone/>
            </a:pPr>
            <a:r>
              <a:rPr lang="en-US" sz="1200" b="1" dirty="0">
                <a:solidFill>
                  <a:srgbClr val="4F6F52"/>
                </a:solidFill>
                <a:latin typeface="Calibri" pitchFamily="34" charset="0"/>
                <a:ea typeface="Calibri" pitchFamily="34" charset="-122"/>
                <a:cs typeface="Calibri" pitchFamily="34" charset="-120"/>
              </a:rPr>
              <a:t>Fab早班组长的感受：</a:t>
            </a:r>
            <a:endParaRPr lang="en-US" sz="1200" dirty="0"/>
          </a:p>
        </p:txBody>
      </p:sp>
      <p:sp>
        <p:nvSpPr>
          <p:cNvPr id="16" name="Text 14"/>
          <p:cNvSpPr/>
          <p:nvPr/>
        </p:nvSpPr>
        <p:spPr>
          <a:xfrm>
            <a:off x="6519672" y="4690872"/>
            <a:ext cx="5257800" cy="868680"/>
          </a:xfrm>
          <a:prstGeom prst="rect">
            <a:avLst/>
          </a:prstGeom>
          <a:noFill/>
          <a:ln/>
        </p:spPr>
        <p:txBody>
          <a:bodyPr wrap="square" rtlCol="0" anchor="ctr"/>
          <a:lstStyle/>
          <a:p>
            <a:pPr indent="0" marL="0">
              <a:lnSpc>
                <a:spcPct val="128000"/>
              </a:lnSpc>
              <a:buNone/>
            </a:pPr>
            <a:r>
              <a:rPr lang="en-US" sz="1200" dirty="0">
                <a:solidFill>
                  <a:srgbClr val="2B2F36"/>
                </a:solidFill>
                <a:latin typeface="Calibri" pitchFamily="34" charset="0"/>
                <a:ea typeface="Calibri" pitchFamily="34" charset="-122"/>
                <a:cs typeface="Calibri" pitchFamily="34" charset="-120"/>
              </a:rPr>
              <a:t>「昨晚出了问题，但我全程知道在发生什么，知道该怎么应对，CIM很专业，这种情况我知道找他们。」</a:t>
            </a:r>
            <a:endParaRPr lang="en-US" sz="1200" dirty="0"/>
          </a:p>
        </p:txBody>
      </p:sp>
      <p:sp>
        <p:nvSpPr>
          <p:cNvPr id="17" name="Shape 15"/>
          <p:cNvSpPr/>
          <p:nvPr/>
        </p:nvSpPr>
        <p:spPr>
          <a:xfrm>
            <a:off x="548640" y="6446520"/>
            <a:ext cx="11091672" cy="0"/>
          </a:xfrm>
          <a:prstGeom prst="line">
            <a:avLst/>
          </a:prstGeom>
          <a:noFill/>
          <a:ln w="9525">
            <a:solidFill>
              <a:srgbClr val="C7CDDB"/>
            </a:solidFill>
            <a:prstDash val="solid"/>
          </a:ln>
        </p:spPr>
      </p:sp>
      <p:sp>
        <p:nvSpPr>
          <p:cNvPr id="18" name="Text 16"/>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案例对照三 · 故障透明</a:t>
            </a:r>
            <a:endParaRPr lang="en-US" sz="900" dirty="0"/>
          </a:p>
        </p:txBody>
      </p:sp>
      <p:sp>
        <p:nvSpPr>
          <p:cNvPr id="19" name="Text 17"/>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10 / 17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模块五 · 跨部门沟通</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常见认知误区 · 之一</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跨部门沟通中最常见的认知误区</a:t>
            </a:r>
            <a:endParaRPr lang="en-US" sz="2700" dirty="0"/>
          </a:p>
        </p:txBody>
      </p:sp>
      <p:sp>
        <p:nvSpPr>
          <p:cNvPr id="6" name="Text 4"/>
          <p:cNvSpPr/>
          <p:nvPr/>
        </p:nvSpPr>
        <p:spPr>
          <a:xfrm>
            <a:off x="548640" y="1664208"/>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〔误区一〕</a:t>
            </a:r>
            <a:endParaRPr lang="en-US" sz="1100" dirty="0"/>
          </a:p>
        </p:txBody>
      </p:sp>
      <p:sp>
        <p:nvSpPr>
          <p:cNvPr id="7" name="Text 5"/>
          <p:cNvSpPr/>
          <p:nvPr/>
        </p:nvSpPr>
        <p:spPr>
          <a:xfrm>
            <a:off x="548640" y="1975104"/>
            <a:ext cx="10881360" cy="502920"/>
          </a:xfrm>
          <a:prstGeom prst="rect">
            <a:avLst/>
          </a:prstGeom>
          <a:noFill/>
          <a:ln/>
        </p:spPr>
        <p:txBody>
          <a:bodyPr wrap="square" rtlCol="0" anchor="ctr"/>
          <a:lstStyle/>
          <a:p>
            <a:pPr indent="0" marL="0">
              <a:lnSpc>
                <a:spcPct val="115000"/>
              </a:lnSpc>
              <a:buNone/>
            </a:pPr>
            <a:r>
              <a:rPr lang="en-US" sz="1400" b="1" i="1" dirty="0">
                <a:solidFill>
                  <a:srgbClr val="1B2A4A"/>
                </a:solidFill>
                <a:latin typeface="Cambria" pitchFamily="34" charset="0"/>
                <a:ea typeface="Cambria" pitchFamily="34" charset="-122"/>
                <a:cs typeface="Cambria" pitchFamily="34" charset="-120"/>
              </a:rPr>
              <a:t>「我们技术上做得好，对方自然会信任我们」</a:t>
            </a:r>
            <a:endParaRPr lang="en-US" sz="1400" dirty="0"/>
          </a:p>
        </p:txBody>
      </p:sp>
      <p:sp>
        <p:nvSpPr>
          <p:cNvPr id="8" name="Text 6"/>
          <p:cNvSpPr/>
          <p:nvPr/>
        </p:nvSpPr>
        <p:spPr>
          <a:xfrm>
            <a:off x="548640" y="2505456"/>
            <a:ext cx="1828800" cy="274320"/>
          </a:xfrm>
          <a:prstGeom prst="rect">
            <a:avLst/>
          </a:prstGeom>
          <a:noFill/>
          <a:ln/>
        </p:spPr>
        <p:txBody>
          <a:bodyPr wrap="square" rtlCol="0" anchor="ctr"/>
          <a:lstStyle/>
          <a:p>
            <a:pPr indent="0" marL="0">
              <a:buNone/>
            </a:pPr>
            <a:r>
              <a:rPr lang="en-US" sz="1150" b="1" dirty="0">
                <a:solidFill>
                  <a:srgbClr val="32436B"/>
                </a:solidFill>
                <a:latin typeface="Calibri" pitchFamily="34" charset="0"/>
                <a:ea typeface="Calibri" pitchFamily="34" charset="-122"/>
                <a:cs typeface="Calibri" pitchFamily="34" charset="-120"/>
              </a:rPr>
              <a:t>错误根源：</a:t>
            </a:r>
            <a:endParaRPr lang="en-US" sz="1150" dirty="0"/>
          </a:p>
        </p:txBody>
      </p:sp>
      <p:sp>
        <p:nvSpPr>
          <p:cNvPr id="9" name="Text 7"/>
          <p:cNvSpPr/>
          <p:nvPr/>
        </p:nvSpPr>
        <p:spPr>
          <a:xfrm>
            <a:off x="548640" y="2798064"/>
            <a:ext cx="10881360" cy="1234440"/>
          </a:xfrm>
          <a:prstGeom prst="rect">
            <a:avLst/>
          </a:prstGeom>
          <a:noFill/>
          <a:ln/>
        </p:spPr>
        <p:txBody>
          <a:bodyPr wrap="square" rtlCol="0" anchor="ctr"/>
          <a:lstStyle/>
          <a:p>
            <a:pPr indent="0" marL="0">
              <a:lnSpc>
                <a:spcPct val="125000"/>
              </a:lnSpc>
              <a:buNone/>
            </a:pPr>
            <a:r>
              <a:rPr lang="en-US" sz="1200" dirty="0">
                <a:solidFill>
                  <a:srgbClr val="2B2F36"/>
                </a:solidFill>
                <a:latin typeface="Calibri" pitchFamily="34" charset="0"/>
                <a:ea typeface="Calibri" pitchFamily="34" charset="-122"/>
                <a:cs typeface="Calibri" pitchFamily="34" charset="-120"/>
              </a:rPr>
              <a:t>这种认知混淆了「技术能力」和「信任」两个完全不同维度的资本。社会交换理论的核心洞察是：信任来自于双方之间可观察的、正向的交换行为积累，而不是单方面能力水平的高低。一个技术能力极强但从不主动沟通的CIM团队，在Fab眼中是「技术好但不透明」——这种感知不会产生信任，而是会产生依赖但不信任的复杂关系：对方依赖你解决问题，但不信任你不会带来意外。</a:t>
            </a:r>
            <a:endParaRPr lang="en-US" sz="1200" dirty="0"/>
          </a:p>
        </p:txBody>
      </p:sp>
      <p:sp>
        <p:nvSpPr>
          <p:cNvPr id="10" name="Text 8"/>
          <p:cNvSpPr/>
          <p:nvPr/>
        </p:nvSpPr>
        <p:spPr>
          <a:xfrm>
            <a:off x="548640" y="420624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〔误区二〕</a:t>
            </a:r>
            <a:endParaRPr lang="en-US" sz="1100" dirty="0"/>
          </a:p>
        </p:txBody>
      </p:sp>
      <p:sp>
        <p:nvSpPr>
          <p:cNvPr id="11" name="Text 9"/>
          <p:cNvSpPr/>
          <p:nvPr/>
        </p:nvSpPr>
        <p:spPr>
          <a:xfrm>
            <a:off x="548640" y="4517136"/>
            <a:ext cx="10881360" cy="502920"/>
          </a:xfrm>
          <a:prstGeom prst="rect">
            <a:avLst/>
          </a:prstGeom>
          <a:noFill/>
          <a:ln/>
        </p:spPr>
        <p:txBody>
          <a:bodyPr wrap="square" rtlCol="0" anchor="ctr"/>
          <a:lstStyle/>
          <a:p>
            <a:pPr indent="0" marL="0">
              <a:lnSpc>
                <a:spcPct val="115000"/>
              </a:lnSpc>
              <a:buNone/>
            </a:pPr>
            <a:r>
              <a:rPr lang="en-US" sz="1400" b="1" i="1" dirty="0">
                <a:solidFill>
                  <a:srgbClr val="1B2A4A"/>
                </a:solidFill>
                <a:latin typeface="Cambria" pitchFamily="34" charset="0"/>
                <a:ea typeface="Cambria" pitchFamily="34" charset="-122"/>
                <a:cs typeface="Cambria" pitchFamily="34" charset="-120"/>
              </a:rPr>
              <a:t>「沟通是软技能，不是CIM技术主管需要关注的优先事项」</a:t>
            </a:r>
            <a:endParaRPr lang="en-US" sz="1400" dirty="0"/>
          </a:p>
        </p:txBody>
      </p:sp>
      <p:sp>
        <p:nvSpPr>
          <p:cNvPr id="12" name="Text 10"/>
          <p:cNvSpPr/>
          <p:nvPr/>
        </p:nvSpPr>
        <p:spPr>
          <a:xfrm>
            <a:off x="548640" y="5047488"/>
            <a:ext cx="1828800" cy="274320"/>
          </a:xfrm>
          <a:prstGeom prst="rect">
            <a:avLst/>
          </a:prstGeom>
          <a:noFill/>
          <a:ln/>
        </p:spPr>
        <p:txBody>
          <a:bodyPr wrap="square" rtlCol="0" anchor="ctr"/>
          <a:lstStyle/>
          <a:p>
            <a:pPr indent="0" marL="0">
              <a:buNone/>
            </a:pPr>
            <a:r>
              <a:rPr lang="en-US" sz="1150" b="1" dirty="0">
                <a:solidFill>
                  <a:srgbClr val="32436B"/>
                </a:solidFill>
                <a:latin typeface="Calibri" pitchFamily="34" charset="0"/>
                <a:ea typeface="Calibri" pitchFamily="34" charset="-122"/>
                <a:cs typeface="Calibri" pitchFamily="34" charset="-120"/>
              </a:rPr>
              <a:t>错误根源：</a:t>
            </a:r>
            <a:endParaRPr lang="en-US" sz="1150" dirty="0"/>
          </a:p>
        </p:txBody>
      </p:sp>
      <p:sp>
        <p:nvSpPr>
          <p:cNvPr id="13" name="Text 11"/>
          <p:cNvSpPr/>
          <p:nvPr/>
        </p:nvSpPr>
        <p:spPr>
          <a:xfrm>
            <a:off x="548640" y="5340096"/>
            <a:ext cx="10881360" cy="1234440"/>
          </a:xfrm>
          <a:prstGeom prst="rect">
            <a:avLst/>
          </a:prstGeom>
          <a:noFill/>
          <a:ln/>
        </p:spPr>
        <p:txBody>
          <a:bodyPr wrap="square" rtlCol="0" anchor="ctr"/>
          <a:lstStyle/>
          <a:p>
            <a:pPr indent="0" marL="0">
              <a:lnSpc>
                <a:spcPct val="125000"/>
              </a:lnSpc>
              <a:buNone/>
            </a:pPr>
            <a:r>
              <a:rPr lang="en-US" sz="1200" dirty="0">
                <a:solidFill>
                  <a:srgbClr val="2B2F36"/>
                </a:solidFill>
                <a:latin typeface="Calibri" pitchFamily="34" charset="0"/>
                <a:ea typeface="Calibri" pitchFamily="34" charset="-122"/>
                <a:cs typeface="Calibri" pitchFamily="34" charset="-120"/>
              </a:rPr>
              <a:t>这种认知在现代制造环境中代价越来越高。CIM系统的价值越来越依赖跨部门协作的质量——一个技术上正确但没有被制造部、工艺部接受和配合的CIM方案，其实际价值接近于零。更重要的是，跨部门信任关系的建立需要持续的、主动的行为投入，如果被推迟到「有时间再说」，这种关系只会在争吵和危机中被动形成，而不是在日常中主动积累。</a:t>
            </a:r>
            <a:endParaRPr lang="en-US" sz="1200" dirty="0"/>
          </a:p>
        </p:txBody>
      </p:sp>
      <p:sp>
        <p:nvSpPr>
          <p:cNvPr id="14" name="Shape 12"/>
          <p:cNvSpPr/>
          <p:nvPr/>
        </p:nvSpPr>
        <p:spPr>
          <a:xfrm>
            <a:off x="548640" y="6446520"/>
            <a:ext cx="11091672" cy="0"/>
          </a:xfrm>
          <a:prstGeom prst="line">
            <a:avLst/>
          </a:prstGeom>
          <a:noFill/>
          <a:ln w="9525">
            <a:solidFill>
              <a:srgbClr val="C7CDDB"/>
            </a:solidFill>
            <a:prstDash val="solid"/>
          </a:ln>
        </p:spPr>
      </p:sp>
      <p:sp>
        <p:nvSpPr>
          <p:cNvPr id="15" name="Text 13"/>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常见认知误区 · 上</a:t>
            </a:r>
            <a:endParaRPr lang="en-US" sz="900" dirty="0"/>
          </a:p>
        </p:txBody>
      </p:sp>
      <p:sp>
        <p:nvSpPr>
          <p:cNvPr id="16" name="Text 14"/>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11 / 17</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模块五 · 跨部门沟通</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常见认知误区 · 之二</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跨部门沟通中最常见的认知误区</a:t>
            </a:r>
            <a:endParaRPr lang="en-US" sz="2700" dirty="0"/>
          </a:p>
        </p:txBody>
      </p:sp>
      <p:sp>
        <p:nvSpPr>
          <p:cNvPr id="6" name="Text 4"/>
          <p:cNvSpPr/>
          <p:nvPr/>
        </p:nvSpPr>
        <p:spPr>
          <a:xfrm>
            <a:off x="548640" y="1664208"/>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〔误区三〕</a:t>
            </a:r>
            <a:endParaRPr lang="en-US" sz="1100" dirty="0"/>
          </a:p>
        </p:txBody>
      </p:sp>
      <p:sp>
        <p:nvSpPr>
          <p:cNvPr id="7" name="Text 5"/>
          <p:cNvSpPr/>
          <p:nvPr/>
        </p:nvSpPr>
        <p:spPr>
          <a:xfrm>
            <a:off x="548640" y="1975104"/>
            <a:ext cx="10881360" cy="502920"/>
          </a:xfrm>
          <a:prstGeom prst="rect">
            <a:avLst/>
          </a:prstGeom>
          <a:noFill/>
          <a:ln/>
        </p:spPr>
        <p:txBody>
          <a:bodyPr wrap="square" rtlCol="0" anchor="ctr"/>
          <a:lstStyle/>
          <a:p>
            <a:pPr indent="0" marL="0">
              <a:lnSpc>
                <a:spcPct val="115000"/>
              </a:lnSpc>
              <a:buNone/>
            </a:pPr>
            <a:r>
              <a:rPr lang="en-US" sz="1400" b="1" i="1" dirty="0">
                <a:solidFill>
                  <a:srgbClr val="1B2A4A"/>
                </a:solidFill>
                <a:latin typeface="Cambria" pitchFamily="34" charset="0"/>
                <a:ea typeface="Cambria" pitchFamily="34" charset="-122"/>
                <a:cs typeface="Cambria" pitchFamily="34" charset="-120"/>
              </a:rPr>
              <a:t>「出了问题我们已经很努力地在处理，对方还来催，是在添乱」</a:t>
            </a:r>
            <a:endParaRPr lang="en-US" sz="1400" dirty="0"/>
          </a:p>
        </p:txBody>
      </p:sp>
      <p:sp>
        <p:nvSpPr>
          <p:cNvPr id="8" name="Text 6"/>
          <p:cNvSpPr/>
          <p:nvPr/>
        </p:nvSpPr>
        <p:spPr>
          <a:xfrm>
            <a:off x="548640" y="2505456"/>
            <a:ext cx="1828800" cy="274320"/>
          </a:xfrm>
          <a:prstGeom prst="rect">
            <a:avLst/>
          </a:prstGeom>
          <a:noFill/>
          <a:ln/>
        </p:spPr>
        <p:txBody>
          <a:bodyPr wrap="square" rtlCol="0" anchor="ctr"/>
          <a:lstStyle/>
          <a:p>
            <a:pPr indent="0" marL="0">
              <a:buNone/>
            </a:pPr>
            <a:r>
              <a:rPr lang="en-US" sz="1150" b="1" dirty="0">
                <a:solidFill>
                  <a:srgbClr val="32436B"/>
                </a:solidFill>
                <a:latin typeface="Calibri" pitchFamily="34" charset="0"/>
                <a:ea typeface="Calibri" pitchFamily="34" charset="-122"/>
                <a:cs typeface="Calibri" pitchFamily="34" charset="-120"/>
              </a:rPr>
              <a:t>错误根源：</a:t>
            </a:r>
            <a:endParaRPr lang="en-US" sz="1150" dirty="0"/>
          </a:p>
        </p:txBody>
      </p:sp>
      <p:sp>
        <p:nvSpPr>
          <p:cNvPr id="9" name="Text 7"/>
          <p:cNvSpPr/>
          <p:nvPr/>
        </p:nvSpPr>
        <p:spPr>
          <a:xfrm>
            <a:off x="548640" y="2798064"/>
            <a:ext cx="10881360" cy="1234440"/>
          </a:xfrm>
          <a:prstGeom prst="rect">
            <a:avLst/>
          </a:prstGeom>
          <a:noFill/>
          <a:ln/>
        </p:spPr>
        <p:txBody>
          <a:bodyPr wrap="square" rtlCol="0" anchor="ctr"/>
          <a:lstStyle/>
          <a:p>
            <a:pPr indent="0" marL="0">
              <a:lnSpc>
                <a:spcPct val="125000"/>
              </a:lnSpc>
              <a:buNone/>
            </a:pPr>
            <a:r>
              <a:rPr lang="en-US" sz="1200" dirty="0">
                <a:solidFill>
                  <a:srgbClr val="2B2F36"/>
                </a:solidFill>
                <a:latin typeface="Calibri" pitchFamily="34" charset="0"/>
                <a:ea typeface="Calibri" pitchFamily="34" charset="-122"/>
                <a:cs typeface="Calibri" pitchFamily="34" charset="-120"/>
              </a:rPr>
              <a:t>这种认知从CIM的视角出发，但忽略了Fab视角的合理性。当Fab在频繁追问进展时，他们并不是不信任CIM在认真处理，而是因为他们缺少信息来判断「问题有多严重、会持续多长时间、我需要做什么准备」。这种频繁追问是信息缺失下的理性行为，而不是「添乱」。解决方案不是让对方「不要催」，而是通过主动推送进展信息（故障透明机制）来消除他们追问的信息需求。</a:t>
            </a:r>
            <a:endParaRPr lang="en-US" sz="1200" dirty="0"/>
          </a:p>
        </p:txBody>
      </p:sp>
      <p:sp>
        <p:nvSpPr>
          <p:cNvPr id="10" name="Text 8"/>
          <p:cNvSpPr/>
          <p:nvPr/>
        </p:nvSpPr>
        <p:spPr>
          <a:xfrm>
            <a:off x="548640" y="420624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〔误区四〕</a:t>
            </a:r>
            <a:endParaRPr lang="en-US" sz="1100" dirty="0"/>
          </a:p>
        </p:txBody>
      </p:sp>
      <p:sp>
        <p:nvSpPr>
          <p:cNvPr id="11" name="Text 9"/>
          <p:cNvSpPr/>
          <p:nvPr/>
        </p:nvSpPr>
        <p:spPr>
          <a:xfrm>
            <a:off x="548640" y="4517136"/>
            <a:ext cx="10881360" cy="502920"/>
          </a:xfrm>
          <a:prstGeom prst="rect">
            <a:avLst/>
          </a:prstGeom>
          <a:noFill/>
          <a:ln/>
        </p:spPr>
        <p:txBody>
          <a:bodyPr wrap="square" rtlCol="0" anchor="ctr"/>
          <a:lstStyle/>
          <a:p>
            <a:pPr indent="0" marL="0">
              <a:lnSpc>
                <a:spcPct val="115000"/>
              </a:lnSpc>
              <a:buNone/>
            </a:pPr>
            <a:r>
              <a:rPr lang="en-US" sz="1400" b="1" i="1" dirty="0">
                <a:solidFill>
                  <a:srgbClr val="1B2A4A"/>
                </a:solidFill>
                <a:latin typeface="Cambria" pitchFamily="34" charset="0"/>
                <a:ea typeface="Cambria" pitchFamily="34" charset="-122"/>
                <a:cs typeface="Cambria" pitchFamily="34" charset="-120"/>
              </a:rPr>
              <a:t>「我们做了主动沟通，但对方还是不满意，说明跨部门关系就是这样」</a:t>
            </a:r>
            <a:endParaRPr lang="en-US" sz="1400" dirty="0"/>
          </a:p>
        </p:txBody>
      </p:sp>
      <p:sp>
        <p:nvSpPr>
          <p:cNvPr id="12" name="Text 10"/>
          <p:cNvSpPr/>
          <p:nvPr/>
        </p:nvSpPr>
        <p:spPr>
          <a:xfrm>
            <a:off x="548640" y="5047488"/>
            <a:ext cx="1828800" cy="274320"/>
          </a:xfrm>
          <a:prstGeom prst="rect">
            <a:avLst/>
          </a:prstGeom>
          <a:noFill/>
          <a:ln/>
        </p:spPr>
        <p:txBody>
          <a:bodyPr wrap="square" rtlCol="0" anchor="ctr"/>
          <a:lstStyle/>
          <a:p>
            <a:pPr indent="0" marL="0">
              <a:buNone/>
            </a:pPr>
            <a:r>
              <a:rPr lang="en-US" sz="1150" b="1" dirty="0">
                <a:solidFill>
                  <a:srgbClr val="32436B"/>
                </a:solidFill>
                <a:latin typeface="Calibri" pitchFamily="34" charset="0"/>
                <a:ea typeface="Calibri" pitchFamily="34" charset="-122"/>
                <a:cs typeface="Calibri" pitchFamily="34" charset="-120"/>
              </a:rPr>
              <a:t>错误根源：</a:t>
            </a:r>
            <a:endParaRPr lang="en-US" sz="1150" dirty="0"/>
          </a:p>
        </p:txBody>
      </p:sp>
      <p:sp>
        <p:nvSpPr>
          <p:cNvPr id="13" name="Text 11"/>
          <p:cNvSpPr/>
          <p:nvPr/>
        </p:nvSpPr>
        <p:spPr>
          <a:xfrm>
            <a:off x="548640" y="5340096"/>
            <a:ext cx="10881360" cy="1234440"/>
          </a:xfrm>
          <a:prstGeom prst="rect">
            <a:avLst/>
          </a:prstGeom>
          <a:noFill/>
          <a:ln/>
        </p:spPr>
        <p:txBody>
          <a:bodyPr wrap="square" rtlCol="0" anchor="ctr"/>
          <a:lstStyle/>
          <a:p>
            <a:pPr indent="0" marL="0">
              <a:lnSpc>
                <a:spcPct val="125000"/>
              </a:lnSpc>
              <a:buNone/>
            </a:pPr>
            <a:r>
              <a:rPr lang="en-US" sz="1200" dirty="0">
                <a:solidFill>
                  <a:srgbClr val="2B2F36"/>
                </a:solidFill>
                <a:latin typeface="Calibri" pitchFamily="34" charset="0"/>
                <a:ea typeface="Calibri" pitchFamily="34" charset="-122"/>
                <a:cs typeface="Calibri" pitchFamily="34" charset="-120"/>
              </a:rPr>
              <a:t>主动沟通机制如果只执行了形式（发了消息），但内容仍然是CIM技术语言，或者发送频率和触发时机没有对应到Fab的实际信息需求，那么这个「主动沟通」只是在增加噪音，而不是在建立信任。「做了但没用」通常意味着语言适配或触发机制的设计需要改进，而不是「跨部门关系天然就无法改善」。</a:t>
            </a:r>
            <a:endParaRPr lang="en-US" sz="1200" dirty="0"/>
          </a:p>
        </p:txBody>
      </p:sp>
      <p:sp>
        <p:nvSpPr>
          <p:cNvPr id="14" name="Shape 12"/>
          <p:cNvSpPr/>
          <p:nvPr/>
        </p:nvSpPr>
        <p:spPr>
          <a:xfrm>
            <a:off x="548640" y="6446520"/>
            <a:ext cx="11091672" cy="0"/>
          </a:xfrm>
          <a:prstGeom prst="line">
            <a:avLst/>
          </a:prstGeom>
          <a:noFill/>
          <a:ln w="9525">
            <a:solidFill>
              <a:srgbClr val="C7CDDB"/>
            </a:solidFill>
            <a:prstDash val="solid"/>
          </a:ln>
        </p:spPr>
      </p:sp>
      <p:sp>
        <p:nvSpPr>
          <p:cNvPr id="15" name="Text 13"/>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常见认知误区 · 下</a:t>
            </a:r>
            <a:endParaRPr lang="en-US" sz="900" dirty="0"/>
          </a:p>
        </p:txBody>
      </p:sp>
      <p:sp>
        <p:nvSpPr>
          <p:cNvPr id="16" name="Text 14"/>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12 / 17</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模块五 · 跨部门沟通</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延伸视角 · 一</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在不同语言共同体之间，如何做有效的语义桥接</a:t>
            </a:r>
            <a:endParaRPr lang="en-US" sz="2700" dirty="0"/>
          </a:p>
        </p:txBody>
      </p:sp>
      <p:sp>
        <p:nvSpPr>
          <p:cNvPr id="6" name="Text 4"/>
          <p:cNvSpPr/>
          <p:nvPr/>
        </p:nvSpPr>
        <p:spPr>
          <a:xfrm>
            <a:off x="548640" y="1481328"/>
            <a:ext cx="10881360" cy="320040"/>
          </a:xfrm>
          <a:prstGeom prst="rect">
            <a:avLst/>
          </a:prstGeom>
          <a:noFill/>
          <a:ln/>
        </p:spPr>
        <p:txBody>
          <a:bodyPr wrap="square" rtlCol="0" anchor="ctr"/>
          <a:lstStyle/>
          <a:p>
            <a:pPr indent="0" marL="0">
              <a:buNone/>
            </a:pPr>
            <a:r>
              <a:rPr lang="en-US" sz="1300" i="1" dirty="0">
                <a:solidFill>
                  <a:srgbClr val="5B6270"/>
                </a:solidFill>
                <a:latin typeface="Calibri" pitchFamily="34" charset="0"/>
                <a:ea typeface="Calibri" pitchFamily="34" charset="-122"/>
                <a:cs typeface="Calibri" pitchFamily="34" charset="-120"/>
              </a:rPr>
              <a:t>元语言学（Metalinguistics）与跨职业沟通翻译</a:t>
            </a:r>
            <a:endParaRPr lang="en-US" sz="1300" dirty="0"/>
          </a:p>
        </p:txBody>
      </p:sp>
      <p:sp>
        <p:nvSpPr>
          <p:cNvPr id="7" name="Text 5"/>
          <p:cNvSpPr/>
          <p:nvPr/>
        </p:nvSpPr>
        <p:spPr>
          <a:xfrm>
            <a:off x="548640" y="1920240"/>
            <a:ext cx="2377440" cy="274320"/>
          </a:xfrm>
          <a:prstGeom prst="rect">
            <a:avLst/>
          </a:prstGeom>
          <a:noFill/>
          <a:ln/>
        </p:spPr>
        <p:txBody>
          <a:bodyPr wrap="square" rtlCol="0" anchor="ctr"/>
          <a:lstStyle/>
          <a:p>
            <a:pPr indent="0" marL="0">
              <a:buNone/>
            </a:pPr>
            <a:r>
              <a:rPr lang="en-US" sz="1100" b="1" dirty="0">
                <a:solidFill>
                  <a:srgbClr val="8A6D1F"/>
                </a:solidFill>
                <a:latin typeface="Calibri" pitchFamily="34" charset="0"/>
                <a:ea typeface="Calibri" pitchFamily="34" charset="-122"/>
                <a:cs typeface="Calibri" pitchFamily="34" charset="-120"/>
              </a:rPr>
              <a:t>〔核心洞察〕</a:t>
            </a:r>
            <a:endParaRPr lang="en-US" sz="1100" dirty="0"/>
          </a:p>
        </p:txBody>
      </p:sp>
      <p:sp>
        <p:nvSpPr>
          <p:cNvPr id="8" name="Text 6"/>
          <p:cNvSpPr/>
          <p:nvPr/>
        </p:nvSpPr>
        <p:spPr>
          <a:xfrm>
            <a:off x="548640" y="2240280"/>
            <a:ext cx="10881360" cy="1024128"/>
          </a:xfrm>
          <a:prstGeom prst="rect">
            <a:avLst/>
          </a:prstGeom>
          <a:noFill/>
          <a:ln/>
        </p:spPr>
        <p:txBody>
          <a:bodyPr wrap="square" rtlCol="0" anchor="ctr"/>
          <a:lstStyle/>
          <a:p>
            <a:pPr indent="0" marL="0">
              <a:lnSpc>
                <a:spcPct val="128000"/>
              </a:lnSpc>
              <a:buNone/>
            </a:pPr>
            <a:r>
              <a:rPr lang="en-US" sz="1250" dirty="0">
                <a:solidFill>
                  <a:srgbClr val="2B2F36"/>
                </a:solidFill>
                <a:latin typeface="Calibri" pitchFamily="34" charset="0"/>
                <a:ea typeface="Calibri" pitchFamily="34" charset="-122"/>
                <a:cs typeface="Calibri" pitchFamily="34" charset="-120"/>
              </a:rPr>
              <a:t>元语言学研究的是「关于语言的语言」——如何描述和理解不同语言系统之间的差异，以及如何在差异之间建立翻译机制。在职业跨部门沟通中，这个视角提供了一个具体的操作框架：有效的跨语言共同体沟通，需要一个「语义桥接层」——这个桥接层不属于CIM的技术语言，也不属于Fab的生产语言，而是两者之间的共同理解界面。</a:t>
            </a:r>
            <a:endParaRPr lang="en-US" sz="1250" dirty="0"/>
          </a:p>
        </p:txBody>
      </p:sp>
      <p:sp>
        <p:nvSpPr>
          <p:cNvPr id="9" name="Text 7"/>
          <p:cNvSpPr/>
          <p:nvPr/>
        </p:nvSpPr>
        <p:spPr>
          <a:xfrm>
            <a:off x="548640" y="3364992"/>
            <a:ext cx="10881360" cy="320040"/>
          </a:xfrm>
          <a:prstGeom prst="rect">
            <a:avLst/>
          </a:prstGeom>
          <a:noFill/>
          <a:ln/>
        </p:spPr>
        <p:txBody>
          <a:bodyPr wrap="square" rtlCol="0" anchor="ctr"/>
          <a:lstStyle/>
          <a:p>
            <a:pPr indent="0" marL="0">
              <a:buNone/>
            </a:pPr>
            <a:r>
              <a:rPr lang="en-US" sz="1280" b="1" dirty="0">
                <a:solidFill>
                  <a:srgbClr val="32436B"/>
                </a:solidFill>
                <a:latin typeface="Calibri" pitchFamily="34" charset="0"/>
                <a:ea typeface="Calibri" pitchFamily="34" charset="-122"/>
                <a:cs typeface="Calibri" pitchFamily="34" charset="-120"/>
              </a:rPr>
              <a:t>在CIM-Fab协作场景中，这个桥接层的核心词汇体系可以被设计为：</a:t>
            </a:r>
            <a:endParaRPr lang="en-US" sz="1280" dirty="0"/>
          </a:p>
        </p:txBody>
      </p:sp>
      <p:sp>
        <p:nvSpPr>
          <p:cNvPr id="10" name="Text 8"/>
          <p:cNvSpPr/>
          <p:nvPr/>
        </p:nvSpPr>
        <p:spPr>
          <a:xfrm>
            <a:off x="548640" y="3749040"/>
            <a:ext cx="365760" cy="292608"/>
          </a:xfrm>
          <a:prstGeom prst="rect">
            <a:avLst/>
          </a:prstGeom>
          <a:noFill/>
          <a:ln/>
        </p:spPr>
        <p:txBody>
          <a:bodyPr wrap="square" rtlCol="0" anchor="ctr"/>
          <a:lstStyle/>
          <a:p>
            <a:pPr indent="0" marL="0">
              <a:buNone/>
            </a:pPr>
            <a:r>
              <a:rPr lang="en-US" sz="1300" b="1" dirty="0">
                <a:solidFill>
                  <a:srgbClr val="9C5536"/>
                </a:solidFill>
              </a:rPr>
              <a:t>→</a:t>
            </a:r>
            <a:endParaRPr lang="en-US" sz="1300" dirty="0"/>
          </a:p>
        </p:txBody>
      </p:sp>
      <p:sp>
        <p:nvSpPr>
          <p:cNvPr id="11" name="Text 9"/>
          <p:cNvSpPr/>
          <p:nvPr/>
        </p:nvSpPr>
        <p:spPr>
          <a:xfrm>
            <a:off x="960120" y="3749040"/>
            <a:ext cx="10378440" cy="292608"/>
          </a:xfrm>
          <a:prstGeom prst="rect">
            <a:avLst/>
          </a:prstGeom>
          <a:noFill/>
          <a:ln/>
        </p:spPr>
        <p:txBody>
          <a:bodyPr wrap="square" rtlCol="0" anchor="ctr"/>
          <a:lstStyle/>
          <a:p>
            <a:pPr indent="0" marL="0">
              <a:buNone/>
            </a:pPr>
            <a:r>
              <a:rPr lang="en-US" sz="1200" dirty="0">
                <a:solidFill>
                  <a:srgbClr val="2B2F36"/>
                </a:solidFill>
                <a:latin typeface="Calibri" pitchFamily="34" charset="0"/>
                <a:ea typeface="Calibri" pitchFamily="34" charset="-122"/>
                <a:cs typeface="Calibri" pitchFamily="34" charset="-120"/>
              </a:rPr>
              <a:t>以「批次状态（而非「系统模块状态」）」为中心</a:t>
            </a:r>
            <a:endParaRPr lang="en-US" sz="1200" dirty="0"/>
          </a:p>
        </p:txBody>
      </p:sp>
      <p:sp>
        <p:nvSpPr>
          <p:cNvPr id="12" name="Text 10"/>
          <p:cNvSpPr/>
          <p:nvPr/>
        </p:nvSpPr>
        <p:spPr>
          <a:xfrm>
            <a:off x="548640" y="4133088"/>
            <a:ext cx="365760" cy="292608"/>
          </a:xfrm>
          <a:prstGeom prst="rect">
            <a:avLst/>
          </a:prstGeom>
          <a:noFill/>
          <a:ln/>
        </p:spPr>
        <p:txBody>
          <a:bodyPr wrap="square" rtlCol="0" anchor="ctr"/>
          <a:lstStyle/>
          <a:p>
            <a:pPr indent="0" marL="0">
              <a:buNone/>
            </a:pPr>
            <a:r>
              <a:rPr lang="en-US" sz="1300" b="1" dirty="0">
                <a:solidFill>
                  <a:srgbClr val="9C5536"/>
                </a:solidFill>
              </a:rPr>
              <a:t>→</a:t>
            </a:r>
            <a:endParaRPr lang="en-US" sz="1300" dirty="0"/>
          </a:p>
        </p:txBody>
      </p:sp>
      <p:sp>
        <p:nvSpPr>
          <p:cNvPr id="13" name="Text 11"/>
          <p:cNvSpPr/>
          <p:nvPr/>
        </p:nvSpPr>
        <p:spPr>
          <a:xfrm>
            <a:off x="960120" y="4133088"/>
            <a:ext cx="10378440" cy="292608"/>
          </a:xfrm>
          <a:prstGeom prst="rect">
            <a:avLst/>
          </a:prstGeom>
          <a:noFill/>
          <a:ln/>
        </p:spPr>
        <p:txBody>
          <a:bodyPr wrap="square" rtlCol="0" anchor="ctr"/>
          <a:lstStyle/>
          <a:p>
            <a:pPr indent="0" marL="0">
              <a:buNone/>
            </a:pPr>
            <a:r>
              <a:rPr lang="en-US" sz="1200" dirty="0">
                <a:solidFill>
                  <a:srgbClr val="2B2F36"/>
                </a:solidFill>
                <a:latin typeface="Calibri" pitchFamily="34" charset="0"/>
                <a:ea typeface="Calibri" pitchFamily="34" charset="-122"/>
                <a:cs typeface="Calibri" pitchFamily="34" charset="-120"/>
              </a:rPr>
              <a:t>以「影响持续时间（而非「错误类型和堆栈深度」）」为中心</a:t>
            </a:r>
            <a:endParaRPr lang="en-US" sz="1200" dirty="0"/>
          </a:p>
        </p:txBody>
      </p:sp>
      <p:sp>
        <p:nvSpPr>
          <p:cNvPr id="14" name="Text 12"/>
          <p:cNvSpPr/>
          <p:nvPr/>
        </p:nvSpPr>
        <p:spPr>
          <a:xfrm>
            <a:off x="548640" y="4517136"/>
            <a:ext cx="365760" cy="292608"/>
          </a:xfrm>
          <a:prstGeom prst="rect">
            <a:avLst/>
          </a:prstGeom>
          <a:noFill/>
          <a:ln/>
        </p:spPr>
        <p:txBody>
          <a:bodyPr wrap="square" rtlCol="0" anchor="ctr"/>
          <a:lstStyle/>
          <a:p>
            <a:pPr indent="0" marL="0">
              <a:buNone/>
            </a:pPr>
            <a:r>
              <a:rPr lang="en-US" sz="1300" b="1" dirty="0">
                <a:solidFill>
                  <a:srgbClr val="9C5536"/>
                </a:solidFill>
              </a:rPr>
              <a:t>→</a:t>
            </a:r>
            <a:endParaRPr lang="en-US" sz="1300" dirty="0"/>
          </a:p>
        </p:txBody>
      </p:sp>
      <p:sp>
        <p:nvSpPr>
          <p:cNvPr id="15" name="Text 13"/>
          <p:cNvSpPr/>
          <p:nvPr/>
        </p:nvSpPr>
        <p:spPr>
          <a:xfrm>
            <a:off x="960120" y="4517136"/>
            <a:ext cx="10378440" cy="292608"/>
          </a:xfrm>
          <a:prstGeom prst="rect">
            <a:avLst/>
          </a:prstGeom>
          <a:noFill/>
          <a:ln/>
        </p:spPr>
        <p:txBody>
          <a:bodyPr wrap="square" rtlCol="0" anchor="ctr"/>
          <a:lstStyle/>
          <a:p>
            <a:pPr indent="0" marL="0">
              <a:buNone/>
            </a:pPr>
            <a:r>
              <a:rPr lang="en-US" sz="1200" dirty="0">
                <a:solidFill>
                  <a:srgbClr val="2B2F36"/>
                </a:solidFill>
                <a:latin typeface="Calibri" pitchFamily="34" charset="0"/>
                <a:ea typeface="Calibri" pitchFamily="34" charset="-122"/>
                <a:cs typeface="Calibri" pitchFamily="34" charset="-120"/>
              </a:rPr>
              <a:t>以「操作建议（而非「技术根因」）」为中心</a:t>
            </a:r>
            <a:endParaRPr lang="en-US" sz="1200" dirty="0"/>
          </a:p>
        </p:txBody>
      </p:sp>
      <p:sp>
        <p:nvSpPr>
          <p:cNvPr id="16" name="Text 14"/>
          <p:cNvSpPr/>
          <p:nvPr/>
        </p:nvSpPr>
        <p:spPr>
          <a:xfrm>
            <a:off x="548640" y="4901184"/>
            <a:ext cx="365760" cy="292608"/>
          </a:xfrm>
          <a:prstGeom prst="rect">
            <a:avLst/>
          </a:prstGeom>
          <a:noFill/>
          <a:ln/>
        </p:spPr>
        <p:txBody>
          <a:bodyPr wrap="square" rtlCol="0" anchor="ctr"/>
          <a:lstStyle/>
          <a:p>
            <a:pPr indent="0" marL="0">
              <a:buNone/>
            </a:pPr>
            <a:r>
              <a:rPr lang="en-US" sz="1300" b="1" dirty="0">
                <a:solidFill>
                  <a:srgbClr val="9C5536"/>
                </a:solidFill>
              </a:rPr>
              <a:t>→</a:t>
            </a:r>
            <a:endParaRPr lang="en-US" sz="1300" dirty="0"/>
          </a:p>
        </p:txBody>
      </p:sp>
      <p:sp>
        <p:nvSpPr>
          <p:cNvPr id="17" name="Text 15"/>
          <p:cNvSpPr/>
          <p:nvPr/>
        </p:nvSpPr>
        <p:spPr>
          <a:xfrm>
            <a:off x="960120" y="4901184"/>
            <a:ext cx="10378440" cy="292608"/>
          </a:xfrm>
          <a:prstGeom prst="rect">
            <a:avLst/>
          </a:prstGeom>
          <a:noFill/>
          <a:ln/>
        </p:spPr>
        <p:txBody>
          <a:bodyPr wrap="square" rtlCol="0" anchor="ctr"/>
          <a:lstStyle/>
          <a:p>
            <a:pPr indent="0" marL="0">
              <a:buNone/>
            </a:pPr>
            <a:r>
              <a:rPr lang="en-US" sz="1200" dirty="0">
                <a:solidFill>
                  <a:srgbClr val="2B2F36"/>
                </a:solidFill>
                <a:latin typeface="Calibri" pitchFamily="34" charset="0"/>
                <a:ea typeface="Calibri" pitchFamily="34" charset="-122"/>
                <a:cs typeface="Calibri" pitchFamily="34" charset="-120"/>
              </a:rPr>
              <a:t>以「预期恢复时间（而非「修复方案设计」）」为中心</a:t>
            </a:r>
            <a:endParaRPr lang="en-US" sz="1200" dirty="0"/>
          </a:p>
        </p:txBody>
      </p:sp>
      <p:sp>
        <p:nvSpPr>
          <p:cNvPr id="18" name="Shape 16"/>
          <p:cNvSpPr/>
          <p:nvPr/>
        </p:nvSpPr>
        <p:spPr>
          <a:xfrm>
            <a:off x="548640" y="5394960"/>
            <a:ext cx="0" cy="749808"/>
          </a:xfrm>
          <a:prstGeom prst="line">
            <a:avLst/>
          </a:prstGeom>
          <a:noFill/>
          <a:ln w="38100">
            <a:solidFill>
              <a:srgbClr val="1B2A4A"/>
            </a:solidFill>
            <a:prstDash val="solid"/>
          </a:ln>
        </p:spPr>
      </p:sp>
      <p:sp>
        <p:nvSpPr>
          <p:cNvPr id="19" name="Text 17"/>
          <p:cNvSpPr/>
          <p:nvPr/>
        </p:nvSpPr>
        <p:spPr>
          <a:xfrm>
            <a:off x="777240" y="5394960"/>
            <a:ext cx="10424160" cy="749808"/>
          </a:xfrm>
          <a:prstGeom prst="rect">
            <a:avLst/>
          </a:prstGeom>
          <a:noFill/>
          <a:ln/>
        </p:spPr>
        <p:txBody>
          <a:bodyPr wrap="square" rtlCol="0" anchor="ctr"/>
          <a:lstStyle/>
          <a:p>
            <a:pPr indent="0" marL="0">
              <a:lnSpc>
                <a:spcPct val="128000"/>
              </a:lnSpc>
              <a:buNone/>
            </a:pPr>
            <a:r>
              <a:rPr lang="en-US" sz="1300" i="1" dirty="0">
                <a:solidFill>
                  <a:srgbClr val="1B2A4A"/>
                </a:solidFill>
                <a:latin typeface="Cambria" pitchFamily="34" charset="0"/>
                <a:ea typeface="Cambria" pitchFamily="34" charset="-122"/>
                <a:cs typeface="Cambria" pitchFamily="34" charset="-120"/>
              </a:rPr>
              <a:t>能够主动建立和使用这个桥接层的CIM主管，在执行一种组织内部的翻译工作——这项翻译工作的价值，不输于任何技术能力。</a:t>
            </a:r>
            <a:endParaRPr lang="en-US" sz="1300" dirty="0"/>
          </a:p>
        </p:txBody>
      </p:sp>
      <p:sp>
        <p:nvSpPr>
          <p:cNvPr id="20" name="Shape 18"/>
          <p:cNvSpPr/>
          <p:nvPr/>
        </p:nvSpPr>
        <p:spPr>
          <a:xfrm>
            <a:off x="548640" y="6446520"/>
            <a:ext cx="11091672" cy="0"/>
          </a:xfrm>
          <a:prstGeom prst="line">
            <a:avLst/>
          </a:prstGeom>
          <a:noFill/>
          <a:ln w="9525">
            <a:solidFill>
              <a:srgbClr val="C7CDDB"/>
            </a:solidFill>
            <a:prstDash val="solid"/>
          </a:ln>
        </p:spPr>
      </p:sp>
      <p:sp>
        <p:nvSpPr>
          <p:cNvPr id="21" name="Text 19"/>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延伸视角一 · 元语言学与沟通桥接</a:t>
            </a:r>
            <a:endParaRPr lang="en-US" sz="900" dirty="0"/>
          </a:p>
        </p:txBody>
      </p:sp>
      <p:sp>
        <p:nvSpPr>
          <p:cNvPr id="22" name="Text 20"/>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13 / 17</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模块五 · 跨部门沟通</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延伸视角 · 二</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为什么双方都不愿意主动暴露问题，以及如何打破这个循环</a:t>
            </a:r>
            <a:endParaRPr lang="en-US" sz="2700" dirty="0"/>
          </a:p>
        </p:txBody>
      </p:sp>
      <p:sp>
        <p:nvSpPr>
          <p:cNvPr id="6" name="Text 4"/>
          <p:cNvSpPr/>
          <p:nvPr/>
        </p:nvSpPr>
        <p:spPr>
          <a:xfrm>
            <a:off x="548640" y="1481328"/>
            <a:ext cx="10881360" cy="320040"/>
          </a:xfrm>
          <a:prstGeom prst="rect">
            <a:avLst/>
          </a:prstGeom>
          <a:noFill/>
          <a:ln/>
        </p:spPr>
        <p:txBody>
          <a:bodyPr wrap="square" rtlCol="0" anchor="ctr"/>
          <a:lstStyle/>
          <a:p>
            <a:pPr indent="0" marL="0">
              <a:buNone/>
            </a:pPr>
            <a:r>
              <a:rPr lang="en-US" sz="1300" i="1" dirty="0">
                <a:solidFill>
                  <a:srgbClr val="5B6270"/>
                </a:solidFill>
                <a:latin typeface="Calibri" pitchFamily="34" charset="0"/>
                <a:ea typeface="Calibri" pitchFamily="34" charset="-122"/>
                <a:cs typeface="Calibri" pitchFamily="34" charset="-120"/>
              </a:rPr>
              <a:t>Edmondson的心理安全感研究（Psychological Safety）</a:t>
            </a:r>
            <a:endParaRPr lang="en-US" sz="1300" dirty="0"/>
          </a:p>
        </p:txBody>
      </p:sp>
      <p:sp>
        <p:nvSpPr>
          <p:cNvPr id="7" name="Text 5"/>
          <p:cNvSpPr/>
          <p:nvPr/>
        </p:nvSpPr>
        <p:spPr>
          <a:xfrm>
            <a:off x="548640" y="1920240"/>
            <a:ext cx="2377440" cy="274320"/>
          </a:xfrm>
          <a:prstGeom prst="rect">
            <a:avLst/>
          </a:prstGeom>
          <a:noFill/>
          <a:ln/>
        </p:spPr>
        <p:txBody>
          <a:bodyPr wrap="square" rtlCol="0" anchor="ctr"/>
          <a:lstStyle/>
          <a:p>
            <a:pPr indent="0" marL="0">
              <a:buNone/>
            </a:pPr>
            <a:r>
              <a:rPr lang="en-US" sz="1100" b="1" dirty="0">
                <a:solidFill>
                  <a:srgbClr val="8A6D1F"/>
                </a:solidFill>
                <a:latin typeface="Calibri" pitchFamily="34" charset="0"/>
                <a:ea typeface="Calibri" pitchFamily="34" charset="-122"/>
                <a:cs typeface="Calibri" pitchFamily="34" charset="-120"/>
              </a:rPr>
              <a:t>〔核心现象〕</a:t>
            </a:r>
            <a:endParaRPr lang="en-US" sz="1100" dirty="0"/>
          </a:p>
        </p:txBody>
      </p:sp>
      <p:sp>
        <p:nvSpPr>
          <p:cNvPr id="8" name="Text 6"/>
          <p:cNvSpPr/>
          <p:nvPr/>
        </p:nvSpPr>
        <p:spPr>
          <a:xfrm>
            <a:off x="548640" y="2240280"/>
            <a:ext cx="10881360" cy="841248"/>
          </a:xfrm>
          <a:prstGeom prst="rect">
            <a:avLst/>
          </a:prstGeom>
          <a:noFill/>
          <a:ln/>
        </p:spPr>
        <p:txBody>
          <a:bodyPr wrap="square" rtlCol="0" anchor="ctr"/>
          <a:lstStyle/>
          <a:p>
            <a:pPr indent="0" marL="0">
              <a:lnSpc>
                <a:spcPct val="128000"/>
              </a:lnSpc>
              <a:buNone/>
            </a:pPr>
            <a:r>
              <a:rPr lang="en-US" sz="1250" dirty="0">
                <a:solidFill>
                  <a:srgbClr val="2B2F36"/>
                </a:solidFill>
                <a:latin typeface="Calibri" pitchFamily="34" charset="0"/>
                <a:ea typeface="Calibri" pitchFamily="34" charset="-122"/>
                <a:cs typeface="Calibri" pitchFamily="34" charset="-120"/>
              </a:rPr>
              <a:t>哈佛商学院教授艾米·埃德蒙森（Amy Edmondson）的研究揭示：当成员感到暴露问题或不确定性会带来负面后果（被批评、被追责、被认为「不行」）时，他们会系统性地倾向于隐瞒问题，而不是主动分享。</a:t>
            </a:r>
            <a:endParaRPr lang="en-US" sz="1250" dirty="0"/>
          </a:p>
        </p:txBody>
      </p:sp>
      <p:sp>
        <p:nvSpPr>
          <p:cNvPr id="9" name="Text 7"/>
          <p:cNvSpPr/>
          <p:nvPr/>
        </p:nvSpPr>
        <p:spPr>
          <a:xfrm>
            <a:off x="548640" y="3182112"/>
            <a:ext cx="10881360" cy="320040"/>
          </a:xfrm>
          <a:prstGeom prst="rect">
            <a:avLst/>
          </a:prstGeom>
          <a:noFill/>
          <a:ln/>
        </p:spPr>
        <p:txBody>
          <a:bodyPr wrap="square" rtlCol="0" anchor="ctr"/>
          <a:lstStyle/>
          <a:p>
            <a:pPr indent="0" marL="0">
              <a:buNone/>
            </a:pPr>
            <a:r>
              <a:rPr lang="en-US" sz="1280" b="1" dirty="0">
                <a:solidFill>
                  <a:srgbClr val="32436B"/>
                </a:solidFill>
                <a:latin typeface="Calibri" pitchFamily="34" charset="0"/>
                <a:ea typeface="Calibri" pitchFamily="34" charset="-122"/>
                <a:cs typeface="Calibri" pitchFamily="34" charset="-120"/>
              </a:rPr>
              <a:t>在CIM-Fab协作关系中，这个现象以双向形式出现：</a:t>
            </a:r>
            <a:endParaRPr lang="en-US" sz="1280" dirty="0"/>
          </a:p>
        </p:txBody>
      </p:sp>
      <p:sp>
        <p:nvSpPr>
          <p:cNvPr id="10" name="Text 8"/>
          <p:cNvSpPr/>
          <p:nvPr/>
        </p:nvSpPr>
        <p:spPr>
          <a:xfrm>
            <a:off x="548640" y="3584448"/>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〔CIM侧的信息隐藏〕</a:t>
            </a:r>
            <a:endParaRPr lang="en-US" sz="1100" dirty="0"/>
          </a:p>
        </p:txBody>
      </p:sp>
      <p:sp>
        <p:nvSpPr>
          <p:cNvPr id="11" name="Text 9"/>
          <p:cNvSpPr/>
          <p:nvPr/>
        </p:nvSpPr>
        <p:spPr>
          <a:xfrm>
            <a:off x="548640" y="3950208"/>
            <a:ext cx="5257800" cy="868680"/>
          </a:xfrm>
          <a:prstGeom prst="rect">
            <a:avLst/>
          </a:prstGeom>
          <a:noFill/>
          <a:ln/>
        </p:spPr>
        <p:txBody>
          <a:bodyPr wrap="square" rtlCol="0" anchor="ctr"/>
          <a:lstStyle/>
          <a:p>
            <a:pPr indent="0" marL="0">
              <a:lnSpc>
                <a:spcPct val="128000"/>
              </a:lnSpc>
              <a:buNone/>
            </a:pPr>
            <a:r>
              <a:rPr lang="en-US" sz="1200" dirty="0">
                <a:solidFill>
                  <a:srgbClr val="2B2F36"/>
                </a:solidFill>
                <a:latin typeface="Calibri" pitchFamily="34" charset="0"/>
                <a:ea typeface="Calibri" pitchFamily="34" charset="-122"/>
                <a:cs typeface="Calibri" pitchFamily="34" charset="-120"/>
              </a:rPr>
              <a:t>担心「主动报告问题会被认为是我们系统不稳定，会被追责」，倾向于等问题解决了再告知，或者把问题描述得尽量技术性（让对方看不懂 = 减少被追责的风险）。</a:t>
            </a:r>
            <a:endParaRPr lang="en-US" sz="1200" dirty="0"/>
          </a:p>
        </p:txBody>
      </p:sp>
      <p:sp>
        <p:nvSpPr>
          <p:cNvPr id="12" name="Shape 10"/>
          <p:cNvSpPr/>
          <p:nvPr/>
        </p:nvSpPr>
        <p:spPr>
          <a:xfrm>
            <a:off x="6080760" y="3584448"/>
            <a:ext cx="0" cy="1965960"/>
          </a:xfrm>
          <a:prstGeom prst="line">
            <a:avLst/>
          </a:prstGeom>
          <a:noFill/>
          <a:ln w="12700">
            <a:solidFill>
              <a:srgbClr val="E3E7EF"/>
            </a:solidFill>
            <a:prstDash val="solid"/>
          </a:ln>
        </p:spPr>
      </p:sp>
      <p:sp>
        <p:nvSpPr>
          <p:cNvPr id="13" name="Text 11"/>
          <p:cNvSpPr/>
          <p:nvPr/>
        </p:nvSpPr>
        <p:spPr>
          <a:xfrm>
            <a:off x="6519672" y="3584448"/>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〔Fab侧的信息隐藏〕</a:t>
            </a:r>
            <a:endParaRPr lang="en-US" sz="1100" dirty="0"/>
          </a:p>
        </p:txBody>
      </p:sp>
      <p:sp>
        <p:nvSpPr>
          <p:cNvPr id="14" name="Text 12"/>
          <p:cNvSpPr/>
          <p:nvPr/>
        </p:nvSpPr>
        <p:spPr>
          <a:xfrm>
            <a:off x="6519672" y="3950208"/>
            <a:ext cx="5257800" cy="868680"/>
          </a:xfrm>
          <a:prstGeom prst="rect">
            <a:avLst/>
          </a:prstGeom>
          <a:noFill/>
          <a:ln/>
        </p:spPr>
        <p:txBody>
          <a:bodyPr wrap="square" rtlCol="0" anchor="ctr"/>
          <a:lstStyle/>
          <a:p>
            <a:pPr indent="0" marL="0">
              <a:lnSpc>
                <a:spcPct val="128000"/>
              </a:lnSpc>
              <a:buNone/>
            </a:pPr>
            <a:r>
              <a:rPr lang="en-US" sz="1200" dirty="0">
                <a:solidFill>
                  <a:srgbClr val="2B2F36"/>
                </a:solidFill>
                <a:latin typeface="Calibri" pitchFamily="34" charset="0"/>
                <a:ea typeface="Calibri" pitchFamily="34" charset="-122"/>
                <a:cs typeface="Calibri" pitchFamily="34" charset="-120"/>
              </a:rPr>
              <a:t>担心「提出CIM相关的问题会被认为是在挑战CIM团队，会破坏关系」，倾向于在能绕过去的情况下不上报，在不得不上报时用激烈的方式（因为积累已久）。</a:t>
            </a:r>
            <a:endParaRPr lang="en-US" sz="1200" dirty="0"/>
          </a:p>
        </p:txBody>
      </p:sp>
      <p:sp>
        <p:nvSpPr>
          <p:cNvPr id="15" name="Shape 13"/>
          <p:cNvSpPr/>
          <p:nvPr/>
        </p:nvSpPr>
        <p:spPr>
          <a:xfrm>
            <a:off x="548640" y="4800600"/>
            <a:ext cx="0" cy="1417320"/>
          </a:xfrm>
          <a:prstGeom prst="line">
            <a:avLst/>
          </a:prstGeom>
          <a:noFill/>
          <a:ln w="38100">
            <a:solidFill>
              <a:srgbClr val="1B2A4A"/>
            </a:solidFill>
            <a:prstDash val="solid"/>
          </a:ln>
        </p:spPr>
      </p:sp>
      <p:sp>
        <p:nvSpPr>
          <p:cNvPr id="16" name="Text 14"/>
          <p:cNvSpPr/>
          <p:nvPr/>
        </p:nvSpPr>
        <p:spPr>
          <a:xfrm>
            <a:off x="777240" y="4800600"/>
            <a:ext cx="365760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打破循环的关键</a:t>
            </a:r>
            <a:endParaRPr lang="en-US" sz="1100" dirty="0"/>
          </a:p>
        </p:txBody>
      </p:sp>
      <p:sp>
        <p:nvSpPr>
          <p:cNvPr id="17" name="Text 15"/>
          <p:cNvSpPr/>
          <p:nvPr/>
        </p:nvSpPr>
        <p:spPr>
          <a:xfrm>
            <a:off x="777240" y="5102352"/>
            <a:ext cx="10424160" cy="1115568"/>
          </a:xfrm>
          <a:prstGeom prst="rect">
            <a:avLst/>
          </a:prstGeom>
          <a:noFill/>
          <a:ln/>
        </p:spPr>
        <p:txBody>
          <a:bodyPr wrap="square" rtlCol="0" anchor="ctr"/>
          <a:lstStyle/>
          <a:p>
            <a:pPr indent="0" marL="0">
              <a:lnSpc>
                <a:spcPct val="128000"/>
              </a:lnSpc>
              <a:buNone/>
            </a:pPr>
            <a:r>
              <a:rPr lang="en-US" sz="1230" i="1" dirty="0">
                <a:solidFill>
                  <a:srgbClr val="1B2A4A"/>
                </a:solidFill>
                <a:latin typeface="Cambria" pitchFamily="34" charset="0"/>
                <a:ea typeface="Cambria" pitchFamily="34" charset="-122"/>
                <a:cs typeface="Cambria" pitchFamily="34" charset="-120"/>
              </a:rPr>
              <a:t>由CIM主管率先建立「故障透明」的行为模式。当CIM主动报告问题（而不等待追责），这个行为向Fab传递了一个信号：「在我们的协作关系里，主动报告问题是被鼓励的，而不是被惩罚的。」这个信号一旦稳定传递，Fab侧的信息隐藏倾向也会逐渐降低，跨部门的信息流动质量会显著改善。</a:t>
            </a:r>
            <a:endParaRPr lang="en-US" sz="1230" dirty="0"/>
          </a:p>
        </p:txBody>
      </p:sp>
      <p:sp>
        <p:nvSpPr>
          <p:cNvPr id="18" name="Shape 16"/>
          <p:cNvSpPr/>
          <p:nvPr/>
        </p:nvSpPr>
        <p:spPr>
          <a:xfrm>
            <a:off x="548640" y="6446520"/>
            <a:ext cx="11091672" cy="0"/>
          </a:xfrm>
          <a:prstGeom prst="line">
            <a:avLst/>
          </a:prstGeom>
          <a:noFill/>
          <a:ln w="9525">
            <a:solidFill>
              <a:srgbClr val="C7CDDB"/>
            </a:solidFill>
            <a:prstDash val="solid"/>
          </a:ln>
        </p:spPr>
      </p:sp>
      <p:sp>
        <p:nvSpPr>
          <p:cNvPr id="19" name="Text 17"/>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延伸视角二 · 心理安全感与信息共享</a:t>
            </a:r>
            <a:endParaRPr lang="en-US" sz="900" dirty="0"/>
          </a:p>
        </p:txBody>
      </p:sp>
      <p:sp>
        <p:nvSpPr>
          <p:cNvPr id="20" name="Text 18"/>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14 / 17</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822960"/>
            <a:ext cx="0" cy="4937760"/>
          </a:xfrm>
          <a:prstGeom prst="line">
            <a:avLst/>
          </a:prstGeom>
          <a:noFill/>
          <a:ln w="19050">
            <a:solidFill>
              <a:srgbClr val="1B2A4A"/>
            </a:solidFill>
            <a:prstDash val="solid"/>
          </a:ln>
        </p:spPr>
      </p:sp>
      <p:sp>
        <p:nvSpPr>
          <p:cNvPr id="3" name="Text 1"/>
          <p:cNvSpPr/>
          <p:nvPr/>
        </p:nvSpPr>
        <p:spPr>
          <a:xfrm>
            <a:off x="1188720" y="502920"/>
            <a:ext cx="9144000" cy="365760"/>
          </a:xfrm>
          <a:prstGeom prst="rect">
            <a:avLst/>
          </a:prstGeom>
          <a:noFill/>
          <a:ln/>
        </p:spPr>
        <p:txBody>
          <a:bodyPr wrap="square" rtlCol="0" anchor="ctr"/>
          <a:lstStyle/>
          <a:p>
            <a:pPr indent="0" marL="0">
              <a:buNone/>
            </a:pPr>
            <a:r>
              <a:rPr lang="en-US" sz="1300" b="1" spc="150" kern="0" dirty="0">
                <a:solidFill>
                  <a:srgbClr val="32436B"/>
                </a:solidFill>
                <a:latin typeface="Calibri" pitchFamily="34" charset="0"/>
                <a:ea typeface="Calibri" pitchFamily="34" charset="-122"/>
                <a:cs typeface="Calibri" pitchFamily="34" charset="-120"/>
              </a:rPr>
              <a:t>总结与升华</a:t>
            </a:r>
            <a:endParaRPr lang="en-US" sz="1300" dirty="0"/>
          </a:p>
        </p:txBody>
      </p:sp>
      <p:sp>
        <p:nvSpPr>
          <p:cNvPr id="4" name="Text 2"/>
          <p:cNvSpPr/>
          <p:nvPr/>
        </p:nvSpPr>
        <p:spPr>
          <a:xfrm>
            <a:off x="1188720" y="914400"/>
            <a:ext cx="10058400" cy="685800"/>
          </a:xfrm>
          <a:prstGeom prst="rect">
            <a:avLst/>
          </a:prstGeom>
          <a:noFill/>
          <a:ln/>
        </p:spPr>
        <p:txBody>
          <a:bodyPr wrap="square" rtlCol="0" anchor="ctr"/>
          <a:lstStyle/>
          <a:p>
            <a:pPr indent="0" marL="0">
              <a:buNone/>
            </a:pPr>
            <a:r>
              <a:rPr lang="en-US" sz="3400" b="1" dirty="0">
                <a:solidFill>
                  <a:srgbClr val="1B2A4A"/>
                </a:solidFill>
                <a:latin typeface="Cambria" pitchFamily="34" charset="0"/>
                <a:ea typeface="Cambria" pitchFamily="34" charset="-122"/>
                <a:cs typeface="Cambria" pitchFamily="34" charset="-120"/>
              </a:rPr>
              <a:t>从沟通技巧到信任工程</a:t>
            </a:r>
            <a:endParaRPr lang="en-US" sz="3400" dirty="0"/>
          </a:p>
        </p:txBody>
      </p:sp>
      <p:sp>
        <p:nvSpPr>
          <p:cNvPr id="5" name="Text 3"/>
          <p:cNvSpPr/>
          <p:nvPr/>
        </p:nvSpPr>
        <p:spPr>
          <a:xfrm>
            <a:off x="1188720" y="1783080"/>
            <a:ext cx="9875520" cy="868680"/>
          </a:xfrm>
          <a:prstGeom prst="rect">
            <a:avLst/>
          </a:prstGeom>
          <a:noFill/>
          <a:ln/>
        </p:spPr>
        <p:txBody>
          <a:bodyPr wrap="square" rtlCol="0" anchor="ctr"/>
          <a:lstStyle/>
          <a:p>
            <a:pPr indent="0" marL="0">
              <a:lnSpc>
                <a:spcPct val="128000"/>
              </a:lnSpc>
              <a:buNone/>
            </a:pPr>
            <a:r>
              <a:rPr lang="en-US" sz="1300" dirty="0">
                <a:solidFill>
                  <a:srgbClr val="2B2F36"/>
                </a:solidFill>
                <a:latin typeface="Calibri" pitchFamily="34" charset="0"/>
                <a:ea typeface="Calibri" pitchFamily="34" charset="-122"/>
                <a:cs typeface="Calibri" pitchFamily="34" charset="-120"/>
              </a:rPr>
              <a:t>回到第2页提出的核心问题：CIM和Fab之间的沟通困境，根源不在于意愿，而在于语言不匹配和信任建设机制的缺失。建立跨部门信任的能力，建立在三层结构之上：</a:t>
            </a:r>
            <a:endParaRPr lang="en-US" sz="1300" dirty="0"/>
          </a:p>
        </p:txBody>
      </p:sp>
      <p:sp>
        <p:nvSpPr>
          <p:cNvPr id="6" name="Text 4"/>
          <p:cNvSpPr/>
          <p:nvPr/>
        </p:nvSpPr>
        <p:spPr>
          <a:xfrm>
            <a:off x="1188720" y="2788920"/>
            <a:ext cx="1188720" cy="457200"/>
          </a:xfrm>
          <a:prstGeom prst="rect">
            <a:avLst/>
          </a:prstGeom>
          <a:noFill/>
          <a:ln/>
        </p:spPr>
        <p:txBody>
          <a:bodyPr wrap="square" rtlCol="0" anchor="ctr"/>
          <a:lstStyle/>
          <a:p>
            <a:pPr indent="0" marL="0">
              <a:buNone/>
            </a:pPr>
            <a:r>
              <a:rPr lang="en-US" sz="1300" b="1" i="1" dirty="0">
                <a:solidFill>
                  <a:srgbClr val="9C5536"/>
                </a:solidFill>
                <a:latin typeface="Cambria" pitchFamily="34" charset="0"/>
                <a:ea typeface="Cambria" pitchFamily="34" charset="-122"/>
                <a:cs typeface="Cambria" pitchFamily="34" charset="-120"/>
              </a:rPr>
              <a:t>第一层</a:t>
            </a:r>
            <a:endParaRPr lang="en-US" sz="1300" dirty="0"/>
          </a:p>
        </p:txBody>
      </p:sp>
      <p:sp>
        <p:nvSpPr>
          <p:cNvPr id="7" name="Text 5"/>
          <p:cNvSpPr/>
          <p:nvPr/>
        </p:nvSpPr>
        <p:spPr>
          <a:xfrm>
            <a:off x="2377440" y="2788920"/>
            <a:ext cx="2377440" cy="457200"/>
          </a:xfrm>
          <a:prstGeom prst="rect">
            <a:avLst/>
          </a:prstGeom>
          <a:noFill/>
          <a:ln/>
        </p:spPr>
        <p:txBody>
          <a:bodyPr wrap="square" rtlCol="0" anchor="ctr"/>
          <a:lstStyle/>
          <a:p>
            <a:pPr indent="0" marL="0">
              <a:buNone/>
            </a:pPr>
            <a:r>
              <a:rPr lang="en-US" sz="1300" b="1" dirty="0">
                <a:solidFill>
                  <a:srgbClr val="32436B"/>
                </a:solidFill>
                <a:latin typeface="Calibri" pitchFamily="34" charset="0"/>
                <a:ea typeface="Calibri" pitchFamily="34" charset="-122"/>
                <a:cs typeface="Calibri" pitchFamily="34" charset="-120"/>
              </a:rPr>
              <a:t>(语言的结构)</a:t>
            </a:r>
            <a:endParaRPr lang="en-US" sz="1300" dirty="0"/>
          </a:p>
        </p:txBody>
      </p:sp>
      <p:sp>
        <p:nvSpPr>
          <p:cNvPr id="8" name="Text 6"/>
          <p:cNvSpPr/>
          <p:nvPr/>
        </p:nvSpPr>
        <p:spPr>
          <a:xfrm>
            <a:off x="4800600" y="2807208"/>
            <a:ext cx="6263640" cy="594360"/>
          </a:xfrm>
          <a:prstGeom prst="rect">
            <a:avLst/>
          </a:prstGeom>
          <a:noFill/>
          <a:ln/>
        </p:spPr>
        <p:txBody>
          <a:bodyPr wrap="square" rtlCol="0" anchor="ctr"/>
          <a:lstStyle/>
          <a:p>
            <a:pPr indent="0" marL="0">
              <a:lnSpc>
                <a:spcPct val="120000"/>
              </a:lnSpc>
              <a:buNone/>
            </a:pPr>
            <a:r>
              <a:rPr lang="en-US" sz="1200" dirty="0">
                <a:solidFill>
                  <a:srgbClr val="2B2F36"/>
                </a:solidFill>
                <a:latin typeface="Calibri" pitchFamily="34" charset="0"/>
                <a:ea typeface="Calibri" pitchFamily="34" charset="-122"/>
                <a:cs typeface="Calibri" pitchFamily="34" charset="-120"/>
              </a:rPr>
              <a:t>识别CIM和Fab之间的语言共同体差异，建立一套语义桥接机制，把CIM的技术状态信息主动翻译成Fab的业务影响语言</a:t>
            </a:r>
            <a:endParaRPr lang="en-US" sz="1200" dirty="0"/>
          </a:p>
        </p:txBody>
      </p:sp>
      <p:sp>
        <p:nvSpPr>
          <p:cNvPr id="9" name="Text 7"/>
          <p:cNvSpPr/>
          <p:nvPr/>
        </p:nvSpPr>
        <p:spPr>
          <a:xfrm>
            <a:off x="1188720" y="3502152"/>
            <a:ext cx="1188720" cy="457200"/>
          </a:xfrm>
          <a:prstGeom prst="rect">
            <a:avLst/>
          </a:prstGeom>
          <a:noFill/>
          <a:ln/>
        </p:spPr>
        <p:txBody>
          <a:bodyPr wrap="square" rtlCol="0" anchor="ctr"/>
          <a:lstStyle/>
          <a:p>
            <a:pPr indent="0" marL="0">
              <a:buNone/>
            </a:pPr>
            <a:r>
              <a:rPr lang="en-US" sz="1300" b="1" i="1" dirty="0">
                <a:solidFill>
                  <a:srgbClr val="9C5536"/>
                </a:solidFill>
                <a:latin typeface="Cambria" pitchFamily="34" charset="0"/>
                <a:ea typeface="Cambria" pitchFamily="34" charset="-122"/>
                <a:cs typeface="Cambria" pitchFamily="34" charset="-120"/>
              </a:rPr>
              <a:t>第二层</a:t>
            </a:r>
            <a:endParaRPr lang="en-US" sz="1300" dirty="0"/>
          </a:p>
        </p:txBody>
      </p:sp>
      <p:sp>
        <p:nvSpPr>
          <p:cNvPr id="10" name="Text 8"/>
          <p:cNvSpPr/>
          <p:nvPr/>
        </p:nvSpPr>
        <p:spPr>
          <a:xfrm>
            <a:off x="2377440" y="3502152"/>
            <a:ext cx="2377440" cy="457200"/>
          </a:xfrm>
          <a:prstGeom prst="rect">
            <a:avLst/>
          </a:prstGeom>
          <a:noFill/>
          <a:ln/>
        </p:spPr>
        <p:txBody>
          <a:bodyPr wrap="square" rtlCol="0" anchor="ctr"/>
          <a:lstStyle/>
          <a:p>
            <a:pPr indent="0" marL="0">
              <a:buNone/>
            </a:pPr>
            <a:r>
              <a:rPr lang="en-US" sz="1300" b="1" dirty="0">
                <a:solidFill>
                  <a:srgbClr val="32436B"/>
                </a:solidFill>
                <a:latin typeface="Calibri" pitchFamily="34" charset="0"/>
                <a:ea typeface="Calibri" pitchFamily="34" charset="-122"/>
                <a:cs typeface="Calibri" pitchFamily="34" charset="-120"/>
              </a:rPr>
              <a:t>(信任的机制)</a:t>
            </a:r>
            <a:endParaRPr lang="en-US" sz="1300" dirty="0"/>
          </a:p>
        </p:txBody>
      </p:sp>
      <p:sp>
        <p:nvSpPr>
          <p:cNvPr id="11" name="Text 9"/>
          <p:cNvSpPr/>
          <p:nvPr/>
        </p:nvSpPr>
        <p:spPr>
          <a:xfrm>
            <a:off x="4800600" y="3520440"/>
            <a:ext cx="6263640" cy="594360"/>
          </a:xfrm>
          <a:prstGeom prst="rect">
            <a:avLst/>
          </a:prstGeom>
          <a:noFill/>
          <a:ln/>
        </p:spPr>
        <p:txBody>
          <a:bodyPr wrap="square" rtlCol="0" anchor="ctr"/>
          <a:lstStyle/>
          <a:p>
            <a:pPr indent="0" marL="0">
              <a:lnSpc>
                <a:spcPct val="120000"/>
              </a:lnSpc>
              <a:buNone/>
            </a:pPr>
            <a:r>
              <a:rPr lang="en-US" sz="1200" dirty="0">
                <a:solidFill>
                  <a:srgbClr val="2B2F36"/>
                </a:solidFill>
                <a:latin typeface="Calibri" pitchFamily="34" charset="0"/>
                <a:ea typeface="Calibri" pitchFamily="34" charset="-122"/>
                <a:cs typeface="Calibri" pitchFamily="34" charset="-120"/>
              </a:rPr>
              <a:t>用三个主动信任建设机制（定期同步、主动预警、故障透明）系统性地积累信任资本，把不可见的工作变成可见的正向交换行为</a:t>
            </a:r>
            <a:endParaRPr lang="en-US" sz="1200" dirty="0"/>
          </a:p>
        </p:txBody>
      </p:sp>
      <p:sp>
        <p:nvSpPr>
          <p:cNvPr id="12" name="Text 10"/>
          <p:cNvSpPr/>
          <p:nvPr/>
        </p:nvSpPr>
        <p:spPr>
          <a:xfrm>
            <a:off x="1188720" y="4215384"/>
            <a:ext cx="1188720" cy="457200"/>
          </a:xfrm>
          <a:prstGeom prst="rect">
            <a:avLst/>
          </a:prstGeom>
          <a:noFill/>
          <a:ln/>
        </p:spPr>
        <p:txBody>
          <a:bodyPr wrap="square" rtlCol="0" anchor="ctr"/>
          <a:lstStyle/>
          <a:p>
            <a:pPr indent="0" marL="0">
              <a:buNone/>
            </a:pPr>
            <a:r>
              <a:rPr lang="en-US" sz="1300" b="1" i="1" dirty="0">
                <a:solidFill>
                  <a:srgbClr val="9C5536"/>
                </a:solidFill>
                <a:latin typeface="Cambria" pitchFamily="34" charset="0"/>
                <a:ea typeface="Cambria" pitchFamily="34" charset="-122"/>
                <a:cs typeface="Cambria" pitchFamily="34" charset="-120"/>
              </a:rPr>
              <a:t>第三层</a:t>
            </a:r>
            <a:endParaRPr lang="en-US" sz="1300" dirty="0"/>
          </a:p>
        </p:txBody>
      </p:sp>
      <p:sp>
        <p:nvSpPr>
          <p:cNvPr id="13" name="Text 11"/>
          <p:cNvSpPr/>
          <p:nvPr/>
        </p:nvSpPr>
        <p:spPr>
          <a:xfrm>
            <a:off x="2377440" y="4215384"/>
            <a:ext cx="2377440" cy="457200"/>
          </a:xfrm>
          <a:prstGeom prst="rect">
            <a:avLst/>
          </a:prstGeom>
          <a:noFill/>
          <a:ln/>
        </p:spPr>
        <p:txBody>
          <a:bodyPr wrap="square" rtlCol="0" anchor="ctr"/>
          <a:lstStyle/>
          <a:p>
            <a:pPr indent="0" marL="0">
              <a:buNone/>
            </a:pPr>
            <a:r>
              <a:rPr lang="en-US" sz="1300" b="1" dirty="0">
                <a:solidFill>
                  <a:srgbClr val="32436B"/>
                </a:solidFill>
                <a:latin typeface="Calibri" pitchFamily="34" charset="0"/>
                <a:ea typeface="Calibri" pitchFamily="34" charset="-122"/>
                <a:cs typeface="Calibri" pitchFamily="34" charset="-120"/>
              </a:rPr>
              <a:t>(循环的打破)</a:t>
            </a:r>
            <a:endParaRPr lang="en-US" sz="1300" dirty="0"/>
          </a:p>
        </p:txBody>
      </p:sp>
      <p:sp>
        <p:nvSpPr>
          <p:cNvPr id="14" name="Text 12"/>
          <p:cNvSpPr/>
          <p:nvPr/>
        </p:nvSpPr>
        <p:spPr>
          <a:xfrm>
            <a:off x="4800600" y="4233672"/>
            <a:ext cx="6263640" cy="594360"/>
          </a:xfrm>
          <a:prstGeom prst="rect">
            <a:avLst/>
          </a:prstGeom>
          <a:noFill/>
          <a:ln/>
        </p:spPr>
        <p:txBody>
          <a:bodyPr wrap="square" rtlCol="0" anchor="ctr"/>
          <a:lstStyle/>
          <a:p>
            <a:pPr indent="0" marL="0">
              <a:lnSpc>
                <a:spcPct val="120000"/>
              </a:lnSpc>
              <a:buNone/>
            </a:pPr>
            <a:r>
              <a:rPr lang="en-US" sz="1200" dirty="0">
                <a:solidFill>
                  <a:srgbClr val="2B2F36"/>
                </a:solidFill>
                <a:latin typeface="Calibri" pitchFamily="34" charset="0"/>
                <a:ea typeface="Calibri" pitchFamily="34" charset="-122"/>
                <a:cs typeface="Calibri" pitchFamily="34" charset="-120"/>
              </a:rPr>
              <a:t>认识到双方的信息隐藏倾向是相互强化的恶性循环，需要CIM主管率先通过「故障透明」来打破——主动提供第一次信任行为</a:t>
            </a:r>
            <a:endParaRPr lang="en-US" sz="1200" dirty="0"/>
          </a:p>
        </p:txBody>
      </p:sp>
      <p:sp>
        <p:nvSpPr>
          <p:cNvPr id="15" name="Text 13"/>
          <p:cNvSpPr/>
          <p:nvPr/>
        </p:nvSpPr>
        <p:spPr>
          <a:xfrm>
            <a:off x="1188720" y="5029200"/>
            <a:ext cx="9875520" cy="566928"/>
          </a:xfrm>
          <a:prstGeom prst="rect">
            <a:avLst/>
          </a:prstGeom>
          <a:noFill/>
          <a:ln/>
        </p:spPr>
        <p:txBody>
          <a:bodyPr wrap="square" rtlCol="0" anchor="ctr"/>
          <a:lstStyle/>
          <a:p>
            <a:pPr indent="0" marL="0">
              <a:lnSpc>
                <a:spcPct val="128000"/>
              </a:lnSpc>
              <a:buNone/>
            </a:pPr>
            <a:r>
              <a:rPr lang="en-US" sz="1250" dirty="0">
                <a:solidFill>
                  <a:srgbClr val="2B2F36"/>
                </a:solidFill>
                <a:latin typeface="Calibri" pitchFamily="34" charset="0"/>
                <a:ea typeface="Calibri" pitchFamily="34" charset="-122"/>
                <a:cs typeface="Calibri" pitchFamily="34" charset="-120"/>
              </a:rPr>
              <a:t>跨部门沟通不是「软技能」，而是「信任工程」——它是可以被设计、可以被量化、可以被持续改进的系统性工作。</a:t>
            </a:r>
            <a:endParaRPr lang="en-US" sz="1250" dirty="0"/>
          </a:p>
        </p:txBody>
      </p:sp>
      <p:sp>
        <p:nvSpPr>
          <p:cNvPr id="16" name="Shape 14"/>
          <p:cNvSpPr/>
          <p:nvPr/>
        </p:nvSpPr>
        <p:spPr>
          <a:xfrm>
            <a:off x="1188720" y="5687568"/>
            <a:ext cx="3657600" cy="0"/>
          </a:xfrm>
          <a:prstGeom prst="line">
            <a:avLst/>
          </a:prstGeom>
          <a:noFill/>
          <a:ln w="12700">
            <a:solidFill>
              <a:srgbClr val="C7CDDB"/>
            </a:solidFill>
            <a:prstDash val="solid"/>
          </a:ln>
        </p:spPr>
      </p:sp>
      <p:sp>
        <p:nvSpPr>
          <p:cNvPr id="17" name="Text 15"/>
          <p:cNvSpPr/>
          <p:nvPr/>
        </p:nvSpPr>
        <p:spPr>
          <a:xfrm>
            <a:off x="1188720" y="5806440"/>
            <a:ext cx="9144000" cy="411480"/>
          </a:xfrm>
          <a:prstGeom prst="rect">
            <a:avLst/>
          </a:prstGeom>
          <a:noFill/>
          <a:ln/>
        </p:spPr>
        <p:txBody>
          <a:bodyPr wrap="square" rtlCol="0" anchor="ctr"/>
          <a:lstStyle/>
          <a:p>
            <a:pPr indent="0" marL="0">
              <a:buNone/>
            </a:pPr>
            <a:r>
              <a:rPr lang="en-US" sz="1600" b="1" i="1" dirty="0">
                <a:solidFill>
                  <a:srgbClr val="1B2A4A"/>
                </a:solidFill>
                <a:latin typeface="Cambria" pitchFamily="34" charset="0"/>
                <a:ea typeface="Cambria" pitchFamily="34" charset="-122"/>
                <a:cs typeface="Cambria" pitchFamily="34" charset="-120"/>
              </a:rPr>
              <a:t>技术能力决定你能做什么，沟通能力决定别人是否知道。</a:t>
            </a:r>
            <a:endParaRPr lang="en-US" sz="1600" dirty="0"/>
          </a:p>
        </p:txBody>
      </p:sp>
      <p:sp>
        <p:nvSpPr>
          <p:cNvPr id="18" name="Text 16"/>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15 / 17</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模块五 · 跨部门沟通</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课后场景思考 · 一</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请结合本讲内容，书面阐述你的判断</a:t>
            </a:r>
            <a:endParaRPr lang="en-US" sz="2700" dirty="0"/>
          </a:p>
        </p:txBody>
      </p:sp>
      <p:sp>
        <p:nvSpPr>
          <p:cNvPr id="6" name="Text 4"/>
          <p:cNvSpPr/>
          <p:nvPr/>
        </p:nvSpPr>
        <p:spPr>
          <a:xfrm>
            <a:off x="548640" y="1481328"/>
            <a:ext cx="10881360" cy="502920"/>
          </a:xfrm>
          <a:prstGeom prst="rect">
            <a:avLst/>
          </a:prstGeom>
          <a:noFill/>
          <a:ln/>
        </p:spPr>
        <p:txBody>
          <a:bodyPr wrap="square" rtlCol="0" anchor="ctr"/>
          <a:lstStyle/>
          <a:p>
            <a:pPr indent="0" marL="0">
              <a:lnSpc>
                <a:spcPct val="122000"/>
              </a:lnSpc>
              <a:buNone/>
            </a:pPr>
            <a:r>
              <a:rPr lang="en-US" sz="1180" i="1" dirty="0">
                <a:solidFill>
                  <a:srgbClr val="5B6270"/>
                </a:solidFill>
                <a:latin typeface="Calibri" pitchFamily="34" charset="0"/>
                <a:ea typeface="Calibri" pitchFamily="34" charset="-122"/>
                <a:cs typeface="Calibri" pitchFamily="34" charset="-120"/>
              </a:rPr>
              <a:t>请在课程结束后独立完成书面回答（每题150-300字），并于下次课程前提交。本练习不设标准答案，目的是呈现你对相关认知框架的理解方式。</a:t>
            </a:r>
            <a:endParaRPr lang="en-US" sz="1180" dirty="0"/>
          </a:p>
        </p:txBody>
      </p:sp>
      <p:sp>
        <p:nvSpPr>
          <p:cNvPr id="7" name="Text 5"/>
          <p:cNvSpPr/>
          <p:nvPr/>
        </p:nvSpPr>
        <p:spPr>
          <a:xfrm>
            <a:off x="548640" y="2148840"/>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〔场景一〕</a:t>
            </a:r>
            <a:endParaRPr lang="en-US" sz="1100" dirty="0"/>
          </a:p>
        </p:txBody>
      </p:sp>
      <p:sp>
        <p:nvSpPr>
          <p:cNvPr id="8" name="Text 6"/>
          <p:cNvSpPr/>
          <p:nvPr/>
        </p:nvSpPr>
        <p:spPr>
          <a:xfrm>
            <a:off x="548640" y="2478024"/>
            <a:ext cx="10881360" cy="914400"/>
          </a:xfrm>
          <a:prstGeom prst="rect">
            <a:avLst/>
          </a:prstGeom>
          <a:noFill/>
          <a:ln/>
        </p:spPr>
        <p:txBody>
          <a:bodyPr wrap="square" rtlCol="0" anchor="ctr"/>
          <a:lstStyle/>
          <a:p>
            <a:pPr indent="0" marL="0">
              <a:lnSpc>
                <a:spcPct val="128000"/>
              </a:lnSpc>
              <a:buNone/>
            </a:pPr>
            <a:r>
              <a:rPr lang="en-US" sz="1230" dirty="0">
                <a:solidFill>
                  <a:srgbClr val="2B2F36"/>
                </a:solidFill>
                <a:latin typeface="Calibri" pitchFamily="34" charset="0"/>
                <a:ea typeface="Calibri" pitchFamily="34" charset="-122"/>
                <a:cs typeface="Calibri" pitchFamily="34" charset="-120"/>
              </a:rPr>
              <a:t>CIM团队刚完成了一次重要的系统升级，解决了一个潜在的高风险问题。如果不升级，这个问题在未来两周内有较高概率导致停线。升级已经完成，系统运行正常。你需要向Fab制造部的班组长发送一条通知，你会怎么写？请用「Fab业务语言」而非「CIM技术语言」写出这条通知。</a:t>
            </a:r>
            <a:endParaRPr lang="en-US" sz="1230" dirty="0"/>
          </a:p>
        </p:txBody>
      </p:sp>
      <p:sp>
        <p:nvSpPr>
          <p:cNvPr id="9" name="Text 7"/>
          <p:cNvSpPr/>
          <p:nvPr/>
        </p:nvSpPr>
        <p:spPr>
          <a:xfrm>
            <a:off x="548640" y="3520440"/>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〔场景二〕</a:t>
            </a:r>
            <a:endParaRPr lang="en-US" sz="1100" dirty="0"/>
          </a:p>
        </p:txBody>
      </p:sp>
      <p:sp>
        <p:nvSpPr>
          <p:cNvPr id="10" name="Text 8"/>
          <p:cNvSpPr/>
          <p:nvPr/>
        </p:nvSpPr>
        <p:spPr>
          <a:xfrm>
            <a:off x="548640" y="3849624"/>
            <a:ext cx="10881360" cy="914400"/>
          </a:xfrm>
          <a:prstGeom prst="rect">
            <a:avLst/>
          </a:prstGeom>
          <a:noFill/>
          <a:ln/>
        </p:spPr>
        <p:txBody>
          <a:bodyPr wrap="square" rtlCol="0" anchor="ctr"/>
          <a:lstStyle/>
          <a:p>
            <a:pPr indent="0" marL="0">
              <a:lnSpc>
                <a:spcPct val="128000"/>
              </a:lnSpc>
              <a:buNone/>
            </a:pPr>
            <a:r>
              <a:rPr lang="en-US" sz="1230" dirty="0">
                <a:solidFill>
                  <a:srgbClr val="2B2F36"/>
                </a:solidFill>
                <a:latin typeface="Calibri" pitchFamily="34" charset="0"/>
                <a:ea typeface="Calibri" pitchFamily="34" charset="-122"/>
                <a:cs typeface="Calibri" pitchFamily="34" charset="-120"/>
              </a:rPr>
              <a:t>凌晨2点，CIM系统出现了一个异常报警，经过初步判断，可能影响三号产线的自动派工功能，但还不确定严重程度，预计需要30-60分钟才能定位清楚。你会在这个时候通知Fab吗？如果通知，你会怎么说？如果不通知，理由是什么？</a:t>
            </a:r>
            <a:endParaRPr lang="en-US" sz="1230" dirty="0"/>
          </a:p>
        </p:txBody>
      </p:sp>
      <p:sp>
        <p:nvSpPr>
          <p:cNvPr id="11" name="Text 9"/>
          <p:cNvSpPr/>
          <p:nvPr/>
        </p:nvSpPr>
        <p:spPr>
          <a:xfrm>
            <a:off x="548640" y="4892040"/>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〔场景三〕</a:t>
            </a:r>
            <a:endParaRPr lang="en-US" sz="1100" dirty="0"/>
          </a:p>
        </p:txBody>
      </p:sp>
      <p:sp>
        <p:nvSpPr>
          <p:cNvPr id="12" name="Text 10"/>
          <p:cNvSpPr/>
          <p:nvPr/>
        </p:nvSpPr>
        <p:spPr>
          <a:xfrm>
            <a:off x="548640" y="5221224"/>
            <a:ext cx="10881360" cy="914400"/>
          </a:xfrm>
          <a:prstGeom prst="rect">
            <a:avLst/>
          </a:prstGeom>
          <a:noFill/>
          <a:ln/>
        </p:spPr>
        <p:txBody>
          <a:bodyPr wrap="square" rtlCol="0" anchor="ctr"/>
          <a:lstStyle/>
          <a:p>
            <a:pPr indent="0" marL="0">
              <a:lnSpc>
                <a:spcPct val="128000"/>
              </a:lnSpc>
              <a:buNone/>
            </a:pPr>
            <a:r>
              <a:rPr lang="en-US" sz="1230" dirty="0">
                <a:solidFill>
                  <a:srgbClr val="2B2F36"/>
                </a:solidFill>
                <a:latin typeface="Calibri" pitchFamily="34" charset="0"/>
                <a:ea typeface="Calibri" pitchFamily="34" charset="-122"/>
                <a:cs typeface="Calibri" pitchFamily="34" charset="-120"/>
              </a:rPr>
              <a:t>你建立了每周向Fab发送「系统健康简报」的机制，坚持了两个月，但Fab制造部组长告诉你「你们发的那个周报我都没怎么看，太专业了，看不懂」。你会如何应对？</a:t>
            </a:r>
            <a:endParaRPr lang="en-US" sz="1230" dirty="0"/>
          </a:p>
        </p:txBody>
      </p:sp>
      <p:sp>
        <p:nvSpPr>
          <p:cNvPr id="13" name="Shape 11"/>
          <p:cNvSpPr/>
          <p:nvPr/>
        </p:nvSpPr>
        <p:spPr>
          <a:xfrm>
            <a:off x="548640" y="6446520"/>
            <a:ext cx="11091672" cy="0"/>
          </a:xfrm>
          <a:prstGeom prst="line">
            <a:avLst/>
          </a:prstGeom>
          <a:noFill/>
          <a:ln w="9525">
            <a:solidFill>
              <a:srgbClr val="C7CDDB"/>
            </a:solidFill>
            <a:prstDash val="solid"/>
          </a:ln>
        </p:spPr>
      </p:sp>
      <p:sp>
        <p:nvSpPr>
          <p:cNvPr id="14" name="Text 12"/>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课后场景思考 · 一</a:t>
            </a:r>
            <a:endParaRPr lang="en-US" sz="900" dirty="0"/>
          </a:p>
        </p:txBody>
      </p:sp>
      <p:sp>
        <p:nvSpPr>
          <p:cNvPr id="15" name="Text 13"/>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16 / 17</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模块五 · 跨部门沟通</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课后场景思考 · 二</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综合场景：以下两题边界更模糊，请审慎作答</a:t>
            </a:r>
            <a:endParaRPr lang="en-US" sz="2700" dirty="0"/>
          </a:p>
        </p:txBody>
      </p:sp>
      <p:sp>
        <p:nvSpPr>
          <p:cNvPr id="6" name="Text 4"/>
          <p:cNvSpPr/>
          <p:nvPr/>
        </p:nvSpPr>
        <p:spPr>
          <a:xfrm>
            <a:off x="548640" y="1481328"/>
            <a:ext cx="10881360" cy="502920"/>
          </a:xfrm>
          <a:prstGeom prst="rect">
            <a:avLst/>
          </a:prstGeom>
          <a:noFill/>
          <a:ln/>
        </p:spPr>
        <p:txBody>
          <a:bodyPr wrap="square" rtlCol="0" anchor="ctr"/>
          <a:lstStyle/>
          <a:p>
            <a:pPr indent="0" marL="0">
              <a:lnSpc>
                <a:spcPct val="122000"/>
              </a:lnSpc>
              <a:buNone/>
            </a:pPr>
            <a:r>
              <a:rPr lang="en-US" sz="1180" i="1" dirty="0">
                <a:solidFill>
                  <a:srgbClr val="5B6270"/>
                </a:solidFill>
                <a:latin typeface="Calibri" pitchFamily="34" charset="0"/>
                <a:ea typeface="Calibri" pitchFamily="34" charset="-122"/>
                <a:cs typeface="Calibri" pitchFamily="34" charset="-120"/>
              </a:rPr>
              <a:t>以下场景刻意设计为容易产生「听起来对、实际上偏差」的回答，请结合本讲全部理论框架作答，而非套用单一结论。</a:t>
            </a:r>
            <a:endParaRPr lang="en-US" sz="1180" dirty="0"/>
          </a:p>
        </p:txBody>
      </p:sp>
      <p:sp>
        <p:nvSpPr>
          <p:cNvPr id="7" name="Text 5"/>
          <p:cNvSpPr/>
          <p:nvPr/>
        </p:nvSpPr>
        <p:spPr>
          <a:xfrm>
            <a:off x="548640" y="214884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〔场景四〕</a:t>
            </a:r>
            <a:endParaRPr lang="en-US" sz="1100" dirty="0"/>
          </a:p>
        </p:txBody>
      </p:sp>
      <p:sp>
        <p:nvSpPr>
          <p:cNvPr id="8" name="Text 6"/>
          <p:cNvSpPr/>
          <p:nvPr/>
        </p:nvSpPr>
        <p:spPr>
          <a:xfrm>
            <a:off x="548640" y="2478024"/>
            <a:ext cx="10881360" cy="1005840"/>
          </a:xfrm>
          <a:prstGeom prst="rect">
            <a:avLst/>
          </a:prstGeom>
          <a:noFill/>
          <a:ln/>
        </p:spPr>
        <p:txBody>
          <a:bodyPr wrap="square" rtlCol="0" anchor="ctr"/>
          <a:lstStyle/>
          <a:p>
            <a:pPr indent="0" marL="0">
              <a:lnSpc>
                <a:spcPct val="128000"/>
              </a:lnSpc>
              <a:buNone/>
            </a:pPr>
            <a:r>
              <a:rPr lang="en-US" sz="1230" dirty="0">
                <a:solidFill>
                  <a:srgbClr val="2B2F36"/>
                </a:solidFill>
                <a:latin typeface="Calibri" pitchFamily="34" charset="0"/>
                <a:ea typeface="Calibri" pitchFamily="34" charset="-122"/>
                <a:cs typeface="Calibri" pitchFamily="34" charset="-120"/>
              </a:rPr>
              <a:t>你的团队已经建立了完整的三个主动沟通机制，执行了三个月，Fab制造部的满意度有所提升，但Fab的工艺部和设备部仍然反映「和CIM沟通不顺畅」。你分析认为工艺部和设备部的需求和制造部不同，需要为他们设计不同的沟通方案。请描述你的分析框架和设计思路。</a:t>
            </a:r>
            <a:endParaRPr lang="en-US" sz="1230" dirty="0"/>
          </a:p>
        </p:txBody>
      </p:sp>
      <p:sp>
        <p:nvSpPr>
          <p:cNvPr id="9" name="Text 7"/>
          <p:cNvSpPr/>
          <p:nvPr/>
        </p:nvSpPr>
        <p:spPr>
          <a:xfrm>
            <a:off x="548640" y="374904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〔场景五〕</a:t>
            </a:r>
            <a:endParaRPr lang="en-US" sz="1100" dirty="0"/>
          </a:p>
        </p:txBody>
      </p:sp>
      <p:sp>
        <p:nvSpPr>
          <p:cNvPr id="10" name="Text 8"/>
          <p:cNvSpPr/>
          <p:nvPr/>
        </p:nvSpPr>
        <p:spPr>
          <a:xfrm>
            <a:off x="548640" y="4078224"/>
            <a:ext cx="10881360" cy="1005840"/>
          </a:xfrm>
          <a:prstGeom prst="rect">
            <a:avLst/>
          </a:prstGeom>
          <a:noFill/>
          <a:ln/>
        </p:spPr>
        <p:txBody>
          <a:bodyPr wrap="square" rtlCol="0" anchor="ctr"/>
          <a:lstStyle/>
          <a:p>
            <a:pPr indent="0" marL="0">
              <a:lnSpc>
                <a:spcPct val="128000"/>
              </a:lnSpc>
              <a:buNone/>
            </a:pPr>
            <a:r>
              <a:rPr lang="en-US" sz="1230" dirty="0">
                <a:solidFill>
                  <a:srgbClr val="2B2F36"/>
                </a:solidFill>
                <a:latin typeface="Calibri" pitchFamily="34" charset="0"/>
                <a:ea typeface="Calibri" pitchFamily="34" charset="-122"/>
                <a:cs typeface="Calibri" pitchFamily="34" charset="-120"/>
              </a:rPr>
              <a:t>你一直在努力建立与Fab的信任关系，三个主动沟通机制都在执行，但某次发生了一个较严重的系统故障。你在15分钟内推送了第一个进展更新，之后每20分钟更新一次，处理全程保持了故障透明。故障历时2.5小时，影响了生产。故障解决后，Fab制造部经理找你说：「这次处理过程你们很专业，进展也都告诉我们了，但我们还是很生气，因为出了这么大的问题，影响太大了。」你如何理解这个反馈？这说明主动沟通机制存在什么局限性？</a:t>
            </a:r>
            <a:endParaRPr lang="en-US" sz="1230" dirty="0"/>
          </a:p>
        </p:txBody>
      </p:sp>
      <p:sp>
        <p:nvSpPr>
          <p:cNvPr id="11" name="Shape 9"/>
          <p:cNvSpPr/>
          <p:nvPr/>
        </p:nvSpPr>
        <p:spPr>
          <a:xfrm>
            <a:off x="548640" y="5440680"/>
            <a:ext cx="10881360" cy="0"/>
          </a:xfrm>
          <a:prstGeom prst="line">
            <a:avLst/>
          </a:prstGeom>
          <a:noFill/>
          <a:ln w="12700">
            <a:solidFill>
              <a:srgbClr val="E3E7EF"/>
            </a:solidFill>
            <a:prstDash val="solid"/>
          </a:ln>
        </p:spPr>
      </p:sp>
      <p:sp>
        <p:nvSpPr>
          <p:cNvPr id="12" name="Text 10"/>
          <p:cNvSpPr/>
          <p:nvPr/>
        </p:nvSpPr>
        <p:spPr>
          <a:xfrm>
            <a:off x="548640" y="5559552"/>
            <a:ext cx="10881360" cy="320040"/>
          </a:xfrm>
          <a:prstGeom prst="rect">
            <a:avLst/>
          </a:prstGeom>
          <a:noFill/>
          <a:ln/>
        </p:spPr>
        <p:txBody>
          <a:bodyPr wrap="square" rtlCol="0" anchor="ctr"/>
          <a:lstStyle/>
          <a:p>
            <a:pPr indent="0" marL="0">
              <a:buNone/>
            </a:pPr>
            <a:r>
              <a:rPr lang="en-US" sz="1150" dirty="0">
                <a:solidFill>
                  <a:srgbClr val="5B6270"/>
                </a:solidFill>
                <a:latin typeface="Calibri" pitchFamily="34" charset="0"/>
                <a:ea typeface="Calibri" pitchFamily="34" charset="-122"/>
                <a:cs typeface="Calibri" pitchFamily="34" charset="-120"/>
              </a:rPr>
              <a:t>提交方式：与场景一至三合并为一份书面材料，于下次课程开始前提交。</a:t>
            </a:r>
            <a:endParaRPr lang="en-US" sz="1150" dirty="0"/>
          </a:p>
        </p:txBody>
      </p:sp>
      <p:sp>
        <p:nvSpPr>
          <p:cNvPr id="13" name="Shape 11"/>
          <p:cNvSpPr/>
          <p:nvPr/>
        </p:nvSpPr>
        <p:spPr>
          <a:xfrm>
            <a:off x="548640" y="6446520"/>
            <a:ext cx="11091672" cy="0"/>
          </a:xfrm>
          <a:prstGeom prst="line">
            <a:avLst/>
          </a:prstGeom>
          <a:noFill/>
          <a:ln w="9525">
            <a:solidFill>
              <a:srgbClr val="C7CDDB"/>
            </a:solidFill>
            <a:prstDash val="solid"/>
          </a:ln>
        </p:spPr>
      </p:sp>
      <p:sp>
        <p:nvSpPr>
          <p:cNvPr id="14" name="Text 12"/>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课后场景思考 · 二</a:t>
            </a:r>
            <a:endParaRPr lang="en-US" sz="900" dirty="0"/>
          </a:p>
        </p:txBody>
      </p:sp>
      <p:sp>
        <p:nvSpPr>
          <p:cNvPr id="15" name="Text 13"/>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17 / 17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跨部门沟通：与Fab建立信任 · 理论精读版</dc:title>
  <dc:subject>PptxGenJS Presentation</dc:subject>
  <dc:creator>PptxGenJS</dc:creator>
  <cp:lastModifiedBy>PptxGenJS</cp:lastModifiedBy>
  <cp:revision>1</cp:revision>
  <dcterms:created xsi:type="dcterms:W3CDTF">2026-06-19T12:14:20Z</dcterms:created>
  <dcterms:modified xsi:type="dcterms:W3CDTF">2026-06-19T12:14:20Z</dcterms:modified>
</cp:coreProperties>
</file>