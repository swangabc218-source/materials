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场景一（对应理论框架一）诊断指引：考察学员能否识别效率偏差和隐形化代价两个机制。正确回答应指出这种模式短期对经理而言是理性的，但长期会让最有潜力的下属在组织里失去可见度，增加离职风险。
场景二（对应理论框架二）诊断指引：正确回答应指出缺少提前对齐内容和设置安全网这两个环节，单纯把机会形式上交出去不等于完成了给舞台，这正是误区一的典型复现。
场景三（对应边界反例）诊断指引：考察学员是否把给舞台当成了不分情境的教条。理想回答应提到表现不及预期时后果是否可逆这一核心判断维度，并能提出折中方案（自己主讲、下属近距离支持）作为可能的解决思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场景四（对应延伸视角一）诊断指引：考察学员能否分辨纸面上的梯队规划和真正在运转的梯队规划。证据应聚焦于具体的人是否真的获得了与其潜力匹配的曝光机会，而不是规划文档本身写得是否完整。
场景五（综合场景）诊断指引：本模块难度最高的诊断题，检验学员是否把给舞台的执行和给舞台之后的转化割裂理解了。正确回答应指出：这次给舞台的操作本身没有问题，问题出在事后没有完成复盘——这正是延伸视角二指出的，没有复盘的曝光经历很难真正沉淀为下属的能力和自信，给舞台的闭环没有走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1005840"/>
            <a:ext cx="10515600" cy="365760"/>
          </a:xfrm>
          <a:prstGeom prst="rect">
            <a:avLst/>
          </a:prstGeom>
          <a:noFill/>
          <a:ln/>
        </p:spPr>
        <p:txBody>
          <a:bodyPr wrap="square" lIns="0" tIns="0" rIns="0" bIns="0" rtlCol="0" anchor="ctr"/>
          <a:lstStyle/>
          <a:p>
            <a:pPr indent="0" marL="0">
              <a:buNone/>
            </a:pPr>
            <a:r>
              <a:rPr lang="en-US" sz="1400" b="1" spc="200" kern="0" dirty="0">
                <a:solidFill>
                  <a:srgbClr val="9C5536"/>
                </a:solidFill>
                <a:latin typeface="Calibri" pitchFamily="34" charset="0"/>
                <a:ea typeface="Calibri" pitchFamily="34" charset="-122"/>
                <a:cs typeface="Calibri" pitchFamily="34" charset="-120"/>
              </a:rPr>
              <a:t>CIM管理者培训体系 · 层级二 · 部门经理</a:t>
            </a:r>
            <a:endParaRPr lang="en-US" sz="1400" dirty="0"/>
          </a:p>
        </p:txBody>
      </p:sp>
      <p:sp>
        <p:nvSpPr>
          <p:cNvPr id="3" name="Text 1"/>
          <p:cNvSpPr/>
          <p:nvPr/>
        </p:nvSpPr>
        <p:spPr>
          <a:xfrm>
            <a:off x="822960" y="1417320"/>
            <a:ext cx="3657600" cy="457200"/>
          </a:xfrm>
          <a:prstGeom prst="rect">
            <a:avLst/>
          </a:prstGeom>
          <a:noFill/>
          <a:ln/>
        </p:spPr>
        <p:txBody>
          <a:bodyPr wrap="square" lIns="0" tIns="0" rIns="0" bIns="0" rtlCol="0" anchor="ctr"/>
          <a:lstStyle/>
          <a:p>
            <a:pPr indent="0" marL="0">
              <a:buNone/>
            </a:pPr>
            <a:r>
              <a:rPr lang="en-US" sz="2000" dirty="0">
                <a:solidFill>
                  <a:srgbClr val="7C7F84"/>
                </a:solidFill>
                <a:latin typeface="Cambria" pitchFamily="34" charset="0"/>
                <a:ea typeface="Cambria" pitchFamily="34" charset="-122"/>
                <a:cs typeface="Cambria" pitchFamily="34" charset="-120"/>
              </a:rPr>
              <a:t>M3</a:t>
            </a:r>
            <a:endParaRPr lang="en-US" sz="2000" dirty="0"/>
          </a:p>
        </p:txBody>
      </p:sp>
      <p:sp>
        <p:nvSpPr>
          <p:cNvPr id="4" name="Text 2"/>
          <p:cNvSpPr/>
          <p:nvPr/>
        </p:nvSpPr>
        <p:spPr>
          <a:xfrm>
            <a:off x="822960" y="2286000"/>
            <a:ext cx="10515600" cy="1463040"/>
          </a:xfrm>
          <a:prstGeom prst="rect">
            <a:avLst/>
          </a:prstGeom>
          <a:noFill/>
          <a:ln/>
        </p:spPr>
        <p:txBody>
          <a:bodyPr wrap="square" lIns="0" tIns="0" rIns="0" bIns="0" rtlCol="0" anchor="ctr"/>
          <a:lstStyle/>
          <a:p>
            <a:pPr indent="0" marL="0">
              <a:buNone/>
            </a:pPr>
            <a:r>
              <a:rPr lang="en-US" sz="5600" b="1" dirty="0">
                <a:solidFill>
                  <a:srgbClr val="1B2A4A"/>
                </a:solidFill>
                <a:latin typeface="Cambria" pitchFamily="34" charset="0"/>
                <a:ea typeface="Cambria" pitchFamily="34" charset="-122"/>
                <a:cs typeface="Cambria" pitchFamily="34" charset="-120"/>
              </a:rPr>
              <a:t>给舞台</a:t>
            </a:r>
            <a:endParaRPr lang="en-US" sz="5600" dirty="0"/>
          </a:p>
        </p:txBody>
      </p:sp>
      <p:sp>
        <p:nvSpPr>
          <p:cNvPr id="5" name="Text 3"/>
          <p:cNvSpPr/>
          <p:nvPr/>
        </p:nvSpPr>
        <p:spPr>
          <a:xfrm>
            <a:off x="822960" y="3703320"/>
            <a:ext cx="10515600" cy="548640"/>
          </a:xfrm>
          <a:prstGeom prst="rect">
            <a:avLst/>
          </a:prstGeom>
          <a:noFill/>
          <a:ln/>
        </p:spPr>
        <p:txBody>
          <a:bodyPr wrap="square" lIns="0" tIns="0" rIns="0" bIns="0" rtlCol="0" anchor="ctr"/>
          <a:lstStyle/>
          <a:p>
            <a:pPr indent="0" marL="0">
              <a:buNone/>
            </a:pPr>
            <a:r>
              <a:rPr lang="en-US" sz="2200" i="1" dirty="0">
                <a:solidFill>
                  <a:srgbClr val="9C5536"/>
                </a:solidFill>
                <a:latin typeface="Cambria" pitchFamily="34" charset="0"/>
                <a:ea typeface="Cambria" pitchFamily="34" charset="-122"/>
                <a:cs typeface="Cambria" pitchFamily="34" charset="-120"/>
              </a:rPr>
              <a:t>经理退到幕后，光留给该被看见的人</a:t>
            </a:r>
            <a:endParaRPr lang="en-US" sz="2200" dirty="0"/>
          </a:p>
        </p:txBody>
      </p:sp>
      <p:sp>
        <p:nvSpPr>
          <p:cNvPr id="6" name="Shape 4"/>
          <p:cNvSpPr/>
          <p:nvPr/>
        </p:nvSpPr>
        <p:spPr>
          <a:xfrm>
            <a:off x="822960" y="4617720"/>
            <a:ext cx="7863840" cy="1280160"/>
          </a:xfrm>
          <a:prstGeom prst="roundRect">
            <a:avLst>
              <a:gd name="adj" fmla="val 5714"/>
            </a:avLst>
          </a:prstGeom>
          <a:solidFill>
            <a:srgbClr val="EEF1F6"/>
          </a:solidFill>
          <a:ln/>
          <a:effectLst>
            <a:outerShdw sx="100000" sy="100000" kx="0" ky="0" algn="bl" rotWithShape="0" blurRad="101600" dist="38100" dir="5400000">
              <a:srgbClr val="1B2A4A">
                <a:alpha val="10000"/>
              </a:srgbClr>
            </a:outerShdw>
          </a:effectLst>
        </p:spPr>
      </p:sp>
      <p:sp>
        <p:nvSpPr>
          <p:cNvPr id="7" name="Text 5"/>
          <p:cNvSpPr/>
          <p:nvPr/>
        </p:nvSpPr>
        <p:spPr>
          <a:xfrm>
            <a:off x="1143000" y="4617720"/>
            <a:ext cx="7223760" cy="1280160"/>
          </a:xfrm>
          <a:prstGeom prst="rect">
            <a:avLst/>
          </a:prstGeom>
          <a:noFill/>
          <a:ln/>
        </p:spPr>
        <p:txBody>
          <a:bodyPr wrap="square" lIns="0" tIns="0" rIns="0" bIns="0" rtlCol="0" anchor="ctr"/>
          <a:lstStyle/>
          <a:p>
            <a:pPr algn="l" indent="0" marL="0">
              <a:buNone/>
            </a:pPr>
            <a:r>
              <a:rPr lang="en-US" sz="1800" i="1" dirty="0">
                <a:solidFill>
                  <a:srgbClr val="1B2A4A"/>
                </a:solidFill>
                <a:latin typeface="Cambria" pitchFamily="34" charset="0"/>
                <a:ea typeface="Cambria" pitchFamily="34" charset="-122"/>
                <a:cs typeface="Cambria" pitchFamily="34" charset="-120"/>
              </a:rPr>
              <a:t>给舞台，不是经理退场，而是换到能随时补位的位置。</a:t>
            </a:r>
            <a:endParaRPr lang="en-US" sz="180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M3 给舞台</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 / 17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现象</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同样是带团队，谁被组织看见的轨迹完全不同</a:t>
            </a:r>
            <a:endParaRPr lang="en-US" sz="2600" dirty="0"/>
          </a:p>
        </p:txBody>
      </p:sp>
      <p:sp>
        <p:nvSpPr>
          <p:cNvPr id="4" name="Shape 2"/>
          <p:cNvSpPr/>
          <p:nvPr/>
        </p:nvSpPr>
        <p:spPr>
          <a:xfrm>
            <a:off x="548640" y="1691640"/>
            <a:ext cx="5349240" cy="3246120"/>
          </a:xfrm>
          <a:prstGeom prst="roundRect">
            <a:avLst>
              <a:gd name="adj" fmla="val 2254"/>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965960"/>
            <a:ext cx="2743200" cy="411480"/>
          </a:xfrm>
          <a:prstGeom prst="rect">
            <a:avLst/>
          </a:prstGeom>
          <a:noFill/>
          <a:ln/>
        </p:spPr>
        <p:txBody>
          <a:bodyPr wrap="square" lIns="0" tIns="0" rIns="0" bIns="0" rtlCol="0" anchor="ctr"/>
          <a:lstStyle/>
          <a:p>
            <a:pPr indent="0" marL="0">
              <a:buNone/>
            </a:pPr>
            <a:r>
              <a:rPr lang="en-US" sz="2000" b="1" dirty="0">
                <a:solidFill>
                  <a:srgbClr val="1B2A4A"/>
                </a:solidFill>
                <a:latin typeface="Cambria" pitchFamily="34" charset="0"/>
                <a:ea typeface="Cambria" pitchFamily="34" charset="-122"/>
                <a:cs typeface="Cambria" pitchFamily="34" charset="-120"/>
              </a:rPr>
              <a:t>E经理</a:t>
            </a:r>
            <a:endParaRPr lang="en-US" sz="2000" dirty="0"/>
          </a:p>
        </p:txBody>
      </p:sp>
      <p:sp>
        <p:nvSpPr>
          <p:cNvPr id="6" name="Shape 4"/>
          <p:cNvSpPr/>
          <p:nvPr/>
        </p:nvSpPr>
        <p:spPr>
          <a:xfrm>
            <a:off x="4389120" y="1984248"/>
            <a:ext cx="1188720" cy="292608"/>
          </a:xfrm>
          <a:prstGeom prst="roundRect">
            <a:avLst>
              <a:gd name="adj" fmla="val 18750"/>
            </a:avLst>
          </a:prstGeom>
          <a:solidFill>
            <a:srgbClr val="9C5536"/>
          </a:solidFill>
          <a:ln/>
        </p:spPr>
      </p:sp>
      <p:sp>
        <p:nvSpPr>
          <p:cNvPr id="7" name="Text 5"/>
          <p:cNvSpPr/>
          <p:nvPr/>
        </p:nvSpPr>
        <p:spPr>
          <a:xfrm>
            <a:off x="4389120" y="198424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垄断舞台</a:t>
            </a:r>
            <a:endParaRPr lang="en-US" sz="1100" dirty="0"/>
          </a:p>
        </p:txBody>
      </p:sp>
      <p:sp>
        <p:nvSpPr>
          <p:cNvPr id="8" name="Text 6"/>
          <p:cNvSpPr/>
          <p:nvPr/>
        </p:nvSpPr>
        <p:spPr>
          <a:xfrm>
            <a:off x="868680" y="2560320"/>
            <a:ext cx="4709160" cy="2103120"/>
          </a:xfrm>
          <a:prstGeom prst="rect">
            <a:avLst/>
          </a:prstGeom>
          <a:noFill/>
          <a:ln/>
        </p:spPr>
        <p:txBody>
          <a:bodyPr wrap="square" lIns="0" tIns="0" rIns="0" bIns="0" rtlCol="0" anchor="t"/>
          <a:lstStyle/>
          <a:p>
            <a:pPr algn="l" indent="0" marL="0">
              <a:lnSpc>
                <a:spcPct val="125000"/>
              </a:lnSpc>
              <a:buNone/>
            </a:pPr>
            <a:r>
              <a:rPr lang="en-US" sz="1350" dirty="0">
                <a:solidFill>
                  <a:srgbClr val="33363B"/>
                </a:solidFill>
                <a:latin typeface="Calibri" pitchFamily="34" charset="0"/>
                <a:ea typeface="Calibri" pitchFamily="34" charset="-122"/>
                <a:cs typeface="Calibri" pitchFamily="34" charset="-120"/>
              </a:rPr>
              <a:t>所有重要汇报、跨部门会议，永远是自己上台讲，理由是「我讲得更清楚、更不容易出岔子」。半年后，团队里最有潜力的主管在跨部门会议里几乎没人认识，上级提到团队产出时，第一反应是想到E经理本人。</a:t>
            </a:r>
            <a:endParaRPr lang="en-US" sz="1350" dirty="0"/>
          </a:p>
        </p:txBody>
      </p:sp>
      <p:sp>
        <p:nvSpPr>
          <p:cNvPr id="9" name="Shape 7"/>
          <p:cNvSpPr/>
          <p:nvPr/>
        </p:nvSpPr>
        <p:spPr>
          <a:xfrm>
            <a:off x="6263640" y="1691640"/>
            <a:ext cx="5349240" cy="3246120"/>
          </a:xfrm>
          <a:prstGeom prst="roundRect">
            <a:avLst>
              <a:gd name="adj" fmla="val 2254"/>
            </a:avLst>
          </a:prstGeom>
          <a:solidFill>
            <a:srgbClr val="EEF2EE"/>
          </a:solidFill>
          <a:ln/>
          <a:effectLst>
            <a:outerShdw sx="100000" sy="100000" kx="0" ky="0" algn="bl" rotWithShape="0" blurRad="101600" dist="38100" dir="5400000">
              <a:srgbClr val="1B2A4A">
                <a:alpha val="10000"/>
              </a:srgbClr>
            </a:outerShdw>
          </a:effectLst>
        </p:spPr>
      </p:sp>
      <p:sp>
        <p:nvSpPr>
          <p:cNvPr id="10" name="Text 8"/>
          <p:cNvSpPr/>
          <p:nvPr/>
        </p:nvSpPr>
        <p:spPr>
          <a:xfrm>
            <a:off x="6583680" y="1965960"/>
            <a:ext cx="2743200" cy="411480"/>
          </a:xfrm>
          <a:prstGeom prst="rect">
            <a:avLst/>
          </a:prstGeom>
          <a:noFill/>
          <a:ln/>
        </p:spPr>
        <p:txBody>
          <a:bodyPr wrap="square" lIns="0" tIns="0" rIns="0" bIns="0" rtlCol="0" anchor="ctr"/>
          <a:lstStyle/>
          <a:p>
            <a:pPr indent="0" marL="0">
              <a:buNone/>
            </a:pPr>
            <a:r>
              <a:rPr lang="en-US" sz="2000" b="1" dirty="0">
                <a:solidFill>
                  <a:srgbClr val="1B2A4A"/>
                </a:solidFill>
                <a:latin typeface="Cambria" pitchFamily="34" charset="0"/>
                <a:ea typeface="Cambria" pitchFamily="34" charset="-122"/>
                <a:cs typeface="Cambria" pitchFamily="34" charset="-120"/>
              </a:rPr>
              <a:t>F经理</a:t>
            </a:r>
            <a:endParaRPr lang="en-US" sz="2000" dirty="0"/>
          </a:p>
        </p:txBody>
      </p:sp>
      <p:sp>
        <p:nvSpPr>
          <p:cNvPr id="11" name="Shape 9"/>
          <p:cNvSpPr/>
          <p:nvPr/>
        </p:nvSpPr>
        <p:spPr>
          <a:xfrm>
            <a:off x="10104120" y="1984248"/>
            <a:ext cx="1188720" cy="292608"/>
          </a:xfrm>
          <a:prstGeom prst="roundRect">
            <a:avLst>
              <a:gd name="adj" fmla="val 18750"/>
            </a:avLst>
          </a:prstGeom>
          <a:solidFill>
            <a:srgbClr val="4F6F52"/>
          </a:solidFill>
          <a:ln/>
        </p:spPr>
      </p:sp>
      <p:sp>
        <p:nvSpPr>
          <p:cNvPr id="12" name="Text 10"/>
          <p:cNvSpPr/>
          <p:nvPr/>
        </p:nvSpPr>
        <p:spPr>
          <a:xfrm>
            <a:off x="10104120" y="198424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让出舞台</a:t>
            </a:r>
            <a:endParaRPr lang="en-US" sz="1100" dirty="0"/>
          </a:p>
        </p:txBody>
      </p:sp>
      <p:sp>
        <p:nvSpPr>
          <p:cNvPr id="13" name="Text 11"/>
          <p:cNvSpPr/>
          <p:nvPr/>
        </p:nvSpPr>
        <p:spPr>
          <a:xfrm>
            <a:off x="6583680" y="2560320"/>
            <a:ext cx="4709160" cy="2103120"/>
          </a:xfrm>
          <a:prstGeom prst="rect">
            <a:avLst/>
          </a:prstGeom>
          <a:noFill/>
          <a:ln/>
        </p:spPr>
        <p:txBody>
          <a:bodyPr wrap="square" lIns="0" tIns="0" rIns="0" bIns="0" rtlCol="0" anchor="t"/>
          <a:lstStyle/>
          <a:p>
            <a:pPr algn="l" indent="0" marL="0">
              <a:lnSpc>
                <a:spcPct val="125000"/>
              </a:lnSpc>
              <a:buNone/>
            </a:pPr>
            <a:r>
              <a:rPr lang="en-US" sz="1350" dirty="0">
                <a:solidFill>
                  <a:srgbClr val="33363B"/>
                </a:solidFill>
                <a:latin typeface="Calibri" pitchFamily="34" charset="0"/>
                <a:ea typeface="Calibri" pitchFamily="34" charset="-122"/>
                <a:cs typeface="Calibri" pitchFamily="34" charset="-120"/>
              </a:rPr>
              <a:t>把跨部门汇报的机会逐步交给团队里的骨干主管，自己提前帮忙对齐内容、坐在旁边随时补位。半年后，团队里两位主管开始被跨部门同事认识、被提到名字，在内部晋升评审时也更容易获得认可。</a:t>
            </a:r>
            <a:endParaRPr lang="en-US" sz="1350" dirty="0"/>
          </a:p>
        </p:txBody>
      </p:sp>
      <p:sp>
        <p:nvSpPr>
          <p:cNvPr id="14" name="Shape 12"/>
          <p:cNvSpPr/>
          <p:nvPr/>
        </p:nvSpPr>
        <p:spPr>
          <a:xfrm>
            <a:off x="548640" y="5166360"/>
            <a:ext cx="11064240" cy="914400"/>
          </a:xfrm>
          <a:prstGeom prst="roundRect">
            <a:avLst>
              <a:gd name="adj" fmla="val 8000"/>
            </a:avLst>
          </a:prstGeom>
          <a:solidFill>
            <a:srgbClr val="EEF1F6"/>
          </a:solidFill>
          <a:ln/>
          <a:effectLst>
            <a:outerShdw sx="100000" sy="100000" kx="0" ky="0" algn="bl" rotWithShape="0" blurRad="101600" dist="38100" dir="5400000">
              <a:srgbClr val="1B2A4A">
                <a:alpha val="10000"/>
              </a:srgbClr>
            </a:outerShdw>
          </a:effectLst>
        </p:spPr>
      </p:sp>
      <p:sp>
        <p:nvSpPr>
          <p:cNvPr id="15" name="Text 13"/>
          <p:cNvSpPr/>
          <p:nvPr/>
        </p:nvSpPr>
        <p:spPr>
          <a:xfrm>
            <a:off x="868680" y="5166360"/>
            <a:ext cx="10424160" cy="914400"/>
          </a:xfrm>
          <a:prstGeom prst="rect">
            <a:avLst/>
          </a:prstGeom>
          <a:noFill/>
          <a:ln/>
        </p:spPr>
        <p:txBody>
          <a:bodyPr wrap="square" lIns="0" tIns="0" rIns="0" bIns="0" rtlCol="0" anchor="ctr"/>
          <a:lstStyle/>
          <a:p>
            <a:pPr algn="l" indent="0" marL="0">
              <a:buNone/>
            </a:pPr>
            <a:r>
              <a:rPr lang="en-US" sz="1550" i="1" dirty="0">
                <a:solidFill>
                  <a:srgbClr val="1B2A4A"/>
                </a:solidFill>
                <a:latin typeface="Cambria" pitchFamily="34" charset="0"/>
                <a:ea typeface="Cambria" pitchFamily="34" charset="-122"/>
                <a:cs typeface="Cambria" pitchFamily="34" charset="-120"/>
              </a:rPr>
              <a:t>两人对团队产出的真实贡献可能差不多，但谁在组织里被看见、被记住，轨迹完全不同。</a:t>
            </a:r>
            <a:endParaRPr lang="en-US" sz="1550" dirty="0"/>
          </a:p>
        </p:txBody>
      </p:sp>
      <p:sp>
        <p:nvSpPr>
          <p:cNvPr id="16" name="Text 1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M3 给舞台</a:t>
            </a:r>
            <a:endParaRPr lang="en-US" sz="900" dirty="0"/>
          </a:p>
        </p:txBody>
      </p:sp>
      <p:sp>
        <p:nvSpPr>
          <p:cNvPr id="17" name="Text 1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问题</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给舞台，是部门经理最容易被忽视的责任</a:t>
            </a:r>
            <a:endParaRPr lang="en-US" sz="2500" dirty="0"/>
          </a:p>
        </p:txBody>
      </p:sp>
      <p:sp>
        <p:nvSpPr>
          <p:cNvPr id="4" name="Text 2"/>
          <p:cNvSpPr/>
          <p:nvPr/>
        </p:nvSpPr>
        <p:spPr>
          <a:xfrm>
            <a:off x="548640" y="1783080"/>
            <a:ext cx="11064240" cy="960120"/>
          </a:xfrm>
          <a:prstGeom prst="rect">
            <a:avLst/>
          </a:prstGeom>
          <a:noFill/>
          <a:ln/>
        </p:spPr>
        <p:txBody>
          <a:bodyPr wrap="square" lIns="0" tIns="0" rIns="0" bIns="0" rtlCol="0" anchor="ctr"/>
          <a:lstStyle/>
          <a:p>
            <a:pPr indent="0" marL="0">
              <a:lnSpc>
                <a:spcPct val="130000"/>
              </a:lnSpc>
              <a:buNone/>
            </a:pPr>
            <a:r>
              <a:rPr lang="en-US" sz="1400" dirty="0">
                <a:solidFill>
                  <a:srgbClr val="33363B"/>
                </a:solidFill>
                <a:latin typeface="Calibri" pitchFamily="34" charset="0"/>
                <a:ea typeface="Calibri" pitchFamily="34" charset="-122"/>
                <a:cs typeface="Calibri" pitchFamily="34" charset="-120"/>
              </a:rPr>
              <a:t>部门经理通常把业务结果当成自己唯一的责任，很少意识到「谁在组织里被看见」同样是自己分配的资源，而且这部分资源一旦被自己长期占用，团队里最有潜力的人会在不知不觉中被隐形化。</a:t>
            </a:r>
            <a:endParaRPr lang="en-US" sz="1400" dirty="0"/>
          </a:p>
        </p:txBody>
      </p:sp>
      <p:sp>
        <p:nvSpPr>
          <p:cNvPr id="5" name="Shape 3"/>
          <p:cNvSpPr/>
          <p:nvPr/>
        </p:nvSpPr>
        <p:spPr>
          <a:xfrm>
            <a:off x="548640" y="2834640"/>
            <a:ext cx="11064240" cy="1143000"/>
          </a:xfrm>
          <a:prstGeom prst="roundRect">
            <a:avLst>
              <a:gd name="adj" fmla="val 6400"/>
            </a:avLst>
          </a:prstGeom>
          <a:solidFill>
            <a:srgbClr val="EEF1F6"/>
          </a:solidFill>
          <a:ln/>
          <a:effectLst>
            <a:outerShdw sx="100000" sy="100000" kx="0" ky="0" algn="bl" rotWithShape="0" blurRad="101600" dist="38100" dir="5400000">
              <a:srgbClr val="1B2A4A">
                <a:alpha val="10000"/>
              </a:srgbClr>
            </a:outerShdw>
          </a:effectLst>
        </p:spPr>
      </p:sp>
      <p:sp>
        <p:nvSpPr>
          <p:cNvPr id="6" name="Text 4"/>
          <p:cNvSpPr/>
          <p:nvPr/>
        </p:nvSpPr>
        <p:spPr>
          <a:xfrm>
            <a:off x="868680" y="2971800"/>
            <a:ext cx="10424160" cy="896112"/>
          </a:xfrm>
          <a:prstGeom prst="rect">
            <a:avLst/>
          </a:prstGeom>
          <a:noFill/>
          <a:ln/>
        </p:spPr>
        <p:txBody>
          <a:bodyPr wrap="square" lIns="0" tIns="0" rIns="0" bIns="0" rtlCol="0" anchor="ctr"/>
          <a:lstStyle/>
          <a:p>
            <a:pPr indent="0" marL="0">
              <a:lnSpc>
                <a:spcPct val="120000"/>
              </a:lnSpc>
              <a:buNone/>
            </a:pPr>
            <a:r>
              <a:rPr lang="en-US" sz="1450" i="1" dirty="0">
                <a:solidFill>
                  <a:srgbClr val="1B2A4A"/>
                </a:solidFill>
                <a:latin typeface="Cambria" pitchFamily="34" charset="0"/>
                <a:ea typeface="Cambria" pitchFamily="34" charset="-122"/>
                <a:cs typeface="Cambria" pitchFamily="34" charset="-120"/>
              </a:rPr>
              <a:t>本模块要建立的认知：可见度本身是一种稀缺资源，经理对它的分配方式，决定了团队的成长速度和留存意愿。</a:t>
            </a:r>
            <a:endParaRPr lang="en-US" sz="1450" dirty="0"/>
          </a:p>
        </p:txBody>
      </p:sp>
      <p:sp>
        <p:nvSpPr>
          <p:cNvPr id="7" name="Text 5"/>
          <p:cNvSpPr/>
          <p:nvPr/>
        </p:nvSpPr>
        <p:spPr>
          <a:xfrm>
            <a:off x="548640" y="4206240"/>
            <a:ext cx="5486400" cy="320040"/>
          </a:xfrm>
          <a:prstGeom prst="rect">
            <a:avLst/>
          </a:prstGeom>
          <a:noFill/>
          <a:ln/>
        </p:spPr>
        <p:txBody>
          <a:bodyPr wrap="square" lIns="0" tIns="0" rIns="0" bIns="0" rtlCol="0" anchor="ctr"/>
          <a:lstStyle/>
          <a:p>
            <a:pPr indent="0" marL="0">
              <a:buNone/>
            </a:pPr>
            <a:r>
              <a:rPr lang="en-US" sz="1250" b="1" spc="100" kern="0" dirty="0">
                <a:solidFill>
                  <a:srgbClr val="9C5536"/>
                </a:solidFill>
                <a:latin typeface="Calibri" pitchFamily="34" charset="0"/>
                <a:ea typeface="Calibri" pitchFamily="34" charset="-122"/>
                <a:cs typeface="Calibri" pitchFamily="34" charset="-120"/>
              </a:rPr>
              <a:t>本讲将回答三个问题</a:t>
            </a:r>
            <a:endParaRPr lang="en-US" sz="1250" dirty="0"/>
          </a:p>
        </p:txBody>
      </p:sp>
      <p:sp>
        <p:nvSpPr>
          <p:cNvPr id="8" name="Shape 6"/>
          <p:cNvSpPr/>
          <p:nvPr/>
        </p:nvSpPr>
        <p:spPr>
          <a:xfrm>
            <a:off x="548640" y="4572000"/>
            <a:ext cx="420624" cy="420624"/>
          </a:xfrm>
          <a:prstGeom prst="ellipse">
            <a:avLst/>
          </a:prstGeom>
          <a:solidFill>
            <a:srgbClr val="9C5536"/>
          </a:solidFill>
          <a:ln/>
        </p:spPr>
      </p:sp>
      <p:sp>
        <p:nvSpPr>
          <p:cNvPr id="9" name="Text 7"/>
          <p:cNvSpPr/>
          <p:nvPr/>
        </p:nvSpPr>
        <p:spPr>
          <a:xfrm>
            <a:off x="548640" y="45720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1143000" y="4544568"/>
            <a:ext cx="10424160" cy="621792"/>
          </a:xfrm>
          <a:prstGeom prst="rect">
            <a:avLst/>
          </a:prstGeom>
          <a:noFill/>
          <a:ln/>
        </p:spPr>
        <p:txBody>
          <a:bodyPr wrap="square" lIns="0" tIns="0" rIns="0" bIns="0" rtlCol="0" anchor="ctr"/>
          <a:lstStyle/>
          <a:p>
            <a:pPr indent="0" marL="0">
              <a:buNone/>
            </a:pPr>
            <a:r>
              <a:rPr lang="en-US" sz="1350" dirty="0">
                <a:solidFill>
                  <a:srgbClr val="33363B"/>
                </a:solidFill>
                <a:latin typeface="Calibri" pitchFamily="34" charset="0"/>
                <a:ea typeface="Calibri" pitchFamily="34" charset="-122"/>
                <a:cs typeface="Calibri" pitchFamily="34" charset="-120"/>
              </a:rPr>
              <a:t>为什么经理会不自觉地垄断舞台，即使他主观上希望培养下属？</a:t>
            </a:r>
            <a:endParaRPr lang="en-US" sz="1350" dirty="0"/>
          </a:p>
        </p:txBody>
      </p:sp>
      <p:sp>
        <p:nvSpPr>
          <p:cNvPr id="11" name="Shape 9"/>
          <p:cNvSpPr/>
          <p:nvPr/>
        </p:nvSpPr>
        <p:spPr>
          <a:xfrm>
            <a:off x="548640" y="5248656"/>
            <a:ext cx="420624" cy="420624"/>
          </a:xfrm>
          <a:prstGeom prst="ellipse">
            <a:avLst/>
          </a:prstGeom>
          <a:solidFill>
            <a:srgbClr val="9C5536"/>
          </a:solidFill>
          <a:ln/>
        </p:spPr>
      </p:sp>
      <p:sp>
        <p:nvSpPr>
          <p:cNvPr id="12" name="Text 10"/>
          <p:cNvSpPr/>
          <p:nvPr/>
        </p:nvSpPr>
        <p:spPr>
          <a:xfrm>
            <a:off x="548640" y="524865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143000" y="5221224"/>
            <a:ext cx="10424160" cy="621792"/>
          </a:xfrm>
          <a:prstGeom prst="rect">
            <a:avLst/>
          </a:prstGeom>
          <a:noFill/>
          <a:ln/>
        </p:spPr>
        <p:txBody>
          <a:bodyPr wrap="square" lIns="0" tIns="0" rIns="0" bIns="0" rtlCol="0" anchor="ctr"/>
          <a:lstStyle/>
          <a:p>
            <a:pPr indent="0" marL="0">
              <a:buNone/>
            </a:pPr>
            <a:r>
              <a:rPr lang="en-US" sz="1350" dirty="0">
                <a:solidFill>
                  <a:srgbClr val="33363B"/>
                </a:solidFill>
                <a:latin typeface="Calibri" pitchFamily="34" charset="0"/>
                <a:ea typeface="Calibri" pitchFamily="34" charset="-122"/>
                <a:cs typeface="Calibri" pitchFamily="34" charset="-120"/>
              </a:rPr>
              <a:t>给舞台具体该怎么操作，才能既锻炼人又不留下风险敞口？</a:t>
            </a:r>
            <a:endParaRPr lang="en-US" sz="1350" dirty="0"/>
          </a:p>
        </p:txBody>
      </p:sp>
      <p:sp>
        <p:nvSpPr>
          <p:cNvPr id="14" name="Shape 12"/>
          <p:cNvSpPr/>
          <p:nvPr/>
        </p:nvSpPr>
        <p:spPr>
          <a:xfrm>
            <a:off x="548640" y="5925312"/>
            <a:ext cx="420624" cy="420624"/>
          </a:xfrm>
          <a:prstGeom prst="ellipse">
            <a:avLst/>
          </a:prstGeom>
          <a:solidFill>
            <a:srgbClr val="9C5536"/>
          </a:solidFill>
          <a:ln/>
        </p:spPr>
      </p:sp>
      <p:sp>
        <p:nvSpPr>
          <p:cNvPr id="15" name="Text 13"/>
          <p:cNvSpPr/>
          <p:nvPr/>
        </p:nvSpPr>
        <p:spPr>
          <a:xfrm>
            <a:off x="548640" y="592531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1143000" y="5897880"/>
            <a:ext cx="10424160" cy="621792"/>
          </a:xfrm>
          <a:prstGeom prst="rect">
            <a:avLst/>
          </a:prstGeom>
          <a:noFill/>
          <a:ln/>
        </p:spPr>
        <p:txBody>
          <a:bodyPr wrap="square" lIns="0" tIns="0" rIns="0" bIns="0" rtlCol="0" anchor="ctr"/>
          <a:lstStyle/>
          <a:p>
            <a:pPr indent="0" marL="0">
              <a:buNone/>
            </a:pPr>
            <a:r>
              <a:rPr lang="en-US" sz="1350" dirty="0">
                <a:solidFill>
                  <a:srgbClr val="33363B"/>
                </a:solidFill>
                <a:latin typeface="Calibri" pitchFamily="34" charset="0"/>
                <a:ea typeface="Calibri" pitchFamily="34" charset="-122"/>
                <a:cs typeface="Calibri" pitchFamily="34" charset="-120"/>
              </a:rPr>
              <a:t>什么场合不该轻易把舞台让出去？</a:t>
            </a:r>
            <a:endParaRPr lang="en-US" sz="1350" dirty="0"/>
          </a:p>
        </p:txBody>
      </p:sp>
      <p:sp>
        <p:nvSpPr>
          <p:cNvPr id="17" name="Text 15"/>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M3 给舞台</a:t>
            </a:r>
            <a:endParaRPr lang="en-US" sz="900" dirty="0"/>
          </a:p>
        </p:txBody>
      </p:sp>
      <p:sp>
        <p:nvSpPr>
          <p:cNvPr id="18" name="Text 16"/>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理论框架一</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可见度资本</a:t>
            </a:r>
            <a:endParaRPr lang="en-US" sz="2700" dirty="0"/>
          </a:p>
        </p:txBody>
      </p:sp>
      <p:sp>
        <p:nvSpPr>
          <p:cNvPr id="4" name="Shape 2"/>
          <p:cNvSpPr/>
          <p:nvPr/>
        </p:nvSpPr>
        <p:spPr>
          <a:xfrm>
            <a:off x="548640" y="1627632"/>
            <a:ext cx="11064240" cy="1051560"/>
          </a:xfrm>
          <a:prstGeom prst="roundRect">
            <a:avLst>
              <a:gd name="adj" fmla="val 6957"/>
            </a:avLst>
          </a:prstGeom>
          <a:solidFill>
            <a:srgbClr val="EEF1F6"/>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700784"/>
            <a:ext cx="10424160" cy="50292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职业发展取决于关键决策者「看见」一个人做出贡献的次数，而不只是实际贡献量本身</a:t>
            </a:r>
            <a:endParaRPr lang="en-US" sz="1700" dirty="0"/>
          </a:p>
        </p:txBody>
      </p:sp>
      <p:sp>
        <p:nvSpPr>
          <p:cNvPr id="6" name="Text 4"/>
          <p:cNvSpPr/>
          <p:nvPr/>
        </p:nvSpPr>
        <p:spPr>
          <a:xfrm>
            <a:off x="868680" y="2176272"/>
            <a:ext cx="10424160" cy="457200"/>
          </a:xfrm>
          <a:prstGeom prst="rect">
            <a:avLst/>
          </a:prstGeom>
          <a:noFill/>
          <a:ln/>
        </p:spPr>
        <p:txBody>
          <a:bodyPr wrap="square" lIns="0" tIns="0" rIns="0" bIns="0" rtlCol="0" anchor="ctr"/>
          <a:lstStyle/>
          <a:p>
            <a:pPr indent="0" marL="0">
              <a:buNone/>
            </a:pPr>
            <a:r>
              <a:rPr lang="en-US" sz="1200" i="1" dirty="0">
                <a:solidFill>
                  <a:srgbClr val="7C7F84"/>
                </a:solidFill>
                <a:latin typeface="Calibri" pitchFamily="34" charset="0"/>
                <a:ea typeface="Calibri" pitchFamily="34" charset="-122"/>
                <a:cs typeface="Calibri" pitchFamily="34" charset="-120"/>
              </a:rPr>
              <a:t>这是组织行为学中「可见度资本」的核心观点——可见度本身是一种独立于实际贡献量的稀缺资源。</a:t>
            </a:r>
            <a:endParaRPr lang="en-US" sz="1200" dirty="0"/>
          </a:p>
        </p:txBody>
      </p:sp>
      <p:sp>
        <p:nvSpPr>
          <p:cNvPr id="7" name="Shape 5"/>
          <p:cNvSpPr/>
          <p:nvPr/>
        </p:nvSpPr>
        <p:spPr>
          <a:xfrm>
            <a:off x="548640" y="2926080"/>
            <a:ext cx="5404104" cy="3154680"/>
          </a:xfrm>
          <a:prstGeom prst="roundRect">
            <a:avLst>
              <a:gd name="adj" fmla="val 2319"/>
            </a:avLst>
          </a:prstGeom>
          <a:solidFill>
            <a:srgbClr val="FFFFFF"/>
          </a:solidFill>
          <a:ln/>
          <a:effectLst>
            <a:outerShdw sx="100000" sy="100000" kx="0" ky="0" algn="bl" rotWithShape="0" blurRad="101600" dist="38100" dir="5400000">
              <a:srgbClr val="1B2A4A">
                <a:alpha val="10000"/>
              </a:srgbClr>
            </a:outerShdw>
          </a:effectLst>
        </p:spPr>
      </p:sp>
      <p:sp>
        <p:nvSpPr>
          <p:cNvPr id="8" name="Shape 6"/>
          <p:cNvSpPr/>
          <p:nvPr/>
        </p:nvSpPr>
        <p:spPr>
          <a:xfrm>
            <a:off x="822960" y="3200400"/>
            <a:ext cx="420624" cy="420624"/>
          </a:xfrm>
          <a:prstGeom prst="ellipse">
            <a:avLst/>
          </a:prstGeom>
          <a:solidFill>
            <a:srgbClr val="1B2A4A"/>
          </a:solidFill>
          <a:ln/>
        </p:spPr>
      </p:sp>
      <p:sp>
        <p:nvSpPr>
          <p:cNvPr id="9" name="Text 7"/>
          <p:cNvSpPr/>
          <p:nvPr/>
        </p:nvSpPr>
        <p:spPr>
          <a:xfrm>
            <a:off x="822960" y="32004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1417320" y="3200400"/>
            <a:ext cx="4306824" cy="420624"/>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效率偏差</a:t>
            </a:r>
            <a:endParaRPr lang="en-US" sz="1600" dirty="0"/>
          </a:p>
        </p:txBody>
      </p:sp>
      <p:sp>
        <p:nvSpPr>
          <p:cNvPr id="11" name="Text 9"/>
          <p:cNvSpPr/>
          <p:nvPr/>
        </p:nvSpPr>
        <p:spPr>
          <a:xfrm>
            <a:off x="822960" y="3840480"/>
            <a:ext cx="4855464" cy="1965960"/>
          </a:xfrm>
          <a:prstGeom prst="rect">
            <a:avLst/>
          </a:prstGeom>
          <a:noFill/>
          <a:ln/>
        </p:spPr>
        <p:txBody>
          <a:bodyPr wrap="square" lIns="0" tIns="0" rIns="0" bIns="0" rtlCol="0" anchor="t"/>
          <a:lstStyle/>
          <a:p>
            <a:pPr indent="0" marL="0">
              <a:lnSpc>
                <a:spcPct val="125000"/>
              </a:lnSpc>
              <a:buNone/>
            </a:pPr>
            <a:r>
              <a:rPr lang="en-US" sz="1200" dirty="0">
                <a:solidFill>
                  <a:srgbClr val="33363B"/>
                </a:solidFill>
                <a:latin typeface="Calibri" pitchFamily="34" charset="0"/>
                <a:ea typeface="Calibri" pitchFamily="34" charset="-122"/>
                <a:cs typeface="Calibri" pitchFamily="34" charset="-120"/>
              </a:rPr>
              <a:t>经理代表团队发言最省事、最不容易出错，这种效率优势会让经理在无意识中持续垄断舞台，而不是出于刻意自私的动机。</a:t>
            </a:r>
            <a:endParaRPr lang="en-US" sz="1200" dirty="0"/>
          </a:p>
        </p:txBody>
      </p:sp>
      <p:sp>
        <p:nvSpPr>
          <p:cNvPr id="12" name="Shape 10"/>
          <p:cNvSpPr/>
          <p:nvPr/>
        </p:nvSpPr>
        <p:spPr>
          <a:xfrm>
            <a:off x="6208776" y="2926080"/>
            <a:ext cx="5404104" cy="3154680"/>
          </a:xfrm>
          <a:prstGeom prst="roundRect">
            <a:avLst>
              <a:gd name="adj" fmla="val 2319"/>
            </a:avLst>
          </a:prstGeom>
          <a:solidFill>
            <a:srgbClr val="FFFFFF"/>
          </a:solidFill>
          <a:ln/>
          <a:effectLst>
            <a:outerShdw sx="100000" sy="100000" kx="0" ky="0" algn="bl" rotWithShape="0" blurRad="101600" dist="38100" dir="5400000">
              <a:srgbClr val="1B2A4A">
                <a:alpha val="10000"/>
              </a:srgbClr>
            </a:outerShdw>
          </a:effectLst>
        </p:spPr>
      </p:sp>
      <p:sp>
        <p:nvSpPr>
          <p:cNvPr id="13" name="Shape 11"/>
          <p:cNvSpPr/>
          <p:nvPr/>
        </p:nvSpPr>
        <p:spPr>
          <a:xfrm>
            <a:off x="6483096" y="3200400"/>
            <a:ext cx="420624" cy="420624"/>
          </a:xfrm>
          <a:prstGeom prst="ellipse">
            <a:avLst/>
          </a:prstGeom>
          <a:solidFill>
            <a:srgbClr val="1B2A4A"/>
          </a:solidFill>
          <a:ln/>
        </p:spPr>
      </p:sp>
      <p:sp>
        <p:nvSpPr>
          <p:cNvPr id="14" name="Text 12"/>
          <p:cNvSpPr/>
          <p:nvPr/>
        </p:nvSpPr>
        <p:spPr>
          <a:xfrm>
            <a:off x="6483096" y="32004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3"/>
          <p:cNvSpPr/>
          <p:nvPr/>
        </p:nvSpPr>
        <p:spPr>
          <a:xfrm>
            <a:off x="7077456" y="3200400"/>
            <a:ext cx="4306824" cy="420624"/>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隐形化代价</a:t>
            </a:r>
            <a:endParaRPr lang="en-US" sz="1600" dirty="0"/>
          </a:p>
        </p:txBody>
      </p:sp>
      <p:sp>
        <p:nvSpPr>
          <p:cNvPr id="16" name="Text 14"/>
          <p:cNvSpPr/>
          <p:nvPr/>
        </p:nvSpPr>
        <p:spPr>
          <a:xfrm>
            <a:off x="6483096" y="3840480"/>
            <a:ext cx="4855464" cy="1965960"/>
          </a:xfrm>
          <a:prstGeom prst="rect">
            <a:avLst/>
          </a:prstGeom>
          <a:noFill/>
          <a:ln/>
        </p:spPr>
        <p:txBody>
          <a:bodyPr wrap="square" lIns="0" tIns="0" rIns="0" bIns="0" rtlCol="0" anchor="t"/>
          <a:lstStyle/>
          <a:p>
            <a:pPr indent="0" marL="0">
              <a:lnSpc>
                <a:spcPct val="125000"/>
              </a:lnSpc>
              <a:buNone/>
            </a:pPr>
            <a:r>
              <a:rPr lang="en-US" sz="1200" dirty="0">
                <a:solidFill>
                  <a:srgbClr val="33363B"/>
                </a:solidFill>
                <a:latin typeface="Calibri" pitchFamily="34" charset="0"/>
                <a:ea typeface="Calibri" pitchFamily="34" charset="-122"/>
                <a:cs typeface="Calibri" pitchFamily="34" charset="-120"/>
              </a:rPr>
              <a:t>每一次经理代替下属站上舞台，都是在悄悄把下属的可见度资本转移到自己身上，长期会让最有潜力的下属在组织里隐形，离职风险随之上升。</a:t>
            </a:r>
            <a:endParaRPr lang="en-US" sz="1200" dirty="0"/>
          </a:p>
        </p:txBody>
      </p:sp>
      <p:sp>
        <p:nvSpPr>
          <p:cNvPr id="17" name="Text 15"/>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M3 给舞台</a:t>
            </a:r>
            <a:endParaRPr lang="en-US" sz="900" dirty="0"/>
          </a:p>
        </p:txBody>
      </p:sp>
      <p:sp>
        <p:nvSpPr>
          <p:cNvPr id="18" name="Text 16"/>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理论框架二</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舞台分级与风险缓冲</a:t>
            </a:r>
            <a:endParaRPr lang="en-US" sz="2700" dirty="0"/>
          </a:p>
        </p:txBody>
      </p:sp>
      <p:sp>
        <p:nvSpPr>
          <p:cNvPr id="4" name="Text 2"/>
          <p:cNvSpPr/>
          <p:nvPr/>
        </p:nvSpPr>
        <p:spPr>
          <a:xfrm>
            <a:off x="548640" y="1627632"/>
            <a:ext cx="11064240" cy="777240"/>
          </a:xfrm>
          <a:prstGeom prst="rect">
            <a:avLst/>
          </a:prstGeom>
          <a:noFill/>
          <a:ln/>
        </p:spPr>
        <p:txBody>
          <a:bodyPr wrap="square" lIns="0" tIns="0" rIns="0" bIns="0" rtlCol="0" anchor="ctr"/>
          <a:lstStyle/>
          <a:p>
            <a:pPr indent="0" marL="0">
              <a:lnSpc>
                <a:spcPct val="125000"/>
              </a:lnSpc>
              <a:buNone/>
            </a:pPr>
            <a:r>
              <a:rPr lang="en-US" sz="1350" dirty="0">
                <a:solidFill>
                  <a:srgbClr val="33363B"/>
                </a:solidFill>
                <a:latin typeface="Calibri" pitchFamily="34" charset="0"/>
                <a:ea typeface="Calibri" pitchFamily="34" charset="-122"/>
                <a:cs typeface="Calibri" pitchFamily="34" charset="-120"/>
              </a:rPr>
              <a:t>给舞台不是一刀切地把所有曝光机会都让出去，而是要根据下属的准备度分级，并配合相应的风险缓冲机制。</a:t>
            </a:r>
            <a:endParaRPr lang="en-US" sz="1350" dirty="0"/>
          </a:p>
        </p:txBody>
      </p:sp>
      <p:sp>
        <p:nvSpPr>
          <p:cNvPr id="5" name="Shape 3"/>
          <p:cNvSpPr/>
          <p:nvPr/>
        </p:nvSpPr>
        <p:spPr>
          <a:xfrm>
            <a:off x="548640" y="2514600"/>
            <a:ext cx="11064240" cy="1298448"/>
          </a:xfrm>
          <a:prstGeom prst="roundRect">
            <a:avLst>
              <a:gd name="adj" fmla="val 5634"/>
            </a:avLst>
          </a:prstGeom>
          <a:solidFill>
            <a:srgbClr val="F5EEEA"/>
          </a:solidFill>
          <a:ln/>
          <a:effectLst>
            <a:outerShdw sx="100000" sy="100000" kx="0" ky="0" algn="bl" rotWithShape="0" blurRad="101600" dist="38100" dir="5400000">
              <a:srgbClr val="1B2A4A">
                <a:alpha val="10000"/>
              </a:srgbClr>
            </a:outerShdw>
          </a:effectLst>
        </p:spPr>
      </p:sp>
      <p:sp>
        <p:nvSpPr>
          <p:cNvPr id="6" name="Shape 4"/>
          <p:cNvSpPr/>
          <p:nvPr/>
        </p:nvSpPr>
        <p:spPr>
          <a:xfrm>
            <a:off x="822960" y="2770632"/>
            <a:ext cx="1188720" cy="292608"/>
          </a:xfrm>
          <a:prstGeom prst="roundRect">
            <a:avLst>
              <a:gd name="adj" fmla="val 18750"/>
            </a:avLst>
          </a:prstGeom>
          <a:solidFill>
            <a:srgbClr val="9C5536"/>
          </a:solidFill>
          <a:ln/>
        </p:spPr>
      </p:sp>
      <p:sp>
        <p:nvSpPr>
          <p:cNvPr id="7" name="Text 5"/>
          <p:cNvSpPr/>
          <p:nvPr/>
        </p:nvSpPr>
        <p:spPr>
          <a:xfrm>
            <a:off x="822960" y="277063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环节 1</a:t>
            </a:r>
            <a:endParaRPr lang="en-US" sz="1100" dirty="0"/>
          </a:p>
        </p:txBody>
      </p:sp>
      <p:sp>
        <p:nvSpPr>
          <p:cNvPr id="8" name="Text 6"/>
          <p:cNvSpPr/>
          <p:nvPr/>
        </p:nvSpPr>
        <p:spPr>
          <a:xfrm>
            <a:off x="2240280" y="2715768"/>
            <a:ext cx="3931920" cy="41148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匹配准备度</a:t>
            </a:r>
            <a:endParaRPr lang="en-US" sz="1500" dirty="0"/>
          </a:p>
        </p:txBody>
      </p:sp>
      <p:sp>
        <p:nvSpPr>
          <p:cNvPr id="9" name="Text 7"/>
          <p:cNvSpPr/>
          <p:nvPr/>
        </p:nvSpPr>
        <p:spPr>
          <a:xfrm>
            <a:off x="822960" y="3136392"/>
            <a:ext cx="10515600" cy="566928"/>
          </a:xfrm>
          <a:prstGeom prst="rect">
            <a:avLst/>
          </a:prstGeom>
          <a:noFill/>
          <a:ln/>
        </p:spPr>
        <p:txBody>
          <a:bodyPr wrap="square" lIns="0" tIns="0" rIns="0" bIns="0" rtlCol="0" anchor="t"/>
          <a:lstStyle/>
          <a:p>
            <a:pPr indent="0" marL="0">
              <a:lnSpc>
                <a:spcPct val="120000"/>
              </a:lnSpc>
              <a:buNone/>
            </a:pPr>
            <a:r>
              <a:rPr lang="en-US" sz="1200" dirty="0">
                <a:solidFill>
                  <a:srgbClr val="33363B"/>
                </a:solidFill>
                <a:latin typeface="Calibri" pitchFamily="34" charset="0"/>
                <a:ea typeface="Calibri" pitchFamily="34" charset="-122"/>
                <a:cs typeface="Calibri" pitchFamily="34" charset="-120"/>
              </a:rPr>
              <a:t>把舞台机会按风险和重要性分级，从低风险的内部小组汇报开始，逐步过渡到高风险的对外或高层场合，而不是一步到位。</a:t>
            </a:r>
            <a:endParaRPr lang="en-US" sz="1200" dirty="0"/>
          </a:p>
        </p:txBody>
      </p:sp>
      <p:sp>
        <p:nvSpPr>
          <p:cNvPr id="10" name="Shape 8"/>
          <p:cNvSpPr/>
          <p:nvPr/>
        </p:nvSpPr>
        <p:spPr>
          <a:xfrm>
            <a:off x="548640" y="3977640"/>
            <a:ext cx="11064240" cy="1298448"/>
          </a:xfrm>
          <a:prstGeom prst="roundRect">
            <a:avLst>
              <a:gd name="adj" fmla="val 5634"/>
            </a:avLst>
          </a:prstGeom>
          <a:solidFill>
            <a:srgbClr val="F5EEEA"/>
          </a:solidFill>
          <a:ln/>
          <a:effectLst>
            <a:outerShdw sx="100000" sy="100000" kx="0" ky="0" algn="bl" rotWithShape="0" blurRad="101600" dist="38100" dir="5400000">
              <a:srgbClr val="1B2A4A">
                <a:alpha val="10000"/>
              </a:srgbClr>
            </a:outerShdw>
          </a:effectLst>
        </p:spPr>
      </p:sp>
      <p:sp>
        <p:nvSpPr>
          <p:cNvPr id="11" name="Shape 9"/>
          <p:cNvSpPr/>
          <p:nvPr/>
        </p:nvSpPr>
        <p:spPr>
          <a:xfrm>
            <a:off x="822960" y="4233672"/>
            <a:ext cx="1188720" cy="292608"/>
          </a:xfrm>
          <a:prstGeom prst="roundRect">
            <a:avLst>
              <a:gd name="adj" fmla="val 18750"/>
            </a:avLst>
          </a:prstGeom>
          <a:solidFill>
            <a:srgbClr val="9C5536"/>
          </a:solidFill>
          <a:ln/>
        </p:spPr>
      </p:sp>
      <p:sp>
        <p:nvSpPr>
          <p:cNvPr id="12" name="Text 10"/>
          <p:cNvSpPr/>
          <p:nvPr/>
        </p:nvSpPr>
        <p:spPr>
          <a:xfrm>
            <a:off x="822960" y="423367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环节 2</a:t>
            </a:r>
            <a:endParaRPr lang="en-US" sz="1100" dirty="0"/>
          </a:p>
        </p:txBody>
      </p:sp>
      <p:sp>
        <p:nvSpPr>
          <p:cNvPr id="13" name="Text 11"/>
          <p:cNvSpPr/>
          <p:nvPr/>
        </p:nvSpPr>
        <p:spPr>
          <a:xfrm>
            <a:off x="2240280" y="4178808"/>
            <a:ext cx="3931920" cy="41148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提前对齐内容</a:t>
            </a:r>
            <a:endParaRPr lang="en-US" sz="1500" dirty="0"/>
          </a:p>
        </p:txBody>
      </p:sp>
      <p:sp>
        <p:nvSpPr>
          <p:cNvPr id="14" name="Text 12"/>
          <p:cNvSpPr/>
          <p:nvPr/>
        </p:nvSpPr>
        <p:spPr>
          <a:xfrm>
            <a:off x="822960" y="4599432"/>
            <a:ext cx="10515600" cy="566928"/>
          </a:xfrm>
          <a:prstGeom prst="rect">
            <a:avLst/>
          </a:prstGeom>
          <a:noFill/>
          <a:ln/>
        </p:spPr>
        <p:txBody>
          <a:bodyPr wrap="square" lIns="0" tIns="0" rIns="0" bIns="0" rtlCol="0" anchor="t"/>
          <a:lstStyle/>
          <a:p>
            <a:pPr indent="0" marL="0">
              <a:lnSpc>
                <a:spcPct val="120000"/>
              </a:lnSpc>
              <a:buNone/>
            </a:pPr>
            <a:r>
              <a:rPr lang="en-US" sz="1200" dirty="0">
                <a:solidFill>
                  <a:srgbClr val="33363B"/>
                </a:solidFill>
                <a:latin typeface="Calibri" pitchFamily="34" charset="0"/>
                <a:ea typeface="Calibri" pitchFamily="34" charset="-122"/>
                <a:cs typeface="Calibri" pitchFamily="34" charset="-120"/>
              </a:rPr>
              <a:t>经理在台下帮下属梳理逻辑、预演可能的提问，把准备工作留给自己，把展示机会留给下属。</a:t>
            </a:r>
            <a:endParaRPr lang="en-US" sz="1200" dirty="0"/>
          </a:p>
        </p:txBody>
      </p:sp>
      <p:sp>
        <p:nvSpPr>
          <p:cNvPr id="15" name="Shape 13"/>
          <p:cNvSpPr/>
          <p:nvPr/>
        </p:nvSpPr>
        <p:spPr>
          <a:xfrm>
            <a:off x="548640" y="5440680"/>
            <a:ext cx="11064240" cy="1298448"/>
          </a:xfrm>
          <a:prstGeom prst="roundRect">
            <a:avLst>
              <a:gd name="adj" fmla="val 5634"/>
            </a:avLst>
          </a:prstGeom>
          <a:solidFill>
            <a:srgbClr val="F5EEEA"/>
          </a:solidFill>
          <a:ln/>
          <a:effectLst>
            <a:outerShdw sx="100000" sy="100000" kx="0" ky="0" algn="bl" rotWithShape="0" blurRad="101600" dist="38100" dir="5400000">
              <a:srgbClr val="1B2A4A">
                <a:alpha val="10000"/>
              </a:srgbClr>
            </a:outerShdw>
          </a:effectLst>
        </p:spPr>
      </p:sp>
      <p:sp>
        <p:nvSpPr>
          <p:cNvPr id="16" name="Shape 14"/>
          <p:cNvSpPr/>
          <p:nvPr/>
        </p:nvSpPr>
        <p:spPr>
          <a:xfrm>
            <a:off x="822960" y="5696712"/>
            <a:ext cx="1188720" cy="292608"/>
          </a:xfrm>
          <a:prstGeom prst="roundRect">
            <a:avLst>
              <a:gd name="adj" fmla="val 18750"/>
            </a:avLst>
          </a:prstGeom>
          <a:solidFill>
            <a:srgbClr val="9C5536"/>
          </a:solidFill>
          <a:ln/>
        </p:spPr>
      </p:sp>
      <p:sp>
        <p:nvSpPr>
          <p:cNvPr id="17" name="Text 15"/>
          <p:cNvSpPr/>
          <p:nvPr/>
        </p:nvSpPr>
        <p:spPr>
          <a:xfrm>
            <a:off x="822960" y="569671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环节 3</a:t>
            </a:r>
            <a:endParaRPr lang="en-US" sz="1100" dirty="0"/>
          </a:p>
        </p:txBody>
      </p:sp>
      <p:sp>
        <p:nvSpPr>
          <p:cNvPr id="18" name="Text 16"/>
          <p:cNvSpPr/>
          <p:nvPr/>
        </p:nvSpPr>
        <p:spPr>
          <a:xfrm>
            <a:off x="2240280" y="5641848"/>
            <a:ext cx="3931920" cy="41148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设置安全网</a:t>
            </a:r>
            <a:endParaRPr lang="en-US" sz="1500" dirty="0"/>
          </a:p>
        </p:txBody>
      </p:sp>
      <p:sp>
        <p:nvSpPr>
          <p:cNvPr id="19" name="Text 17"/>
          <p:cNvSpPr/>
          <p:nvPr/>
        </p:nvSpPr>
        <p:spPr>
          <a:xfrm>
            <a:off x="822960" y="6062472"/>
            <a:ext cx="10515600" cy="566928"/>
          </a:xfrm>
          <a:prstGeom prst="rect">
            <a:avLst/>
          </a:prstGeom>
          <a:noFill/>
          <a:ln/>
        </p:spPr>
        <p:txBody>
          <a:bodyPr wrap="square" lIns="0" tIns="0" rIns="0" bIns="0" rtlCol="0" anchor="t"/>
          <a:lstStyle/>
          <a:p>
            <a:pPr indent="0" marL="0">
              <a:lnSpc>
                <a:spcPct val="120000"/>
              </a:lnSpc>
              <a:buNone/>
            </a:pPr>
            <a:r>
              <a:rPr lang="en-US" sz="1200" dirty="0">
                <a:solidFill>
                  <a:srgbClr val="33363B"/>
                </a:solidFill>
                <a:latin typeface="Calibri" pitchFamily="34" charset="0"/>
                <a:ea typeface="Calibri" pitchFamily="34" charset="-122"/>
                <a:cs typeface="Calibri" pitchFamily="34" charset="-120"/>
              </a:rPr>
              <a:t>重要场合经理在场但不抢话，下属讲砸了能及时、自然地补位，让风险有兜底而不是让下属裸奔。</a:t>
            </a:r>
            <a:endParaRPr lang="en-US" sz="1200" dirty="0"/>
          </a:p>
        </p:txBody>
      </p:sp>
      <p:sp>
        <p:nvSpPr>
          <p:cNvPr id="20" name="Text 18"/>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M3 给舞台</a:t>
            </a:r>
            <a:endParaRPr lang="en-US" sz="900" dirty="0"/>
          </a:p>
        </p:txBody>
      </p:sp>
      <p:sp>
        <p:nvSpPr>
          <p:cNvPr id="21" name="Text 19"/>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边界反例</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什么场合不该轻易给舞台</a:t>
            </a:r>
            <a:endParaRPr lang="en-US" sz="2700" dirty="0"/>
          </a:p>
        </p:txBody>
      </p:sp>
      <p:sp>
        <p:nvSpPr>
          <p:cNvPr id="4" name="Shape 2"/>
          <p:cNvSpPr/>
          <p:nvPr/>
        </p:nvSpPr>
        <p:spPr>
          <a:xfrm>
            <a:off x="548640" y="1627632"/>
            <a:ext cx="11064240" cy="1691640"/>
          </a:xfrm>
          <a:prstGeom prst="roundRect">
            <a:avLst>
              <a:gd name="adj" fmla="val 4324"/>
            </a:avLst>
          </a:prstGeom>
          <a:solidFill>
            <a:srgbClr val="EEF2EE"/>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783080"/>
            <a:ext cx="1828800" cy="320040"/>
          </a:xfrm>
          <a:prstGeom prst="rect">
            <a:avLst/>
          </a:prstGeom>
          <a:noFill/>
          <a:ln/>
        </p:spPr>
        <p:txBody>
          <a:bodyPr wrap="square" lIns="0" tIns="0" rIns="0" bIns="0" rtlCol="0" anchor="ctr"/>
          <a:lstStyle/>
          <a:p>
            <a:pPr indent="0" marL="0">
              <a:buNone/>
            </a:pPr>
            <a:r>
              <a:rPr lang="en-US" sz="1200" b="1" spc="100" kern="0" dirty="0">
                <a:solidFill>
                  <a:srgbClr val="4F6F52"/>
                </a:solidFill>
                <a:latin typeface="Calibri" pitchFamily="34" charset="0"/>
                <a:ea typeface="Calibri" pitchFamily="34" charset="-122"/>
                <a:cs typeface="Calibri" pitchFamily="34" charset="-120"/>
              </a:rPr>
              <a:t>场景</a:t>
            </a:r>
            <a:endParaRPr lang="en-US" sz="1200" dirty="0"/>
          </a:p>
        </p:txBody>
      </p:sp>
      <p:sp>
        <p:nvSpPr>
          <p:cNvPr id="6" name="Text 4"/>
          <p:cNvSpPr/>
          <p:nvPr/>
        </p:nvSpPr>
        <p:spPr>
          <a:xfrm>
            <a:off x="868680" y="2103120"/>
            <a:ext cx="10424160" cy="1143000"/>
          </a:xfrm>
          <a:prstGeom prst="rect">
            <a:avLst/>
          </a:prstGeom>
          <a:noFill/>
          <a:ln/>
        </p:spPr>
        <p:txBody>
          <a:bodyPr wrap="square" lIns="0" tIns="0" rIns="0" bIns="0" rtlCol="0" anchor="t"/>
          <a:lstStyle/>
          <a:p>
            <a:pPr indent="0" marL="0">
              <a:lnSpc>
                <a:spcPct val="125000"/>
              </a:lnSpc>
              <a:buNone/>
            </a:pPr>
            <a:r>
              <a:rPr lang="en-US" sz="1300" dirty="0">
                <a:solidFill>
                  <a:srgbClr val="33363B"/>
                </a:solidFill>
                <a:latin typeface="Calibri" pitchFamily="34" charset="0"/>
                <a:ea typeface="Calibri" pitchFamily="34" charset="-122"/>
                <a:cs typeface="Calibri" pitchFamily="34" charset="-120"/>
              </a:rPr>
              <a:t>某次面对重要客户的年度技术评审，客户对供应商的技术可信度非常敏感，部门里一位刚晋升的主管对这类场合还没有经验。如果按给舞台的原则把这次汇报机会交给他，一旦表现不如预期，可能直接影响客户对整个团队技术能力的信任，而这种信任一旦受损很难在短期内修复。</a:t>
            </a:r>
            <a:endParaRPr lang="en-US" sz="1300" dirty="0"/>
          </a:p>
        </p:txBody>
      </p:sp>
      <p:sp>
        <p:nvSpPr>
          <p:cNvPr id="7" name="Text 5"/>
          <p:cNvSpPr/>
          <p:nvPr/>
        </p:nvSpPr>
        <p:spPr>
          <a:xfrm>
            <a:off x="548640" y="3520440"/>
            <a:ext cx="11064240" cy="1005840"/>
          </a:xfrm>
          <a:prstGeom prst="rect">
            <a:avLst/>
          </a:prstGeom>
          <a:noFill/>
          <a:ln/>
        </p:spPr>
        <p:txBody>
          <a:bodyPr wrap="square" lIns="0" tIns="0" rIns="0" bIns="0" rtlCol="0" anchor="ctr"/>
          <a:lstStyle/>
          <a:p>
            <a:pPr indent="0" marL="0">
              <a:lnSpc>
                <a:spcPct val="130000"/>
              </a:lnSpc>
              <a:buNone/>
            </a:pPr>
            <a:r>
              <a:rPr lang="en-US" sz="1400" i="1" dirty="0">
                <a:solidFill>
                  <a:srgbClr val="1B2A4A"/>
                </a:solidFill>
                <a:latin typeface="Cambria" pitchFamily="34" charset="0"/>
                <a:ea typeface="Cambria" pitchFamily="34" charset="-122"/>
                <a:cs typeface="Cambria" pitchFamily="34" charset="-120"/>
              </a:rPr>
              <a:t>给舞台框架不是要求经理对所有场合都一视同仁地放手，而是要求经理评估「如果这次表现不及预期，造成的后果是否可逆」。涉及核心外部关系且后果不可逆的场合，经理需要先亲自把关，等下属在低风险场合积累了足够的成功经验后，再逐步过渡。</a:t>
            </a:r>
            <a:endParaRPr lang="en-US" sz="1400" dirty="0"/>
          </a:p>
        </p:txBody>
      </p:sp>
      <p:sp>
        <p:nvSpPr>
          <p:cNvPr id="8" name="Shape 6"/>
          <p:cNvSpPr/>
          <p:nvPr/>
        </p:nvSpPr>
        <p:spPr>
          <a:xfrm>
            <a:off x="548640" y="4709160"/>
            <a:ext cx="11064240" cy="1188720"/>
          </a:xfrm>
          <a:prstGeom prst="roundRect">
            <a:avLst>
              <a:gd name="adj" fmla="val 6154"/>
            </a:avLst>
          </a:prstGeom>
          <a:solidFill>
            <a:srgbClr val="EEF1F6"/>
          </a:solidFill>
          <a:ln/>
          <a:effectLst>
            <a:outerShdw sx="100000" sy="100000" kx="0" ky="0" algn="bl" rotWithShape="0" blurRad="101600" dist="38100" dir="5400000">
              <a:srgbClr val="1B2A4A">
                <a:alpha val="10000"/>
              </a:srgbClr>
            </a:outerShdw>
          </a:effectLst>
        </p:spPr>
      </p:sp>
      <p:sp>
        <p:nvSpPr>
          <p:cNvPr id="9" name="Text 7"/>
          <p:cNvSpPr/>
          <p:nvPr/>
        </p:nvSpPr>
        <p:spPr>
          <a:xfrm>
            <a:off x="868680" y="4846320"/>
            <a:ext cx="3657600" cy="274320"/>
          </a:xfrm>
          <a:prstGeom prst="rect">
            <a:avLst/>
          </a:prstGeom>
          <a:noFill/>
          <a:ln/>
        </p:spPr>
        <p:txBody>
          <a:bodyPr wrap="square" lIns="0" tIns="0" rIns="0" bIns="0" rtlCol="0" anchor="ctr"/>
          <a:lstStyle/>
          <a:p>
            <a:pPr indent="0" marL="0">
              <a:buNone/>
            </a:pPr>
            <a:r>
              <a:rPr lang="en-US" sz="1100" b="1" spc="100" kern="0" dirty="0">
                <a:solidFill>
                  <a:srgbClr val="9C5536"/>
                </a:solidFill>
                <a:latin typeface="Calibri" pitchFamily="34" charset="0"/>
                <a:ea typeface="Calibri" pitchFamily="34" charset="-122"/>
                <a:cs typeface="Calibri" pitchFamily="34" charset="-120"/>
              </a:rPr>
              <a:t>跨模块呼应</a:t>
            </a:r>
            <a:endParaRPr lang="en-US" sz="1100" dirty="0"/>
          </a:p>
        </p:txBody>
      </p:sp>
      <p:sp>
        <p:nvSpPr>
          <p:cNvPr id="10" name="Text 8"/>
          <p:cNvSpPr/>
          <p:nvPr/>
        </p:nvSpPr>
        <p:spPr>
          <a:xfrm>
            <a:off x="868680" y="5138928"/>
            <a:ext cx="10424160" cy="713232"/>
          </a:xfrm>
          <a:prstGeom prst="rect">
            <a:avLst/>
          </a:prstGeom>
          <a:noFill/>
          <a:ln/>
        </p:spPr>
        <p:txBody>
          <a:bodyPr wrap="square" lIns="0" tIns="0" rIns="0" bIns="0" rtlCol="0" anchor="t"/>
          <a:lstStyle/>
          <a:p>
            <a:pPr indent="0" marL="0">
              <a:lnSpc>
                <a:spcPct val="120000"/>
              </a:lnSpc>
              <a:buNone/>
            </a:pPr>
            <a:r>
              <a:rPr lang="en-US" sz="1250" dirty="0">
                <a:solidFill>
                  <a:srgbClr val="33363B"/>
                </a:solidFill>
                <a:latin typeface="Calibri" pitchFamily="34" charset="0"/>
                <a:ea typeface="Calibri" pitchFamily="34" charset="-122"/>
                <a:cs typeface="Calibri" pitchFamily="34" charset="-120"/>
              </a:rPr>
              <a:t>这一判断逻辑与层级二M1边界反例的思路一致：框架本身不是不分情境的金科玉律，关键在于评估后果的不可逆性，并据此校准该用框架思维还是该暂时搁置它。</a:t>
            </a:r>
            <a:endParaRPr lang="en-US" sz="1250" dirty="0"/>
          </a:p>
        </p:txBody>
      </p:sp>
      <p:sp>
        <p:nvSpPr>
          <p:cNvPr id="11" name="Text 9"/>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M3 给舞台</a:t>
            </a:r>
            <a:endParaRPr lang="en-US" sz="900" dirty="0"/>
          </a:p>
        </p:txBody>
      </p:sp>
      <p:sp>
        <p:nvSpPr>
          <p:cNvPr id="12" name="Text 10"/>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机制解释</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为什么经理明知该放手却总忍不住自己上台</a:t>
            </a:r>
            <a:endParaRPr lang="en-US" sz="2500" dirty="0"/>
          </a:p>
        </p:txBody>
      </p:sp>
      <p:sp>
        <p:nvSpPr>
          <p:cNvPr id="4" name="Shape 2"/>
          <p:cNvSpPr/>
          <p:nvPr/>
        </p:nvSpPr>
        <p:spPr>
          <a:xfrm>
            <a:off x="548640" y="1828800"/>
            <a:ext cx="5349240" cy="2834640"/>
          </a:xfrm>
          <a:prstGeom prst="roundRect">
            <a:avLst>
              <a:gd name="adj" fmla="val 2581"/>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868680" y="2103120"/>
            <a:ext cx="4709160" cy="457200"/>
          </a:xfrm>
          <a:prstGeom prst="rect">
            <a:avLst/>
          </a:prstGeom>
          <a:noFill/>
          <a:ln/>
        </p:spPr>
        <p:txBody>
          <a:bodyPr wrap="square" lIns="0" tIns="0" rIns="0" bIns="0" rtlCol="0" anchor="ctr"/>
          <a:lstStyle/>
          <a:p>
            <a:pPr indent="0" marL="0">
              <a:buNone/>
            </a:pPr>
            <a:r>
              <a:rPr lang="en-US" sz="1700" b="1" dirty="0">
                <a:solidFill>
                  <a:srgbClr val="9C5536"/>
                </a:solidFill>
                <a:latin typeface="Cambria" pitchFamily="34" charset="0"/>
                <a:ea typeface="Cambria" pitchFamily="34" charset="-122"/>
                <a:cs typeface="Cambria" pitchFamily="34" charset="-120"/>
              </a:rPr>
              <a:t>自我效能的即时确认</a:t>
            </a:r>
            <a:endParaRPr lang="en-US" sz="1700" dirty="0"/>
          </a:p>
        </p:txBody>
      </p:sp>
      <p:sp>
        <p:nvSpPr>
          <p:cNvPr id="6" name="Text 4"/>
          <p:cNvSpPr/>
          <p:nvPr/>
        </p:nvSpPr>
        <p:spPr>
          <a:xfrm>
            <a:off x="868680" y="2670048"/>
            <a:ext cx="4709160" cy="1737360"/>
          </a:xfrm>
          <a:prstGeom prst="rect">
            <a:avLst/>
          </a:prstGeom>
          <a:noFill/>
          <a:ln/>
        </p:spPr>
        <p:txBody>
          <a:bodyPr wrap="square" lIns="0" tIns="0" rIns="0" bIns="0" rtlCol="0" anchor="t"/>
          <a:lstStyle/>
          <a:p>
            <a:pPr indent="0" marL="0">
              <a:lnSpc>
                <a:spcPct val="128000"/>
              </a:lnSpc>
              <a:buNone/>
            </a:pPr>
            <a:r>
              <a:rPr lang="en-US" sz="1250" dirty="0">
                <a:solidFill>
                  <a:srgbClr val="33363B"/>
                </a:solidFill>
                <a:latin typeface="Calibri" pitchFamily="34" charset="0"/>
                <a:ea typeface="Calibri" pitchFamily="34" charset="-122"/>
                <a:cs typeface="Calibri" pitchFamily="34" charset="-120"/>
              </a:rPr>
              <a:t>经理在台上表现好能带来即时的能力确认和被认可的满足感，这种心理回报和层级二M1机制解释里的「专业认同陷阱」是同一类心理结构，只是这里发生在曝光维度而不是执行维度。</a:t>
            </a:r>
            <a:endParaRPr lang="en-US" sz="1250" dirty="0"/>
          </a:p>
        </p:txBody>
      </p:sp>
      <p:sp>
        <p:nvSpPr>
          <p:cNvPr id="7" name="Shape 5"/>
          <p:cNvSpPr/>
          <p:nvPr/>
        </p:nvSpPr>
        <p:spPr>
          <a:xfrm>
            <a:off x="6263640" y="1828800"/>
            <a:ext cx="5349240" cy="2834640"/>
          </a:xfrm>
          <a:prstGeom prst="roundRect">
            <a:avLst>
              <a:gd name="adj" fmla="val 2581"/>
            </a:avLst>
          </a:prstGeom>
          <a:solidFill>
            <a:srgbClr val="EEF1F6"/>
          </a:solidFill>
          <a:ln/>
          <a:effectLst>
            <a:outerShdw sx="100000" sy="100000" kx="0" ky="0" algn="bl" rotWithShape="0" blurRad="101600" dist="38100" dir="5400000">
              <a:srgbClr val="1B2A4A">
                <a:alpha val="10000"/>
              </a:srgbClr>
            </a:outerShdw>
          </a:effectLst>
        </p:spPr>
      </p:sp>
      <p:sp>
        <p:nvSpPr>
          <p:cNvPr id="8" name="Text 6"/>
          <p:cNvSpPr/>
          <p:nvPr/>
        </p:nvSpPr>
        <p:spPr>
          <a:xfrm>
            <a:off x="6583680" y="2103120"/>
            <a:ext cx="4709160" cy="45720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损失厌恶</a:t>
            </a:r>
            <a:endParaRPr lang="en-US" sz="1700" dirty="0"/>
          </a:p>
        </p:txBody>
      </p:sp>
      <p:sp>
        <p:nvSpPr>
          <p:cNvPr id="9" name="Text 7"/>
          <p:cNvSpPr/>
          <p:nvPr/>
        </p:nvSpPr>
        <p:spPr>
          <a:xfrm>
            <a:off x="6583680" y="2670048"/>
            <a:ext cx="4709160" cy="1737360"/>
          </a:xfrm>
          <a:prstGeom prst="rect">
            <a:avLst/>
          </a:prstGeom>
          <a:noFill/>
          <a:ln/>
        </p:spPr>
        <p:txBody>
          <a:bodyPr wrap="square" lIns="0" tIns="0" rIns="0" bIns="0" rtlCol="0" anchor="t"/>
          <a:lstStyle/>
          <a:p>
            <a:pPr indent="0" marL="0">
              <a:lnSpc>
                <a:spcPct val="128000"/>
              </a:lnSpc>
              <a:buNone/>
            </a:pPr>
            <a:r>
              <a:rPr lang="en-US" sz="1250" dirty="0">
                <a:solidFill>
                  <a:srgbClr val="33363B"/>
                </a:solidFill>
                <a:latin typeface="Calibri" pitchFamily="34" charset="0"/>
                <a:ea typeface="Calibri" pitchFamily="34" charset="-122"/>
                <a:cs typeface="Calibri" pitchFamily="34" charset="-120"/>
              </a:rPr>
              <a:t>经理对「下属讲砸了」这种潜在负面结果的恐惧，远大于对「下属讲好了」这种正面结果的期待，这种不对称的心理权重会让经理在不确定的情况下默认选择最保险的做法——自己上。</a:t>
            </a:r>
            <a:endParaRPr lang="en-US" sz="1250" dirty="0"/>
          </a:p>
        </p:txBody>
      </p:sp>
      <p:sp>
        <p:nvSpPr>
          <p:cNvPr id="10" name="Text 8"/>
          <p:cNvSpPr/>
          <p:nvPr/>
        </p:nvSpPr>
        <p:spPr>
          <a:xfrm>
            <a:off x="548640" y="4892040"/>
            <a:ext cx="11064240" cy="640080"/>
          </a:xfrm>
          <a:prstGeom prst="rect">
            <a:avLst/>
          </a:prstGeom>
          <a:noFill/>
          <a:ln/>
        </p:spPr>
        <p:txBody>
          <a:bodyPr wrap="square" lIns="0" tIns="0" rIns="0" bIns="0" rtlCol="0" anchor="ctr"/>
          <a:lstStyle/>
          <a:p>
            <a:pPr algn="l" indent="0" marL="0">
              <a:buNone/>
            </a:pPr>
            <a:r>
              <a:rPr lang="en-US" sz="1550" b="1" i="1" dirty="0">
                <a:solidFill>
                  <a:srgbClr val="1B2A4A"/>
                </a:solidFill>
                <a:latin typeface="Cambria" pitchFamily="34" charset="0"/>
                <a:ea typeface="Cambria" pitchFamily="34" charset="-122"/>
                <a:cs typeface="Cambria" pitchFamily="34" charset="-120"/>
              </a:rPr>
              <a:t>识别这种不对称的心理权重本身，是给舞台这件事真正的起点。</a:t>
            </a:r>
            <a:endParaRPr lang="en-US" sz="1550" dirty="0"/>
          </a:p>
        </p:txBody>
      </p:sp>
      <p:sp>
        <p:nvSpPr>
          <p:cNvPr id="11" name="Text 9"/>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M3 给舞台</a:t>
            </a:r>
            <a:endParaRPr lang="en-US" sz="900" dirty="0"/>
          </a:p>
        </p:txBody>
      </p:sp>
      <p:sp>
        <p:nvSpPr>
          <p:cNvPr id="12" name="Text 10"/>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案例 1</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300" b="1" dirty="0">
                <a:solidFill>
                  <a:srgbClr val="1B2A4A"/>
                </a:solidFill>
                <a:latin typeface="Cambria" pitchFamily="34" charset="0"/>
                <a:ea typeface="Cambria" pitchFamily="34" charset="-122"/>
                <a:cs typeface="Cambria" pitchFamily="34" charset="-120"/>
              </a:rPr>
              <a:t>两周预演，换来一次被记住的汇报</a:t>
            </a:r>
            <a:endParaRPr lang="en-US" sz="2300" dirty="0"/>
          </a:p>
        </p:txBody>
      </p:sp>
      <p:sp>
        <p:nvSpPr>
          <p:cNvPr id="4" name="Shape 2"/>
          <p:cNvSpPr/>
          <p:nvPr/>
        </p:nvSpPr>
        <p:spPr>
          <a:xfrm>
            <a:off x="548640" y="1737360"/>
            <a:ext cx="1188720" cy="292608"/>
          </a:xfrm>
          <a:prstGeom prst="roundRect">
            <a:avLst>
              <a:gd name="adj" fmla="val 18750"/>
            </a:avLst>
          </a:prstGeom>
          <a:solidFill>
            <a:srgbClr val="4F6F52"/>
          </a:solidFill>
          <a:ln/>
        </p:spPr>
      </p:sp>
      <p:sp>
        <p:nvSpPr>
          <p:cNvPr id="5" name="Text 3"/>
          <p:cNvSpPr/>
          <p:nvPr/>
        </p:nvSpPr>
        <p:spPr>
          <a:xfrm>
            <a:off x="548640" y="173736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正面案例</a:t>
            </a:r>
            <a:endParaRPr lang="en-US" sz="1100" dirty="0"/>
          </a:p>
        </p:txBody>
      </p:sp>
      <p:sp>
        <p:nvSpPr>
          <p:cNvPr id="6" name="Shape 4"/>
          <p:cNvSpPr/>
          <p:nvPr/>
        </p:nvSpPr>
        <p:spPr>
          <a:xfrm>
            <a:off x="548640" y="2240280"/>
            <a:ext cx="11064240" cy="3840480"/>
          </a:xfrm>
          <a:prstGeom prst="roundRect">
            <a:avLst>
              <a:gd name="adj" fmla="val 1905"/>
            </a:avLst>
          </a:prstGeom>
          <a:solidFill>
            <a:srgbClr val="FFFFFF"/>
          </a:solidFill>
          <a:ln/>
          <a:effectLst>
            <a:outerShdw sx="100000" sy="100000" kx="0" ky="0" algn="bl" rotWithShape="0" blurRad="101600" dist="38100" dir="5400000">
              <a:srgbClr val="1B2A4A">
                <a:alpha val="10000"/>
              </a:srgbClr>
            </a:outerShdw>
          </a:effectLst>
        </p:spPr>
      </p:sp>
      <p:sp>
        <p:nvSpPr>
          <p:cNvPr id="7" name="Text 5"/>
          <p:cNvSpPr/>
          <p:nvPr/>
        </p:nvSpPr>
        <p:spPr>
          <a:xfrm>
            <a:off x="914400" y="2514600"/>
            <a:ext cx="10332720" cy="329184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某部门经理在季度业务回顾会上，把原本由自己做的汇报环节交给团队里一位骨干主管，自己提前两周帮他梳理逻辑、做了三轮预演，正式汇报时坐在旁边但全程没有插话。汇报效果超出预期，这位主管在会后被多位跨部门领导记住名字，半年后获得晋升。</a:t>
            </a:r>
            <a:endParaRPr lang="en-US" sz="145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M3 给舞台</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案例 2</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300" b="1" dirty="0">
                <a:solidFill>
                  <a:srgbClr val="1B2A4A"/>
                </a:solidFill>
                <a:latin typeface="Cambria" pitchFamily="34" charset="0"/>
                <a:ea typeface="Cambria" pitchFamily="34" charset="-122"/>
                <a:cs typeface="Cambria" pitchFamily="34" charset="-120"/>
              </a:rPr>
              <a:t>两年没有一次被看见的机会，他选择了离开</a:t>
            </a:r>
            <a:endParaRPr lang="en-US" sz="2300" dirty="0"/>
          </a:p>
        </p:txBody>
      </p:sp>
      <p:sp>
        <p:nvSpPr>
          <p:cNvPr id="4" name="Shape 2"/>
          <p:cNvSpPr/>
          <p:nvPr/>
        </p:nvSpPr>
        <p:spPr>
          <a:xfrm>
            <a:off x="548640" y="1737360"/>
            <a:ext cx="1188720" cy="292608"/>
          </a:xfrm>
          <a:prstGeom prst="roundRect">
            <a:avLst>
              <a:gd name="adj" fmla="val 18750"/>
            </a:avLst>
          </a:prstGeom>
          <a:solidFill>
            <a:srgbClr val="9C5536"/>
          </a:solidFill>
          <a:ln/>
        </p:spPr>
      </p:sp>
      <p:sp>
        <p:nvSpPr>
          <p:cNvPr id="5" name="Text 3"/>
          <p:cNvSpPr/>
          <p:nvPr/>
        </p:nvSpPr>
        <p:spPr>
          <a:xfrm>
            <a:off x="548640" y="173736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反面案例</a:t>
            </a:r>
            <a:endParaRPr lang="en-US" sz="1100" dirty="0"/>
          </a:p>
        </p:txBody>
      </p:sp>
      <p:sp>
        <p:nvSpPr>
          <p:cNvPr id="6" name="Shape 4"/>
          <p:cNvSpPr/>
          <p:nvPr/>
        </p:nvSpPr>
        <p:spPr>
          <a:xfrm>
            <a:off x="548640" y="2240280"/>
            <a:ext cx="11064240" cy="3840480"/>
          </a:xfrm>
          <a:prstGeom prst="roundRect">
            <a:avLst>
              <a:gd name="adj" fmla="val 1905"/>
            </a:avLst>
          </a:prstGeom>
          <a:solidFill>
            <a:srgbClr val="FFFFFF"/>
          </a:solidFill>
          <a:ln/>
          <a:effectLst>
            <a:outerShdw sx="100000" sy="100000" kx="0" ky="0" algn="bl" rotWithShape="0" blurRad="101600" dist="38100" dir="5400000">
              <a:srgbClr val="1B2A4A">
                <a:alpha val="10000"/>
              </a:srgbClr>
            </a:outerShdw>
          </a:effectLst>
        </p:spPr>
      </p:sp>
      <p:sp>
        <p:nvSpPr>
          <p:cNvPr id="7" name="Text 5"/>
          <p:cNvSpPr/>
          <p:nvPr/>
        </p:nvSpPr>
        <p:spPr>
          <a:xfrm>
            <a:off x="914400" y="2514600"/>
            <a:ext cx="10332720" cy="329184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某部门经理因为担心下属讲不好，连续两年所有重要汇报都亲自上场，团队里最有潜力的一位主管始终没有获得对外曝光的机会，最终因为「看不到职业发展空间」提出离职。离职面谈时，他明确提到过去两年没有一次机会真正被上级看见。</a:t>
            </a:r>
            <a:endParaRPr lang="en-US" sz="145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M3 给舞台</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案例 3</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300" b="1" dirty="0">
                <a:solidFill>
                  <a:srgbClr val="1B2A4A"/>
                </a:solidFill>
                <a:latin typeface="Cambria" pitchFamily="34" charset="0"/>
                <a:ea typeface="Cambria" pitchFamily="34" charset="-122"/>
                <a:cs typeface="Cambria" pitchFamily="34" charset="-120"/>
              </a:rPr>
              <a:t>这次没有给舞台，但给了一次近距离观察的机会</a:t>
            </a:r>
            <a:endParaRPr lang="en-US" sz="2300" dirty="0"/>
          </a:p>
        </p:txBody>
      </p:sp>
      <p:sp>
        <p:nvSpPr>
          <p:cNvPr id="4" name="Shape 2"/>
          <p:cNvSpPr/>
          <p:nvPr/>
        </p:nvSpPr>
        <p:spPr>
          <a:xfrm>
            <a:off x="548640" y="1737360"/>
            <a:ext cx="1188720" cy="292608"/>
          </a:xfrm>
          <a:prstGeom prst="roundRect">
            <a:avLst>
              <a:gd name="adj" fmla="val 18750"/>
            </a:avLst>
          </a:prstGeom>
          <a:solidFill>
            <a:srgbClr val="8A6D1F"/>
          </a:solidFill>
          <a:ln/>
        </p:spPr>
      </p:sp>
      <p:sp>
        <p:nvSpPr>
          <p:cNvPr id="5" name="Text 3"/>
          <p:cNvSpPr/>
          <p:nvPr/>
        </p:nvSpPr>
        <p:spPr>
          <a:xfrm>
            <a:off x="548640" y="173736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边界场景</a:t>
            </a:r>
            <a:endParaRPr lang="en-US" sz="1100" dirty="0"/>
          </a:p>
        </p:txBody>
      </p:sp>
      <p:sp>
        <p:nvSpPr>
          <p:cNvPr id="6" name="Shape 4"/>
          <p:cNvSpPr/>
          <p:nvPr/>
        </p:nvSpPr>
        <p:spPr>
          <a:xfrm>
            <a:off x="548640" y="2240280"/>
            <a:ext cx="11064240" cy="3840480"/>
          </a:xfrm>
          <a:prstGeom prst="roundRect">
            <a:avLst>
              <a:gd name="adj" fmla="val 1905"/>
            </a:avLst>
          </a:prstGeom>
          <a:solidFill>
            <a:srgbClr val="FFFFFF"/>
          </a:solidFill>
          <a:ln/>
          <a:effectLst>
            <a:outerShdw sx="100000" sy="100000" kx="0" ky="0" algn="bl" rotWithShape="0" blurRad="101600" dist="38100" dir="5400000">
              <a:srgbClr val="1B2A4A">
                <a:alpha val="10000"/>
              </a:srgbClr>
            </a:outerShdw>
          </a:effectLst>
        </p:spPr>
      </p:sp>
      <p:sp>
        <p:nvSpPr>
          <p:cNvPr id="7" name="Text 5"/>
          <p:cNvSpPr/>
          <p:nvPr/>
        </p:nvSpPr>
        <p:spPr>
          <a:xfrm>
            <a:off x="914400" y="2514600"/>
            <a:ext cx="10332720" cy="329184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重要客户年度技术评审前，部门经理原本计划把汇报机会交给新晋升的主管，但评估后判断这次评审对客户信任的影响不可逆，于是改为自己主讲，同时让这位主管在旁担任技术问答支持角色。这个安排既保住了客户信任，又给了这位主管一次近距离观察高风险场合的机会，为下一次真正的舞台机会做铺垫。</a:t>
            </a:r>
            <a:endParaRPr lang="en-US" sz="145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M3 给舞台</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误区 1</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「把人推上去讲」就是给舞台</a:t>
            </a:r>
            <a:endParaRPr lang="en-US" sz="2600" dirty="0"/>
          </a:p>
        </p:txBody>
      </p:sp>
      <p:sp>
        <p:nvSpPr>
          <p:cNvPr id="4" name="Shape 2"/>
          <p:cNvSpPr/>
          <p:nvPr/>
        </p:nvSpPr>
        <p:spPr>
          <a:xfrm>
            <a:off x="548640" y="1828800"/>
            <a:ext cx="11064240" cy="3291840"/>
          </a:xfrm>
          <a:prstGeom prst="roundRect">
            <a:avLst>
              <a:gd name="adj" fmla="val 2222"/>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很多经理认为只要把汇报机会形式上交出去就是给舞台，但如果没有理论框架二中的「提前对齐内容」和「设置安全网」，下属很可能在毫无准备的情况下被推上台，一旦表现不好，不仅打击下属信心，还会让团队对被给舞台产生恐惧而非期待——这和反面案例的负面机制是相通的。</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M3 给舞台</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误区 2</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给舞台等于经理什么都不用做</a:t>
            </a:r>
            <a:endParaRPr lang="en-US" sz="2600" dirty="0"/>
          </a:p>
        </p:txBody>
      </p:sp>
      <p:sp>
        <p:nvSpPr>
          <p:cNvPr id="4" name="Shape 2"/>
          <p:cNvSpPr/>
          <p:nvPr/>
        </p:nvSpPr>
        <p:spPr>
          <a:xfrm>
            <a:off x="548640" y="1828800"/>
            <a:ext cx="11064240" cy="3291840"/>
          </a:xfrm>
          <a:prstGeom prst="roundRect">
            <a:avLst>
              <a:gd name="adj" fmla="val 2222"/>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一些经理把给舞台理解为彻底放手不管，认为这才是真正的信任，但理论框架二明确指出，经理的角色是从台前转移到幕后，而不是彻底退出——幕后的对齐、预演、安全网这些工作量并不比自己上台讲少，只是不可见。</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M3 给舞台</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延伸视角 1</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给舞台是梯队规划的日常执行机制</a:t>
            </a:r>
            <a:endParaRPr lang="en-US" sz="2500" dirty="0"/>
          </a:p>
        </p:txBody>
      </p:sp>
      <p:sp>
        <p:nvSpPr>
          <p:cNvPr id="4" name="Shape 2"/>
          <p:cNvSpPr/>
          <p:nvPr/>
        </p:nvSpPr>
        <p:spPr>
          <a:xfrm>
            <a:off x="548640" y="1828800"/>
            <a:ext cx="11064240" cy="3291840"/>
          </a:xfrm>
          <a:prstGeom prst="roundRect">
            <a:avLst>
              <a:gd name="adj" fmla="val 2222"/>
            </a:avLst>
          </a:prstGeom>
          <a:solidFill>
            <a:srgbClr val="EEF2EE"/>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跨层呼应层级二M8《梯队规划》：梯队规划经常被理解成一份静态的人才盘点表格，但真正决定梯队能不能成型的，是日常有没有持续给到合适的人合适难度的舞台机会。没有日常的舞台积累，梯队规划文档上的名字只是停留在纸面上的潜力，不会真正转化成组织看得见、信得过的能力。</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M3 给舞台</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延伸视角 2</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舞台之后的复盘，决定曝光能不能变成成长</a:t>
            </a:r>
            <a:endParaRPr lang="en-US" sz="2500" dirty="0"/>
          </a:p>
        </p:txBody>
      </p:sp>
      <p:sp>
        <p:nvSpPr>
          <p:cNvPr id="4" name="Shape 2"/>
          <p:cNvSpPr/>
          <p:nvPr/>
        </p:nvSpPr>
        <p:spPr>
          <a:xfrm>
            <a:off x="548640" y="1828800"/>
            <a:ext cx="11064240" cy="3291840"/>
          </a:xfrm>
          <a:prstGeom prst="roundRect">
            <a:avLst>
              <a:gd name="adj" fmla="val 2222"/>
            </a:avLst>
          </a:prstGeom>
          <a:solidFill>
            <a:srgbClr val="EEF2EE"/>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呼应层级一M7《1on1实战》和M8《绩效反馈》：给完舞台之后，如果没有一次认真的复盘对话——哪里讲得好、哪里可以更好、这次经历对他意味着什么——这次曝光经历很容易停留在「经历过」的层面，而不会真正沉淀为下属能力和自信的提升。给舞台只是开始，复盘才是让这次经历真正起作用的环节。</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M3 给舞台</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总结</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三层框架回顾</a:t>
            </a:r>
            <a:endParaRPr lang="en-US" sz="2700" dirty="0"/>
          </a:p>
        </p:txBody>
      </p:sp>
      <p:sp>
        <p:nvSpPr>
          <p:cNvPr id="4" name="Shape 2"/>
          <p:cNvSpPr/>
          <p:nvPr/>
        </p:nvSpPr>
        <p:spPr>
          <a:xfrm>
            <a:off x="548640" y="1691640"/>
            <a:ext cx="11064240" cy="960120"/>
          </a:xfrm>
          <a:prstGeom prst="roundRect">
            <a:avLst>
              <a:gd name="adj" fmla="val 7619"/>
            </a:avLst>
          </a:prstGeom>
          <a:solidFill>
            <a:srgbClr val="EEF1F6"/>
          </a:solidFill>
          <a:ln/>
          <a:effectLst>
            <a:outerShdw sx="100000" sy="100000" kx="0" ky="0" algn="bl" rotWithShape="0" blurRad="101600" dist="38100" dir="5400000">
              <a:srgbClr val="1B2A4A">
                <a:alpha val="10000"/>
              </a:srgbClr>
            </a:outerShdw>
          </a:effectLst>
        </p:spPr>
      </p:sp>
      <p:sp>
        <p:nvSpPr>
          <p:cNvPr id="5" name="Shape 3"/>
          <p:cNvSpPr/>
          <p:nvPr/>
        </p:nvSpPr>
        <p:spPr>
          <a:xfrm>
            <a:off x="822960" y="1961388"/>
            <a:ext cx="420624" cy="420624"/>
          </a:xfrm>
          <a:prstGeom prst="ellipse">
            <a:avLst/>
          </a:prstGeom>
          <a:solidFill>
            <a:srgbClr val="1B2A4A"/>
          </a:solidFill>
          <a:ln/>
        </p:spPr>
      </p:sp>
      <p:sp>
        <p:nvSpPr>
          <p:cNvPr id="6" name="Text 4"/>
          <p:cNvSpPr/>
          <p:nvPr/>
        </p:nvSpPr>
        <p:spPr>
          <a:xfrm>
            <a:off x="822960" y="196138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508760" y="1819656"/>
            <a:ext cx="2377440" cy="704088"/>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可见度资本</a:t>
            </a:r>
            <a:endParaRPr lang="en-US" sz="1600" dirty="0"/>
          </a:p>
        </p:txBody>
      </p:sp>
      <p:sp>
        <p:nvSpPr>
          <p:cNvPr id="8" name="Text 6"/>
          <p:cNvSpPr/>
          <p:nvPr/>
        </p:nvSpPr>
        <p:spPr>
          <a:xfrm>
            <a:off x="4023360" y="1783080"/>
            <a:ext cx="7223760" cy="777240"/>
          </a:xfrm>
          <a:prstGeom prst="rect">
            <a:avLst/>
          </a:prstGeom>
          <a:noFill/>
          <a:ln/>
        </p:spPr>
        <p:txBody>
          <a:bodyPr wrap="square" lIns="0" tIns="0" rIns="0" bIns="0" rtlCol="0" anchor="ctr"/>
          <a:lstStyle/>
          <a:p>
            <a:pPr indent="0" marL="0">
              <a:lnSpc>
                <a:spcPct val="118000"/>
              </a:lnSpc>
              <a:buNone/>
            </a:pPr>
            <a:r>
              <a:rPr lang="en-US" sz="1200" dirty="0">
                <a:solidFill>
                  <a:srgbClr val="33363B"/>
                </a:solidFill>
                <a:latin typeface="Calibri" pitchFamily="34" charset="0"/>
                <a:ea typeface="Calibri" pitchFamily="34" charset="-122"/>
                <a:cs typeface="Calibri" pitchFamily="34" charset="-120"/>
              </a:rPr>
              <a:t>一个人的职业发展很大程度取决于被关键决策者看见的次数，经理因为效率优势天然倾向垄断舞台，这会让最有潜力的下属在组织里隐形。</a:t>
            </a:r>
            <a:endParaRPr lang="en-US" sz="1200" dirty="0"/>
          </a:p>
        </p:txBody>
      </p:sp>
      <p:sp>
        <p:nvSpPr>
          <p:cNvPr id="9" name="Shape 7"/>
          <p:cNvSpPr/>
          <p:nvPr/>
        </p:nvSpPr>
        <p:spPr>
          <a:xfrm>
            <a:off x="548640" y="2816352"/>
            <a:ext cx="11064240" cy="960120"/>
          </a:xfrm>
          <a:prstGeom prst="roundRect">
            <a:avLst>
              <a:gd name="adj" fmla="val 7619"/>
            </a:avLst>
          </a:prstGeom>
          <a:solidFill>
            <a:srgbClr val="F5EEEA"/>
          </a:solidFill>
          <a:ln/>
          <a:effectLst>
            <a:outerShdw sx="100000" sy="100000" kx="0" ky="0" algn="bl" rotWithShape="0" blurRad="101600" dist="38100" dir="5400000">
              <a:srgbClr val="1B2A4A">
                <a:alpha val="10000"/>
              </a:srgbClr>
            </a:outerShdw>
          </a:effectLst>
        </p:spPr>
      </p:sp>
      <p:sp>
        <p:nvSpPr>
          <p:cNvPr id="10" name="Shape 8"/>
          <p:cNvSpPr/>
          <p:nvPr/>
        </p:nvSpPr>
        <p:spPr>
          <a:xfrm>
            <a:off x="822960" y="3086100"/>
            <a:ext cx="420624" cy="420624"/>
          </a:xfrm>
          <a:prstGeom prst="ellipse">
            <a:avLst/>
          </a:prstGeom>
          <a:solidFill>
            <a:srgbClr val="9C5536"/>
          </a:solidFill>
          <a:ln/>
        </p:spPr>
      </p:sp>
      <p:sp>
        <p:nvSpPr>
          <p:cNvPr id="11" name="Text 9"/>
          <p:cNvSpPr/>
          <p:nvPr/>
        </p:nvSpPr>
        <p:spPr>
          <a:xfrm>
            <a:off x="822960" y="30861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508760" y="2944368"/>
            <a:ext cx="2377440" cy="704088"/>
          </a:xfrm>
          <a:prstGeom prst="rect">
            <a:avLst/>
          </a:prstGeom>
          <a:noFill/>
          <a:ln/>
        </p:spPr>
        <p:txBody>
          <a:bodyPr wrap="square" lIns="0" tIns="0" rIns="0" bIns="0" rtlCol="0" anchor="ctr"/>
          <a:lstStyle/>
          <a:p>
            <a:pPr indent="0" marL="0">
              <a:buNone/>
            </a:pPr>
            <a:r>
              <a:rPr lang="en-US" sz="1600" b="1" dirty="0">
                <a:solidFill>
                  <a:srgbClr val="9C5536"/>
                </a:solidFill>
                <a:latin typeface="Cambria" pitchFamily="34" charset="0"/>
                <a:ea typeface="Cambria" pitchFamily="34" charset="-122"/>
                <a:cs typeface="Cambria" pitchFamily="34" charset="-120"/>
              </a:rPr>
              <a:t>分级与缓冲</a:t>
            </a:r>
            <a:endParaRPr lang="en-US" sz="1600" dirty="0"/>
          </a:p>
        </p:txBody>
      </p:sp>
      <p:sp>
        <p:nvSpPr>
          <p:cNvPr id="13" name="Text 11"/>
          <p:cNvSpPr/>
          <p:nvPr/>
        </p:nvSpPr>
        <p:spPr>
          <a:xfrm>
            <a:off x="4023360" y="2907792"/>
            <a:ext cx="7223760" cy="777240"/>
          </a:xfrm>
          <a:prstGeom prst="rect">
            <a:avLst/>
          </a:prstGeom>
          <a:noFill/>
          <a:ln/>
        </p:spPr>
        <p:txBody>
          <a:bodyPr wrap="square" lIns="0" tIns="0" rIns="0" bIns="0" rtlCol="0" anchor="ctr"/>
          <a:lstStyle/>
          <a:p>
            <a:pPr indent="0" marL="0">
              <a:lnSpc>
                <a:spcPct val="118000"/>
              </a:lnSpc>
              <a:buNone/>
            </a:pPr>
            <a:r>
              <a:rPr lang="en-US" sz="1200" dirty="0">
                <a:solidFill>
                  <a:srgbClr val="33363B"/>
                </a:solidFill>
                <a:latin typeface="Calibri" pitchFamily="34" charset="0"/>
                <a:ea typeface="Calibri" pitchFamily="34" charset="-122"/>
                <a:cs typeface="Calibri" pitchFamily="34" charset="-120"/>
              </a:rPr>
              <a:t>给舞台要按下属准备度分级，配合提前对齐内容和设置安全网，经理的角色是从台前的主角切换成幕后的导演。</a:t>
            </a:r>
            <a:endParaRPr lang="en-US" sz="1200" dirty="0"/>
          </a:p>
        </p:txBody>
      </p:sp>
      <p:sp>
        <p:nvSpPr>
          <p:cNvPr id="14" name="Shape 12"/>
          <p:cNvSpPr/>
          <p:nvPr/>
        </p:nvSpPr>
        <p:spPr>
          <a:xfrm>
            <a:off x="548640" y="3941064"/>
            <a:ext cx="11064240" cy="960120"/>
          </a:xfrm>
          <a:prstGeom prst="roundRect">
            <a:avLst>
              <a:gd name="adj" fmla="val 7619"/>
            </a:avLst>
          </a:prstGeom>
          <a:solidFill>
            <a:srgbClr val="EEF2EE"/>
          </a:solidFill>
          <a:ln/>
          <a:effectLst>
            <a:outerShdw sx="100000" sy="100000" kx="0" ky="0" algn="bl" rotWithShape="0" blurRad="101600" dist="38100" dir="5400000">
              <a:srgbClr val="1B2A4A">
                <a:alpha val="10000"/>
              </a:srgbClr>
            </a:outerShdw>
          </a:effectLst>
        </p:spPr>
      </p:sp>
      <p:sp>
        <p:nvSpPr>
          <p:cNvPr id="15" name="Shape 13"/>
          <p:cNvSpPr/>
          <p:nvPr/>
        </p:nvSpPr>
        <p:spPr>
          <a:xfrm>
            <a:off x="822960" y="4210812"/>
            <a:ext cx="420624" cy="420624"/>
          </a:xfrm>
          <a:prstGeom prst="ellipse">
            <a:avLst/>
          </a:prstGeom>
          <a:solidFill>
            <a:srgbClr val="4F6F52"/>
          </a:solidFill>
          <a:ln/>
        </p:spPr>
      </p:sp>
      <p:sp>
        <p:nvSpPr>
          <p:cNvPr id="16" name="Text 14"/>
          <p:cNvSpPr/>
          <p:nvPr/>
        </p:nvSpPr>
        <p:spPr>
          <a:xfrm>
            <a:off x="822960" y="421081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508760" y="4069080"/>
            <a:ext cx="2377440" cy="704088"/>
          </a:xfrm>
          <a:prstGeom prst="rect">
            <a:avLst/>
          </a:prstGeom>
          <a:noFill/>
          <a:ln/>
        </p:spPr>
        <p:txBody>
          <a:bodyPr wrap="square" lIns="0" tIns="0" rIns="0" bIns="0" rtlCol="0" anchor="ctr"/>
          <a:lstStyle/>
          <a:p>
            <a:pPr indent="0" marL="0">
              <a:buNone/>
            </a:pPr>
            <a:r>
              <a:rPr lang="en-US" sz="1600" b="1" dirty="0">
                <a:solidFill>
                  <a:srgbClr val="4F6F52"/>
                </a:solidFill>
                <a:latin typeface="Cambria" pitchFamily="34" charset="0"/>
                <a:ea typeface="Cambria" pitchFamily="34" charset="-122"/>
                <a:cs typeface="Cambria" pitchFamily="34" charset="-120"/>
              </a:rPr>
              <a:t>边界判断</a:t>
            </a:r>
            <a:endParaRPr lang="en-US" sz="1600" dirty="0"/>
          </a:p>
        </p:txBody>
      </p:sp>
      <p:sp>
        <p:nvSpPr>
          <p:cNvPr id="18" name="Text 16"/>
          <p:cNvSpPr/>
          <p:nvPr/>
        </p:nvSpPr>
        <p:spPr>
          <a:xfrm>
            <a:off x="4023360" y="4032504"/>
            <a:ext cx="7223760" cy="777240"/>
          </a:xfrm>
          <a:prstGeom prst="rect">
            <a:avLst/>
          </a:prstGeom>
          <a:noFill/>
          <a:ln/>
        </p:spPr>
        <p:txBody>
          <a:bodyPr wrap="square" lIns="0" tIns="0" rIns="0" bIns="0" rtlCol="0" anchor="ctr"/>
          <a:lstStyle/>
          <a:p>
            <a:pPr indent="0" marL="0">
              <a:lnSpc>
                <a:spcPct val="118000"/>
              </a:lnSpc>
              <a:buNone/>
            </a:pPr>
            <a:r>
              <a:rPr lang="en-US" sz="1200" dirty="0">
                <a:solidFill>
                  <a:srgbClr val="33363B"/>
                </a:solidFill>
                <a:latin typeface="Calibri" pitchFamily="34" charset="0"/>
                <a:ea typeface="Calibri" pitchFamily="34" charset="-122"/>
                <a:cs typeface="Calibri" pitchFamily="34" charset="-120"/>
              </a:rPr>
              <a:t>涉及核心外部关系且后果不可逆的场合，经理需要先亲自把关，等下属积累足够的成功经验后再逐步过渡。</a:t>
            </a:r>
            <a:endParaRPr lang="en-US" sz="1200" dirty="0"/>
          </a:p>
        </p:txBody>
      </p:sp>
      <p:sp>
        <p:nvSpPr>
          <p:cNvPr id="19" name="Shape 17"/>
          <p:cNvSpPr/>
          <p:nvPr/>
        </p:nvSpPr>
        <p:spPr>
          <a:xfrm>
            <a:off x="548640" y="5166360"/>
            <a:ext cx="11064240" cy="960120"/>
          </a:xfrm>
          <a:prstGeom prst="roundRect">
            <a:avLst>
              <a:gd name="adj" fmla="val 7619"/>
            </a:avLst>
          </a:prstGeom>
          <a:solidFill>
            <a:srgbClr val="1B2A4A"/>
          </a:solidFill>
          <a:ln/>
          <a:effectLst>
            <a:outerShdw sx="100000" sy="100000" kx="0" ky="0" algn="bl" rotWithShape="0" blurRad="101600" dist="38100" dir="5400000">
              <a:srgbClr val="1B2A4A">
                <a:alpha val="10000"/>
              </a:srgbClr>
            </a:outerShdw>
          </a:effectLst>
        </p:spPr>
      </p:sp>
      <p:sp>
        <p:nvSpPr>
          <p:cNvPr id="20" name="Text 18"/>
          <p:cNvSpPr/>
          <p:nvPr/>
        </p:nvSpPr>
        <p:spPr>
          <a:xfrm>
            <a:off x="868680" y="5166360"/>
            <a:ext cx="10424160" cy="960120"/>
          </a:xfrm>
          <a:prstGeom prst="rect">
            <a:avLst/>
          </a:prstGeom>
          <a:noFill/>
          <a:ln/>
        </p:spPr>
        <p:txBody>
          <a:bodyPr wrap="square" lIns="0" tIns="0" rIns="0" bIns="0" rtlCol="0" anchor="ctr"/>
          <a:lstStyle/>
          <a:p>
            <a:pPr algn="ctr" indent="0" marL="0">
              <a:buNone/>
            </a:pPr>
            <a:r>
              <a:rPr lang="en-US" sz="1800" i="1" dirty="0">
                <a:solidFill>
                  <a:srgbClr val="FFFFFF"/>
                </a:solidFill>
                <a:latin typeface="Cambria" pitchFamily="34" charset="0"/>
                <a:ea typeface="Cambria" pitchFamily="34" charset="-122"/>
                <a:cs typeface="Cambria" pitchFamily="34" charset="-120"/>
              </a:rPr>
              <a:t>给舞台，不是经理退场，而是换到能随时补位的位置。</a:t>
            </a:r>
            <a:endParaRPr lang="en-US" sz="1800" dirty="0"/>
          </a:p>
        </p:txBody>
      </p:sp>
      <p:sp>
        <p:nvSpPr>
          <p:cNvPr id="21" name="Text 19"/>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M3 给舞台</a:t>
            </a:r>
            <a:endParaRPr lang="en-US" sz="900" dirty="0"/>
          </a:p>
        </p:txBody>
      </p:sp>
      <p:sp>
        <p:nvSpPr>
          <p:cNvPr id="22" name="Text 20"/>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课后诊断 · 一</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课后诊断</a:t>
            </a:r>
            <a:endParaRPr lang="en-US" sz="2700" dirty="0"/>
          </a:p>
        </p:txBody>
      </p:sp>
      <p:sp>
        <p:nvSpPr>
          <p:cNvPr id="4" name="Shape 2"/>
          <p:cNvSpPr/>
          <p:nvPr/>
        </p:nvSpPr>
        <p:spPr>
          <a:xfrm>
            <a:off x="548640" y="1691640"/>
            <a:ext cx="11064240" cy="1344168"/>
          </a:xfrm>
          <a:prstGeom prst="roundRect">
            <a:avLst>
              <a:gd name="adj" fmla="val 5442"/>
            </a:avLst>
          </a:prstGeom>
          <a:solidFill>
            <a:srgbClr val="FFFFFF"/>
          </a:solidFill>
          <a:ln/>
          <a:effectLst>
            <a:outerShdw sx="100000" sy="100000" kx="0" ky="0" algn="bl" rotWithShape="0" blurRad="101600" dist="38100" dir="5400000">
              <a:srgbClr val="1B2A4A">
                <a:alpha val="10000"/>
              </a:srgbClr>
            </a:outerShdw>
          </a:effectLst>
        </p:spPr>
      </p:sp>
      <p:sp>
        <p:nvSpPr>
          <p:cNvPr id="5" name="Shape 3"/>
          <p:cNvSpPr/>
          <p:nvPr/>
        </p:nvSpPr>
        <p:spPr>
          <a:xfrm>
            <a:off x="822960" y="1892808"/>
            <a:ext cx="1188720" cy="292608"/>
          </a:xfrm>
          <a:prstGeom prst="roundRect">
            <a:avLst>
              <a:gd name="adj" fmla="val 18750"/>
            </a:avLst>
          </a:prstGeom>
          <a:solidFill>
            <a:srgbClr val="1B2A4A"/>
          </a:solidFill>
          <a:ln/>
        </p:spPr>
      </p:sp>
      <p:sp>
        <p:nvSpPr>
          <p:cNvPr id="6" name="Text 4"/>
          <p:cNvSpPr/>
          <p:nvPr/>
        </p:nvSpPr>
        <p:spPr>
          <a:xfrm>
            <a:off x="822960" y="189280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场景一</a:t>
            </a:r>
            <a:endParaRPr lang="en-US" sz="1100" dirty="0"/>
          </a:p>
        </p:txBody>
      </p:sp>
      <p:sp>
        <p:nvSpPr>
          <p:cNvPr id="7" name="Text 5"/>
          <p:cNvSpPr/>
          <p:nvPr/>
        </p:nvSpPr>
        <p:spPr>
          <a:xfrm>
            <a:off x="2148840" y="1892808"/>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对应理论框架一</a:t>
            </a:r>
            <a:endParaRPr lang="en-US" sz="1100" dirty="0"/>
          </a:p>
        </p:txBody>
      </p:sp>
      <p:sp>
        <p:nvSpPr>
          <p:cNvPr id="8" name="Text 6"/>
          <p:cNvSpPr/>
          <p:nvPr/>
        </p:nvSpPr>
        <p:spPr>
          <a:xfrm>
            <a:off x="822960" y="2258568"/>
            <a:ext cx="10515600" cy="630936"/>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描述一位经理长期代表团队对外汇报的具体情境，要求判断这种模式长期对团队会有什么影响，并指出背后的心理/效率机制。</a:t>
            </a:r>
            <a:endParaRPr lang="en-US" sz="1250" dirty="0"/>
          </a:p>
        </p:txBody>
      </p:sp>
      <p:sp>
        <p:nvSpPr>
          <p:cNvPr id="9" name="Shape 7"/>
          <p:cNvSpPr/>
          <p:nvPr/>
        </p:nvSpPr>
        <p:spPr>
          <a:xfrm>
            <a:off x="548640" y="3236976"/>
            <a:ext cx="11064240" cy="1344168"/>
          </a:xfrm>
          <a:prstGeom prst="roundRect">
            <a:avLst>
              <a:gd name="adj" fmla="val 5442"/>
            </a:avLst>
          </a:prstGeom>
          <a:solidFill>
            <a:srgbClr val="FFFFFF"/>
          </a:solidFill>
          <a:ln/>
          <a:effectLst>
            <a:outerShdw sx="100000" sy="100000" kx="0" ky="0" algn="bl" rotWithShape="0" blurRad="101600" dist="38100" dir="5400000">
              <a:srgbClr val="1B2A4A">
                <a:alpha val="10000"/>
              </a:srgbClr>
            </a:outerShdw>
          </a:effectLst>
        </p:spPr>
      </p:sp>
      <p:sp>
        <p:nvSpPr>
          <p:cNvPr id="10" name="Shape 8"/>
          <p:cNvSpPr/>
          <p:nvPr/>
        </p:nvSpPr>
        <p:spPr>
          <a:xfrm>
            <a:off x="822960" y="3438144"/>
            <a:ext cx="1188720" cy="292608"/>
          </a:xfrm>
          <a:prstGeom prst="roundRect">
            <a:avLst>
              <a:gd name="adj" fmla="val 18750"/>
            </a:avLst>
          </a:prstGeom>
          <a:solidFill>
            <a:srgbClr val="1B2A4A"/>
          </a:solidFill>
          <a:ln/>
        </p:spPr>
      </p:sp>
      <p:sp>
        <p:nvSpPr>
          <p:cNvPr id="11" name="Text 9"/>
          <p:cNvSpPr/>
          <p:nvPr/>
        </p:nvSpPr>
        <p:spPr>
          <a:xfrm>
            <a:off x="822960" y="3438144"/>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场景二</a:t>
            </a:r>
            <a:endParaRPr lang="en-US" sz="1100" dirty="0"/>
          </a:p>
        </p:txBody>
      </p:sp>
      <p:sp>
        <p:nvSpPr>
          <p:cNvPr id="12" name="Text 10"/>
          <p:cNvSpPr/>
          <p:nvPr/>
        </p:nvSpPr>
        <p:spPr>
          <a:xfrm>
            <a:off x="2148840" y="3438144"/>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对应理论框架二</a:t>
            </a:r>
            <a:endParaRPr lang="en-US" sz="1100" dirty="0"/>
          </a:p>
        </p:txBody>
      </p:sp>
      <p:sp>
        <p:nvSpPr>
          <p:cNvPr id="13" name="Text 11"/>
          <p:cNvSpPr/>
          <p:nvPr/>
        </p:nvSpPr>
        <p:spPr>
          <a:xfrm>
            <a:off x="822960" y="3803904"/>
            <a:ext cx="10515600" cy="630936"/>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描述一位经理把一次重要汇报机会直接交给下属，但事先没有做任何对齐和预演的场景，要求判断这次给舞台是否完整，欠缺了哪些环节。</a:t>
            </a:r>
            <a:endParaRPr lang="en-US" sz="1250" dirty="0"/>
          </a:p>
        </p:txBody>
      </p:sp>
      <p:sp>
        <p:nvSpPr>
          <p:cNvPr id="14" name="Shape 12"/>
          <p:cNvSpPr/>
          <p:nvPr/>
        </p:nvSpPr>
        <p:spPr>
          <a:xfrm>
            <a:off x="548640" y="4782312"/>
            <a:ext cx="11064240" cy="1344168"/>
          </a:xfrm>
          <a:prstGeom prst="roundRect">
            <a:avLst>
              <a:gd name="adj" fmla="val 5442"/>
            </a:avLst>
          </a:prstGeom>
          <a:solidFill>
            <a:srgbClr val="FFFFFF"/>
          </a:solidFill>
          <a:ln/>
          <a:effectLst>
            <a:outerShdw sx="100000" sy="100000" kx="0" ky="0" algn="bl" rotWithShape="0" blurRad="101600" dist="38100" dir="5400000">
              <a:srgbClr val="1B2A4A">
                <a:alpha val="10000"/>
              </a:srgbClr>
            </a:outerShdw>
          </a:effectLst>
        </p:spPr>
      </p:sp>
      <p:sp>
        <p:nvSpPr>
          <p:cNvPr id="15" name="Shape 13"/>
          <p:cNvSpPr/>
          <p:nvPr/>
        </p:nvSpPr>
        <p:spPr>
          <a:xfrm>
            <a:off x="822960" y="4983480"/>
            <a:ext cx="1188720" cy="292608"/>
          </a:xfrm>
          <a:prstGeom prst="roundRect">
            <a:avLst>
              <a:gd name="adj" fmla="val 18750"/>
            </a:avLst>
          </a:prstGeom>
          <a:solidFill>
            <a:srgbClr val="1B2A4A"/>
          </a:solidFill>
          <a:ln/>
        </p:spPr>
      </p:sp>
      <p:sp>
        <p:nvSpPr>
          <p:cNvPr id="16" name="Text 14"/>
          <p:cNvSpPr/>
          <p:nvPr/>
        </p:nvSpPr>
        <p:spPr>
          <a:xfrm>
            <a:off x="822960" y="498348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场景三</a:t>
            </a:r>
            <a:endParaRPr lang="en-US" sz="1100" dirty="0"/>
          </a:p>
        </p:txBody>
      </p:sp>
      <p:sp>
        <p:nvSpPr>
          <p:cNvPr id="17" name="Text 15"/>
          <p:cNvSpPr/>
          <p:nvPr/>
        </p:nvSpPr>
        <p:spPr>
          <a:xfrm>
            <a:off x="2148840" y="4983480"/>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对应边界反例</a:t>
            </a:r>
            <a:endParaRPr lang="en-US" sz="1100" dirty="0"/>
          </a:p>
        </p:txBody>
      </p:sp>
      <p:sp>
        <p:nvSpPr>
          <p:cNvPr id="18" name="Text 16"/>
          <p:cNvSpPr/>
          <p:nvPr/>
        </p:nvSpPr>
        <p:spPr>
          <a:xfrm>
            <a:off x="822960" y="5349240"/>
            <a:ext cx="10515600" cy="630936"/>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描述一个介于可以放手和风险过高之间的模糊场景，要求判断经理此时该不该把舞台交出去，并说明判断标准。</a:t>
            </a:r>
            <a:endParaRPr lang="en-US" sz="1250" dirty="0"/>
          </a:p>
        </p:txBody>
      </p:sp>
      <p:sp>
        <p:nvSpPr>
          <p:cNvPr id="20" name="Text 17"/>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M3 给舞台</a:t>
            </a:r>
            <a:endParaRPr lang="en-US" sz="900" dirty="0"/>
          </a:p>
        </p:txBody>
      </p:sp>
      <p:sp>
        <p:nvSpPr>
          <p:cNvPr id="21" name="Text 18"/>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课后诊断 · 二</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课后诊断</a:t>
            </a:r>
            <a:endParaRPr lang="en-US" sz="2700" dirty="0"/>
          </a:p>
        </p:txBody>
      </p:sp>
      <p:sp>
        <p:nvSpPr>
          <p:cNvPr id="4" name="Shape 2"/>
          <p:cNvSpPr/>
          <p:nvPr/>
        </p:nvSpPr>
        <p:spPr>
          <a:xfrm>
            <a:off x="548640" y="1691640"/>
            <a:ext cx="11064240" cy="2116836"/>
          </a:xfrm>
          <a:prstGeom prst="roundRect">
            <a:avLst>
              <a:gd name="adj" fmla="val 3456"/>
            </a:avLst>
          </a:prstGeom>
          <a:solidFill>
            <a:srgbClr val="FFFFFF"/>
          </a:solidFill>
          <a:ln/>
          <a:effectLst>
            <a:outerShdw sx="100000" sy="100000" kx="0" ky="0" algn="bl" rotWithShape="0" blurRad="101600" dist="38100" dir="5400000">
              <a:srgbClr val="1B2A4A">
                <a:alpha val="10000"/>
              </a:srgbClr>
            </a:outerShdw>
          </a:effectLst>
        </p:spPr>
      </p:sp>
      <p:sp>
        <p:nvSpPr>
          <p:cNvPr id="5" name="Shape 3"/>
          <p:cNvSpPr/>
          <p:nvPr/>
        </p:nvSpPr>
        <p:spPr>
          <a:xfrm>
            <a:off x="822960" y="1892808"/>
            <a:ext cx="1188720" cy="292608"/>
          </a:xfrm>
          <a:prstGeom prst="roundRect">
            <a:avLst>
              <a:gd name="adj" fmla="val 18750"/>
            </a:avLst>
          </a:prstGeom>
          <a:solidFill>
            <a:srgbClr val="1B2A4A"/>
          </a:solidFill>
          <a:ln/>
        </p:spPr>
      </p:sp>
      <p:sp>
        <p:nvSpPr>
          <p:cNvPr id="6" name="Text 4"/>
          <p:cNvSpPr/>
          <p:nvPr/>
        </p:nvSpPr>
        <p:spPr>
          <a:xfrm>
            <a:off x="822960" y="189280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场景四</a:t>
            </a:r>
            <a:endParaRPr lang="en-US" sz="1100" dirty="0"/>
          </a:p>
        </p:txBody>
      </p:sp>
      <p:sp>
        <p:nvSpPr>
          <p:cNvPr id="7" name="Text 5"/>
          <p:cNvSpPr/>
          <p:nvPr/>
        </p:nvSpPr>
        <p:spPr>
          <a:xfrm>
            <a:off x="2148840" y="1892808"/>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对应延伸视角一</a:t>
            </a:r>
            <a:endParaRPr lang="en-US" sz="1100" dirty="0"/>
          </a:p>
        </p:txBody>
      </p:sp>
      <p:sp>
        <p:nvSpPr>
          <p:cNvPr id="8" name="Text 6"/>
          <p:cNvSpPr/>
          <p:nvPr/>
        </p:nvSpPr>
        <p:spPr>
          <a:xfrm>
            <a:off x="822960" y="2258568"/>
            <a:ext cx="10515600" cy="1403604"/>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列出某部门梯队规划文档和团队实际曝光机会分配的情况，要求判断这个部门的梯队规划是不是真的在落地，并指出证据。</a:t>
            </a:r>
            <a:endParaRPr lang="en-US" sz="1250" dirty="0"/>
          </a:p>
        </p:txBody>
      </p:sp>
      <p:sp>
        <p:nvSpPr>
          <p:cNvPr id="9" name="Shape 7"/>
          <p:cNvSpPr/>
          <p:nvPr/>
        </p:nvSpPr>
        <p:spPr>
          <a:xfrm>
            <a:off x="548640" y="4009644"/>
            <a:ext cx="11064240" cy="2116836"/>
          </a:xfrm>
          <a:prstGeom prst="roundRect">
            <a:avLst>
              <a:gd name="adj" fmla="val 3456"/>
            </a:avLst>
          </a:prstGeom>
          <a:solidFill>
            <a:srgbClr val="FFFFFF"/>
          </a:solidFill>
          <a:ln/>
          <a:effectLst>
            <a:outerShdw sx="100000" sy="100000" kx="0" ky="0" algn="bl" rotWithShape="0" blurRad="101600" dist="38100" dir="5400000">
              <a:srgbClr val="1B2A4A">
                <a:alpha val="10000"/>
              </a:srgbClr>
            </a:outerShdw>
          </a:effectLst>
        </p:spPr>
      </p:sp>
      <p:sp>
        <p:nvSpPr>
          <p:cNvPr id="10" name="Shape 8"/>
          <p:cNvSpPr/>
          <p:nvPr/>
        </p:nvSpPr>
        <p:spPr>
          <a:xfrm>
            <a:off x="822960" y="4210812"/>
            <a:ext cx="1188720" cy="292608"/>
          </a:xfrm>
          <a:prstGeom prst="roundRect">
            <a:avLst>
              <a:gd name="adj" fmla="val 18750"/>
            </a:avLst>
          </a:prstGeom>
          <a:solidFill>
            <a:srgbClr val="1B2A4A"/>
          </a:solidFill>
          <a:ln/>
        </p:spPr>
      </p:sp>
      <p:sp>
        <p:nvSpPr>
          <p:cNvPr id="11" name="Text 9"/>
          <p:cNvSpPr/>
          <p:nvPr/>
        </p:nvSpPr>
        <p:spPr>
          <a:xfrm>
            <a:off x="822960" y="421081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场景五</a:t>
            </a:r>
            <a:endParaRPr lang="en-US" sz="1100" dirty="0"/>
          </a:p>
        </p:txBody>
      </p:sp>
      <p:sp>
        <p:nvSpPr>
          <p:cNvPr id="12" name="Text 10"/>
          <p:cNvSpPr/>
          <p:nvPr/>
        </p:nvSpPr>
        <p:spPr>
          <a:xfrm>
            <a:off x="2148840" y="4210812"/>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综合场景</a:t>
            </a:r>
            <a:endParaRPr lang="en-US" sz="1100" dirty="0"/>
          </a:p>
        </p:txBody>
      </p:sp>
      <p:sp>
        <p:nvSpPr>
          <p:cNvPr id="13" name="Text 11"/>
          <p:cNvSpPr/>
          <p:nvPr/>
        </p:nvSpPr>
        <p:spPr>
          <a:xfrm>
            <a:off x="822960" y="4576572"/>
            <a:ext cx="10515600" cy="1403604"/>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描述一位经理在一次重要汇报中完整执行了理论框架二的对齐和预演，下属表现也不错，但事后经理没有进行任何复盘对话。要求判断这位经理在框架的哪个环节出现了缺口。</a:t>
            </a:r>
            <a:endParaRPr lang="en-US" sz="1250" dirty="0"/>
          </a:p>
        </p:txBody>
      </p:sp>
      <p:sp>
        <p:nvSpPr>
          <p:cNvPr id="15" name="Text 12"/>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M3 给舞台</a:t>
            </a:r>
            <a:endParaRPr lang="en-US" sz="900" dirty="0"/>
          </a:p>
        </p:txBody>
      </p:sp>
      <p:sp>
        <p:nvSpPr>
          <p:cNvPr id="16" name="Text 13"/>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M3 给舞台</dc:title>
  <dc:subject>PptxGenJS Presentation</dc:subject>
  <dc:creator>CIM管理者培训体系</dc:creator>
  <cp:lastModifiedBy>CIM管理者培训体系</cp:lastModifiedBy>
  <cp:revision>1</cp:revision>
  <dcterms:created xsi:type="dcterms:W3CDTF">2026-06-21T08:22:26Z</dcterms:created>
  <dcterms:modified xsi:type="dcterms:W3CDTF">2026-06-21T08:22:26Z</dcterms:modified>
</cp:coreProperties>
</file>