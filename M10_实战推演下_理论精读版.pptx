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页。本讲与模块九形成完整的实战推演对照组——模块九训练单点高压下的瞬时判断，本讲训练常规节奏下的持续优先级管理。建议在模块九讲授完成后立即衔接讲授，强化两讲的呼应关系。建议授课时长70-90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讲授本页时建议用三栏卡片的视觉形式帮助学员快速建立对三条线的区分记忆，后续全篇会反复用这三个颜色标记回到这三条线，建议在白板上保留一份简单的人物对照表。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这是全篇的开篇定调页，建议讲授时先让学员自己思考排序，再进入第4页的推演——这种「先思考再对照」的方式能强化决策点的训练效果，是延续M9验证过的有效教学法。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这是三栏卡片样式第一次完整呈现「判断依据+具体处理」的组合，建议在讲授时强调三个判断的共同底层逻辑（紧迫性×杠杆效应），而非孤立地讲三个案例。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这一页是M3四象限框架在新场景中的标准复用，建议直接画出四象限图，让学员准确定位小陈的任务落在哪个象限——这个定位过程本身就是M3核心能力的复习巩固。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这是全篇第一个真正的多线冲突决策点，建议讲授时先不展示推演内容，让学员分组讨论自己会如何排序，再对照老吴的处理逻辑——重点是排序「依据」的清晰度，而非排序结果本身是否完全一致。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这一页是M10第一个陷阱节点，要明确区分「一次合理顺延」和「系统性拖延」——讲授重点是给出「具体新时间」这个动作本身的纪律性价值，而不是判断「要不要顺延」本身。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这一页直接呼应了M9第10页的处理——M9中那次反馈在当时是正确的，但本页揭示了「一次正确处理」和「问题彻底解决」之间的差距，这是M10对M9内容的一次重要补充和深化，建议明确点出这个跨讲呼应。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和第6页的冲突点对照讲授，重点强调这次三件事的性质差异（约定vs观察判断vs主动请求）和第6页（已约定vs需要观察vs重要不紧急）不同，让学员理解排序逻辑需要随情境特征调整，而非套用一个固定公式。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第二个陷阱节点，建议明确和第7页形成对照讲授——两个陷阱的共同模式将在第12页决策图谱和第13页对照分析中被进一步提炼，这里先建立具体案例的认知基础。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这一页是M10对M8 SBI模型的一次重要拓展——把情境要素从「单次事件」延伸到「季度行为模式」，建议讲授时明确指出这个拓展点，让学员理解SBI模型不是只能用于单次反馈场景。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这是全篇的核心总览页，建议用一张完整的三线甘特图把这12周的关键节点画出来，强化「多线并行」而非「三个孤立故事」的认知。可以让学员尝试指出两次精力冲突点分别发生在哪两周。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这是M9、M10两讲真正完整闭环的关键页，建议放慢节奏讲透——两讲的陷阱节点错误模式不同（脱离情境 vs 过度延伸），这个区分本身就是一个值得学员长期记住的元认知工具。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这一页是本讲送给学员的可带走的工具，和M9第14页的危机版清单形成配套——建议授课时把两份清单放在一起对照，让学员理解「危机情境」和「常规情境」下的自检问题虽然形式相似，但关注点完全不同。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收束全篇，也是M9、M10两讲的共同收束。建议在讲授这一页时，明确回顾整个层级一课程体系（M1-M10）的完整认知升级链条，让学员看到从M1认知转变到M10持续管理力之间的完整路径。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决策点A —— 对应M3分级授权框架。
观察要点：理想回答应类比第5页的四象限分析方法——员工甲资深（高成熟度），需要进一步判断「下个项目」的具体风险等级，才能确定授权策略。若学员直接说「资深员工就应该减少汇报」而未结合具体任务风险，说明对M3框架「风险与成熟度」双变量判断的理解不完整，容易陷入「只看人不看事」的单一维度判断。
决策点B —— 对应M7教练式提问+对潜在心理因素的识别（类比M10第8页小林的案例）。
观察要点：理想回答应该避免直接假设「这个员工能力不行」或「态度有问题」，而是考虑多种可能性（比如担心显得能力不够、对求助的负面经验、对组织文化的误解等），并设计一个不会触发防御反应的1on1切入方式，类比第8页老吴用SBI行为描述（而非特质归因）切入的方式。
决策点C —— 对应跨模块综合排序判断，类比M10第6页和第9页的两次精力冲突点。
观察要点：这道题三件事的性质又与正文案例不同——员工甲是约定的确认（高确定性）、员工乙是「重复出现的问题」（升级的紧迫性）、员工丙是团队氛围问题（影响范围更广、但可能没有明确的时间窗口）。理想回答应该展现出对「确定性、重复性、影响范围」等多个维度的综合判断，而不是套用正文案例的排序结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决策点D —— 对应第10页陷阱节点二（授权放手后的零关注风险）。
观察要点：理想回答应识别出这正是第10页陷阱的直接复现——员工甲表现良好不代表完全不需要关注，应该提出类似的调整方案（从高频检查转为周期性轻量回顾），而不是「既然没问题就继续不管」。
决策点E —— 对应一种新的、未在本讲正文出现过的陷阱类型识别。
观察要点：这是本讲课后练习中难度最高的一题，目的是测试学员能否把「正确原则被不加区分地长期延伸」这个元认知框架，迁移应用到一个全新的、正文没有直接展示过的情境中。「激烈质疑变沉默」可能是团队氛围问题已经解决的积极信号，但也可能是该员工因为之前的冲突被压制或感到不被理解，转而采取「不再发声」的消极应对——这两种解读都「听起来合理」，但对应完全不同的后续行动。理想回答应该体现出对这种不确定性的审慎态度，提出需要通过具体的1on1或观察来辨别，而不是简单地把「沉默」解读为「问题已解决」。若学员直接判断「沉默说明氛围问题解决了，不需要担心」，恰恰说明学员自己掉入了一个新的「看似合理但实际有偏差」的判断陷阱——这是练习设计的本意：让学员在不知不觉中亲身体验一次陷阱，而不只是分析别人的陷阱。
综合反思题——这是本讲对学员的元认知层面收束，重点考察学员能否结合自己的管理风格，识别个人化的判断盲区类型（比如有些人更容易「过度延伸放手原则」，有些人更容易「过度延伸顺延原则」），这是从理解框架到自我觉察的关键一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280160"/>
            <a:ext cx="0" cy="4297680"/>
          </a:xfrm>
          <a:prstGeom prst="line">
            <a:avLst/>
          </a:prstGeom>
          <a:noFill/>
          <a:ln w="19050">
            <a:solidFill>
              <a:srgbClr val="1B2A4A"/>
            </a:solidFill>
            <a:prstDash val="solid"/>
          </a:ln>
        </p:spPr>
      </p:sp>
      <p:sp>
        <p:nvSpPr>
          <p:cNvPr id="3" name="Text 1"/>
          <p:cNvSpPr/>
          <p:nvPr/>
        </p:nvSpPr>
        <p:spPr>
          <a:xfrm>
            <a:off x="1188720" y="141732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半导体CIM管理者认知课程</a:t>
            </a:r>
            <a:endParaRPr lang="en-US" sz="1300" dirty="0"/>
          </a:p>
        </p:txBody>
      </p:sp>
      <p:sp>
        <p:nvSpPr>
          <p:cNvPr id="4" name="Text 2"/>
          <p:cNvSpPr/>
          <p:nvPr/>
        </p:nvSpPr>
        <p:spPr>
          <a:xfrm>
            <a:off x="1188720" y="1828800"/>
            <a:ext cx="9144000" cy="411480"/>
          </a:xfrm>
          <a:prstGeom prst="rect">
            <a:avLst/>
          </a:prstGeom>
          <a:noFill/>
          <a:ln/>
        </p:spPr>
        <p:txBody>
          <a:bodyPr wrap="square" rtlCol="0" anchor="ctr"/>
          <a:lstStyle/>
          <a:p>
            <a:pPr indent="0" marL="0">
              <a:buNone/>
            </a:pPr>
            <a:r>
              <a:rPr lang="en-US" sz="1600" i="1" dirty="0">
                <a:solidFill>
                  <a:srgbClr val="9C5536"/>
                </a:solidFill>
                <a:latin typeface="Cambria" pitchFamily="34" charset="0"/>
                <a:ea typeface="Cambria" pitchFamily="34" charset="-122"/>
                <a:cs typeface="Cambria" pitchFamily="34" charset="-120"/>
              </a:rPr>
              <a:t>模块十</a:t>
            </a:r>
            <a:endParaRPr lang="en-US" sz="1600" dirty="0"/>
          </a:p>
        </p:txBody>
      </p:sp>
      <p:sp>
        <p:nvSpPr>
          <p:cNvPr id="5" name="Text 3"/>
          <p:cNvSpPr/>
          <p:nvPr/>
        </p:nvSpPr>
        <p:spPr>
          <a:xfrm>
            <a:off x="1188720" y="2377440"/>
            <a:ext cx="10058400" cy="777240"/>
          </a:xfrm>
          <a:prstGeom prst="rect">
            <a:avLst/>
          </a:prstGeom>
          <a:noFill/>
          <a:ln/>
        </p:spPr>
        <p:txBody>
          <a:bodyPr wrap="square" rtlCol="0" anchor="ctr"/>
          <a:lstStyle/>
          <a:p>
            <a:pPr indent="0" marL="0">
              <a:buNone/>
            </a:pPr>
            <a:r>
              <a:rPr lang="en-US" sz="3600" b="1" dirty="0">
                <a:solidFill>
                  <a:srgbClr val="1B2A4A"/>
                </a:solidFill>
                <a:latin typeface="Cambria" pitchFamily="34" charset="0"/>
                <a:ea typeface="Cambria" pitchFamily="34" charset="-122"/>
                <a:cs typeface="Cambria" pitchFamily="34" charset="-120"/>
              </a:rPr>
              <a:t>实战推演（下）：</a:t>
            </a:r>
            <a:endParaRPr lang="en-US" sz="3600" dirty="0"/>
          </a:p>
        </p:txBody>
      </p:sp>
      <p:sp>
        <p:nvSpPr>
          <p:cNvPr id="6" name="Text 4"/>
          <p:cNvSpPr/>
          <p:nvPr/>
        </p:nvSpPr>
        <p:spPr>
          <a:xfrm>
            <a:off x="1188720" y="3108960"/>
            <a:ext cx="10058400" cy="777240"/>
          </a:xfrm>
          <a:prstGeom prst="rect">
            <a:avLst/>
          </a:prstGeom>
          <a:noFill/>
          <a:ln/>
        </p:spPr>
        <p:txBody>
          <a:bodyPr wrap="square" rtlCol="0" anchor="ctr"/>
          <a:lstStyle/>
          <a:p>
            <a:pPr indent="0" marL="0">
              <a:buNone/>
            </a:pPr>
            <a:r>
              <a:rPr lang="en-US" sz="3600" b="1" dirty="0">
                <a:solidFill>
                  <a:srgbClr val="1B2A4A"/>
                </a:solidFill>
                <a:latin typeface="Cambria" pitchFamily="34" charset="0"/>
                <a:ea typeface="Cambria" pitchFamily="34" charset="-122"/>
                <a:cs typeface="Cambria" pitchFamily="34" charset="-120"/>
              </a:rPr>
              <a:t>一个季度的团队管理周期</a:t>
            </a:r>
            <a:endParaRPr lang="en-US" sz="3600" dirty="0"/>
          </a:p>
        </p:txBody>
      </p:sp>
      <p:sp>
        <p:nvSpPr>
          <p:cNvPr id="7" name="Shape 5"/>
          <p:cNvSpPr/>
          <p:nvPr/>
        </p:nvSpPr>
        <p:spPr>
          <a:xfrm>
            <a:off x="1188720" y="4160520"/>
            <a:ext cx="4754880" cy="0"/>
          </a:xfrm>
          <a:prstGeom prst="line">
            <a:avLst/>
          </a:prstGeom>
          <a:noFill/>
          <a:ln w="12700">
            <a:solidFill>
              <a:srgbClr val="C7CDDB"/>
            </a:solidFill>
            <a:prstDash val="solid"/>
          </a:ln>
        </p:spPr>
      </p:sp>
      <p:sp>
        <p:nvSpPr>
          <p:cNvPr id="8" name="Text 6"/>
          <p:cNvSpPr/>
          <p:nvPr/>
        </p:nvSpPr>
        <p:spPr>
          <a:xfrm>
            <a:off x="1188720" y="4343400"/>
            <a:ext cx="8686800" cy="868680"/>
          </a:xfrm>
          <a:prstGeom prst="rect">
            <a:avLst/>
          </a:prstGeom>
          <a:noFill/>
          <a:ln/>
        </p:spPr>
        <p:txBody>
          <a:bodyPr wrap="square" rtlCol="0" anchor="ctr"/>
          <a:lstStyle/>
          <a:p>
            <a:pPr indent="0" marL="0">
              <a:buNone/>
            </a:pPr>
            <a:r>
              <a:rPr lang="en-US" sz="1350" i="1" dirty="0">
                <a:solidFill>
                  <a:srgbClr val="5B6270"/>
                </a:solidFill>
                <a:latin typeface="Calibri" pitchFamily="34" charset="0"/>
                <a:ea typeface="Calibri" pitchFamily="34" charset="-122"/>
                <a:cs typeface="Calibri" pitchFamily="34" charset="-120"/>
              </a:rPr>
              <a:t>常规管理周期中的多线并行决策与精力分配推演</a:t>
            </a:r>
            <a:endParaRPr lang="en-US" sz="1350" dirty="0"/>
          </a:p>
          <a:p>
            <a:pPr indent="0" marL="0">
              <a:buNone/>
            </a:pPr>
            <a:r>
              <a:rPr lang="en-US" sz="1350" i="1" dirty="0">
                <a:solidFill>
                  <a:srgbClr val="5B6270"/>
                </a:solidFill>
                <a:latin typeface="Calibri" pitchFamily="34" charset="0"/>
                <a:ea typeface="Calibri" pitchFamily="34" charset="-122"/>
                <a:cs typeface="Calibri" pitchFamily="34" charset="-120"/>
              </a:rPr>
              <a:t>综合运用 M3、M7、M8 框架，与模块九形成「单点高压 vs 持续节奏」的对照</a:t>
            </a:r>
            <a:endParaRPr lang="en-US" sz="1350" dirty="0"/>
          </a:p>
        </p:txBody>
      </p:sp>
      <p:sp>
        <p:nvSpPr>
          <p:cNvPr id="9" name="Text 7"/>
          <p:cNvSpPr/>
          <p:nvPr/>
        </p:nvSpPr>
        <p:spPr>
          <a:xfrm>
            <a:off x="1188720" y="5943600"/>
            <a:ext cx="8229600" cy="274320"/>
          </a:xfrm>
          <a:prstGeom prst="rect">
            <a:avLst/>
          </a:prstGeom>
          <a:noFill/>
          <a:ln/>
        </p:spPr>
        <p:txBody>
          <a:bodyPr wrap="square" rtlCol="0" anchor="ctr"/>
          <a:lstStyle/>
          <a:p>
            <a:pPr indent="0" marL="0">
              <a:buNone/>
            </a:pPr>
            <a:r>
              <a:rPr lang="en-US" sz="1000" dirty="0">
                <a:solidFill>
                  <a:srgbClr val="5B6270"/>
                </a:solidFill>
                <a:latin typeface="Calibri" pitchFamily="34" charset="0"/>
                <a:ea typeface="Calibri" pitchFamily="34" charset="-122"/>
                <a:cs typeface="Calibri" pitchFamily="34" charset="-120"/>
              </a:rPr>
              <a:t>实战推演版 · 全17讲 · 季度时间轴 + 多线并行结构</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场景设定</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在你正式进入这个场景之前</a:t>
            </a:r>
            <a:endParaRPr lang="en-US" sz="2700" dirty="0"/>
          </a:p>
        </p:txBody>
      </p:sp>
      <p:sp>
        <p:nvSpPr>
          <p:cNvPr id="6" name="Text 4"/>
          <p:cNvSpPr/>
          <p:nvPr/>
        </p:nvSpPr>
        <p:spPr>
          <a:xfrm>
            <a:off x="548640" y="1554480"/>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〔时间跨度说明〕</a:t>
            </a:r>
            <a:endParaRPr lang="en-US" sz="1100" dirty="0"/>
          </a:p>
        </p:txBody>
      </p:sp>
      <p:sp>
        <p:nvSpPr>
          <p:cNvPr id="7" name="Text 5"/>
          <p:cNvSpPr/>
          <p:nvPr/>
        </p:nvSpPr>
        <p:spPr>
          <a:xfrm>
            <a:off x="548640" y="1847088"/>
            <a:ext cx="10881360" cy="566928"/>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本讲场景紧接模块九的危机事件之后，时间跨度为一个完整季度（13周）。与模块九不同，这里没有连续的高压时刻，而是若干条平行推进的、节奏相对舒缓的管理线索——但正因为没有「必须立刻处理」的紧迫感，这些线索很容易被日常事务挤压、被无限期推迟。</a:t>
            </a:r>
            <a:endParaRPr lang="en-US" sz="1200" dirty="0"/>
          </a:p>
        </p:txBody>
      </p:sp>
      <p:sp>
        <p:nvSpPr>
          <p:cNvPr id="8" name="Text 6"/>
          <p:cNvSpPr/>
          <p:nvPr/>
        </p:nvSpPr>
        <p:spPr>
          <a:xfrm>
            <a:off x="548640" y="2542032"/>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〔三条人物线〕</a:t>
            </a:r>
            <a:endParaRPr lang="en-US" sz="1100" dirty="0"/>
          </a:p>
        </p:txBody>
      </p:sp>
      <p:sp>
        <p:nvSpPr>
          <p:cNvPr id="9" name="Shape 7"/>
          <p:cNvSpPr/>
          <p:nvPr/>
        </p:nvSpPr>
        <p:spPr>
          <a:xfrm>
            <a:off x="548640" y="2834640"/>
            <a:ext cx="0" cy="1417320"/>
          </a:xfrm>
          <a:prstGeom prst="line">
            <a:avLst/>
          </a:prstGeom>
          <a:noFill/>
          <a:ln w="31750">
            <a:solidFill>
              <a:srgbClr val="1B2A4A"/>
            </a:solidFill>
            <a:prstDash val="solid"/>
          </a:ln>
        </p:spPr>
      </p:sp>
      <p:sp>
        <p:nvSpPr>
          <p:cNvPr id="10" name="Text 8"/>
          <p:cNvSpPr/>
          <p:nvPr/>
        </p:nvSpPr>
        <p:spPr>
          <a:xfrm>
            <a:off x="731520" y="2834640"/>
            <a:ext cx="3337560" cy="274320"/>
          </a:xfrm>
          <a:prstGeom prst="rect">
            <a:avLst/>
          </a:prstGeom>
          <a:noFill/>
          <a:ln/>
        </p:spPr>
        <p:txBody>
          <a:bodyPr wrap="square"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小陈线</a:t>
            </a:r>
            <a:endParaRPr lang="en-US" sz="1150" dirty="0"/>
          </a:p>
        </p:txBody>
      </p:sp>
      <p:sp>
        <p:nvSpPr>
          <p:cNvPr id="11" name="Text 9"/>
          <p:cNvSpPr/>
          <p:nvPr/>
        </p:nvSpPr>
        <p:spPr>
          <a:xfrm>
            <a:off x="731520" y="3163824"/>
            <a:ext cx="3246120" cy="1051560"/>
          </a:xfrm>
          <a:prstGeom prst="rect">
            <a:avLst/>
          </a:prstGeom>
          <a:noFill/>
          <a:ln/>
        </p:spPr>
        <p:txBody>
          <a:bodyPr wrap="square" rtlCol="0" anchor="ctr"/>
          <a:lstStyle/>
          <a:p>
            <a:pPr indent="0" marL="0">
              <a:lnSpc>
                <a:spcPct val="122000"/>
              </a:lnSpc>
              <a:buNone/>
            </a:pPr>
            <a:r>
              <a:rPr lang="en-US" sz="1030" dirty="0">
                <a:solidFill>
                  <a:srgbClr val="2B2F36"/>
                </a:solidFill>
                <a:latin typeface="Calibri" pitchFamily="34" charset="0"/>
                <a:ea typeface="Calibri" pitchFamily="34" charset="-122"/>
                <a:cs typeface="Calibri" pitchFamily="34" charset="-120"/>
              </a:rPr>
              <a:t>入职6年的资深工程师，技术能力扎实，最近表现出「希望获得更大自主决策空间」的信号，对应M3《分级授权》框架。</a:t>
            </a:r>
            <a:endParaRPr lang="en-US" sz="1030" dirty="0"/>
          </a:p>
        </p:txBody>
      </p:sp>
      <p:sp>
        <p:nvSpPr>
          <p:cNvPr id="12" name="Shape 10"/>
          <p:cNvSpPr/>
          <p:nvPr/>
        </p:nvSpPr>
        <p:spPr>
          <a:xfrm>
            <a:off x="4206240" y="2834640"/>
            <a:ext cx="0" cy="1417320"/>
          </a:xfrm>
          <a:prstGeom prst="line">
            <a:avLst/>
          </a:prstGeom>
          <a:noFill/>
          <a:ln w="31750">
            <a:solidFill>
              <a:srgbClr val="9C5536"/>
            </a:solidFill>
            <a:prstDash val="solid"/>
          </a:ln>
        </p:spPr>
      </p:sp>
      <p:sp>
        <p:nvSpPr>
          <p:cNvPr id="13" name="Text 11"/>
          <p:cNvSpPr/>
          <p:nvPr/>
        </p:nvSpPr>
        <p:spPr>
          <a:xfrm>
            <a:off x="4389120" y="2834640"/>
            <a:ext cx="3337560" cy="274320"/>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小林线</a:t>
            </a:r>
            <a:endParaRPr lang="en-US" sz="1150" dirty="0"/>
          </a:p>
        </p:txBody>
      </p:sp>
      <p:sp>
        <p:nvSpPr>
          <p:cNvPr id="14" name="Text 12"/>
          <p:cNvSpPr/>
          <p:nvPr/>
        </p:nvSpPr>
        <p:spPr>
          <a:xfrm>
            <a:off x="4389120" y="3163824"/>
            <a:ext cx="3246120" cy="1051560"/>
          </a:xfrm>
          <a:prstGeom prst="rect">
            <a:avLst/>
          </a:prstGeom>
          <a:noFill/>
          <a:ln/>
        </p:spPr>
        <p:txBody>
          <a:bodyPr wrap="square" rtlCol="0" anchor="ctr"/>
          <a:lstStyle/>
          <a:p>
            <a:pPr indent="0" marL="0">
              <a:lnSpc>
                <a:spcPct val="122000"/>
              </a:lnSpc>
              <a:buNone/>
            </a:pPr>
            <a:r>
              <a:rPr lang="en-US" sz="1030" dirty="0">
                <a:solidFill>
                  <a:srgbClr val="2B2F36"/>
                </a:solidFill>
                <a:latin typeface="Calibri" pitchFamily="34" charset="0"/>
                <a:ea typeface="Calibri" pitchFamily="34" charset="-122"/>
                <a:cs typeface="Calibri" pitchFamily="34" charset="-120"/>
              </a:rPr>
              <a:t>模块九危机事件中提出「别上报」的工程师，这个季度需要通过持续1on1和一次关键绩效反馈，建立更健康的工作信任模式，对应M7、M8。</a:t>
            </a:r>
            <a:endParaRPr lang="en-US" sz="1030" dirty="0"/>
          </a:p>
        </p:txBody>
      </p:sp>
      <p:sp>
        <p:nvSpPr>
          <p:cNvPr id="15" name="Shape 13"/>
          <p:cNvSpPr/>
          <p:nvPr/>
        </p:nvSpPr>
        <p:spPr>
          <a:xfrm>
            <a:off x="7863840" y="2834640"/>
            <a:ext cx="0" cy="1417320"/>
          </a:xfrm>
          <a:prstGeom prst="line">
            <a:avLst/>
          </a:prstGeom>
          <a:noFill/>
          <a:ln w="31750">
            <a:solidFill>
              <a:srgbClr val="4F6F52"/>
            </a:solidFill>
            <a:prstDash val="solid"/>
          </a:ln>
        </p:spPr>
      </p:sp>
      <p:sp>
        <p:nvSpPr>
          <p:cNvPr id="16" name="Text 14"/>
          <p:cNvSpPr/>
          <p:nvPr/>
        </p:nvSpPr>
        <p:spPr>
          <a:xfrm>
            <a:off x="8046720" y="2834640"/>
            <a:ext cx="3410712" cy="274320"/>
          </a:xfrm>
          <a:prstGeom prst="rect">
            <a:avLst/>
          </a:prstGeom>
          <a:noFill/>
          <a:ln/>
        </p:spPr>
        <p:txBody>
          <a:bodyPr wrap="square" rtlCol="0" anchor="ctr"/>
          <a:lstStyle/>
          <a:p>
            <a:pPr indent="0" marL="0">
              <a:buNone/>
            </a:pPr>
            <a:r>
              <a:rPr lang="en-US" sz="1150" b="1" dirty="0">
                <a:solidFill>
                  <a:srgbClr val="4F6F52"/>
                </a:solidFill>
                <a:latin typeface="Calibri" pitchFamily="34" charset="0"/>
                <a:ea typeface="Calibri" pitchFamily="34" charset="-122"/>
                <a:cs typeface="Calibri" pitchFamily="34" charset="-120"/>
              </a:rPr>
              <a:t>小吴线</a:t>
            </a:r>
            <a:endParaRPr lang="en-US" sz="1150" dirty="0"/>
          </a:p>
        </p:txBody>
      </p:sp>
      <p:sp>
        <p:nvSpPr>
          <p:cNvPr id="17" name="Text 15"/>
          <p:cNvSpPr/>
          <p:nvPr/>
        </p:nvSpPr>
        <p:spPr>
          <a:xfrm>
            <a:off x="8046720" y="3163824"/>
            <a:ext cx="3319272" cy="1051560"/>
          </a:xfrm>
          <a:prstGeom prst="rect">
            <a:avLst/>
          </a:prstGeom>
          <a:noFill/>
          <a:ln/>
        </p:spPr>
        <p:txBody>
          <a:bodyPr wrap="square" rtlCol="0" anchor="ctr"/>
          <a:lstStyle/>
          <a:p>
            <a:pPr indent="0" marL="0">
              <a:lnSpc>
                <a:spcPct val="122000"/>
              </a:lnSpc>
              <a:buNone/>
            </a:pPr>
            <a:r>
              <a:rPr lang="en-US" sz="1030" dirty="0">
                <a:solidFill>
                  <a:srgbClr val="2B2F36"/>
                </a:solidFill>
                <a:latin typeface="Calibri" pitchFamily="34" charset="0"/>
                <a:ea typeface="Calibri" pitchFamily="34" charset="-122"/>
                <a:cs typeface="Calibri" pitchFamily="34" charset="-120"/>
              </a:rPr>
              <a:t>三个月前刚转正的新人（与组长同名，团队内用「吴哥」区分），仍处于需要较高频率授权检查点的阶段，对应M3、M7的新人应用场景。</a:t>
            </a:r>
            <a:endParaRPr lang="en-US" sz="1030" dirty="0"/>
          </a:p>
        </p:txBody>
      </p:sp>
      <p:sp>
        <p:nvSpPr>
          <p:cNvPr id="18" name="Shape 16"/>
          <p:cNvSpPr/>
          <p:nvPr/>
        </p:nvSpPr>
        <p:spPr>
          <a:xfrm>
            <a:off x="548640" y="4526280"/>
            <a:ext cx="0" cy="1417320"/>
          </a:xfrm>
          <a:prstGeom prst="line">
            <a:avLst/>
          </a:prstGeom>
          <a:noFill/>
          <a:ln w="38100">
            <a:solidFill>
              <a:srgbClr val="9C5536"/>
            </a:solidFill>
            <a:prstDash val="solid"/>
          </a:ln>
        </p:spPr>
      </p:sp>
      <p:sp>
        <p:nvSpPr>
          <p:cNvPr id="19" name="Text 17"/>
          <p:cNvSpPr/>
          <p:nvPr/>
        </p:nvSpPr>
        <p:spPr>
          <a:xfrm>
            <a:off x="777240" y="452628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阅读说明</a:t>
            </a:r>
            <a:endParaRPr lang="en-US" sz="1100" dirty="0"/>
          </a:p>
        </p:txBody>
      </p:sp>
      <p:sp>
        <p:nvSpPr>
          <p:cNvPr id="20" name="Text 18"/>
          <p:cNvSpPr/>
          <p:nvPr/>
        </p:nvSpPr>
        <p:spPr>
          <a:xfrm>
            <a:off x="777240" y="4828032"/>
            <a:ext cx="10424160" cy="1143000"/>
          </a:xfrm>
          <a:prstGeom prst="rect">
            <a:avLst/>
          </a:prstGeom>
          <a:noFill/>
          <a:ln/>
        </p:spPr>
        <p:txBody>
          <a:bodyPr wrap="square" rtlCol="0" anchor="ctr"/>
          <a:lstStyle/>
          <a:p>
            <a:pPr indent="0" marL="0">
              <a:lnSpc>
                <a:spcPct val="125000"/>
              </a:lnSpc>
              <a:buNone/>
            </a:pPr>
            <a:r>
              <a:rPr lang="en-US" sz="1180" i="1" dirty="0">
                <a:solidFill>
                  <a:srgbClr val="1B2A4A"/>
                </a:solidFill>
                <a:latin typeface="Cambria" pitchFamily="34" charset="0"/>
                <a:ea typeface="Cambria" pitchFamily="34" charset="-122"/>
                <a:cs typeface="Cambria" pitchFamily="34" charset="-120"/>
              </a:rPr>
              <a:t>本讲的决策点不再是单一时间线上的连续推演，而是会出现「多条线索在同一时间窗口内同时需要关注」的情况——这正是本讲要训练的核心能力：在没有任何一件事「十万火急」的情况下，如何分配你作为主管最稀缺的资源——时间和注意力。</a:t>
            </a:r>
            <a:endParaRPr lang="en-US" sz="1180" dirty="0"/>
          </a:p>
        </p:txBody>
      </p:sp>
      <p:sp>
        <p:nvSpPr>
          <p:cNvPr id="21" name="Shape 19"/>
          <p:cNvSpPr/>
          <p:nvPr/>
        </p:nvSpPr>
        <p:spPr>
          <a:xfrm>
            <a:off x="548640" y="6446520"/>
            <a:ext cx="11091672" cy="0"/>
          </a:xfrm>
          <a:prstGeom prst="line">
            <a:avLst/>
          </a:prstGeom>
          <a:noFill/>
          <a:ln w="9525">
            <a:solidFill>
              <a:srgbClr val="C7CDDB"/>
            </a:solidFill>
            <a:prstDash val="solid"/>
          </a:ln>
        </p:spPr>
      </p:sp>
      <p:sp>
        <p:nvSpPr>
          <p:cNvPr id="22" name="Text 20"/>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场景设定</a:t>
            </a:r>
            <a:endParaRPr lang="en-US" sz="900" dirty="0"/>
          </a:p>
        </p:txBody>
      </p:sp>
      <p:sp>
        <p:nvSpPr>
          <p:cNvPr id="23" name="Text 21"/>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季度总览：三条线的起点</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1417320"/>
            <a:ext cx="2377440" cy="292608"/>
          </a:xfrm>
          <a:prstGeom prst="rect">
            <a:avLst/>
          </a:prstGeom>
          <a:noFill/>
          <a:ln/>
        </p:spPr>
        <p:txBody>
          <a:bodyPr wrap="square" rtlCol="0" anchor="ctr"/>
          <a:lstStyle/>
          <a:p>
            <a:pPr indent="0" marL="0">
              <a:buNone/>
            </a:pPr>
            <a:r>
              <a:rPr lang="en-US" sz="1200" b="1" i="1" dirty="0">
                <a:solidFill>
                  <a:srgbClr val="8A6D1F"/>
                </a:solidFill>
                <a:latin typeface="Cambria" pitchFamily="34" charset="0"/>
                <a:ea typeface="Cambria" pitchFamily="34" charset="-122"/>
                <a:cs typeface="Cambria" pitchFamily="34" charset="-120"/>
              </a:rPr>
              <a:t>第1周</a:t>
            </a:r>
            <a:endParaRPr lang="en-US" sz="1200" dirty="0"/>
          </a:p>
        </p:txBody>
      </p:sp>
      <p:sp>
        <p:nvSpPr>
          <p:cNvPr id="6" name="Text 4"/>
          <p:cNvSpPr/>
          <p:nvPr/>
        </p:nvSpPr>
        <p:spPr>
          <a:xfrm>
            <a:off x="548640" y="1755648"/>
            <a:ext cx="11091672" cy="640080"/>
          </a:xfrm>
          <a:prstGeom prst="rect">
            <a:avLst/>
          </a:prstGeom>
          <a:noFill/>
          <a:ln/>
        </p:spPr>
        <p:txBody>
          <a:bodyPr wrap="square"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第1周，三条线分别是什么状态</a:t>
            </a:r>
            <a:endParaRPr lang="en-US" sz="2400" dirty="0"/>
          </a:p>
        </p:txBody>
      </p:sp>
      <p:sp>
        <p:nvSpPr>
          <p:cNvPr id="7" name="Shape 5"/>
          <p:cNvSpPr/>
          <p:nvPr/>
        </p:nvSpPr>
        <p:spPr>
          <a:xfrm>
            <a:off x="548640" y="2395728"/>
            <a:ext cx="0" cy="1691640"/>
          </a:xfrm>
          <a:prstGeom prst="line">
            <a:avLst/>
          </a:prstGeom>
          <a:noFill/>
          <a:ln w="31750">
            <a:solidFill>
              <a:srgbClr val="1B2A4A"/>
            </a:solidFill>
            <a:prstDash val="solid"/>
          </a:ln>
        </p:spPr>
      </p:sp>
      <p:sp>
        <p:nvSpPr>
          <p:cNvPr id="8" name="Text 6"/>
          <p:cNvSpPr/>
          <p:nvPr/>
        </p:nvSpPr>
        <p:spPr>
          <a:xfrm>
            <a:off x="731520" y="2395728"/>
            <a:ext cx="3337560" cy="274320"/>
          </a:xfrm>
          <a:prstGeom prst="rect">
            <a:avLst/>
          </a:prstGeom>
          <a:noFill/>
          <a:ln/>
        </p:spPr>
        <p:txBody>
          <a:bodyPr wrap="square"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小陈线起点</a:t>
            </a:r>
            <a:endParaRPr lang="en-US" sz="1150" dirty="0"/>
          </a:p>
        </p:txBody>
      </p:sp>
      <p:sp>
        <p:nvSpPr>
          <p:cNvPr id="9" name="Text 7"/>
          <p:cNvSpPr/>
          <p:nvPr/>
        </p:nvSpPr>
        <p:spPr>
          <a:xfrm>
            <a:off x="731520" y="2724912"/>
            <a:ext cx="3246120" cy="1325880"/>
          </a:xfrm>
          <a:prstGeom prst="rect">
            <a:avLst/>
          </a:prstGeom>
          <a:noFill/>
          <a:ln/>
        </p:spPr>
        <p:txBody>
          <a:bodyPr wrap="square" rtlCol="0" anchor="ctr"/>
          <a:lstStyle/>
          <a:p>
            <a:pPr indent="0" marL="0">
              <a:lnSpc>
                <a:spcPct val="122000"/>
              </a:lnSpc>
              <a:buNone/>
            </a:pPr>
            <a:r>
              <a:rPr lang="en-US" sz="1050" dirty="0">
                <a:solidFill>
                  <a:srgbClr val="2B2F36"/>
                </a:solidFill>
                <a:latin typeface="Calibri" pitchFamily="34" charset="0"/>
                <a:ea typeface="Calibri" pitchFamily="34" charset="-122"/>
                <a:cs typeface="Calibri" pitchFamily="34" charset="-120"/>
              </a:rPr>
              <a:t>这周在团队会上主动提出，想负责一个新的产线扩容项目的技术方案设计，并表示「这个我应该可以自己拿主意，不需要每个细节都汇报」。老吴没有立刻给出明确答复，只说「我们找时间聊聊」。</a:t>
            </a:r>
            <a:endParaRPr lang="en-US" sz="1050" dirty="0"/>
          </a:p>
        </p:txBody>
      </p:sp>
      <p:sp>
        <p:nvSpPr>
          <p:cNvPr id="10" name="Shape 8"/>
          <p:cNvSpPr/>
          <p:nvPr/>
        </p:nvSpPr>
        <p:spPr>
          <a:xfrm>
            <a:off x="4206240" y="2395728"/>
            <a:ext cx="0" cy="1691640"/>
          </a:xfrm>
          <a:prstGeom prst="line">
            <a:avLst/>
          </a:prstGeom>
          <a:noFill/>
          <a:ln w="31750">
            <a:solidFill>
              <a:srgbClr val="9C5536"/>
            </a:solidFill>
            <a:prstDash val="solid"/>
          </a:ln>
        </p:spPr>
      </p:sp>
      <p:sp>
        <p:nvSpPr>
          <p:cNvPr id="11" name="Text 9"/>
          <p:cNvSpPr/>
          <p:nvPr/>
        </p:nvSpPr>
        <p:spPr>
          <a:xfrm>
            <a:off x="4389120" y="2395728"/>
            <a:ext cx="3337560" cy="274320"/>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小林线起点</a:t>
            </a:r>
            <a:endParaRPr lang="en-US" sz="1150" dirty="0"/>
          </a:p>
        </p:txBody>
      </p:sp>
      <p:sp>
        <p:nvSpPr>
          <p:cNvPr id="12" name="Text 10"/>
          <p:cNvSpPr/>
          <p:nvPr/>
        </p:nvSpPr>
        <p:spPr>
          <a:xfrm>
            <a:off x="4389120" y="2724912"/>
            <a:ext cx="3246120" cy="1325880"/>
          </a:xfrm>
          <a:prstGeom prst="rect">
            <a:avLst/>
          </a:prstGeom>
          <a:noFill/>
          <a:ln/>
        </p:spPr>
        <p:txBody>
          <a:bodyPr wrap="square" rtlCol="0" anchor="ctr"/>
          <a:lstStyle/>
          <a:p>
            <a:pPr indent="0" marL="0">
              <a:lnSpc>
                <a:spcPct val="122000"/>
              </a:lnSpc>
              <a:buNone/>
            </a:pPr>
            <a:r>
              <a:rPr lang="en-US" sz="1050" dirty="0">
                <a:solidFill>
                  <a:srgbClr val="2B2F36"/>
                </a:solidFill>
                <a:latin typeface="Calibri" pitchFamily="34" charset="0"/>
                <a:ea typeface="Calibri" pitchFamily="34" charset="-122"/>
                <a:cs typeface="Calibri" pitchFamily="34" charset="-120"/>
              </a:rPr>
              <a:t>模块九事件后，工作状态基本恢复正常，但老吴观察到他在汇报问题时仍有轻微的「选择性呈现」倾向——倾向于先说做得好的部分，对潜在风险的提及比较简略。</a:t>
            </a:r>
            <a:endParaRPr lang="en-US" sz="1050" dirty="0"/>
          </a:p>
        </p:txBody>
      </p:sp>
      <p:sp>
        <p:nvSpPr>
          <p:cNvPr id="13" name="Shape 11"/>
          <p:cNvSpPr/>
          <p:nvPr/>
        </p:nvSpPr>
        <p:spPr>
          <a:xfrm>
            <a:off x="7863840" y="2395728"/>
            <a:ext cx="0" cy="1691640"/>
          </a:xfrm>
          <a:prstGeom prst="line">
            <a:avLst/>
          </a:prstGeom>
          <a:noFill/>
          <a:ln w="31750">
            <a:solidFill>
              <a:srgbClr val="4F6F52"/>
            </a:solidFill>
            <a:prstDash val="solid"/>
          </a:ln>
        </p:spPr>
      </p:sp>
      <p:sp>
        <p:nvSpPr>
          <p:cNvPr id="14" name="Text 12"/>
          <p:cNvSpPr/>
          <p:nvPr/>
        </p:nvSpPr>
        <p:spPr>
          <a:xfrm>
            <a:off x="8046720" y="2395728"/>
            <a:ext cx="3410712" cy="274320"/>
          </a:xfrm>
          <a:prstGeom prst="rect">
            <a:avLst/>
          </a:prstGeom>
          <a:noFill/>
          <a:ln/>
        </p:spPr>
        <p:txBody>
          <a:bodyPr wrap="square" rtlCol="0" anchor="ctr"/>
          <a:lstStyle/>
          <a:p>
            <a:pPr indent="0" marL="0">
              <a:buNone/>
            </a:pPr>
            <a:r>
              <a:rPr lang="en-US" sz="1150" b="1" dirty="0">
                <a:solidFill>
                  <a:srgbClr val="4F6F52"/>
                </a:solidFill>
                <a:latin typeface="Calibri" pitchFamily="34" charset="0"/>
                <a:ea typeface="Calibri" pitchFamily="34" charset="-122"/>
                <a:cs typeface="Calibri" pitchFamily="34" charset="-120"/>
              </a:rPr>
              <a:t>小吴线起点</a:t>
            </a:r>
            <a:endParaRPr lang="en-US" sz="1150" dirty="0"/>
          </a:p>
        </p:txBody>
      </p:sp>
      <p:sp>
        <p:nvSpPr>
          <p:cNvPr id="15" name="Text 13"/>
          <p:cNvSpPr/>
          <p:nvPr/>
        </p:nvSpPr>
        <p:spPr>
          <a:xfrm>
            <a:off x="8046720" y="2724912"/>
            <a:ext cx="3319272" cy="1325880"/>
          </a:xfrm>
          <a:prstGeom prst="rect">
            <a:avLst/>
          </a:prstGeom>
          <a:noFill/>
          <a:ln/>
        </p:spPr>
        <p:txBody>
          <a:bodyPr wrap="square" rtlCol="0" anchor="ctr"/>
          <a:lstStyle/>
          <a:p>
            <a:pPr indent="0" marL="0">
              <a:lnSpc>
                <a:spcPct val="122000"/>
              </a:lnSpc>
              <a:buNone/>
            </a:pPr>
            <a:r>
              <a:rPr lang="en-US" sz="1050" dirty="0">
                <a:solidFill>
                  <a:srgbClr val="2B2F36"/>
                </a:solidFill>
                <a:latin typeface="Calibri" pitchFamily="34" charset="0"/>
                <a:ea typeface="Calibri" pitchFamily="34" charset="-122"/>
                <a:cs typeface="Calibri" pitchFamily="34" charset="-120"/>
              </a:rPr>
              <a:t>转正满三个月，独立处理常规工单表现不错，但这周接手了一个稍微超出以往经验范围的任务（协调设备部的接口调试），需要决定给多大自主空间。</a:t>
            </a:r>
            <a:endParaRPr lang="en-US" sz="1050" dirty="0"/>
          </a:p>
        </p:txBody>
      </p:sp>
      <p:sp>
        <p:nvSpPr>
          <p:cNvPr id="16" name="Shape 14"/>
          <p:cNvSpPr/>
          <p:nvPr/>
        </p:nvSpPr>
        <p:spPr>
          <a:xfrm>
            <a:off x="548640" y="4370832"/>
            <a:ext cx="0" cy="777240"/>
          </a:xfrm>
          <a:prstGeom prst="line">
            <a:avLst/>
          </a:prstGeom>
          <a:noFill/>
          <a:ln w="38100">
            <a:solidFill>
              <a:srgbClr val="9C5536"/>
            </a:solidFill>
            <a:prstDash val="solid"/>
          </a:ln>
        </p:spPr>
      </p:sp>
      <p:sp>
        <p:nvSpPr>
          <p:cNvPr id="17" name="Text 15"/>
          <p:cNvSpPr/>
          <p:nvPr/>
        </p:nvSpPr>
        <p:spPr>
          <a:xfrm>
            <a:off x="777240" y="4370832"/>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决策点一</a:t>
            </a:r>
            <a:endParaRPr lang="en-US" sz="1100" dirty="0"/>
          </a:p>
        </p:txBody>
      </p:sp>
      <p:sp>
        <p:nvSpPr>
          <p:cNvPr id="18" name="Text 16"/>
          <p:cNvSpPr/>
          <p:nvPr/>
        </p:nvSpPr>
        <p:spPr>
          <a:xfrm>
            <a:off x="777240" y="4663440"/>
            <a:ext cx="10652760" cy="502920"/>
          </a:xfrm>
          <a:prstGeom prst="rect">
            <a:avLst/>
          </a:prstGeom>
          <a:noFill/>
          <a:ln/>
        </p:spPr>
        <p:txBody>
          <a:bodyPr wrap="square" rtlCol="0" anchor="ctr"/>
          <a:lstStyle/>
          <a:p>
            <a:pPr indent="0" marL="0">
              <a:lnSpc>
                <a:spcPct val="122000"/>
              </a:lnSpc>
              <a:buNone/>
            </a:pPr>
            <a:r>
              <a:rPr lang="en-US" sz="1250" i="1" dirty="0">
                <a:solidFill>
                  <a:srgbClr val="1B2A4A"/>
                </a:solidFill>
                <a:latin typeface="Cambria" pitchFamily="34" charset="0"/>
                <a:ea typeface="Cambria" pitchFamily="34" charset="-122"/>
                <a:cs typeface="Cambria" pitchFamily="34" charset="-120"/>
              </a:rPr>
              <a:t>面对三条线同时存在但都不紧急的情况，本周老吴应该把有限的1on1和深度沟通时间，优先分配给谁？分配的依据是什么？</a:t>
            </a:r>
            <a:endParaRPr lang="en-US" sz="1250" dirty="0"/>
          </a:p>
        </p:txBody>
      </p:sp>
      <p:sp>
        <p:nvSpPr>
          <p:cNvPr id="19" name="Shape 17"/>
          <p:cNvSpPr/>
          <p:nvPr/>
        </p:nvSpPr>
        <p:spPr>
          <a:xfrm>
            <a:off x="548640" y="5440680"/>
            <a:ext cx="10881360" cy="0"/>
          </a:xfrm>
          <a:prstGeom prst="line">
            <a:avLst/>
          </a:prstGeom>
          <a:noFill/>
          <a:ln w="12700">
            <a:solidFill>
              <a:srgbClr val="E3E7EF"/>
            </a:solidFill>
            <a:prstDash val="solid"/>
          </a:ln>
        </p:spPr>
      </p:sp>
      <p:sp>
        <p:nvSpPr>
          <p:cNvPr id="20" name="Text 18"/>
          <p:cNvSpPr/>
          <p:nvPr/>
        </p:nvSpPr>
        <p:spPr>
          <a:xfrm>
            <a:off x="548640" y="5532120"/>
            <a:ext cx="10881360" cy="777240"/>
          </a:xfrm>
          <a:prstGeom prst="rect">
            <a:avLst/>
          </a:prstGeom>
          <a:noFill/>
          <a:ln/>
        </p:spPr>
        <p:txBody>
          <a:bodyPr wrap="square" rtlCol="0" anchor="ctr"/>
          <a:lstStyle/>
          <a:p>
            <a:pPr indent="0" marL="0">
              <a:lnSpc>
                <a:spcPct val="125000"/>
              </a:lnSpc>
              <a:buNone/>
            </a:pPr>
            <a:r>
              <a:rPr lang="en-US" sz="1130" i="1" dirty="0">
                <a:solidFill>
                  <a:srgbClr val="8A6D1F"/>
                </a:solidFill>
                <a:latin typeface="Calibri" pitchFamily="34" charset="0"/>
                <a:ea typeface="Calibri" pitchFamily="34" charset="-122"/>
                <a:cs typeface="Calibri" pitchFamily="34" charset="-120"/>
              </a:rPr>
              <a:t>理论铺垫：这是本讲第一次明确呈现「多线并行+无紧迫感」的情境，目的是让学员意识到，即使没有任何一件事是危机，主管依然需要主动做优先级判断，而不是凭「谁先找我谁先聊」这种被动响应方式来分配精力。</a:t>
            </a:r>
            <a:endParaRPr lang="en-US" sz="1130" dirty="0"/>
          </a:p>
        </p:txBody>
      </p:sp>
      <p:sp>
        <p:nvSpPr>
          <p:cNvPr id="21" name="Shape 19"/>
          <p:cNvSpPr/>
          <p:nvPr/>
        </p:nvSpPr>
        <p:spPr>
          <a:xfrm>
            <a:off x="548640" y="6446520"/>
            <a:ext cx="11091672" cy="0"/>
          </a:xfrm>
          <a:prstGeom prst="line">
            <a:avLst/>
          </a:prstGeom>
          <a:noFill/>
          <a:ln w="9525">
            <a:solidFill>
              <a:srgbClr val="C7CDDB"/>
            </a:solidFill>
            <a:prstDash val="solid"/>
          </a:ln>
        </p:spPr>
      </p:sp>
      <p:sp>
        <p:nvSpPr>
          <p:cNvPr id="22" name="Text 20"/>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季度总览 · 第1周</a:t>
            </a:r>
            <a:endParaRPr lang="en-US" sz="900" dirty="0"/>
          </a:p>
        </p:txBody>
      </p:sp>
      <p:sp>
        <p:nvSpPr>
          <p:cNvPr id="23" name="Text 21"/>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推演：第1周的优先级判断</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老吴的处理 · 三条线，一周的精力分配</a:t>
            </a:r>
            <a:endParaRPr lang="en-US" sz="2700" dirty="0"/>
          </a:p>
        </p:txBody>
      </p:sp>
      <p:sp>
        <p:nvSpPr>
          <p:cNvPr id="6" name="Text 4"/>
          <p:cNvSpPr/>
          <p:nvPr/>
        </p:nvSpPr>
        <p:spPr>
          <a:xfrm>
            <a:off x="548640" y="1627632"/>
            <a:ext cx="10881360" cy="50292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老吴用一个简化的判断框架来排序：风险窗口的紧迫性（不介入，错过最佳时机的代价有多大）+ 介入的杠杆效应（这次投入能否带来长期收益，而非只解决眼前的事）。</a:t>
            </a:r>
            <a:endParaRPr lang="en-US" sz="1200" dirty="0"/>
          </a:p>
        </p:txBody>
      </p:sp>
      <p:sp>
        <p:nvSpPr>
          <p:cNvPr id="7" name="Shape 5"/>
          <p:cNvSpPr/>
          <p:nvPr/>
        </p:nvSpPr>
        <p:spPr>
          <a:xfrm>
            <a:off x="548640" y="2286000"/>
            <a:ext cx="0" cy="1783080"/>
          </a:xfrm>
          <a:prstGeom prst="line">
            <a:avLst/>
          </a:prstGeom>
          <a:noFill/>
          <a:ln w="31750">
            <a:solidFill>
              <a:srgbClr val="1B2A4A"/>
            </a:solidFill>
            <a:prstDash val="solid"/>
          </a:ln>
        </p:spPr>
      </p:sp>
      <p:sp>
        <p:nvSpPr>
          <p:cNvPr id="8" name="Text 6"/>
          <p:cNvSpPr/>
          <p:nvPr/>
        </p:nvSpPr>
        <p:spPr>
          <a:xfrm>
            <a:off x="731520" y="2286000"/>
            <a:ext cx="3337560" cy="274320"/>
          </a:xfrm>
          <a:prstGeom prst="rect">
            <a:avLst/>
          </a:prstGeom>
          <a:noFill/>
          <a:ln/>
        </p:spPr>
        <p:txBody>
          <a:bodyPr wrap="square"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对小陈</a:t>
            </a:r>
            <a:endParaRPr lang="en-US" sz="1150" dirty="0"/>
          </a:p>
        </p:txBody>
      </p:sp>
      <p:sp>
        <p:nvSpPr>
          <p:cNvPr id="9" name="Text 7"/>
          <p:cNvSpPr/>
          <p:nvPr/>
        </p:nvSpPr>
        <p:spPr>
          <a:xfrm>
            <a:off x="731520" y="2615184"/>
            <a:ext cx="3246120" cy="1417320"/>
          </a:xfrm>
          <a:prstGeom prst="rect">
            <a:avLst/>
          </a:prstGeom>
          <a:noFill/>
          <a:ln/>
        </p:spPr>
        <p:txBody>
          <a:bodyPr wrap="square" rtlCol="0" anchor="ctr"/>
          <a:lstStyle/>
          <a:p>
            <a:pPr indent="0" marL="0">
              <a:lnSpc>
                <a:spcPct val="122000"/>
              </a:lnSpc>
              <a:buNone/>
            </a:pPr>
            <a:r>
              <a:rPr lang="en-US" sz="1000" dirty="0">
                <a:solidFill>
                  <a:srgbClr val="2B2F36"/>
                </a:solidFill>
                <a:latin typeface="Calibri" pitchFamily="34" charset="0"/>
                <a:ea typeface="Calibri" pitchFamily="34" charset="-122"/>
                <a:cs typeface="Calibri" pitchFamily="34" charset="-120"/>
              </a:rPr>
              <a:t>请求不紧急（项目未真正启动），但拖延太久会让小陈感觉「提了也没人理」——窗口期不长、杠杆效应大。本周安排15分钟简短对话，先了解具体的自主空间诉求和任务风险等级，为下周完整授权设计铺垫。</a:t>
            </a:r>
            <a:endParaRPr lang="en-US" sz="1000" dirty="0"/>
          </a:p>
        </p:txBody>
      </p:sp>
      <p:sp>
        <p:nvSpPr>
          <p:cNvPr id="10" name="Shape 8"/>
          <p:cNvSpPr/>
          <p:nvPr/>
        </p:nvSpPr>
        <p:spPr>
          <a:xfrm>
            <a:off x="4206240" y="2286000"/>
            <a:ext cx="0" cy="1783080"/>
          </a:xfrm>
          <a:prstGeom prst="line">
            <a:avLst/>
          </a:prstGeom>
          <a:noFill/>
          <a:ln w="31750">
            <a:solidFill>
              <a:srgbClr val="9C5536"/>
            </a:solidFill>
            <a:prstDash val="solid"/>
          </a:ln>
        </p:spPr>
      </p:sp>
      <p:sp>
        <p:nvSpPr>
          <p:cNvPr id="11" name="Text 9"/>
          <p:cNvSpPr/>
          <p:nvPr/>
        </p:nvSpPr>
        <p:spPr>
          <a:xfrm>
            <a:off x="4389120" y="2286000"/>
            <a:ext cx="3337560" cy="274320"/>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对小林</a:t>
            </a:r>
            <a:endParaRPr lang="en-US" sz="1150" dirty="0"/>
          </a:p>
        </p:txBody>
      </p:sp>
      <p:sp>
        <p:nvSpPr>
          <p:cNvPr id="12" name="Text 10"/>
          <p:cNvSpPr/>
          <p:nvPr/>
        </p:nvSpPr>
        <p:spPr>
          <a:xfrm>
            <a:off x="4389120" y="2615184"/>
            <a:ext cx="3246120" cy="1417320"/>
          </a:xfrm>
          <a:prstGeom prst="rect">
            <a:avLst/>
          </a:prstGeom>
          <a:noFill/>
          <a:ln/>
        </p:spPr>
        <p:txBody>
          <a:bodyPr wrap="square" rtlCol="0" anchor="ctr"/>
          <a:lstStyle/>
          <a:p>
            <a:pPr indent="0" marL="0">
              <a:lnSpc>
                <a:spcPct val="122000"/>
              </a:lnSpc>
              <a:buNone/>
            </a:pPr>
            <a:r>
              <a:rPr lang="en-US" sz="1000" dirty="0">
                <a:solidFill>
                  <a:srgbClr val="2B2F36"/>
                </a:solidFill>
                <a:latin typeface="Calibri" pitchFamily="34" charset="0"/>
                <a:ea typeface="Calibri" pitchFamily="34" charset="-122"/>
                <a:cs typeface="Calibri" pitchFamily="34" charset="-120"/>
              </a:rPr>
              <a:t>选择性呈现倾向是需要关注但不需紧急处理的信号——更深层的信任模式问题。不强行安排「专门聊这个」的1on1（容易显得突兀），而是放进常规1on1议程储备，等待自然切入点。</a:t>
            </a:r>
            <a:endParaRPr lang="en-US" sz="1000" dirty="0"/>
          </a:p>
        </p:txBody>
      </p:sp>
      <p:sp>
        <p:nvSpPr>
          <p:cNvPr id="13" name="Shape 11"/>
          <p:cNvSpPr/>
          <p:nvPr/>
        </p:nvSpPr>
        <p:spPr>
          <a:xfrm>
            <a:off x="7863840" y="2286000"/>
            <a:ext cx="0" cy="1783080"/>
          </a:xfrm>
          <a:prstGeom prst="line">
            <a:avLst/>
          </a:prstGeom>
          <a:noFill/>
          <a:ln w="31750">
            <a:solidFill>
              <a:srgbClr val="4F6F52"/>
            </a:solidFill>
            <a:prstDash val="solid"/>
          </a:ln>
        </p:spPr>
      </p:sp>
      <p:sp>
        <p:nvSpPr>
          <p:cNvPr id="14" name="Text 12"/>
          <p:cNvSpPr/>
          <p:nvPr/>
        </p:nvSpPr>
        <p:spPr>
          <a:xfrm>
            <a:off x="8046720" y="2286000"/>
            <a:ext cx="3410712" cy="274320"/>
          </a:xfrm>
          <a:prstGeom prst="rect">
            <a:avLst/>
          </a:prstGeom>
          <a:noFill/>
          <a:ln/>
        </p:spPr>
        <p:txBody>
          <a:bodyPr wrap="square" rtlCol="0" anchor="ctr"/>
          <a:lstStyle/>
          <a:p>
            <a:pPr indent="0" marL="0">
              <a:buNone/>
            </a:pPr>
            <a:r>
              <a:rPr lang="en-US" sz="1150" b="1" dirty="0">
                <a:solidFill>
                  <a:srgbClr val="4F6F52"/>
                </a:solidFill>
                <a:latin typeface="Calibri" pitchFamily="34" charset="0"/>
                <a:ea typeface="Calibri" pitchFamily="34" charset="-122"/>
                <a:cs typeface="Calibri" pitchFamily="34" charset="-120"/>
              </a:rPr>
              <a:t>对小吴</a:t>
            </a:r>
            <a:endParaRPr lang="en-US" sz="1150" dirty="0"/>
          </a:p>
        </p:txBody>
      </p:sp>
      <p:sp>
        <p:nvSpPr>
          <p:cNvPr id="15" name="Text 13"/>
          <p:cNvSpPr/>
          <p:nvPr/>
        </p:nvSpPr>
        <p:spPr>
          <a:xfrm>
            <a:off x="8046720" y="2615184"/>
            <a:ext cx="3319272" cy="1417320"/>
          </a:xfrm>
          <a:prstGeom prst="rect">
            <a:avLst/>
          </a:prstGeom>
          <a:noFill/>
          <a:ln/>
        </p:spPr>
        <p:txBody>
          <a:bodyPr wrap="square" rtlCol="0" anchor="ctr"/>
          <a:lstStyle/>
          <a:p>
            <a:pPr indent="0" marL="0">
              <a:lnSpc>
                <a:spcPct val="122000"/>
              </a:lnSpc>
              <a:buNone/>
            </a:pPr>
            <a:r>
              <a:rPr lang="en-US" sz="1000" dirty="0">
                <a:solidFill>
                  <a:srgbClr val="2B2F36"/>
                </a:solidFill>
                <a:latin typeface="Calibri" pitchFamily="34" charset="0"/>
                <a:ea typeface="Calibri" pitchFamily="34" charset="-122"/>
                <a:cs typeface="Calibri" pitchFamily="34" charset="-120"/>
              </a:rPr>
              <a:t>新人在超出经验范围的任务上，需要的是事前授权范围沟通而非事后检查——这是本周唯一有明确时间窗口的事项。优先和小吴明确Check Point设置（呼应M3），避免畏手畏脚或擅自扩大决策范围。</a:t>
            </a:r>
            <a:endParaRPr lang="en-US" sz="1000" dirty="0"/>
          </a:p>
        </p:txBody>
      </p:sp>
      <p:sp>
        <p:nvSpPr>
          <p:cNvPr id="16" name="Shape 14"/>
          <p:cNvSpPr/>
          <p:nvPr/>
        </p:nvSpPr>
        <p:spPr>
          <a:xfrm>
            <a:off x="548640" y="4297680"/>
            <a:ext cx="10881360" cy="0"/>
          </a:xfrm>
          <a:prstGeom prst="line">
            <a:avLst/>
          </a:prstGeom>
          <a:noFill/>
          <a:ln w="12700">
            <a:solidFill>
              <a:srgbClr val="E3E7EF"/>
            </a:solidFill>
            <a:prstDash val="solid"/>
          </a:ln>
        </p:spPr>
      </p:sp>
      <p:sp>
        <p:nvSpPr>
          <p:cNvPr id="17" name="Text 15"/>
          <p:cNvSpPr/>
          <p:nvPr/>
        </p:nvSpPr>
        <p:spPr>
          <a:xfrm>
            <a:off x="548640" y="4389120"/>
            <a:ext cx="10881360" cy="777240"/>
          </a:xfrm>
          <a:prstGeom prst="rect">
            <a:avLst/>
          </a:prstGeom>
          <a:noFill/>
          <a:ln/>
        </p:spPr>
        <p:txBody>
          <a:bodyPr wrap="square" rtlCol="0" anchor="ctr"/>
          <a:lstStyle/>
          <a:p>
            <a:pPr indent="0" marL="0">
              <a:lnSpc>
                <a:spcPct val="122000"/>
              </a:lnSpc>
              <a:buNone/>
            </a:pPr>
            <a:r>
              <a:rPr lang="en-US" sz="1130" i="1" dirty="0">
                <a:solidFill>
                  <a:srgbClr val="8A6D1F"/>
                </a:solidFill>
                <a:latin typeface="Calibri" pitchFamily="34" charset="0"/>
                <a:ea typeface="Calibri" pitchFamily="34" charset="-122"/>
                <a:cs typeface="Calibri" pitchFamily="34" charset="-120"/>
              </a:rPr>
              <a:t>理论回扣：M3《分级授权》框架的延伸应用——授权设计不仅适用于危机中的临时决策，更适用于常规工作中持续的、动态的边界设定，且需要根据任务风险等级和员工经验水平（新人vs资深）做差异化处理。</a:t>
            </a:r>
            <a:endParaRPr lang="en-US" sz="113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推演：第1周的优先级判断</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第3周 · 小陈线</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1417320"/>
            <a:ext cx="2377440" cy="292608"/>
          </a:xfrm>
          <a:prstGeom prst="rect">
            <a:avLst/>
          </a:prstGeom>
          <a:noFill/>
          <a:ln/>
        </p:spPr>
        <p:txBody>
          <a:bodyPr wrap="square" rtlCol="0" anchor="ctr"/>
          <a:lstStyle/>
          <a:p>
            <a:pPr indent="0" marL="0">
              <a:buNone/>
            </a:pPr>
            <a:r>
              <a:rPr lang="en-US" sz="1200" b="1" i="1" dirty="0">
                <a:solidFill>
                  <a:srgbClr val="8A6D1F"/>
                </a:solidFill>
                <a:latin typeface="Cambria" pitchFamily="34" charset="0"/>
                <a:ea typeface="Cambria" pitchFamily="34" charset="-122"/>
                <a:cs typeface="Cambria" pitchFamily="34" charset="-120"/>
              </a:rPr>
              <a:t>第3周</a:t>
            </a:r>
            <a:endParaRPr lang="en-US" sz="1200" dirty="0"/>
          </a:p>
        </p:txBody>
      </p:sp>
      <p:sp>
        <p:nvSpPr>
          <p:cNvPr id="6" name="Text 4"/>
          <p:cNvSpPr/>
          <p:nvPr/>
        </p:nvSpPr>
        <p:spPr>
          <a:xfrm>
            <a:off x="548640" y="1755648"/>
            <a:ext cx="11091672" cy="640080"/>
          </a:xfrm>
          <a:prstGeom prst="rect">
            <a:avLst/>
          </a:prstGeom>
          <a:noFill/>
          <a:ln/>
        </p:spPr>
        <p:txBody>
          <a:bodyPr wrap="square"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当「给不给更大自主权」必须有一个明确答案</a:t>
            </a:r>
            <a:endParaRPr lang="en-US" sz="2400" dirty="0"/>
          </a:p>
        </p:txBody>
      </p:sp>
      <p:sp>
        <p:nvSpPr>
          <p:cNvPr id="7" name="Text 5"/>
          <p:cNvSpPr/>
          <p:nvPr/>
        </p:nvSpPr>
        <p:spPr>
          <a:xfrm>
            <a:off x="548640" y="2395728"/>
            <a:ext cx="10881360" cy="713232"/>
          </a:xfrm>
          <a:prstGeom prst="rect">
            <a:avLst/>
          </a:prstGeom>
          <a:noFill/>
          <a:ln/>
        </p:spPr>
        <p:txBody>
          <a:bodyPr wrap="square" rtlCol="0" anchor="ctr"/>
          <a:lstStyle/>
          <a:p>
            <a:pPr indent="0" marL="0">
              <a:lnSpc>
                <a:spcPct val="126000"/>
              </a:lnSpc>
              <a:buNone/>
            </a:pPr>
            <a:r>
              <a:rPr lang="en-US" sz="1230" dirty="0">
                <a:solidFill>
                  <a:srgbClr val="2B2F36"/>
                </a:solidFill>
                <a:latin typeface="Calibri" pitchFamily="34" charset="0"/>
                <a:ea typeface="Calibri" pitchFamily="34" charset="-122"/>
                <a:cs typeface="Calibri" pitchFamily="34" charset="-120"/>
              </a:rPr>
              <a:t>小陈的产线扩容项目正式启动，距离上次的简短对话已经过去两周，是时候给出明确的授权方案了。这部分工作技术复杂度中等，但涉及和设备部的接口对接，一旦设计方向出现偏差，返工成本较高。</a:t>
            </a:r>
            <a:endParaRPr lang="en-US" sz="1230" dirty="0"/>
          </a:p>
        </p:txBody>
      </p:sp>
      <p:sp>
        <p:nvSpPr>
          <p:cNvPr id="8" name="Shape 6"/>
          <p:cNvSpPr/>
          <p:nvPr/>
        </p:nvSpPr>
        <p:spPr>
          <a:xfrm>
            <a:off x="548640" y="3246120"/>
            <a:ext cx="0" cy="777240"/>
          </a:xfrm>
          <a:prstGeom prst="line">
            <a:avLst/>
          </a:prstGeom>
          <a:noFill/>
          <a:ln w="38100">
            <a:solidFill>
              <a:srgbClr val="9C5536"/>
            </a:solidFill>
            <a:prstDash val="solid"/>
          </a:ln>
        </p:spPr>
      </p:sp>
      <p:sp>
        <p:nvSpPr>
          <p:cNvPr id="9" name="Text 7"/>
          <p:cNvSpPr/>
          <p:nvPr/>
        </p:nvSpPr>
        <p:spPr>
          <a:xfrm>
            <a:off x="777240" y="324612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决策点二</a:t>
            </a:r>
            <a:endParaRPr lang="en-US" sz="1100" dirty="0"/>
          </a:p>
        </p:txBody>
      </p:sp>
      <p:sp>
        <p:nvSpPr>
          <p:cNvPr id="10" name="Text 8"/>
          <p:cNvSpPr/>
          <p:nvPr/>
        </p:nvSpPr>
        <p:spPr>
          <a:xfrm>
            <a:off x="777240" y="3538728"/>
            <a:ext cx="10652760" cy="502920"/>
          </a:xfrm>
          <a:prstGeom prst="rect">
            <a:avLst/>
          </a:prstGeom>
          <a:noFill/>
          <a:ln/>
        </p:spPr>
        <p:txBody>
          <a:bodyPr wrap="square" rtlCol="0" anchor="ctr"/>
          <a:lstStyle/>
          <a:p>
            <a:pPr indent="0" marL="0">
              <a:lnSpc>
                <a:spcPct val="122000"/>
              </a:lnSpc>
              <a:buNone/>
            </a:pPr>
            <a:r>
              <a:rPr lang="en-US" sz="1250" i="1" dirty="0">
                <a:solidFill>
                  <a:srgbClr val="1B2A4A"/>
                </a:solidFill>
                <a:latin typeface="Cambria" pitchFamily="34" charset="0"/>
                <a:ea typeface="Cambria" pitchFamily="34" charset="-122"/>
                <a:cs typeface="Cambria" pitchFamily="34" charset="-120"/>
              </a:rPr>
              <a:t>老吴需要为小陈设计一个具体的授权方案——给多大的自主空间？设置几个Check Point？这个判断应该基于什么？</a:t>
            </a:r>
            <a:endParaRPr lang="en-US" sz="1250" dirty="0"/>
          </a:p>
        </p:txBody>
      </p:sp>
      <p:sp>
        <p:nvSpPr>
          <p:cNvPr id="11" name="Text 9"/>
          <p:cNvSpPr/>
          <p:nvPr/>
        </p:nvSpPr>
        <p:spPr>
          <a:xfrm>
            <a:off x="548640" y="4224528"/>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〔推演 · 老吴的处理〕</a:t>
            </a:r>
            <a:endParaRPr lang="en-US" sz="1100" dirty="0"/>
          </a:p>
        </p:txBody>
      </p:sp>
      <p:sp>
        <p:nvSpPr>
          <p:cNvPr id="12" name="Text 10"/>
          <p:cNvSpPr/>
          <p:nvPr/>
        </p:nvSpPr>
        <p:spPr>
          <a:xfrm>
            <a:off x="548640" y="4517136"/>
            <a:ext cx="10881360" cy="1188720"/>
          </a:xfrm>
          <a:prstGeom prst="rect">
            <a:avLst/>
          </a:prstGeom>
          <a:noFill/>
          <a:ln/>
        </p:spPr>
        <p:txBody>
          <a:bodyPr wrap="square" rtlCol="0" anchor="ctr"/>
          <a:lstStyle/>
          <a:p>
            <a:pPr indent="0" marL="0">
              <a:lnSpc>
                <a:spcPct val="120000"/>
              </a:lnSpc>
              <a:buNone/>
            </a:pPr>
            <a:r>
              <a:rPr lang="en-US" sz="1140" dirty="0">
                <a:solidFill>
                  <a:srgbClr val="2B2F36"/>
                </a:solidFill>
                <a:latin typeface="Calibri" pitchFamily="34" charset="0"/>
                <a:ea typeface="Calibri" pitchFamily="34" charset="-122"/>
                <a:cs typeface="Calibri" pitchFamily="34" charset="-120"/>
              </a:rPr>
              <a:t>老吴用M3的「任务风险×员工成熟度」四象限分析：小陈的任务风险中高（接口对接、返工成本高），但成熟度也较高（6年经验、此前类似任务完成质量稳定）——落在「高风险、高成熟度」象限，对应策略是「设置关键里程碑Check Point，过程中给予充分自主空间」。老吴和小陈约定了三个Check Point：技术方案初稿完成后（确认大方向）、与设备部接口规格确认后（返工成本最高的环节）、上线前最终确认。除此之外小陈拥有完全的自主决策权。小陈的反应：明确感觉到「被信任」，同时也认可这三个检查点的设置很合理——「这几个点确实是最容易出问题的地方，卡在这里我没意见」。</a:t>
            </a:r>
            <a:endParaRPr lang="en-US" sz="1140" dirty="0"/>
          </a:p>
        </p:txBody>
      </p:sp>
      <p:sp>
        <p:nvSpPr>
          <p:cNvPr id="13" name="Shape 11"/>
          <p:cNvSpPr/>
          <p:nvPr/>
        </p:nvSpPr>
        <p:spPr>
          <a:xfrm>
            <a:off x="548640" y="5760720"/>
            <a:ext cx="10881360" cy="0"/>
          </a:xfrm>
          <a:prstGeom prst="line">
            <a:avLst/>
          </a:prstGeom>
          <a:noFill/>
          <a:ln w="12700">
            <a:solidFill>
              <a:srgbClr val="E3E7EF"/>
            </a:solidFill>
            <a:prstDash val="solid"/>
          </a:ln>
        </p:spPr>
      </p:sp>
      <p:sp>
        <p:nvSpPr>
          <p:cNvPr id="14" name="Text 12"/>
          <p:cNvSpPr/>
          <p:nvPr/>
        </p:nvSpPr>
        <p:spPr>
          <a:xfrm>
            <a:off x="548640" y="5852160"/>
            <a:ext cx="10881360" cy="292608"/>
          </a:xfrm>
          <a:prstGeom prst="rect">
            <a:avLst/>
          </a:prstGeom>
          <a:noFill/>
          <a:ln/>
        </p:spPr>
        <p:txBody>
          <a:bodyPr wrap="square" rtlCol="0" anchor="ctr"/>
          <a:lstStyle/>
          <a:p>
            <a:pPr indent="0" marL="0">
              <a:lnSpc>
                <a:spcPct val="115000"/>
              </a:lnSpc>
              <a:buNone/>
            </a:pPr>
            <a:r>
              <a:rPr lang="en-US" sz="1100" i="1" dirty="0">
                <a:solidFill>
                  <a:srgbClr val="8A6D1F"/>
                </a:solidFill>
                <a:latin typeface="Calibri" pitchFamily="34" charset="0"/>
                <a:ea typeface="Calibri" pitchFamily="34" charset="-122"/>
                <a:cs typeface="Calibri" pitchFamily="34" charset="-120"/>
              </a:rPr>
              <a:t>理论回扣：M3框架的标准应用——风险与成熟度的交叉判断决定授权策略，Check Point设置在真正的风险节点，而非均匀分布或凭主观感觉设置。</a:t>
            </a:r>
            <a:endParaRPr lang="en-US" sz="11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第3周 · 小陈线</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第5周 · 精力冲突点一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1417320"/>
            <a:ext cx="2377440" cy="292608"/>
          </a:xfrm>
          <a:prstGeom prst="rect">
            <a:avLst/>
          </a:prstGeom>
          <a:noFill/>
          <a:ln/>
        </p:spPr>
        <p:txBody>
          <a:bodyPr wrap="square" rtlCol="0" anchor="ctr"/>
          <a:lstStyle/>
          <a:p>
            <a:pPr indent="0" marL="0">
              <a:buNone/>
            </a:pPr>
            <a:r>
              <a:rPr lang="en-US" sz="1200" b="1" i="1" dirty="0">
                <a:solidFill>
                  <a:srgbClr val="8A6D1F"/>
                </a:solidFill>
                <a:latin typeface="Cambria" pitchFamily="34" charset="0"/>
                <a:ea typeface="Cambria" pitchFamily="34" charset="-122"/>
                <a:cs typeface="Cambria" pitchFamily="34" charset="-120"/>
              </a:rPr>
              <a:t>第5周</a:t>
            </a:r>
            <a:endParaRPr lang="en-US" sz="1200" dirty="0"/>
          </a:p>
        </p:txBody>
      </p:sp>
      <p:sp>
        <p:nvSpPr>
          <p:cNvPr id="6" name="Text 4"/>
          <p:cNvSpPr/>
          <p:nvPr/>
        </p:nvSpPr>
        <p:spPr>
          <a:xfrm>
            <a:off x="548640" y="1755648"/>
            <a:ext cx="11091672" cy="64008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当三件不紧急的事，在同一周变得都有点紧急</a:t>
            </a:r>
            <a:endParaRPr lang="en-US" sz="2200" dirty="0"/>
          </a:p>
        </p:txBody>
      </p:sp>
      <p:sp>
        <p:nvSpPr>
          <p:cNvPr id="7" name="Shape 5"/>
          <p:cNvSpPr/>
          <p:nvPr/>
        </p:nvSpPr>
        <p:spPr>
          <a:xfrm>
            <a:off x="548640" y="2331720"/>
            <a:ext cx="0" cy="1234440"/>
          </a:xfrm>
          <a:prstGeom prst="line">
            <a:avLst/>
          </a:prstGeom>
          <a:noFill/>
          <a:ln w="31750">
            <a:solidFill>
              <a:srgbClr val="1B2A4A"/>
            </a:solidFill>
            <a:prstDash val="solid"/>
          </a:ln>
        </p:spPr>
      </p:sp>
      <p:sp>
        <p:nvSpPr>
          <p:cNvPr id="8" name="Text 6"/>
          <p:cNvSpPr/>
          <p:nvPr/>
        </p:nvSpPr>
        <p:spPr>
          <a:xfrm>
            <a:off x="731520" y="2331720"/>
            <a:ext cx="3337560" cy="274320"/>
          </a:xfrm>
          <a:prstGeom prst="rect">
            <a:avLst/>
          </a:prstGeom>
          <a:noFill/>
          <a:ln/>
        </p:spPr>
        <p:txBody>
          <a:bodyPr wrap="square"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小陈</a:t>
            </a:r>
            <a:endParaRPr lang="en-US" sz="1150" dirty="0"/>
          </a:p>
        </p:txBody>
      </p:sp>
      <p:sp>
        <p:nvSpPr>
          <p:cNvPr id="9" name="Text 7"/>
          <p:cNvSpPr/>
          <p:nvPr/>
        </p:nvSpPr>
        <p:spPr>
          <a:xfrm>
            <a:off x="731520" y="2660904"/>
            <a:ext cx="3246120" cy="868680"/>
          </a:xfrm>
          <a:prstGeom prst="rect">
            <a:avLst/>
          </a:prstGeom>
          <a:noFill/>
          <a:ln/>
        </p:spPr>
        <p:txBody>
          <a:bodyPr wrap="square" rtlCol="0" anchor="ctr"/>
          <a:lstStyle/>
          <a:p>
            <a:pPr indent="0" marL="0">
              <a:lnSpc>
                <a:spcPct val="122000"/>
              </a:lnSpc>
              <a:buNone/>
            </a:pPr>
            <a:r>
              <a:rPr lang="en-US" sz="1000" dirty="0">
                <a:solidFill>
                  <a:srgbClr val="2B2F36"/>
                </a:solidFill>
                <a:latin typeface="Calibri" pitchFamily="34" charset="0"/>
                <a:ea typeface="Calibri" pitchFamily="34" charset="-122"/>
                <a:cs typeface="Calibri" pitchFamily="34" charset="-120"/>
              </a:rPr>
              <a:t>接口规格确认到关键节点，按约定的Check Point，这周需要老吴介入确认。</a:t>
            </a:r>
            <a:endParaRPr lang="en-US" sz="1000" dirty="0"/>
          </a:p>
        </p:txBody>
      </p:sp>
      <p:sp>
        <p:nvSpPr>
          <p:cNvPr id="10" name="Shape 8"/>
          <p:cNvSpPr/>
          <p:nvPr/>
        </p:nvSpPr>
        <p:spPr>
          <a:xfrm>
            <a:off x="4206240" y="2331720"/>
            <a:ext cx="0" cy="1234440"/>
          </a:xfrm>
          <a:prstGeom prst="line">
            <a:avLst/>
          </a:prstGeom>
          <a:noFill/>
          <a:ln w="31750">
            <a:solidFill>
              <a:srgbClr val="9C5536"/>
            </a:solidFill>
            <a:prstDash val="solid"/>
          </a:ln>
        </p:spPr>
      </p:sp>
      <p:sp>
        <p:nvSpPr>
          <p:cNvPr id="11" name="Text 9"/>
          <p:cNvSpPr/>
          <p:nvPr/>
        </p:nvSpPr>
        <p:spPr>
          <a:xfrm>
            <a:off x="4389120" y="2331720"/>
            <a:ext cx="3337560" cy="274320"/>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小林</a:t>
            </a:r>
            <a:endParaRPr lang="en-US" sz="1150" dirty="0"/>
          </a:p>
        </p:txBody>
      </p:sp>
      <p:sp>
        <p:nvSpPr>
          <p:cNvPr id="12" name="Text 10"/>
          <p:cNvSpPr/>
          <p:nvPr/>
        </p:nvSpPr>
        <p:spPr>
          <a:xfrm>
            <a:off x="4389120" y="2660904"/>
            <a:ext cx="3246120" cy="868680"/>
          </a:xfrm>
          <a:prstGeom prst="rect">
            <a:avLst/>
          </a:prstGeom>
          <a:noFill/>
          <a:ln/>
        </p:spPr>
        <p:txBody>
          <a:bodyPr wrap="square" rtlCol="0" anchor="ctr"/>
          <a:lstStyle/>
          <a:p>
            <a:pPr indent="0" marL="0">
              <a:lnSpc>
                <a:spcPct val="122000"/>
              </a:lnSpc>
              <a:buNone/>
            </a:pPr>
            <a:r>
              <a:rPr lang="en-US" sz="1000" dirty="0">
                <a:solidFill>
                  <a:srgbClr val="2B2F36"/>
                </a:solidFill>
                <a:latin typeface="Calibri" pitchFamily="34" charset="0"/>
                <a:ea typeface="Calibri" pitchFamily="34" charset="-122"/>
                <a:cs typeface="Calibri" pitchFamily="34" charset="-120"/>
              </a:rPr>
              <a:t>跨部门协作中又出现一次轻微的「信息呈现不完整」情况——一个小故障的处理进展，老吴认为是合适的1on1切入时机。</a:t>
            </a:r>
            <a:endParaRPr lang="en-US" sz="1000" dirty="0"/>
          </a:p>
        </p:txBody>
      </p:sp>
      <p:sp>
        <p:nvSpPr>
          <p:cNvPr id="13" name="Shape 11"/>
          <p:cNvSpPr/>
          <p:nvPr/>
        </p:nvSpPr>
        <p:spPr>
          <a:xfrm>
            <a:off x="7863840" y="2331720"/>
            <a:ext cx="0" cy="1234440"/>
          </a:xfrm>
          <a:prstGeom prst="line">
            <a:avLst/>
          </a:prstGeom>
          <a:noFill/>
          <a:ln w="31750">
            <a:solidFill>
              <a:srgbClr val="4F6F52"/>
            </a:solidFill>
            <a:prstDash val="solid"/>
          </a:ln>
        </p:spPr>
      </p:sp>
      <p:sp>
        <p:nvSpPr>
          <p:cNvPr id="14" name="Text 12"/>
          <p:cNvSpPr/>
          <p:nvPr/>
        </p:nvSpPr>
        <p:spPr>
          <a:xfrm>
            <a:off x="8046720" y="2331720"/>
            <a:ext cx="3410712" cy="274320"/>
          </a:xfrm>
          <a:prstGeom prst="rect">
            <a:avLst/>
          </a:prstGeom>
          <a:noFill/>
          <a:ln/>
        </p:spPr>
        <p:txBody>
          <a:bodyPr wrap="square" rtlCol="0" anchor="ctr"/>
          <a:lstStyle/>
          <a:p>
            <a:pPr indent="0" marL="0">
              <a:buNone/>
            </a:pPr>
            <a:r>
              <a:rPr lang="en-US" sz="1150" b="1" dirty="0">
                <a:solidFill>
                  <a:srgbClr val="4F6F52"/>
                </a:solidFill>
                <a:latin typeface="Calibri" pitchFamily="34" charset="0"/>
                <a:ea typeface="Calibri" pitchFamily="34" charset="-122"/>
                <a:cs typeface="Calibri" pitchFamily="34" charset="-120"/>
              </a:rPr>
              <a:t>小吴</a:t>
            </a:r>
            <a:endParaRPr lang="en-US" sz="1150" dirty="0"/>
          </a:p>
        </p:txBody>
      </p:sp>
      <p:sp>
        <p:nvSpPr>
          <p:cNvPr id="15" name="Text 13"/>
          <p:cNvSpPr/>
          <p:nvPr/>
        </p:nvSpPr>
        <p:spPr>
          <a:xfrm>
            <a:off x="8046720" y="2660904"/>
            <a:ext cx="3319272" cy="868680"/>
          </a:xfrm>
          <a:prstGeom prst="rect">
            <a:avLst/>
          </a:prstGeom>
          <a:noFill/>
          <a:ln/>
        </p:spPr>
        <p:txBody>
          <a:bodyPr wrap="square" rtlCol="0" anchor="ctr"/>
          <a:lstStyle/>
          <a:p>
            <a:pPr indent="0" marL="0">
              <a:lnSpc>
                <a:spcPct val="122000"/>
              </a:lnSpc>
              <a:buNone/>
            </a:pPr>
            <a:r>
              <a:rPr lang="en-US" sz="1000" dirty="0">
                <a:solidFill>
                  <a:srgbClr val="2B2F36"/>
                </a:solidFill>
                <a:latin typeface="Calibri" pitchFamily="34" charset="0"/>
                <a:ea typeface="Calibri" pitchFamily="34" charset="-122"/>
                <a:cs typeface="Calibri" pitchFamily="34" charset="-120"/>
              </a:rPr>
              <a:t>负责的设备部接口调试任务出现老吴没有预料到的复杂情况，发消息问「这个我能自己定吗」。</a:t>
            </a:r>
            <a:endParaRPr lang="en-US" sz="1000" dirty="0"/>
          </a:p>
        </p:txBody>
      </p:sp>
      <p:sp>
        <p:nvSpPr>
          <p:cNvPr id="16" name="Shape 14"/>
          <p:cNvSpPr/>
          <p:nvPr/>
        </p:nvSpPr>
        <p:spPr>
          <a:xfrm>
            <a:off x="548640" y="3730752"/>
            <a:ext cx="0" cy="777240"/>
          </a:xfrm>
          <a:prstGeom prst="line">
            <a:avLst/>
          </a:prstGeom>
          <a:noFill/>
          <a:ln w="38100">
            <a:solidFill>
              <a:srgbClr val="9C5536"/>
            </a:solidFill>
            <a:prstDash val="solid"/>
          </a:ln>
        </p:spPr>
      </p:sp>
      <p:sp>
        <p:nvSpPr>
          <p:cNvPr id="17" name="Text 15"/>
          <p:cNvSpPr/>
          <p:nvPr/>
        </p:nvSpPr>
        <p:spPr>
          <a:xfrm>
            <a:off x="777240" y="3730752"/>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决策点三 · 精力冲突点</a:t>
            </a:r>
            <a:endParaRPr lang="en-US" sz="1100" dirty="0"/>
          </a:p>
        </p:txBody>
      </p:sp>
      <p:sp>
        <p:nvSpPr>
          <p:cNvPr id="18" name="Text 16"/>
          <p:cNvSpPr/>
          <p:nvPr/>
        </p:nvSpPr>
        <p:spPr>
          <a:xfrm>
            <a:off x="777240" y="4023360"/>
            <a:ext cx="10652760" cy="502920"/>
          </a:xfrm>
          <a:prstGeom prst="rect">
            <a:avLst/>
          </a:prstGeom>
          <a:noFill/>
          <a:ln/>
        </p:spPr>
        <p:txBody>
          <a:bodyPr wrap="square" rtlCol="0" anchor="ctr"/>
          <a:lstStyle/>
          <a:p>
            <a:pPr indent="0" marL="0">
              <a:lnSpc>
                <a:spcPct val="122000"/>
              </a:lnSpc>
              <a:buNone/>
            </a:pPr>
            <a:r>
              <a:rPr lang="en-US" sz="1250" i="1" dirty="0">
                <a:solidFill>
                  <a:srgbClr val="1B2A4A"/>
                </a:solidFill>
                <a:latin typeface="Cambria" pitchFamily="34" charset="0"/>
                <a:ea typeface="Cambria" pitchFamily="34" charset="-122"/>
                <a:cs typeface="Cambria" pitchFamily="34" charset="-120"/>
              </a:rPr>
              <a:t>三件事都不是危机，但都需要老吴本周内给予实质性关注。时间和精力有限，应该如何排布这一周？</a:t>
            </a:r>
            <a:endParaRPr lang="en-US" sz="1250" dirty="0"/>
          </a:p>
        </p:txBody>
      </p:sp>
      <p:sp>
        <p:nvSpPr>
          <p:cNvPr id="19" name="Text 17"/>
          <p:cNvSpPr/>
          <p:nvPr/>
        </p:nvSpPr>
        <p:spPr>
          <a:xfrm>
            <a:off x="548640" y="4709160"/>
            <a:ext cx="292608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〔推演 · 老吴的处理〕</a:t>
            </a:r>
            <a:endParaRPr lang="en-US" sz="1100" dirty="0"/>
          </a:p>
        </p:txBody>
      </p:sp>
      <p:sp>
        <p:nvSpPr>
          <p:cNvPr id="20" name="Text 18"/>
          <p:cNvSpPr/>
          <p:nvPr/>
        </p:nvSpPr>
        <p:spPr>
          <a:xfrm>
            <a:off x="548640" y="5001768"/>
            <a:ext cx="10881360" cy="1143000"/>
          </a:xfrm>
          <a:prstGeom prst="rect">
            <a:avLst/>
          </a:prstGeom>
          <a:noFill/>
          <a:ln/>
        </p:spPr>
        <p:txBody>
          <a:bodyPr wrap="square" rtlCol="0" anchor="ctr"/>
          <a:lstStyle/>
          <a:p>
            <a:pPr indent="0" marL="0">
              <a:lnSpc>
                <a:spcPct val="118000"/>
              </a:lnSpc>
              <a:buNone/>
            </a:pPr>
            <a:r>
              <a:rPr lang="en-US" sz="1080" dirty="0">
                <a:solidFill>
                  <a:srgbClr val="2B2F36"/>
                </a:solidFill>
                <a:latin typeface="Calibri" pitchFamily="34" charset="0"/>
                <a:ea typeface="Calibri" pitchFamily="34" charset="-122"/>
                <a:cs typeface="Calibri" pitchFamily="34" charset="-120"/>
              </a:rPr>
              <a:t>小陈的Check Point——此前已约定、有明确时间预期，拖延会破坏「约定的Check Point会被认真对待」这个信任基础，优先级最高，当天安排确认会议。小吴的求助——新人在不确定时拖延决策可能导致任务卡住或擅自做出超出能力范围的判断，紧迫性其实不低，当天下午回复，先问「具体复杂在哪里，你倾向于怎么处理」，发现确实超出原定授权范围，明确告知「这个具体方案我们一起过一下，不是因为你做得不好，是这个情况本身比较特殊」。小林的1on1——重要但不紧急，判断这周如果不能保证充分时间和心理状态（GROW框架需要的耐心和倾听），不如放到下周，老吴主动说「这周有点满，我们下周一约个时间，专门聊聊」，小林没有意见。</a:t>
            </a:r>
            <a:endParaRPr lang="en-US" sz="1080" dirty="0"/>
          </a:p>
        </p:txBody>
      </p:sp>
      <p:sp>
        <p:nvSpPr>
          <p:cNvPr id="21" name="Shape 19"/>
          <p:cNvSpPr/>
          <p:nvPr/>
        </p:nvSpPr>
        <p:spPr>
          <a:xfrm>
            <a:off x="548640" y="6199632"/>
            <a:ext cx="10881360" cy="0"/>
          </a:xfrm>
          <a:prstGeom prst="line">
            <a:avLst/>
          </a:prstGeom>
          <a:noFill/>
          <a:ln w="12700">
            <a:solidFill>
              <a:srgbClr val="E3E7EF"/>
            </a:solidFill>
            <a:prstDash val="solid"/>
          </a:ln>
        </p:spPr>
      </p:sp>
      <p:sp>
        <p:nvSpPr>
          <p:cNvPr id="22" name="Text 20"/>
          <p:cNvSpPr/>
          <p:nvPr/>
        </p:nvSpPr>
        <p:spPr>
          <a:xfrm>
            <a:off x="548640" y="6272784"/>
            <a:ext cx="10881360" cy="292608"/>
          </a:xfrm>
          <a:prstGeom prst="rect">
            <a:avLst/>
          </a:prstGeom>
          <a:noFill/>
          <a:ln/>
        </p:spPr>
        <p:txBody>
          <a:bodyPr wrap="square" rtlCol="0" anchor="ctr"/>
          <a:lstStyle/>
          <a:p>
            <a:pPr indent="0" marL="0">
              <a:lnSpc>
                <a:spcPct val="110000"/>
              </a:lnSpc>
              <a:buNone/>
            </a:pPr>
            <a:r>
              <a:rPr lang="en-US" sz="1000" i="1" dirty="0">
                <a:solidFill>
                  <a:srgbClr val="8A6D1F"/>
                </a:solidFill>
                <a:latin typeface="Calibri" pitchFamily="34" charset="0"/>
                <a:ea typeface="Calibri" pitchFamily="34" charset="-122"/>
                <a:cs typeface="Calibri" pitchFamily="34" charset="-120"/>
              </a:rPr>
              <a:t>理论回扣：跨模块综合应用——M3（已约定Check Point的严肃性）、M3延伸（新人不确定时的求助应被快速响应）、M7（重要不紧急事项宁可延后到能保证质量的时机，也不要草率进行）。这是本讲第一个「精力冲突点」，核心训练点是排序依据要清晰，而非「谁先找我就先处理谁」。</a:t>
            </a:r>
            <a:endParaRPr lang="en-US" sz="1000" dirty="0"/>
          </a:p>
        </p:txBody>
      </p:sp>
      <p:sp>
        <p:nvSpPr>
          <p:cNvPr id="23" name="Shape 21"/>
          <p:cNvSpPr/>
          <p:nvPr/>
        </p:nvSpPr>
        <p:spPr>
          <a:xfrm>
            <a:off x="548640" y="6446520"/>
            <a:ext cx="11091672" cy="0"/>
          </a:xfrm>
          <a:prstGeom prst="line">
            <a:avLst/>
          </a:prstGeom>
          <a:noFill/>
          <a:ln w="9525">
            <a:solidFill>
              <a:srgbClr val="C7CDDB"/>
            </a:solidFill>
            <a:prstDash val="solid"/>
          </a:ln>
        </p:spPr>
      </p:sp>
      <p:sp>
        <p:nvSpPr>
          <p:cNvPr id="24" name="Text 2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第5周 · 精力冲突点一</a:t>
            </a:r>
            <a:endParaRPr lang="en-US" sz="900" dirty="0"/>
          </a:p>
        </p:txBody>
      </p:sp>
      <p:sp>
        <p:nvSpPr>
          <p:cNvPr id="25" name="Text 2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第5周 · 陷阱节点一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1417320"/>
            <a:ext cx="2377440" cy="292608"/>
          </a:xfrm>
          <a:prstGeom prst="rect">
            <a:avLst/>
          </a:prstGeom>
          <a:noFill/>
          <a:ln/>
        </p:spPr>
        <p:txBody>
          <a:bodyPr wrap="square" rtlCol="0" anchor="ctr"/>
          <a:lstStyle/>
          <a:p>
            <a:pPr indent="0" marL="0">
              <a:buNone/>
            </a:pPr>
            <a:r>
              <a:rPr lang="en-US" sz="1200" b="1" i="1" dirty="0">
                <a:solidFill>
                  <a:srgbClr val="8A6D1F"/>
                </a:solidFill>
                <a:latin typeface="Cambria" pitchFamily="34" charset="0"/>
                <a:ea typeface="Cambria" pitchFamily="34" charset="-122"/>
                <a:cs typeface="Cambria" pitchFamily="34" charset="-120"/>
              </a:rPr>
              <a:t>第5周</a:t>
            </a:r>
            <a:endParaRPr lang="en-US" sz="1200" dirty="0"/>
          </a:p>
        </p:txBody>
      </p:sp>
      <p:sp>
        <p:nvSpPr>
          <p:cNvPr id="6" name="Text 4"/>
          <p:cNvSpPr/>
          <p:nvPr/>
        </p:nvSpPr>
        <p:spPr>
          <a:xfrm>
            <a:off x="548640" y="1755648"/>
            <a:ext cx="11091672" cy="640080"/>
          </a:xfrm>
          <a:prstGeom prst="rect">
            <a:avLst/>
          </a:prstGeom>
          <a:noFill/>
          <a:ln/>
        </p:spPr>
        <p:txBody>
          <a:bodyPr wrap="square"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陷阱节点 · 这个排序逻辑「听起来对」，但藏着一个长期风险</a:t>
            </a:r>
            <a:endParaRPr lang="en-US" sz="2100" dirty="0"/>
          </a:p>
        </p:txBody>
      </p:sp>
      <p:sp>
        <p:nvSpPr>
          <p:cNvPr id="7" name="Text 5"/>
          <p:cNvSpPr/>
          <p:nvPr/>
        </p:nvSpPr>
        <p:spPr>
          <a:xfrm>
            <a:off x="548640" y="2395728"/>
            <a:ext cx="10881360" cy="548640"/>
          </a:xfrm>
          <a:prstGeom prst="rect">
            <a:avLst/>
          </a:prstGeom>
          <a:noFill/>
          <a:ln/>
        </p:spPr>
        <p:txBody>
          <a:bodyPr wrap="square" rtlCol="0" anchor="ctr"/>
          <a:lstStyle/>
          <a:p>
            <a:pPr indent="0" marL="0">
              <a:lnSpc>
                <a:spcPct val="126000"/>
              </a:lnSpc>
              <a:buNone/>
            </a:pPr>
            <a:r>
              <a:rPr lang="en-US" sz="1230" dirty="0">
                <a:solidFill>
                  <a:srgbClr val="2B2F36"/>
                </a:solidFill>
                <a:latin typeface="Calibri" pitchFamily="34" charset="0"/>
                <a:ea typeface="Calibri" pitchFamily="34" charset="-122"/>
                <a:cs typeface="Calibri" pitchFamily="34" charset="-120"/>
              </a:rPr>
              <a:t>老吴把小林的1on1顺延到下周，这个决定本身在第6页的推演中被认为是合理的。但如果这种「1on1为其他更紧急的事让路」的情况，在接下来几周反复发生呢？</a:t>
            </a:r>
            <a:endParaRPr lang="en-US" sz="1230" dirty="0"/>
          </a:p>
        </p:txBody>
      </p:sp>
      <p:sp>
        <p:nvSpPr>
          <p:cNvPr id="8" name="Shape 6"/>
          <p:cNvSpPr/>
          <p:nvPr/>
        </p:nvSpPr>
        <p:spPr>
          <a:xfrm>
            <a:off x="548640" y="3108960"/>
            <a:ext cx="0" cy="777240"/>
          </a:xfrm>
          <a:prstGeom prst="line">
            <a:avLst/>
          </a:prstGeom>
          <a:noFill/>
          <a:ln w="38100">
            <a:solidFill>
              <a:srgbClr val="9C5536"/>
            </a:solidFill>
            <a:prstDash val="solid"/>
          </a:ln>
        </p:spPr>
      </p:sp>
      <p:sp>
        <p:nvSpPr>
          <p:cNvPr id="9" name="Text 7"/>
          <p:cNvSpPr/>
          <p:nvPr/>
        </p:nvSpPr>
        <p:spPr>
          <a:xfrm>
            <a:off x="777240" y="310896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决策点四 · 陷阱</a:t>
            </a:r>
            <a:endParaRPr lang="en-US" sz="1100" dirty="0"/>
          </a:p>
        </p:txBody>
      </p:sp>
      <p:sp>
        <p:nvSpPr>
          <p:cNvPr id="10" name="Text 8"/>
          <p:cNvSpPr/>
          <p:nvPr/>
        </p:nvSpPr>
        <p:spPr>
          <a:xfrm>
            <a:off x="777240" y="3401568"/>
            <a:ext cx="10652760" cy="502920"/>
          </a:xfrm>
          <a:prstGeom prst="rect">
            <a:avLst/>
          </a:prstGeom>
          <a:noFill/>
          <a:ln/>
        </p:spPr>
        <p:txBody>
          <a:bodyPr wrap="square" rtlCol="0" anchor="ctr"/>
          <a:lstStyle/>
          <a:p>
            <a:pPr indent="0" marL="0">
              <a:lnSpc>
                <a:spcPct val="122000"/>
              </a:lnSpc>
              <a:buNone/>
            </a:pPr>
            <a:r>
              <a:rPr lang="en-US" sz="1250" i="1" dirty="0">
                <a:solidFill>
                  <a:srgbClr val="1B2A4A"/>
                </a:solidFill>
                <a:latin typeface="Cambria" pitchFamily="34" charset="0"/>
                <a:ea typeface="Cambria" pitchFamily="34" charset="-122"/>
                <a:cs typeface="Cambria" pitchFamily="34" charset="-120"/>
              </a:rPr>
              <a:t>「重要不紧急的事情可以延后」这个判断原则本身没有错，但如果学员把这个原则理解为「1on1只要不紧急，就可以一直往后推」，会发生什么？</a:t>
            </a:r>
            <a:endParaRPr lang="en-US" sz="1250" dirty="0"/>
          </a:p>
        </p:txBody>
      </p:sp>
      <p:sp>
        <p:nvSpPr>
          <p:cNvPr id="11" name="Text 9"/>
          <p:cNvSpPr/>
          <p:nvPr/>
        </p:nvSpPr>
        <p:spPr>
          <a:xfrm>
            <a:off x="548640" y="4087368"/>
            <a:ext cx="292608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〔推演 · 老吴的自我提醒〕</a:t>
            </a:r>
            <a:endParaRPr lang="en-US" sz="1100" dirty="0"/>
          </a:p>
        </p:txBody>
      </p:sp>
      <p:sp>
        <p:nvSpPr>
          <p:cNvPr id="12" name="Text 10"/>
          <p:cNvSpPr/>
          <p:nvPr/>
        </p:nvSpPr>
        <p:spPr>
          <a:xfrm>
            <a:off x="548640" y="4379976"/>
            <a:ext cx="10881360" cy="1325880"/>
          </a:xfrm>
          <a:prstGeom prst="rect">
            <a:avLst/>
          </a:prstGeom>
          <a:noFill/>
          <a:ln/>
        </p:spPr>
        <p:txBody>
          <a:bodyPr wrap="square" rtlCol="0" anchor="ctr"/>
          <a:lstStyle/>
          <a:p>
            <a:pPr indent="0" marL="0">
              <a:lnSpc>
                <a:spcPct val="120000"/>
              </a:lnSpc>
              <a:buNone/>
            </a:pPr>
            <a:r>
              <a:rPr lang="en-US" sz="1120" dirty="0">
                <a:solidFill>
                  <a:srgbClr val="2B2F36"/>
                </a:solidFill>
                <a:latin typeface="Calibri" pitchFamily="34" charset="0"/>
                <a:ea typeface="Calibri" pitchFamily="34" charset="-122"/>
                <a:cs typeface="Calibri" pitchFamily="34" charset="-120"/>
              </a:rPr>
              <a:t>老吴在顺延小林1on1的同时，做了一个关键动作：明确给出了一个新的时间（下周一），而不是模糊地说「以后再约」。这个区别至关重要——一次性的合理顺延，和反复的、没有明确重新安排的拖延，效果上完全不同。如果「重要不紧急」的1on1被反复顺延而没有被认真重新安排，最终会演变成「小林选择性呈现」问题被无限期搁置，直到某天演变成一个新的、更难处理的信任危机——这正是常规管理周期中最隐蔽的失败模式：不是因为某次判断错误而出问题，而是因为同一类「看似合理的顺延」反复发生、缺乏机制约束，导致重要但不紧急的事情系统性地被牺牲。老吴给自己设置的纪律：任何一次1on1的顺延，必须当场给出具体的新时间，且这个新安排具有和原定安排同等的严肃性。</a:t>
            </a:r>
            <a:endParaRPr lang="en-US" sz="1120" dirty="0"/>
          </a:p>
        </p:txBody>
      </p:sp>
      <p:sp>
        <p:nvSpPr>
          <p:cNvPr id="13" name="Shape 11"/>
          <p:cNvSpPr/>
          <p:nvPr/>
        </p:nvSpPr>
        <p:spPr>
          <a:xfrm>
            <a:off x="548640" y="5779008"/>
            <a:ext cx="10881360" cy="0"/>
          </a:xfrm>
          <a:prstGeom prst="line">
            <a:avLst/>
          </a:prstGeom>
          <a:noFill/>
          <a:ln w="12700">
            <a:solidFill>
              <a:srgbClr val="E3E7EF"/>
            </a:solidFill>
            <a:prstDash val="solid"/>
          </a:ln>
        </p:spPr>
      </p:sp>
      <p:sp>
        <p:nvSpPr>
          <p:cNvPr id="14" name="Text 12"/>
          <p:cNvSpPr/>
          <p:nvPr/>
        </p:nvSpPr>
        <p:spPr>
          <a:xfrm>
            <a:off x="548640" y="5870448"/>
            <a:ext cx="10881360" cy="411480"/>
          </a:xfrm>
          <a:prstGeom prst="rect">
            <a:avLst/>
          </a:prstGeom>
          <a:noFill/>
          <a:ln/>
        </p:spPr>
        <p:txBody>
          <a:bodyPr wrap="square" rtlCol="0" anchor="ctr"/>
          <a:lstStyle/>
          <a:p>
            <a:pPr indent="0" marL="0">
              <a:lnSpc>
                <a:spcPct val="115000"/>
              </a:lnSpc>
              <a:buNone/>
            </a:pPr>
            <a:r>
              <a:rPr lang="en-US" sz="1050" i="1" dirty="0">
                <a:solidFill>
                  <a:srgbClr val="8A6D1F"/>
                </a:solidFill>
                <a:latin typeface="Calibri" pitchFamily="34" charset="0"/>
                <a:ea typeface="Calibri" pitchFamily="34" charset="-122"/>
                <a:cs typeface="Calibri" pitchFamily="34" charset="-120"/>
              </a:rPr>
              <a:t>理论回扣：本讲设置的陷阱节点之一，呼应组织行为学中「重要不紧急」事项的系统性流失风险，同时延伸了M7中「1on1的及时性和严肃性」原则——一次合理的顺延不是问题，但顺延缺乏纪律性的重新安排机制，才是问题的根源。</a:t>
            </a:r>
            <a:endParaRPr lang="en-US" sz="105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第5周 · 陷阱节点一</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第6周 · 小林线</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1417320"/>
            <a:ext cx="2377440" cy="292608"/>
          </a:xfrm>
          <a:prstGeom prst="rect">
            <a:avLst/>
          </a:prstGeom>
          <a:noFill/>
          <a:ln/>
        </p:spPr>
        <p:txBody>
          <a:bodyPr wrap="square" rtlCol="0" anchor="ctr"/>
          <a:lstStyle/>
          <a:p>
            <a:pPr indent="0" marL="0">
              <a:buNone/>
            </a:pPr>
            <a:r>
              <a:rPr lang="en-US" sz="1200" b="1" i="1" dirty="0">
                <a:solidFill>
                  <a:srgbClr val="8A6D1F"/>
                </a:solidFill>
                <a:latin typeface="Cambria" pitchFamily="34" charset="0"/>
                <a:ea typeface="Cambria" pitchFamily="34" charset="-122"/>
                <a:cs typeface="Cambria" pitchFamily="34" charset="-120"/>
              </a:rPr>
              <a:t>第6周</a:t>
            </a:r>
            <a:endParaRPr lang="en-US" sz="1200" dirty="0"/>
          </a:p>
        </p:txBody>
      </p:sp>
      <p:sp>
        <p:nvSpPr>
          <p:cNvPr id="6" name="Text 4"/>
          <p:cNvSpPr/>
          <p:nvPr/>
        </p:nvSpPr>
        <p:spPr>
          <a:xfrm>
            <a:off x="548640" y="1755648"/>
            <a:ext cx="11091672" cy="64008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被顺延的1on1，如何真正触及问题本质</a:t>
            </a:r>
            <a:endParaRPr lang="en-US" sz="2200" dirty="0"/>
          </a:p>
        </p:txBody>
      </p:sp>
      <p:sp>
        <p:nvSpPr>
          <p:cNvPr id="7" name="Text 5"/>
          <p:cNvSpPr/>
          <p:nvPr/>
        </p:nvSpPr>
        <p:spPr>
          <a:xfrm>
            <a:off x="548640" y="2395728"/>
            <a:ext cx="10881360" cy="502920"/>
          </a:xfrm>
          <a:prstGeom prst="rect">
            <a:avLst/>
          </a:prstGeom>
          <a:noFill/>
          <a:ln/>
        </p:spPr>
        <p:txBody>
          <a:bodyPr wrap="square" rtlCol="0" anchor="ctr"/>
          <a:lstStyle/>
          <a:p>
            <a:pPr indent="0" marL="0">
              <a:lnSpc>
                <a:spcPct val="126000"/>
              </a:lnSpc>
              <a:buNone/>
            </a:pPr>
            <a:r>
              <a:rPr lang="en-US" sz="1230" dirty="0">
                <a:solidFill>
                  <a:srgbClr val="2B2F36"/>
                </a:solidFill>
                <a:latin typeface="Calibri" pitchFamily="34" charset="0"/>
                <a:ea typeface="Calibri" pitchFamily="34" charset="-122"/>
                <a:cs typeface="Calibri" pitchFamily="34" charset="-120"/>
              </a:rPr>
              <a:t>第6周一，老吴和小林进行了顺延后的1on1，这次老吴确保了完整的30分钟、且自己处于一个相对从容的状态（不是在两个会议中间挤出来的时间）。</a:t>
            </a:r>
            <a:endParaRPr lang="en-US" sz="1230" dirty="0"/>
          </a:p>
        </p:txBody>
      </p:sp>
      <p:sp>
        <p:nvSpPr>
          <p:cNvPr id="8" name="Shape 6"/>
          <p:cNvSpPr/>
          <p:nvPr/>
        </p:nvSpPr>
        <p:spPr>
          <a:xfrm>
            <a:off x="548640" y="3035808"/>
            <a:ext cx="0" cy="777240"/>
          </a:xfrm>
          <a:prstGeom prst="line">
            <a:avLst/>
          </a:prstGeom>
          <a:noFill/>
          <a:ln w="38100">
            <a:solidFill>
              <a:srgbClr val="9C5536"/>
            </a:solidFill>
            <a:prstDash val="solid"/>
          </a:ln>
        </p:spPr>
      </p:sp>
      <p:sp>
        <p:nvSpPr>
          <p:cNvPr id="9" name="Text 7"/>
          <p:cNvSpPr/>
          <p:nvPr/>
        </p:nvSpPr>
        <p:spPr>
          <a:xfrm>
            <a:off x="777240" y="3035808"/>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决策点五</a:t>
            </a:r>
            <a:endParaRPr lang="en-US" sz="1100" dirty="0"/>
          </a:p>
        </p:txBody>
      </p:sp>
      <p:sp>
        <p:nvSpPr>
          <p:cNvPr id="10" name="Text 8"/>
          <p:cNvSpPr/>
          <p:nvPr/>
        </p:nvSpPr>
        <p:spPr>
          <a:xfrm>
            <a:off x="777240" y="3328416"/>
            <a:ext cx="10652760" cy="502920"/>
          </a:xfrm>
          <a:prstGeom prst="rect">
            <a:avLst/>
          </a:prstGeom>
          <a:noFill/>
          <a:ln/>
        </p:spPr>
        <p:txBody>
          <a:bodyPr wrap="square" rtlCol="0" anchor="ctr"/>
          <a:lstStyle/>
          <a:p>
            <a:pPr indent="0" marL="0">
              <a:lnSpc>
                <a:spcPct val="122000"/>
              </a:lnSpc>
              <a:buNone/>
            </a:pPr>
            <a:r>
              <a:rPr lang="en-US" sz="1250" i="1" dirty="0">
                <a:solidFill>
                  <a:srgbClr val="1B2A4A"/>
                </a:solidFill>
                <a:latin typeface="Cambria" pitchFamily="34" charset="0"/>
                <a:ea typeface="Cambria" pitchFamily="34" charset="-122"/>
                <a:cs typeface="Cambria" pitchFamily="34" charset="-120"/>
              </a:rPr>
              <a:t>如何在这次1on1中，用合适的方式让小林意识到「选择性呈现」这个倾向，而不引发防御反应？</a:t>
            </a:r>
            <a:endParaRPr lang="en-US" sz="1250" dirty="0"/>
          </a:p>
        </p:txBody>
      </p:sp>
      <p:sp>
        <p:nvSpPr>
          <p:cNvPr id="11" name="Text 9"/>
          <p:cNvSpPr/>
          <p:nvPr/>
        </p:nvSpPr>
        <p:spPr>
          <a:xfrm>
            <a:off x="548640" y="4023360"/>
            <a:ext cx="292608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〔推演 · 老吴的处理〕</a:t>
            </a:r>
            <a:endParaRPr lang="en-US" sz="1100" dirty="0"/>
          </a:p>
        </p:txBody>
      </p:sp>
      <p:sp>
        <p:nvSpPr>
          <p:cNvPr id="12" name="Text 10"/>
          <p:cNvSpPr/>
          <p:nvPr/>
        </p:nvSpPr>
        <p:spPr>
          <a:xfrm>
            <a:off x="548640" y="4315968"/>
            <a:ext cx="10881360" cy="1417320"/>
          </a:xfrm>
          <a:prstGeom prst="rect">
            <a:avLst/>
          </a:prstGeom>
          <a:noFill/>
          <a:ln/>
        </p:spPr>
        <p:txBody>
          <a:bodyPr wrap="square" rtlCol="0" anchor="ctr"/>
          <a:lstStyle/>
          <a:p>
            <a:pPr indent="0" marL="0">
              <a:lnSpc>
                <a:spcPct val="120000"/>
              </a:lnSpc>
              <a:buNone/>
            </a:pPr>
            <a:r>
              <a:rPr lang="en-US" sz="1120" dirty="0">
                <a:solidFill>
                  <a:srgbClr val="2B2F36"/>
                </a:solidFill>
                <a:latin typeface="Calibri" pitchFamily="34" charset="0"/>
                <a:ea typeface="Calibri" pitchFamily="34" charset="-122"/>
                <a:cs typeface="Calibri" pitchFamily="34" charset="-120"/>
              </a:rPr>
              <a:t>老吴没有用「你最近汇报问题的时候，总是报喜不报忧」这种特质归因式开场（会立刻触发防御）。用GROW框架「现状」环节结合具体SBI行为描述切入：「上周那次小故障的同步，你提到处理得很顺利，但后来我了解到，中间有一个环节卡了大概20分钟，这部分当时没提到。我们聊聊，是什么让你觉得这部分不需要说？」小林沉默后说了实话：「我有点担心如果说卡了20分钟，会显得自己处理得不够快，尤其是模块九那次事情之后，我对显得不专业这件事特别敏感。」老吴用教练式提问继续：「如果你完整地说出那20分钟卡顿的细节，你觉得真正会发生什么？」小林想了想说：「可能其实也没什么，可能我自己想多了。」老吴说：「这个发现很重要——完整地呈现过程，包括不顺利的部分，不会让你显得不专业，反而是专业的体现。」</a:t>
            </a:r>
            <a:endParaRPr lang="en-US" sz="1120" dirty="0"/>
          </a:p>
        </p:txBody>
      </p:sp>
      <p:sp>
        <p:nvSpPr>
          <p:cNvPr id="13" name="Shape 11"/>
          <p:cNvSpPr/>
          <p:nvPr/>
        </p:nvSpPr>
        <p:spPr>
          <a:xfrm>
            <a:off x="548640" y="5870448"/>
            <a:ext cx="10881360" cy="0"/>
          </a:xfrm>
          <a:prstGeom prst="line">
            <a:avLst/>
          </a:prstGeom>
          <a:noFill/>
          <a:ln w="12700">
            <a:solidFill>
              <a:srgbClr val="E3E7EF"/>
            </a:solidFill>
            <a:prstDash val="solid"/>
          </a:ln>
        </p:spPr>
      </p:sp>
      <p:sp>
        <p:nvSpPr>
          <p:cNvPr id="14" name="Text 12"/>
          <p:cNvSpPr/>
          <p:nvPr/>
        </p:nvSpPr>
        <p:spPr>
          <a:xfrm>
            <a:off x="548640" y="5943600"/>
            <a:ext cx="10881360" cy="411480"/>
          </a:xfrm>
          <a:prstGeom prst="rect">
            <a:avLst/>
          </a:prstGeom>
          <a:noFill/>
          <a:ln/>
        </p:spPr>
        <p:txBody>
          <a:bodyPr wrap="square" rtlCol="0" anchor="ctr"/>
          <a:lstStyle/>
          <a:p>
            <a:pPr indent="0" marL="0">
              <a:lnSpc>
                <a:spcPct val="115000"/>
              </a:lnSpc>
              <a:buNone/>
            </a:pPr>
            <a:r>
              <a:rPr lang="en-US" sz="1030" i="1" dirty="0">
                <a:solidFill>
                  <a:srgbClr val="8A6D1F"/>
                </a:solidFill>
                <a:latin typeface="Calibri" pitchFamily="34" charset="0"/>
                <a:ea typeface="Calibri" pitchFamily="34" charset="-122"/>
                <a:cs typeface="Calibri" pitchFamily="34" charset="-120"/>
              </a:rPr>
              <a:t>理论回扣：M7教练式提问+M8 SBI行为归因的综合应用，且体现了一个重要认知——M9中的一次正确反馈，不代表问题被彻底解决，类似的心理模式可能需要在后续管理周期中持续被关注和巩固，这正是M10「持续节奏」区别于M9「单点处理」的核心价值所在。</a:t>
            </a:r>
            <a:endParaRPr lang="en-US" sz="103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第6周 · 小林的1on1</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第8周 · 精力冲突点二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1417320"/>
            <a:ext cx="2377440" cy="292608"/>
          </a:xfrm>
          <a:prstGeom prst="rect">
            <a:avLst/>
          </a:prstGeom>
          <a:noFill/>
          <a:ln/>
        </p:spPr>
        <p:txBody>
          <a:bodyPr wrap="square" rtlCol="0" anchor="ctr"/>
          <a:lstStyle/>
          <a:p>
            <a:pPr indent="0" marL="0">
              <a:buNone/>
            </a:pPr>
            <a:r>
              <a:rPr lang="en-US" sz="1200" b="1" i="1" dirty="0">
                <a:solidFill>
                  <a:srgbClr val="8A6D1F"/>
                </a:solidFill>
                <a:latin typeface="Cambria" pitchFamily="34" charset="0"/>
                <a:ea typeface="Cambria" pitchFamily="34" charset="-122"/>
                <a:cs typeface="Cambria" pitchFamily="34" charset="-120"/>
              </a:rPr>
              <a:t>第8周</a:t>
            </a:r>
            <a:endParaRPr lang="en-US" sz="1200" dirty="0"/>
          </a:p>
        </p:txBody>
      </p:sp>
      <p:sp>
        <p:nvSpPr>
          <p:cNvPr id="6" name="Text 4"/>
          <p:cNvSpPr/>
          <p:nvPr/>
        </p:nvSpPr>
        <p:spPr>
          <a:xfrm>
            <a:off x="548640" y="1755648"/>
            <a:ext cx="11091672" cy="640080"/>
          </a:xfrm>
          <a:prstGeom prst="rect">
            <a:avLst/>
          </a:prstGeom>
          <a:noFill/>
          <a:ln/>
        </p:spPr>
        <p:txBody>
          <a:bodyPr wrap="square"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当三条线几乎同时走到了「必须做决定」的时刻</a:t>
            </a:r>
            <a:endParaRPr lang="en-US" sz="2100" dirty="0"/>
          </a:p>
        </p:txBody>
      </p:sp>
      <p:sp>
        <p:nvSpPr>
          <p:cNvPr id="7" name="Shape 5"/>
          <p:cNvSpPr/>
          <p:nvPr/>
        </p:nvSpPr>
        <p:spPr>
          <a:xfrm>
            <a:off x="548640" y="2286000"/>
            <a:ext cx="0" cy="1280160"/>
          </a:xfrm>
          <a:prstGeom prst="line">
            <a:avLst/>
          </a:prstGeom>
          <a:noFill/>
          <a:ln w="31750">
            <a:solidFill>
              <a:srgbClr val="1B2A4A"/>
            </a:solidFill>
            <a:prstDash val="solid"/>
          </a:ln>
        </p:spPr>
      </p:sp>
      <p:sp>
        <p:nvSpPr>
          <p:cNvPr id="8" name="Text 6"/>
          <p:cNvSpPr/>
          <p:nvPr/>
        </p:nvSpPr>
        <p:spPr>
          <a:xfrm>
            <a:off x="731520" y="2286000"/>
            <a:ext cx="3337560" cy="274320"/>
          </a:xfrm>
          <a:prstGeom prst="rect">
            <a:avLst/>
          </a:prstGeom>
          <a:noFill/>
          <a:ln/>
        </p:spPr>
        <p:txBody>
          <a:bodyPr wrap="square"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小陈</a:t>
            </a:r>
            <a:endParaRPr lang="en-US" sz="1150" dirty="0"/>
          </a:p>
        </p:txBody>
      </p:sp>
      <p:sp>
        <p:nvSpPr>
          <p:cNvPr id="9" name="Text 7"/>
          <p:cNvSpPr/>
          <p:nvPr/>
        </p:nvSpPr>
        <p:spPr>
          <a:xfrm>
            <a:off x="731520" y="2615184"/>
            <a:ext cx="3246120" cy="914400"/>
          </a:xfrm>
          <a:prstGeom prst="rect">
            <a:avLst/>
          </a:prstGeom>
          <a:noFill/>
          <a:ln/>
        </p:spPr>
        <p:txBody>
          <a:bodyPr wrap="square" rtlCol="0" anchor="ctr"/>
          <a:lstStyle/>
          <a:p>
            <a:pPr indent="0" marL="0">
              <a:lnSpc>
                <a:spcPct val="122000"/>
              </a:lnSpc>
              <a:buNone/>
            </a:pPr>
            <a:r>
              <a:rPr lang="en-US" sz="980" dirty="0">
                <a:solidFill>
                  <a:srgbClr val="2B2F36"/>
                </a:solidFill>
                <a:latin typeface="Calibri" pitchFamily="34" charset="0"/>
                <a:ea typeface="Calibri" pitchFamily="34" charset="-122"/>
                <a:cs typeface="Calibri" pitchFamily="34" charset="-120"/>
              </a:rPr>
              <a:t>项目进入上线前最终确认（第三个、也是最后一个Check Point），约定好的、必须本周完成的事项。</a:t>
            </a:r>
            <a:endParaRPr lang="en-US" sz="980" dirty="0"/>
          </a:p>
        </p:txBody>
      </p:sp>
      <p:sp>
        <p:nvSpPr>
          <p:cNvPr id="10" name="Shape 8"/>
          <p:cNvSpPr/>
          <p:nvPr/>
        </p:nvSpPr>
        <p:spPr>
          <a:xfrm>
            <a:off x="4206240" y="2286000"/>
            <a:ext cx="0" cy="1280160"/>
          </a:xfrm>
          <a:prstGeom prst="line">
            <a:avLst/>
          </a:prstGeom>
          <a:noFill/>
          <a:ln w="31750">
            <a:solidFill>
              <a:srgbClr val="4F6F52"/>
            </a:solidFill>
            <a:prstDash val="solid"/>
          </a:ln>
        </p:spPr>
      </p:sp>
      <p:sp>
        <p:nvSpPr>
          <p:cNvPr id="11" name="Text 9"/>
          <p:cNvSpPr/>
          <p:nvPr/>
        </p:nvSpPr>
        <p:spPr>
          <a:xfrm>
            <a:off x="4389120" y="2286000"/>
            <a:ext cx="3337560" cy="274320"/>
          </a:xfrm>
          <a:prstGeom prst="rect">
            <a:avLst/>
          </a:prstGeom>
          <a:noFill/>
          <a:ln/>
        </p:spPr>
        <p:txBody>
          <a:bodyPr wrap="square" rtlCol="0" anchor="ctr"/>
          <a:lstStyle/>
          <a:p>
            <a:pPr indent="0" marL="0">
              <a:buNone/>
            </a:pPr>
            <a:r>
              <a:rPr lang="en-US" sz="1150" b="1" dirty="0">
                <a:solidFill>
                  <a:srgbClr val="4F6F52"/>
                </a:solidFill>
                <a:latin typeface="Calibri" pitchFamily="34" charset="0"/>
                <a:ea typeface="Calibri" pitchFamily="34" charset="-122"/>
                <a:cs typeface="Calibri" pitchFamily="34" charset="-120"/>
              </a:rPr>
              <a:t>小吴</a:t>
            </a:r>
            <a:endParaRPr lang="en-US" sz="1150" dirty="0"/>
          </a:p>
        </p:txBody>
      </p:sp>
      <p:sp>
        <p:nvSpPr>
          <p:cNvPr id="12" name="Text 10"/>
          <p:cNvSpPr/>
          <p:nvPr/>
        </p:nvSpPr>
        <p:spPr>
          <a:xfrm>
            <a:off x="4389120" y="2615184"/>
            <a:ext cx="3246120" cy="914400"/>
          </a:xfrm>
          <a:prstGeom prst="rect">
            <a:avLst/>
          </a:prstGeom>
          <a:noFill/>
          <a:ln/>
        </p:spPr>
        <p:txBody>
          <a:bodyPr wrap="square" rtlCol="0" anchor="ctr"/>
          <a:lstStyle/>
          <a:p>
            <a:pPr indent="0" marL="0">
              <a:lnSpc>
                <a:spcPct val="122000"/>
              </a:lnSpc>
              <a:buNone/>
            </a:pPr>
            <a:r>
              <a:rPr lang="en-US" sz="980" dirty="0">
                <a:solidFill>
                  <a:srgbClr val="2B2F36"/>
                </a:solidFill>
                <a:latin typeface="Calibri" pitchFamily="34" charset="0"/>
                <a:ea typeface="Calibri" pitchFamily="34" charset="-122"/>
                <a:cs typeface="Calibri" pitchFamily="34" charset="-120"/>
              </a:rPr>
              <a:t>独立完成了一次此前一直被高频检查的任务，且完成质量很好，老吴需要判断是否可以放宽检查频率。</a:t>
            </a:r>
            <a:endParaRPr lang="en-US" sz="980" dirty="0"/>
          </a:p>
        </p:txBody>
      </p:sp>
      <p:sp>
        <p:nvSpPr>
          <p:cNvPr id="13" name="Shape 11"/>
          <p:cNvSpPr/>
          <p:nvPr/>
        </p:nvSpPr>
        <p:spPr>
          <a:xfrm>
            <a:off x="7863840" y="2286000"/>
            <a:ext cx="0" cy="1280160"/>
          </a:xfrm>
          <a:prstGeom prst="line">
            <a:avLst/>
          </a:prstGeom>
          <a:noFill/>
          <a:ln w="31750">
            <a:solidFill>
              <a:srgbClr val="9C5536"/>
            </a:solidFill>
            <a:prstDash val="solid"/>
          </a:ln>
        </p:spPr>
      </p:sp>
      <p:sp>
        <p:nvSpPr>
          <p:cNvPr id="14" name="Text 12"/>
          <p:cNvSpPr/>
          <p:nvPr/>
        </p:nvSpPr>
        <p:spPr>
          <a:xfrm>
            <a:off x="8046720" y="2286000"/>
            <a:ext cx="3410712" cy="274320"/>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小林</a:t>
            </a:r>
            <a:endParaRPr lang="en-US" sz="1150" dirty="0"/>
          </a:p>
        </p:txBody>
      </p:sp>
      <p:sp>
        <p:nvSpPr>
          <p:cNvPr id="15" name="Text 13"/>
          <p:cNvSpPr/>
          <p:nvPr/>
        </p:nvSpPr>
        <p:spPr>
          <a:xfrm>
            <a:off x="8046720" y="2615184"/>
            <a:ext cx="3319272" cy="914400"/>
          </a:xfrm>
          <a:prstGeom prst="rect">
            <a:avLst/>
          </a:prstGeom>
          <a:noFill/>
          <a:ln/>
        </p:spPr>
        <p:txBody>
          <a:bodyPr wrap="square" rtlCol="0" anchor="ctr"/>
          <a:lstStyle/>
          <a:p>
            <a:pPr indent="0" marL="0">
              <a:lnSpc>
                <a:spcPct val="122000"/>
              </a:lnSpc>
              <a:buNone/>
            </a:pPr>
            <a:r>
              <a:rPr lang="en-US" sz="980" dirty="0">
                <a:solidFill>
                  <a:srgbClr val="2B2F36"/>
                </a:solidFill>
                <a:latin typeface="Calibri" pitchFamily="34" charset="0"/>
                <a:ea typeface="Calibri" pitchFamily="34" charset="-122"/>
                <a:cs typeface="Calibri" pitchFamily="34" charset="-120"/>
              </a:rPr>
              <a:t>主动找到老吴，说想申请下个季度负责一个更有挑战性的任务，这是第8页1on1后第一次主动提出更高的自我期待。</a:t>
            </a:r>
            <a:endParaRPr lang="en-US" sz="980" dirty="0"/>
          </a:p>
        </p:txBody>
      </p:sp>
      <p:sp>
        <p:nvSpPr>
          <p:cNvPr id="16" name="Shape 14"/>
          <p:cNvSpPr/>
          <p:nvPr/>
        </p:nvSpPr>
        <p:spPr>
          <a:xfrm>
            <a:off x="548640" y="3730752"/>
            <a:ext cx="0" cy="777240"/>
          </a:xfrm>
          <a:prstGeom prst="line">
            <a:avLst/>
          </a:prstGeom>
          <a:noFill/>
          <a:ln w="38100">
            <a:solidFill>
              <a:srgbClr val="9C5536"/>
            </a:solidFill>
            <a:prstDash val="solid"/>
          </a:ln>
        </p:spPr>
      </p:sp>
      <p:sp>
        <p:nvSpPr>
          <p:cNvPr id="17" name="Text 15"/>
          <p:cNvSpPr/>
          <p:nvPr/>
        </p:nvSpPr>
        <p:spPr>
          <a:xfrm>
            <a:off x="777240" y="3730752"/>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决策点六 · 精力冲突点</a:t>
            </a:r>
            <a:endParaRPr lang="en-US" sz="1100" dirty="0"/>
          </a:p>
        </p:txBody>
      </p:sp>
      <p:sp>
        <p:nvSpPr>
          <p:cNvPr id="18" name="Text 16"/>
          <p:cNvSpPr/>
          <p:nvPr/>
        </p:nvSpPr>
        <p:spPr>
          <a:xfrm>
            <a:off x="777240" y="4023360"/>
            <a:ext cx="10652760" cy="502920"/>
          </a:xfrm>
          <a:prstGeom prst="rect">
            <a:avLst/>
          </a:prstGeom>
          <a:noFill/>
          <a:ln/>
        </p:spPr>
        <p:txBody>
          <a:bodyPr wrap="square" rtlCol="0" anchor="ctr"/>
          <a:lstStyle/>
          <a:p>
            <a:pPr indent="0" marL="0">
              <a:lnSpc>
                <a:spcPct val="122000"/>
              </a:lnSpc>
              <a:buNone/>
            </a:pPr>
            <a:r>
              <a:rPr lang="en-US" sz="1250" i="1" dirty="0">
                <a:solidFill>
                  <a:srgbClr val="1B2A4A"/>
                </a:solidFill>
                <a:latin typeface="Cambria" pitchFamily="34" charset="0"/>
                <a:ea typeface="Cambria" pitchFamily="34" charset="-122"/>
                <a:cs typeface="Cambria" pitchFamily="34" charset="-120"/>
              </a:rPr>
              <a:t>这三件事性质不同（一个是约定的确认、一个是观察后的主动判断、一个是对方主动提出的请求），老吴应该如何安排？</a:t>
            </a:r>
            <a:endParaRPr lang="en-US" sz="1250" dirty="0"/>
          </a:p>
        </p:txBody>
      </p:sp>
      <p:sp>
        <p:nvSpPr>
          <p:cNvPr id="19" name="Text 17"/>
          <p:cNvSpPr/>
          <p:nvPr/>
        </p:nvSpPr>
        <p:spPr>
          <a:xfrm>
            <a:off x="548640" y="4617720"/>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〔推演 · 老吴的处理〕</a:t>
            </a:r>
            <a:endParaRPr lang="en-US" sz="1100" dirty="0"/>
          </a:p>
        </p:txBody>
      </p:sp>
      <p:sp>
        <p:nvSpPr>
          <p:cNvPr id="20" name="Text 18"/>
          <p:cNvSpPr/>
          <p:nvPr/>
        </p:nvSpPr>
        <p:spPr>
          <a:xfrm>
            <a:off x="548640" y="4910328"/>
            <a:ext cx="10881360" cy="1280160"/>
          </a:xfrm>
          <a:prstGeom prst="rect">
            <a:avLst/>
          </a:prstGeom>
          <a:noFill/>
          <a:ln/>
        </p:spPr>
        <p:txBody>
          <a:bodyPr wrap="square" rtlCol="0" anchor="ctr"/>
          <a:lstStyle/>
          <a:p>
            <a:pPr indent="0" marL="0">
              <a:lnSpc>
                <a:spcPct val="116000"/>
              </a:lnSpc>
              <a:buNone/>
            </a:pPr>
            <a:r>
              <a:rPr lang="en-US" sz="1050" dirty="0">
                <a:solidFill>
                  <a:srgbClr val="2B2F36"/>
                </a:solidFill>
                <a:latin typeface="Calibri" pitchFamily="34" charset="0"/>
                <a:ea typeface="Calibri" pitchFamily="34" charset="-122"/>
                <a:cs typeface="Calibri" pitchFamily="34" charset="-120"/>
              </a:rPr>
              <a:t>依然遵循「约定优先于新增」原则——小陈的最终确认是此前明确约定的Check Point，具有最高的时间确定性和承诺严肃性，安排在本周最优先的位置。对小吴的授权调整，判断不是需要立刻拍板的紧急决策，没有当场宣布「以后不用每次都来问我了」，而是在复盘中明确指出具体行为（「这次你处理得很好，尤其是那个判断的过程」），并告诉小吴「接下来类似复杂度的任务，可以先按你的判断处理，遇到真正没把握的再来找我」——渐进的、附带具体边界说明的授权升级。对小林的主动请求，没有当场答应或拒绝，而是说「我很高兴你愿意挑战更难的任务，这件事我们专门找时间聊一下，包括你想清楚为什么想做这个、有没有具体的准备方向」——把一个看似简单的是非问题，转化为一次有质量的职业发展对话。</a:t>
            </a:r>
            <a:endParaRPr lang="en-US" sz="1050" dirty="0"/>
          </a:p>
        </p:txBody>
      </p:sp>
      <p:sp>
        <p:nvSpPr>
          <p:cNvPr id="21" name="Shape 19"/>
          <p:cNvSpPr/>
          <p:nvPr/>
        </p:nvSpPr>
        <p:spPr>
          <a:xfrm>
            <a:off x="548640" y="6199632"/>
            <a:ext cx="10881360" cy="0"/>
          </a:xfrm>
          <a:prstGeom prst="line">
            <a:avLst/>
          </a:prstGeom>
          <a:noFill/>
          <a:ln w="12700">
            <a:solidFill>
              <a:srgbClr val="E3E7EF"/>
            </a:solidFill>
            <a:prstDash val="solid"/>
          </a:ln>
        </p:spPr>
      </p:sp>
      <p:sp>
        <p:nvSpPr>
          <p:cNvPr id="22" name="Text 20"/>
          <p:cNvSpPr/>
          <p:nvPr/>
        </p:nvSpPr>
        <p:spPr>
          <a:xfrm>
            <a:off x="548640" y="6272784"/>
            <a:ext cx="10881360" cy="292608"/>
          </a:xfrm>
          <a:prstGeom prst="rect">
            <a:avLst/>
          </a:prstGeom>
          <a:noFill/>
          <a:ln/>
        </p:spPr>
        <p:txBody>
          <a:bodyPr wrap="square" rtlCol="0" anchor="ctr"/>
          <a:lstStyle/>
          <a:p>
            <a:pPr indent="0" marL="0">
              <a:lnSpc>
                <a:spcPct val="110000"/>
              </a:lnSpc>
              <a:buNone/>
            </a:pPr>
            <a:r>
              <a:rPr lang="en-US" sz="980" i="1" dirty="0">
                <a:solidFill>
                  <a:srgbClr val="8A6D1F"/>
                </a:solidFill>
                <a:latin typeface="Calibri" pitchFamily="34" charset="0"/>
                <a:ea typeface="Calibri" pitchFamily="34" charset="-122"/>
                <a:cs typeface="Calibri" pitchFamily="34" charset="-120"/>
              </a:rPr>
              <a:t>理论回扣：三件事呈现了授权设计的三种不同动态——约定的兑现（最高优先级，呼应M3）、基于观察的渐进授权升级（M3的动态应用）、对主动请求的审慎回应（避免仓促决策，呼应M7「把谈话变成杠杆」而非简单的是非判断）。</a:t>
            </a:r>
            <a:endParaRPr lang="en-US" sz="980" dirty="0"/>
          </a:p>
        </p:txBody>
      </p:sp>
      <p:sp>
        <p:nvSpPr>
          <p:cNvPr id="23" name="Shape 21"/>
          <p:cNvSpPr/>
          <p:nvPr/>
        </p:nvSpPr>
        <p:spPr>
          <a:xfrm>
            <a:off x="548640" y="6446520"/>
            <a:ext cx="11091672" cy="0"/>
          </a:xfrm>
          <a:prstGeom prst="line">
            <a:avLst/>
          </a:prstGeom>
          <a:noFill/>
          <a:ln w="9525">
            <a:solidFill>
              <a:srgbClr val="C7CDDB"/>
            </a:solidFill>
            <a:prstDash val="solid"/>
          </a:ln>
        </p:spPr>
      </p:sp>
      <p:sp>
        <p:nvSpPr>
          <p:cNvPr id="24" name="Text 2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第8周 · 精力冲突点二</a:t>
            </a:r>
            <a:endParaRPr lang="en-US" sz="900" dirty="0"/>
          </a:p>
        </p:txBody>
      </p:sp>
      <p:sp>
        <p:nvSpPr>
          <p:cNvPr id="25" name="Text 2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第10周 · 陷阱节点二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1417320"/>
            <a:ext cx="2377440" cy="292608"/>
          </a:xfrm>
          <a:prstGeom prst="rect">
            <a:avLst/>
          </a:prstGeom>
          <a:noFill/>
          <a:ln/>
        </p:spPr>
        <p:txBody>
          <a:bodyPr wrap="square" rtlCol="0" anchor="ctr"/>
          <a:lstStyle/>
          <a:p>
            <a:pPr indent="0" marL="0">
              <a:buNone/>
            </a:pPr>
            <a:r>
              <a:rPr lang="en-US" sz="1200" b="1" i="1" dirty="0">
                <a:solidFill>
                  <a:srgbClr val="8A6D1F"/>
                </a:solidFill>
                <a:latin typeface="Cambria" pitchFamily="34" charset="0"/>
                <a:ea typeface="Cambria" pitchFamily="34" charset="-122"/>
                <a:cs typeface="Cambria" pitchFamily="34" charset="-120"/>
              </a:rPr>
              <a:t>第10周</a:t>
            </a:r>
            <a:endParaRPr lang="en-US" sz="1200" dirty="0"/>
          </a:p>
        </p:txBody>
      </p:sp>
      <p:sp>
        <p:nvSpPr>
          <p:cNvPr id="6" name="Text 4"/>
          <p:cNvSpPr/>
          <p:nvPr/>
        </p:nvSpPr>
        <p:spPr>
          <a:xfrm>
            <a:off x="548640" y="1755648"/>
            <a:ext cx="11091672" cy="640080"/>
          </a:xfrm>
          <a:prstGeom prst="rect">
            <a:avLst/>
          </a:prstGeom>
          <a:noFill/>
          <a:ln/>
        </p:spPr>
        <p:txBody>
          <a:bodyPr wrap="square"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陷阱节点 · 授权放手之后，是不是就可以不再关注了</a:t>
            </a:r>
            <a:endParaRPr lang="en-US" sz="2100" dirty="0"/>
          </a:p>
        </p:txBody>
      </p:sp>
      <p:sp>
        <p:nvSpPr>
          <p:cNvPr id="7" name="Text 5"/>
          <p:cNvSpPr/>
          <p:nvPr/>
        </p:nvSpPr>
        <p:spPr>
          <a:xfrm>
            <a:off x="548640" y="2395728"/>
            <a:ext cx="10881360" cy="594360"/>
          </a:xfrm>
          <a:prstGeom prst="rect">
            <a:avLst/>
          </a:prstGeom>
          <a:noFill/>
          <a:ln/>
        </p:spPr>
        <p:txBody>
          <a:bodyPr wrap="square" rtlCol="0" anchor="ctr"/>
          <a:lstStyle/>
          <a:p>
            <a:pPr indent="0" marL="0">
              <a:lnSpc>
                <a:spcPct val="126000"/>
              </a:lnSpc>
              <a:buNone/>
            </a:pPr>
            <a:r>
              <a:rPr lang="en-US" sz="1230" dirty="0">
                <a:solidFill>
                  <a:srgbClr val="2B2F36"/>
                </a:solidFill>
                <a:latin typeface="Calibri" pitchFamily="34" charset="0"/>
                <a:ea typeface="Calibri" pitchFamily="34" charset="-122"/>
                <a:cs typeface="Calibri" pitchFamily="34" charset="-120"/>
              </a:rPr>
              <a:t>小吴在被放宽检查频率后，已经独立处理了两个任务，质量都不错。老吴感觉小吴已经「上手了」，开始把更多注意力放在小陈的项目收尾和小林的状态观察上，对小吴的关注明显减少。</a:t>
            </a:r>
            <a:endParaRPr lang="en-US" sz="1230" dirty="0"/>
          </a:p>
        </p:txBody>
      </p:sp>
      <p:sp>
        <p:nvSpPr>
          <p:cNvPr id="8" name="Shape 6"/>
          <p:cNvSpPr/>
          <p:nvPr/>
        </p:nvSpPr>
        <p:spPr>
          <a:xfrm>
            <a:off x="548640" y="3127248"/>
            <a:ext cx="0" cy="777240"/>
          </a:xfrm>
          <a:prstGeom prst="line">
            <a:avLst/>
          </a:prstGeom>
          <a:noFill/>
          <a:ln w="38100">
            <a:solidFill>
              <a:srgbClr val="9C5536"/>
            </a:solidFill>
            <a:prstDash val="solid"/>
          </a:ln>
        </p:spPr>
      </p:sp>
      <p:sp>
        <p:nvSpPr>
          <p:cNvPr id="9" name="Text 7"/>
          <p:cNvSpPr/>
          <p:nvPr/>
        </p:nvSpPr>
        <p:spPr>
          <a:xfrm>
            <a:off x="777240" y="3127248"/>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决策点七 · 陷阱</a:t>
            </a:r>
            <a:endParaRPr lang="en-US" sz="1100" dirty="0"/>
          </a:p>
        </p:txBody>
      </p:sp>
      <p:sp>
        <p:nvSpPr>
          <p:cNvPr id="10" name="Text 8"/>
          <p:cNvSpPr/>
          <p:nvPr/>
        </p:nvSpPr>
        <p:spPr>
          <a:xfrm>
            <a:off x="777240" y="3419856"/>
            <a:ext cx="10652760" cy="502920"/>
          </a:xfrm>
          <a:prstGeom prst="rect">
            <a:avLst/>
          </a:prstGeom>
          <a:noFill/>
          <a:ln/>
        </p:spPr>
        <p:txBody>
          <a:bodyPr wrap="square" rtlCol="0" anchor="ctr"/>
          <a:lstStyle/>
          <a:p>
            <a:pPr indent="0" marL="0">
              <a:lnSpc>
                <a:spcPct val="122000"/>
              </a:lnSpc>
              <a:buNone/>
            </a:pPr>
            <a:r>
              <a:rPr lang="en-US" sz="1250" i="1" dirty="0">
                <a:solidFill>
                  <a:srgbClr val="1B2A4A"/>
                </a:solidFill>
                <a:latin typeface="Cambria" pitchFamily="34" charset="0"/>
                <a:ea typeface="Cambria" pitchFamily="34" charset="-122"/>
                <a:cs typeface="Cambria" pitchFamily="34" charset="-120"/>
              </a:rPr>
              <a:t>「既然授权放手了，而且对方表现不错，可以把注意力完全转移到别处」，这个判断是否合理？</a:t>
            </a:r>
            <a:endParaRPr lang="en-US" sz="1250" dirty="0"/>
          </a:p>
        </p:txBody>
      </p:sp>
      <p:sp>
        <p:nvSpPr>
          <p:cNvPr id="11" name="Text 9"/>
          <p:cNvSpPr/>
          <p:nvPr/>
        </p:nvSpPr>
        <p:spPr>
          <a:xfrm>
            <a:off x="548640" y="4114800"/>
            <a:ext cx="292608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〔推演 · 老吴的再思考〕</a:t>
            </a:r>
            <a:endParaRPr lang="en-US" sz="1100" dirty="0"/>
          </a:p>
        </p:txBody>
      </p:sp>
      <p:sp>
        <p:nvSpPr>
          <p:cNvPr id="12" name="Text 10"/>
          <p:cNvSpPr/>
          <p:nvPr/>
        </p:nvSpPr>
        <p:spPr>
          <a:xfrm>
            <a:off x="548640" y="4407408"/>
            <a:ext cx="10881360" cy="1371600"/>
          </a:xfrm>
          <a:prstGeom prst="rect">
            <a:avLst/>
          </a:prstGeom>
          <a:noFill/>
          <a:ln/>
        </p:spPr>
        <p:txBody>
          <a:bodyPr wrap="square" rtlCol="0" anchor="ctr"/>
          <a:lstStyle/>
          <a:p>
            <a:pPr indent="0" marL="0">
              <a:lnSpc>
                <a:spcPct val="118000"/>
              </a:lnSpc>
              <a:buNone/>
            </a:pPr>
            <a:r>
              <a:rPr lang="en-US" sz="1100" dirty="0">
                <a:solidFill>
                  <a:srgbClr val="2B2F36"/>
                </a:solidFill>
                <a:latin typeface="Calibri" pitchFamily="34" charset="0"/>
                <a:ea typeface="Calibri" pitchFamily="34" charset="-122"/>
                <a:cs typeface="Calibri" pitchFamily="34" charset="-120"/>
              </a:rPr>
              <a:t>老吴在一次例行检查中，偶然发现小吴最近处理的一个任务，虽然结果是对的，但过程中其实有一次比较明显的犹豫和绕弯路——只是因为最终结果没问题，这个过程问题没有被任何人注意到。老吴意识到，「授权放手」不等于「完全停止关注」，而是关注的方式应该发生变化——从「过程中的高频检查」转变为「周期性的、轻量级的过程回顾」，而不是变成「零关注」。如果完全停止关注，一些表现尚可、但思考过程中存在的问题不会被及时发现和纠正，长期下来可能演变成更隐蔽的能力短板，或者在某次更高难度的任务中突然暴露成实质性的问题——这和第7页「重要不紧急被无限期搁置」是同一类陷阱的不同表现形式。老吴的调整：和小吴约定，接下来不再逐项检查，但保留每两周一次的简短回顾（「最近处理的任务里，有没有哪个过程让你觉得当时不太确定该怎么做」），把高频的过程检查转化为低频但依然存在的、聚焦在「思考过程」而非「结果对错」的回顾机制。</a:t>
            </a:r>
            <a:endParaRPr lang="en-US" sz="1100" dirty="0"/>
          </a:p>
        </p:txBody>
      </p:sp>
      <p:sp>
        <p:nvSpPr>
          <p:cNvPr id="13" name="Shape 11"/>
          <p:cNvSpPr/>
          <p:nvPr/>
        </p:nvSpPr>
        <p:spPr>
          <a:xfrm>
            <a:off x="548640" y="5897880"/>
            <a:ext cx="10881360" cy="0"/>
          </a:xfrm>
          <a:prstGeom prst="line">
            <a:avLst/>
          </a:prstGeom>
          <a:noFill/>
          <a:ln w="12700">
            <a:solidFill>
              <a:srgbClr val="E3E7EF"/>
            </a:solidFill>
            <a:prstDash val="solid"/>
          </a:ln>
        </p:spPr>
      </p:sp>
      <p:sp>
        <p:nvSpPr>
          <p:cNvPr id="14" name="Text 12"/>
          <p:cNvSpPr/>
          <p:nvPr/>
        </p:nvSpPr>
        <p:spPr>
          <a:xfrm>
            <a:off x="548640" y="5971032"/>
            <a:ext cx="10881360" cy="411480"/>
          </a:xfrm>
          <a:prstGeom prst="rect">
            <a:avLst/>
          </a:prstGeom>
          <a:noFill/>
          <a:ln/>
        </p:spPr>
        <p:txBody>
          <a:bodyPr wrap="square" rtlCol="0" anchor="ctr"/>
          <a:lstStyle/>
          <a:p>
            <a:pPr indent="0" marL="0">
              <a:lnSpc>
                <a:spcPct val="112000"/>
              </a:lnSpc>
              <a:buNone/>
            </a:pPr>
            <a:r>
              <a:rPr lang="en-US" sz="1000" i="1" dirty="0">
                <a:solidFill>
                  <a:srgbClr val="8A6D1F"/>
                </a:solidFill>
                <a:latin typeface="Calibri" pitchFamily="34" charset="0"/>
                <a:ea typeface="Calibri" pitchFamily="34" charset="-122"/>
                <a:cs typeface="Calibri" pitchFamily="34" charset="-120"/>
              </a:rPr>
              <a:t>理论回扣：呼应M3边界条件中「授权不等于零跟进」的原则，是本讲设置的第二个陷阱——和第7页的陷阱形成对照：第7页是「重要不紧急的事被无限期推迟」，这里是「授权放手后被误解为完全不需要关注」，两者都是对「合理原则」的过度延伸导致的失败。</a:t>
            </a:r>
            <a:endParaRPr lang="en-US" sz="10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第10周 · 陷阱节点二</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第12周 · 小林线</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1417320"/>
            <a:ext cx="2377440" cy="292608"/>
          </a:xfrm>
          <a:prstGeom prst="rect">
            <a:avLst/>
          </a:prstGeom>
          <a:noFill/>
          <a:ln/>
        </p:spPr>
        <p:txBody>
          <a:bodyPr wrap="square" rtlCol="0" anchor="ctr"/>
          <a:lstStyle/>
          <a:p>
            <a:pPr indent="0" marL="0">
              <a:buNone/>
            </a:pPr>
            <a:r>
              <a:rPr lang="en-US" sz="1200" b="1" i="1" dirty="0">
                <a:solidFill>
                  <a:srgbClr val="8A6D1F"/>
                </a:solidFill>
                <a:latin typeface="Cambria" pitchFamily="34" charset="0"/>
                <a:ea typeface="Cambria" pitchFamily="34" charset="-122"/>
                <a:cs typeface="Cambria" pitchFamily="34" charset="-120"/>
              </a:rPr>
              <a:t>第12周</a:t>
            </a:r>
            <a:endParaRPr lang="en-US" sz="1200" dirty="0"/>
          </a:p>
        </p:txBody>
      </p:sp>
      <p:sp>
        <p:nvSpPr>
          <p:cNvPr id="6" name="Text 4"/>
          <p:cNvSpPr/>
          <p:nvPr/>
        </p:nvSpPr>
        <p:spPr>
          <a:xfrm>
            <a:off x="548640" y="1755648"/>
            <a:ext cx="11091672" cy="640080"/>
          </a:xfrm>
          <a:prstGeom prst="rect">
            <a:avLst/>
          </a:prstGeom>
          <a:noFill/>
          <a:ln/>
        </p:spPr>
        <p:txBody>
          <a:bodyPr wrap="square"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一个季度的观察和投入，如何在绩效面谈中收口</a:t>
            </a:r>
            <a:endParaRPr lang="en-US" sz="2200" dirty="0"/>
          </a:p>
        </p:txBody>
      </p:sp>
      <p:sp>
        <p:nvSpPr>
          <p:cNvPr id="7" name="Text 5"/>
          <p:cNvSpPr/>
          <p:nvPr/>
        </p:nvSpPr>
        <p:spPr>
          <a:xfrm>
            <a:off x="548640" y="2395728"/>
            <a:ext cx="10881360" cy="548640"/>
          </a:xfrm>
          <a:prstGeom prst="rect">
            <a:avLst/>
          </a:prstGeom>
          <a:noFill/>
          <a:ln/>
        </p:spPr>
        <p:txBody>
          <a:bodyPr wrap="square" rtlCol="0" anchor="ctr"/>
          <a:lstStyle/>
          <a:p>
            <a:pPr indent="0" marL="0">
              <a:lnSpc>
                <a:spcPct val="126000"/>
              </a:lnSpc>
              <a:buNone/>
            </a:pPr>
            <a:r>
              <a:rPr lang="en-US" sz="1230" dirty="0">
                <a:solidFill>
                  <a:srgbClr val="2B2F36"/>
                </a:solidFill>
                <a:latin typeface="Calibri" pitchFamily="34" charset="0"/>
                <a:ea typeface="Calibri" pitchFamily="34" charset="-122"/>
                <a:cs typeface="Calibri" pitchFamily="34" charset="-120"/>
              </a:rPr>
              <a:t>到了季度绩效面谈的时间。小林这个季度的整体表现是积极的——在第8页1on1之后，老吴明显观察到小林在后续的几次沟通和工单处理中，呈现信息变得更完整、更主动提及困难和不确定的部分。</a:t>
            </a:r>
            <a:endParaRPr lang="en-US" sz="1230" dirty="0"/>
          </a:p>
        </p:txBody>
      </p:sp>
      <p:sp>
        <p:nvSpPr>
          <p:cNvPr id="8" name="Shape 6"/>
          <p:cNvSpPr/>
          <p:nvPr/>
        </p:nvSpPr>
        <p:spPr>
          <a:xfrm>
            <a:off x="548640" y="3063240"/>
            <a:ext cx="0" cy="777240"/>
          </a:xfrm>
          <a:prstGeom prst="line">
            <a:avLst/>
          </a:prstGeom>
          <a:noFill/>
          <a:ln w="38100">
            <a:solidFill>
              <a:srgbClr val="9C5536"/>
            </a:solidFill>
            <a:prstDash val="solid"/>
          </a:ln>
        </p:spPr>
      </p:sp>
      <p:sp>
        <p:nvSpPr>
          <p:cNvPr id="9" name="Text 7"/>
          <p:cNvSpPr/>
          <p:nvPr/>
        </p:nvSpPr>
        <p:spPr>
          <a:xfrm>
            <a:off x="777240" y="306324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决策点八</a:t>
            </a:r>
            <a:endParaRPr lang="en-US" sz="1100" dirty="0"/>
          </a:p>
        </p:txBody>
      </p:sp>
      <p:sp>
        <p:nvSpPr>
          <p:cNvPr id="10" name="Text 8"/>
          <p:cNvSpPr/>
          <p:nvPr/>
        </p:nvSpPr>
        <p:spPr>
          <a:xfrm>
            <a:off x="777240" y="3355848"/>
            <a:ext cx="10652760" cy="502920"/>
          </a:xfrm>
          <a:prstGeom prst="rect">
            <a:avLst/>
          </a:prstGeom>
          <a:noFill/>
          <a:ln/>
        </p:spPr>
        <p:txBody>
          <a:bodyPr wrap="square" rtlCol="0" anchor="ctr"/>
          <a:lstStyle/>
          <a:p>
            <a:pPr indent="0" marL="0">
              <a:lnSpc>
                <a:spcPct val="122000"/>
              </a:lnSpc>
              <a:buNone/>
            </a:pPr>
            <a:r>
              <a:rPr lang="en-US" sz="1250" i="1" dirty="0">
                <a:solidFill>
                  <a:srgbClr val="1B2A4A"/>
                </a:solidFill>
                <a:latin typeface="Cambria" pitchFamily="34" charset="0"/>
                <a:ea typeface="Cambria" pitchFamily="34" charset="-122"/>
                <a:cs typeface="Cambria" pitchFamily="34" charset="-120"/>
              </a:rPr>
              <a:t>这次绩效面谈，老吴应该如何反馈小林这个季度的变化？</a:t>
            </a:r>
            <a:endParaRPr lang="en-US" sz="1250" dirty="0"/>
          </a:p>
        </p:txBody>
      </p:sp>
      <p:sp>
        <p:nvSpPr>
          <p:cNvPr id="11" name="Text 9"/>
          <p:cNvSpPr/>
          <p:nvPr/>
        </p:nvSpPr>
        <p:spPr>
          <a:xfrm>
            <a:off x="548640" y="4041648"/>
            <a:ext cx="292608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〔推演 · 老吴的处理〕</a:t>
            </a:r>
            <a:endParaRPr lang="en-US" sz="1100" dirty="0"/>
          </a:p>
        </p:txBody>
      </p:sp>
      <p:sp>
        <p:nvSpPr>
          <p:cNvPr id="12" name="Text 10"/>
          <p:cNvSpPr/>
          <p:nvPr/>
        </p:nvSpPr>
        <p:spPr>
          <a:xfrm>
            <a:off x="548640" y="4334256"/>
            <a:ext cx="10881360" cy="1371600"/>
          </a:xfrm>
          <a:prstGeom prst="rect">
            <a:avLst/>
          </a:prstGeom>
          <a:noFill/>
          <a:ln/>
        </p:spPr>
        <p:txBody>
          <a:bodyPr wrap="square" rtlCol="0" anchor="ctr"/>
          <a:lstStyle/>
          <a:p>
            <a:pPr indent="0" marL="0">
              <a:lnSpc>
                <a:spcPct val="120000"/>
              </a:lnSpc>
              <a:buNone/>
            </a:pPr>
            <a:r>
              <a:rPr lang="en-US" sz="1120" dirty="0">
                <a:solidFill>
                  <a:srgbClr val="2B2F36"/>
                </a:solidFill>
                <a:latin typeface="Calibri" pitchFamily="34" charset="0"/>
                <a:ea typeface="Calibri" pitchFamily="34" charset="-122"/>
                <a:cs typeface="Calibri" pitchFamily="34" charset="-120"/>
              </a:rPr>
              <a:t>老吴没有把这次反馈处理成一次孤立的、只针对「过去两周表现」的评价，而是有意识地把整个季度的观察串联起来：「这个季度有一个变化我想专门提一下。还记得第6周我们聊过一次，关于信息呈现完整性的事吗？那之后我注意到几个具体的例子——上个月那次设备数据延迟的问题，你在还不确定根因的时候就主动跟我同步了进展和不确定性，这个和季度初的情况很不一样。这种变化对团队的信任建设很有价值。」老吴特意没有用「你进步了」这种笼统的评价，而是引用了具体的、可验证的行为对比（季度初的倾向 vs 近期的具体例子）。这次反馈也自然延伸到了小林在第9页提出的请求：「你提到想试试更有挑战性的任务，从这个季度的变化来看，我觉得是合适的时机，我们具体聊聊方向。」</a:t>
            </a:r>
            <a:endParaRPr lang="en-US" sz="1120" dirty="0"/>
          </a:p>
        </p:txBody>
      </p:sp>
      <p:sp>
        <p:nvSpPr>
          <p:cNvPr id="13" name="Shape 11"/>
          <p:cNvSpPr/>
          <p:nvPr/>
        </p:nvSpPr>
        <p:spPr>
          <a:xfrm>
            <a:off x="548640" y="5852160"/>
            <a:ext cx="10881360" cy="0"/>
          </a:xfrm>
          <a:prstGeom prst="line">
            <a:avLst/>
          </a:prstGeom>
          <a:noFill/>
          <a:ln w="12700">
            <a:solidFill>
              <a:srgbClr val="E3E7EF"/>
            </a:solidFill>
            <a:prstDash val="solid"/>
          </a:ln>
        </p:spPr>
      </p:sp>
      <p:sp>
        <p:nvSpPr>
          <p:cNvPr id="14" name="Text 12"/>
          <p:cNvSpPr/>
          <p:nvPr/>
        </p:nvSpPr>
        <p:spPr>
          <a:xfrm>
            <a:off x="548640" y="5925312"/>
            <a:ext cx="10881360" cy="457200"/>
          </a:xfrm>
          <a:prstGeom prst="rect">
            <a:avLst/>
          </a:prstGeom>
          <a:noFill/>
          <a:ln/>
        </p:spPr>
        <p:txBody>
          <a:bodyPr wrap="square" rtlCol="0" anchor="ctr"/>
          <a:lstStyle/>
          <a:p>
            <a:pPr indent="0" marL="0">
              <a:lnSpc>
                <a:spcPct val="115000"/>
              </a:lnSpc>
              <a:buNone/>
            </a:pPr>
            <a:r>
              <a:rPr lang="en-US" sz="1030" i="1" dirty="0">
                <a:solidFill>
                  <a:srgbClr val="8A6D1F"/>
                </a:solidFill>
                <a:latin typeface="Calibri" pitchFamily="34" charset="0"/>
                <a:ea typeface="Calibri" pitchFamily="34" charset="-122"/>
                <a:cs typeface="Calibri" pitchFamily="34" charset="-120"/>
              </a:rPr>
              <a:t>理论回扣：M8 SBI模型在更长时间跨度上的应用——情境(S)不再局限于单次事件，而可以是「季度内的行为模式变化」；这也呼应了M6中强调的「持续反馈优于一次性年度评判」的原则，绩效面谈是对持续观察的总结确认，而非反馈本身第一次发生的场合。</a:t>
            </a:r>
            <a:endParaRPr lang="en-US" sz="103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第12周 · 小林的关键绩效反馈</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季度回顾</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把一个季度的管理决策连起来看</a:t>
            </a:r>
            <a:endParaRPr lang="en-US" sz="2500" dirty="0"/>
          </a:p>
        </p:txBody>
      </p:sp>
      <p:sp>
        <p:nvSpPr>
          <p:cNvPr id="6" name="Text 4"/>
          <p:cNvSpPr/>
          <p:nvPr/>
        </p:nvSpPr>
        <p:spPr>
          <a:xfrm>
            <a:off x="548640" y="1554480"/>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〔小陈线（呼应M3）〕</a:t>
            </a:r>
            <a:endParaRPr lang="en-US" sz="1100" dirty="0"/>
          </a:p>
        </p:txBody>
      </p:sp>
      <p:sp>
        <p:nvSpPr>
          <p:cNvPr id="7" name="Text 5"/>
          <p:cNvSpPr/>
          <p:nvPr/>
        </p:nvSpPr>
        <p:spPr>
          <a:xfrm>
            <a:off x="548640" y="1828800"/>
            <a:ext cx="10881360" cy="502920"/>
          </a:xfrm>
          <a:prstGeom prst="rect">
            <a:avLst/>
          </a:prstGeom>
          <a:noFill/>
          <a:ln/>
        </p:spPr>
        <p:txBody>
          <a:bodyPr wrap="square" rtlCol="0" anchor="ctr"/>
          <a:lstStyle/>
          <a:p>
            <a:pPr indent="0" marL="0">
              <a:lnSpc>
                <a:spcPct val="120000"/>
              </a:lnSpc>
              <a:buNone/>
            </a:pPr>
            <a:r>
              <a:rPr lang="en-US" sz="1080" dirty="0">
                <a:solidFill>
                  <a:srgbClr val="2B2F36"/>
                </a:solidFill>
                <a:latin typeface="Calibri" pitchFamily="34" charset="0"/>
                <a:ea typeface="Calibri" pitchFamily="34" charset="-122"/>
                <a:cs typeface="Calibri" pitchFamily="34" charset="-120"/>
              </a:rPr>
              <a:t>第1周·信号出现，未立刻回应 → 第3周·完整授权方案设计（风险×成熟度判断+三个Check Point）→ 第5周·关键Check Point兑现 → 第8周·最终Check Point + 项目收尾</a:t>
            </a:r>
            <a:endParaRPr lang="en-US" sz="1080" dirty="0"/>
          </a:p>
        </p:txBody>
      </p:sp>
      <p:sp>
        <p:nvSpPr>
          <p:cNvPr id="8" name="Text 6"/>
          <p:cNvSpPr/>
          <p:nvPr/>
        </p:nvSpPr>
        <p:spPr>
          <a:xfrm>
            <a:off x="548640" y="2423160"/>
            <a:ext cx="292608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〔小林线（呼应M7、M8）〕</a:t>
            </a:r>
            <a:endParaRPr lang="en-US" sz="1100" dirty="0"/>
          </a:p>
        </p:txBody>
      </p:sp>
      <p:sp>
        <p:nvSpPr>
          <p:cNvPr id="9" name="Text 7"/>
          <p:cNvSpPr/>
          <p:nvPr/>
        </p:nvSpPr>
        <p:spPr>
          <a:xfrm>
            <a:off x="548640" y="2697480"/>
            <a:ext cx="10881360" cy="502920"/>
          </a:xfrm>
          <a:prstGeom prst="rect">
            <a:avLst/>
          </a:prstGeom>
          <a:noFill/>
          <a:ln/>
        </p:spPr>
        <p:txBody>
          <a:bodyPr wrap="square" rtlCol="0" anchor="ctr"/>
          <a:lstStyle/>
          <a:p>
            <a:pPr indent="0" marL="0">
              <a:lnSpc>
                <a:spcPct val="120000"/>
              </a:lnSpc>
              <a:buNone/>
            </a:pPr>
            <a:r>
              <a:rPr lang="en-US" sz="1080" dirty="0">
                <a:solidFill>
                  <a:srgbClr val="2B2F36"/>
                </a:solidFill>
                <a:latin typeface="Calibri" pitchFamily="34" charset="0"/>
                <a:ea typeface="Calibri" pitchFamily="34" charset="-122"/>
                <a:cs typeface="Calibri" pitchFamily="34" charset="-120"/>
              </a:rPr>
              <a:t>第1周·观察到信号，暂不行动 → 第5周·因冲突顺延1on1（陷阱：顺延需有纪律性重新安排）→ 第6周·关键1on1，挖出深层原因（教练式提问+SBI）→ 第9周·主动提出新请求 → 第12周·季度绩效反馈（跨时间跨度SBI应用）</a:t>
            </a:r>
            <a:endParaRPr lang="en-US" sz="1080" dirty="0"/>
          </a:p>
        </p:txBody>
      </p:sp>
      <p:sp>
        <p:nvSpPr>
          <p:cNvPr id="10" name="Text 8"/>
          <p:cNvSpPr/>
          <p:nvPr/>
        </p:nvSpPr>
        <p:spPr>
          <a:xfrm>
            <a:off x="548640" y="3291840"/>
            <a:ext cx="292608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〔小吴线（呼应M3、M7）〕</a:t>
            </a:r>
            <a:endParaRPr lang="en-US" sz="1100" dirty="0"/>
          </a:p>
        </p:txBody>
      </p:sp>
      <p:sp>
        <p:nvSpPr>
          <p:cNvPr id="11" name="Text 9"/>
          <p:cNvSpPr/>
          <p:nvPr/>
        </p:nvSpPr>
        <p:spPr>
          <a:xfrm>
            <a:off x="548640" y="3566160"/>
            <a:ext cx="10881360" cy="502920"/>
          </a:xfrm>
          <a:prstGeom prst="rect">
            <a:avLst/>
          </a:prstGeom>
          <a:noFill/>
          <a:ln/>
        </p:spPr>
        <p:txBody>
          <a:bodyPr wrap="square" rtlCol="0" anchor="ctr"/>
          <a:lstStyle/>
          <a:p>
            <a:pPr indent="0" marL="0">
              <a:lnSpc>
                <a:spcPct val="120000"/>
              </a:lnSpc>
              <a:buNone/>
            </a:pPr>
            <a:r>
              <a:rPr lang="en-US" sz="1080" dirty="0">
                <a:solidFill>
                  <a:srgbClr val="2B2F36"/>
                </a:solidFill>
                <a:latin typeface="Calibri" pitchFamily="34" charset="0"/>
                <a:ea typeface="Calibri" pitchFamily="34" charset="-122"/>
                <a:cs typeface="Calibri" pitchFamily="34" charset="-120"/>
              </a:rPr>
              <a:t>第1周·新人任务，设置检查点 → 第5周·复杂情况求助，快速响应 → 第8周·渐进式授权升级（具体边界说明）→ 第10周·陷阱：放手后的零关注风险 → 调整为轻量级周期回顾机制</a:t>
            </a:r>
            <a:endParaRPr lang="en-US" sz="1080" dirty="0"/>
          </a:p>
        </p:txBody>
      </p:sp>
      <p:sp>
        <p:nvSpPr>
          <p:cNvPr id="12" name="Shape 10"/>
          <p:cNvSpPr/>
          <p:nvPr/>
        </p:nvSpPr>
        <p:spPr>
          <a:xfrm>
            <a:off x="548640" y="4206240"/>
            <a:ext cx="10881360" cy="0"/>
          </a:xfrm>
          <a:prstGeom prst="line">
            <a:avLst/>
          </a:prstGeom>
          <a:noFill/>
          <a:ln w="12700">
            <a:solidFill>
              <a:srgbClr val="E3E7EF"/>
            </a:solidFill>
            <a:prstDash val="solid"/>
          </a:ln>
        </p:spPr>
      </p:sp>
      <p:sp>
        <p:nvSpPr>
          <p:cNvPr id="13" name="Text 11"/>
          <p:cNvSpPr/>
          <p:nvPr/>
        </p:nvSpPr>
        <p:spPr>
          <a:xfrm>
            <a:off x="548640" y="4315968"/>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a:t>
            </a:r>
            <a:endParaRPr lang="en-US" sz="1100" dirty="0"/>
          </a:p>
        </p:txBody>
      </p:sp>
      <p:sp>
        <p:nvSpPr>
          <p:cNvPr id="14" name="Text 12"/>
          <p:cNvSpPr/>
          <p:nvPr/>
        </p:nvSpPr>
        <p:spPr>
          <a:xfrm>
            <a:off x="548640" y="4608576"/>
            <a:ext cx="10881360" cy="1463040"/>
          </a:xfrm>
          <a:prstGeom prst="rect">
            <a:avLst/>
          </a:prstGeom>
          <a:noFill/>
          <a:ln/>
        </p:spPr>
        <p:txBody>
          <a:bodyPr wrap="square" rtlCol="0" anchor="ctr"/>
          <a:lstStyle/>
          <a:p>
            <a:pPr indent="0" marL="0">
              <a:lnSpc>
                <a:spcPct val="125000"/>
              </a:lnSpc>
              <a:buNone/>
            </a:pPr>
            <a:r>
              <a:rPr lang="en-US" sz="1150" dirty="0">
                <a:solidFill>
                  <a:srgbClr val="2B2F36"/>
                </a:solidFill>
                <a:latin typeface="Calibri" pitchFamily="34" charset="0"/>
                <a:ea typeface="Calibri" pitchFamily="34" charset="-122"/>
                <a:cs typeface="Calibri" pitchFamily="34" charset="-120"/>
              </a:rPr>
              <a:t>和模块九的单线决策链不同，这个季度的管理工作没有一条线是「独立完成」的——三条线在第5周、第8周两次产生了精力冲突，老吴的排序判断（约定优先、紧迫性优先、重要但不紧急可延后但需纪律性重排）贯穿全篇；两个陷阱节点都不是「做错了什么」，而是「一个正确的原则被不加区分地长期延伸」，这正是常规管理周期最隐蔽的失败模式。</a:t>
            </a:r>
            <a:endParaRPr lang="en-US" sz="115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季度回顾 · 决策图谱</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跨讲对照</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单点高压与持续节奏，考验的是同一种能力的两个面向</a:t>
            </a:r>
            <a:endParaRPr lang="en-US" sz="2400" dirty="0"/>
          </a:p>
        </p:txBody>
      </p:sp>
      <p:sp>
        <p:nvSpPr>
          <p:cNvPr id="6" name="Text 4"/>
          <p:cNvSpPr/>
          <p:nvPr/>
        </p:nvSpPr>
        <p:spPr>
          <a:xfrm>
            <a:off x="548640" y="1691640"/>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〔模块九（单点高压）〕</a:t>
            </a:r>
            <a:endParaRPr lang="en-US" sz="1100" dirty="0"/>
          </a:p>
        </p:txBody>
      </p:sp>
      <p:sp>
        <p:nvSpPr>
          <p:cNvPr id="7" name="Text 5"/>
          <p:cNvSpPr/>
          <p:nvPr/>
        </p:nvSpPr>
        <p:spPr>
          <a:xfrm>
            <a:off x="548640" y="2039112"/>
            <a:ext cx="5257800" cy="1691640"/>
          </a:xfrm>
          <a:prstGeom prst="rect">
            <a:avLst/>
          </a:prstGeom>
          <a:noFill/>
          <a:ln/>
        </p:spPr>
        <p:txBody>
          <a:bodyPr wrap="square" rtlCol="0" anchor="ctr"/>
          <a:lstStyle/>
          <a:p>
            <a:pPr indent="0" marL="0">
              <a:lnSpc>
                <a:spcPct val="125000"/>
              </a:lnSpc>
              <a:buNone/>
            </a:pPr>
            <a:r>
              <a:rPr lang="en-US" sz="1130" dirty="0">
                <a:solidFill>
                  <a:srgbClr val="2B2F36"/>
                </a:solidFill>
                <a:latin typeface="Calibri" pitchFamily="34" charset="0"/>
                <a:ea typeface="Calibri" pitchFamily="34" charset="-122"/>
                <a:cs typeface="Calibri" pitchFamily="34" charset="-120"/>
              </a:rPr>
              <a:t>在24小时内，信息密集出现、压力持续累积，老吴需要在很短的时间窗口内连续做出八个决策，每个决策的后果会迅速显现（停线风险、跨部门关系、团队信任），节奏是「快速、连续、高强度」的。</a:t>
            </a:r>
            <a:endParaRPr lang="en-US" sz="1130" dirty="0"/>
          </a:p>
        </p:txBody>
      </p:sp>
      <p:sp>
        <p:nvSpPr>
          <p:cNvPr id="8" name="Shape 6"/>
          <p:cNvSpPr/>
          <p:nvPr/>
        </p:nvSpPr>
        <p:spPr>
          <a:xfrm>
            <a:off x="6080760" y="1691640"/>
            <a:ext cx="0" cy="2103120"/>
          </a:xfrm>
          <a:prstGeom prst="line">
            <a:avLst/>
          </a:prstGeom>
          <a:noFill/>
          <a:ln w="12700">
            <a:solidFill>
              <a:srgbClr val="E3E7EF"/>
            </a:solidFill>
            <a:prstDash val="solid"/>
          </a:ln>
        </p:spPr>
      </p:sp>
      <p:sp>
        <p:nvSpPr>
          <p:cNvPr id="9" name="Text 7"/>
          <p:cNvSpPr/>
          <p:nvPr/>
        </p:nvSpPr>
        <p:spPr>
          <a:xfrm>
            <a:off x="6519672" y="1691640"/>
            <a:ext cx="292608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〔模块十（持续节奏）〕</a:t>
            </a:r>
            <a:endParaRPr lang="en-US" sz="1100" dirty="0"/>
          </a:p>
        </p:txBody>
      </p:sp>
      <p:sp>
        <p:nvSpPr>
          <p:cNvPr id="10" name="Text 8"/>
          <p:cNvSpPr/>
          <p:nvPr/>
        </p:nvSpPr>
        <p:spPr>
          <a:xfrm>
            <a:off x="6519672" y="2039112"/>
            <a:ext cx="5257800" cy="1691640"/>
          </a:xfrm>
          <a:prstGeom prst="rect">
            <a:avLst/>
          </a:prstGeom>
          <a:noFill/>
          <a:ln/>
        </p:spPr>
        <p:txBody>
          <a:bodyPr wrap="square" rtlCol="0" anchor="ctr"/>
          <a:lstStyle/>
          <a:p>
            <a:pPr indent="0" marL="0">
              <a:lnSpc>
                <a:spcPct val="125000"/>
              </a:lnSpc>
              <a:buNone/>
            </a:pPr>
            <a:r>
              <a:rPr lang="en-US" sz="1130" dirty="0">
                <a:solidFill>
                  <a:srgbClr val="2B2F36"/>
                </a:solidFill>
                <a:latin typeface="Calibri" pitchFamily="34" charset="0"/>
                <a:ea typeface="Calibri" pitchFamily="34" charset="-122"/>
                <a:cs typeface="Calibri" pitchFamily="34" charset="-120"/>
              </a:rPr>
              <a:t>在13周的跨度里，没有任何一个时刻是「必须立刻处理，否则灾难性后果」的，但恰恰是这种「看似可以从容应对」的节奏，制造了另一种难度——重要但不紧急的事情系统性地被挤压、一个正确的原则被过度延伸成新的问题。这里考验的不是反应速度，而是持续的、有纪律性的优先级管理能力。</a:t>
            </a:r>
            <a:endParaRPr lang="en-US" sz="1130" dirty="0"/>
          </a:p>
        </p:txBody>
      </p:sp>
      <p:sp>
        <p:nvSpPr>
          <p:cNvPr id="11" name="Shape 9"/>
          <p:cNvSpPr/>
          <p:nvPr/>
        </p:nvSpPr>
        <p:spPr>
          <a:xfrm>
            <a:off x="548640" y="3977640"/>
            <a:ext cx="0" cy="1783080"/>
          </a:xfrm>
          <a:prstGeom prst="line">
            <a:avLst/>
          </a:prstGeom>
          <a:noFill/>
          <a:ln w="38100">
            <a:solidFill>
              <a:srgbClr val="1B2A4A"/>
            </a:solidFill>
            <a:prstDash val="solid"/>
          </a:ln>
        </p:spPr>
      </p:sp>
      <p:sp>
        <p:nvSpPr>
          <p:cNvPr id="12" name="Text 10"/>
          <p:cNvSpPr/>
          <p:nvPr/>
        </p:nvSpPr>
        <p:spPr>
          <a:xfrm>
            <a:off x="777240" y="3977640"/>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〔共同的底层逻辑〕</a:t>
            </a:r>
            <a:endParaRPr lang="en-US" sz="1100" dirty="0"/>
          </a:p>
        </p:txBody>
      </p:sp>
      <p:sp>
        <p:nvSpPr>
          <p:cNvPr id="13" name="Text 11"/>
          <p:cNvSpPr/>
          <p:nvPr/>
        </p:nvSpPr>
        <p:spPr>
          <a:xfrm>
            <a:off x="777240" y="4279392"/>
            <a:ext cx="10424160" cy="1481328"/>
          </a:xfrm>
          <a:prstGeom prst="rect">
            <a:avLst/>
          </a:prstGeom>
          <a:noFill/>
          <a:ln/>
        </p:spPr>
        <p:txBody>
          <a:bodyPr wrap="square" rtlCol="0" anchor="ctr"/>
          <a:lstStyle/>
          <a:p>
            <a:pPr indent="0" marL="0">
              <a:lnSpc>
                <a:spcPct val="128000"/>
              </a:lnSpc>
              <a:buNone/>
            </a:pPr>
            <a:r>
              <a:rPr lang="en-US" sz="1230" i="1" dirty="0">
                <a:solidFill>
                  <a:srgbClr val="1B2A4A"/>
                </a:solidFill>
                <a:latin typeface="Cambria" pitchFamily="34" charset="0"/>
                <a:ea typeface="Cambria" pitchFamily="34" charset="-122"/>
                <a:cs typeface="Cambria" pitchFamily="34" charset="-120"/>
              </a:rPr>
              <a:t>无论是危机中的瞬时判断，还是季度里的持续节奏管理，本质上考验的都是同一种能力——准确识别「此刻最重要的事情是什么」，并且不被「看起来合理的直觉」带偏。模块九的两个陷阱节点，错在「听起来对的直觉，脱离了具体情境」；模块十的两个陷阱节点，错在「正确的原则，被不加区分地长期延伸」。这两种偏差方式，几乎覆盖了管理决策中最常见的判断失误来源。</a:t>
            </a:r>
            <a:endParaRPr lang="en-US" sz="123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跨讲对照 · 模块九与模块十</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可复用的判断习惯</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当没有任何一件事是危机时，你可以问自己的问题清单</a:t>
            </a:r>
            <a:endParaRPr lang="en-US" sz="2700" dirty="0"/>
          </a:p>
        </p:txBody>
      </p:sp>
      <p:sp>
        <p:nvSpPr>
          <p:cNvPr id="6" name="Text 4"/>
          <p:cNvSpPr/>
          <p:nvPr/>
        </p:nvSpPr>
        <p:spPr>
          <a:xfrm>
            <a:off x="548640" y="1664208"/>
            <a:ext cx="10881360" cy="274320"/>
          </a:xfrm>
          <a:prstGeom prst="rect">
            <a:avLst/>
          </a:prstGeom>
          <a:noFill/>
          <a:ln/>
        </p:spPr>
        <p:txBody>
          <a:bodyPr wrap="square" rtlCol="0" anchor="ctr"/>
          <a:lstStyle/>
          <a:p>
            <a:pPr indent="0" marL="0">
              <a:buNone/>
            </a:pPr>
            <a:r>
              <a:rPr lang="en-US" sz="1230" b="1" dirty="0">
                <a:solidFill>
                  <a:srgbClr val="32436B"/>
                </a:solidFill>
                <a:latin typeface="Calibri" pitchFamily="34" charset="0"/>
                <a:ea typeface="Calibri" pitchFamily="34" charset="-122"/>
                <a:cs typeface="Calibri" pitchFamily="34" charset="-120"/>
              </a:rPr>
              <a:t>当面对多条不紧急但都需要关注的线索时</a:t>
            </a:r>
            <a:endParaRPr lang="en-US" sz="1230" dirty="0"/>
          </a:p>
        </p:txBody>
      </p:sp>
      <p:sp>
        <p:nvSpPr>
          <p:cNvPr id="7" name="Text 5"/>
          <p:cNvSpPr/>
          <p:nvPr/>
        </p:nvSpPr>
        <p:spPr>
          <a:xfrm>
            <a:off x="548640" y="1956816"/>
            <a:ext cx="9144000" cy="566928"/>
          </a:xfrm>
          <a:prstGeom prst="rect">
            <a:avLst/>
          </a:prstGeom>
          <a:noFill/>
          <a:ln/>
        </p:spPr>
        <p:txBody>
          <a:bodyPr wrap="square" rtlCol="0" anchor="ctr"/>
          <a:lstStyle/>
          <a:p>
            <a:pPr indent="0" marL="0">
              <a:lnSpc>
                <a:spcPct val="118000"/>
              </a:lnSpc>
              <a:buNone/>
            </a:pPr>
            <a:r>
              <a:rPr lang="en-US" sz="1130" i="1" dirty="0">
                <a:solidFill>
                  <a:srgbClr val="1B2A4A"/>
                </a:solidFill>
                <a:latin typeface="Cambria" pitchFamily="34" charset="0"/>
                <a:ea typeface="Cambria" pitchFamily="34" charset="-122"/>
                <a:cs typeface="Cambria" pitchFamily="34" charset="-120"/>
              </a:rPr>
              <a:t>「如果我本周不介入这件事，错过的窗口期代价有多大？这次介入的杠杆效应（长期收益 vs 一次性解决）有多大？」</a:t>
            </a:r>
            <a:endParaRPr lang="en-US" sz="1130" dirty="0"/>
          </a:p>
        </p:txBody>
      </p:sp>
      <p:sp>
        <p:nvSpPr>
          <p:cNvPr id="8" name="Text 6"/>
          <p:cNvSpPr/>
          <p:nvPr/>
        </p:nvSpPr>
        <p:spPr>
          <a:xfrm>
            <a:off x="9738360" y="1956816"/>
            <a:ext cx="1691640" cy="566928"/>
          </a:xfrm>
          <a:prstGeom prst="rect">
            <a:avLst/>
          </a:prstGeom>
          <a:noFill/>
          <a:ln/>
        </p:spPr>
        <p:txBody>
          <a:bodyPr wrap="square" rtlCol="0" anchor="ctr"/>
          <a:lstStyle/>
          <a:p>
            <a:pPr algn="r" indent="0" marL="0">
              <a:buNone/>
            </a:pPr>
            <a:r>
              <a:rPr lang="en-US" sz="930" dirty="0">
                <a:solidFill>
                  <a:srgbClr val="8A6D1F"/>
                </a:solidFill>
                <a:latin typeface="Calibri" pitchFamily="34" charset="0"/>
                <a:ea typeface="Calibri" pitchFamily="34" charset="-122"/>
                <a:cs typeface="Calibri" pitchFamily="34" charset="-120"/>
              </a:rPr>
              <a:t>对应优先级判断框架</a:t>
            </a:r>
            <a:endParaRPr lang="en-US" sz="930" dirty="0"/>
          </a:p>
        </p:txBody>
      </p:sp>
      <p:sp>
        <p:nvSpPr>
          <p:cNvPr id="9" name="Text 7"/>
          <p:cNvSpPr/>
          <p:nvPr/>
        </p:nvSpPr>
        <p:spPr>
          <a:xfrm>
            <a:off x="548640" y="2560320"/>
            <a:ext cx="10881360" cy="274320"/>
          </a:xfrm>
          <a:prstGeom prst="rect">
            <a:avLst/>
          </a:prstGeom>
          <a:noFill/>
          <a:ln/>
        </p:spPr>
        <p:txBody>
          <a:bodyPr wrap="square" rtlCol="0" anchor="ctr"/>
          <a:lstStyle/>
          <a:p>
            <a:pPr indent="0" marL="0">
              <a:buNone/>
            </a:pPr>
            <a:r>
              <a:rPr lang="en-US" sz="1230" b="1" dirty="0">
                <a:solidFill>
                  <a:srgbClr val="32436B"/>
                </a:solidFill>
                <a:latin typeface="Calibri" pitchFamily="34" charset="0"/>
                <a:ea typeface="Calibri" pitchFamily="34" charset="-122"/>
                <a:cs typeface="Calibri" pitchFamily="34" charset="-120"/>
              </a:rPr>
              <a:t>当一件重要但不紧急的事情被顺延时</a:t>
            </a:r>
            <a:endParaRPr lang="en-US" sz="1230" dirty="0"/>
          </a:p>
        </p:txBody>
      </p:sp>
      <p:sp>
        <p:nvSpPr>
          <p:cNvPr id="10" name="Text 8"/>
          <p:cNvSpPr/>
          <p:nvPr/>
        </p:nvSpPr>
        <p:spPr>
          <a:xfrm>
            <a:off x="548640" y="2852928"/>
            <a:ext cx="9144000" cy="566928"/>
          </a:xfrm>
          <a:prstGeom prst="rect">
            <a:avLst/>
          </a:prstGeom>
          <a:noFill/>
          <a:ln/>
        </p:spPr>
        <p:txBody>
          <a:bodyPr wrap="square" rtlCol="0" anchor="ctr"/>
          <a:lstStyle/>
          <a:p>
            <a:pPr indent="0" marL="0">
              <a:lnSpc>
                <a:spcPct val="118000"/>
              </a:lnSpc>
              <a:buNone/>
            </a:pPr>
            <a:r>
              <a:rPr lang="en-US" sz="1130" i="1" dirty="0">
                <a:solidFill>
                  <a:srgbClr val="1B2A4A"/>
                </a:solidFill>
                <a:latin typeface="Cambria" pitchFamily="34" charset="0"/>
                <a:ea typeface="Cambria" pitchFamily="34" charset="-122"/>
                <a:cs typeface="Cambria" pitchFamily="34" charset="-120"/>
              </a:rPr>
              <a:t>「我是给出了一个具体的、有同等严肃性的新安排，还是只是模糊地说以后再说？」</a:t>
            </a:r>
            <a:endParaRPr lang="en-US" sz="1130" dirty="0"/>
          </a:p>
        </p:txBody>
      </p:sp>
      <p:sp>
        <p:nvSpPr>
          <p:cNvPr id="11" name="Text 9"/>
          <p:cNvSpPr/>
          <p:nvPr/>
        </p:nvSpPr>
        <p:spPr>
          <a:xfrm>
            <a:off x="9738360" y="2852928"/>
            <a:ext cx="1691640" cy="566928"/>
          </a:xfrm>
          <a:prstGeom prst="rect">
            <a:avLst/>
          </a:prstGeom>
          <a:noFill/>
          <a:ln/>
        </p:spPr>
        <p:txBody>
          <a:bodyPr wrap="square" rtlCol="0" anchor="ctr"/>
          <a:lstStyle/>
          <a:p>
            <a:pPr algn="r" indent="0" marL="0">
              <a:buNone/>
            </a:pPr>
            <a:r>
              <a:rPr lang="en-US" sz="930" dirty="0">
                <a:solidFill>
                  <a:srgbClr val="8A6D1F"/>
                </a:solidFill>
                <a:latin typeface="Calibri" pitchFamily="34" charset="0"/>
                <a:ea typeface="Calibri" pitchFamily="34" charset="-122"/>
                <a:cs typeface="Calibri" pitchFamily="34" charset="-120"/>
              </a:rPr>
              <a:t>对应陷阱节点一</a:t>
            </a:r>
            <a:endParaRPr lang="en-US" sz="930" dirty="0"/>
          </a:p>
        </p:txBody>
      </p:sp>
      <p:sp>
        <p:nvSpPr>
          <p:cNvPr id="12" name="Text 10"/>
          <p:cNvSpPr/>
          <p:nvPr/>
        </p:nvSpPr>
        <p:spPr>
          <a:xfrm>
            <a:off x="548640" y="3456432"/>
            <a:ext cx="10881360" cy="274320"/>
          </a:xfrm>
          <a:prstGeom prst="rect">
            <a:avLst/>
          </a:prstGeom>
          <a:noFill/>
          <a:ln/>
        </p:spPr>
        <p:txBody>
          <a:bodyPr wrap="square" rtlCol="0" anchor="ctr"/>
          <a:lstStyle/>
          <a:p>
            <a:pPr indent="0" marL="0">
              <a:buNone/>
            </a:pPr>
            <a:r>
              <a:rPr lang="en-US" sz="1230" b="1" dirty="0">
                <a:solidFill>
                  <a:srgbClr val="32436B"/>
                </a:solidFill>
                <a:latin typeface="Calibri" pitchFamily="34" charset="0"/>
                <a:ea typeface="Calibri" pitchFamily="34" charset="-122"/>
                <a:cs typeface="Calibri" pitchFamily="34" charset="-120"/>
              </a:rPr>
              <a:t>当一个员工被授权放手、且近期表现不错时</a:t>
            </a:r>
            <a:endParaRPr lang="en-US" sz="1230" dirty="0"/>
          </a:p>
        </p:txBody>
      </p:sp>
      <p:sp>
        <p:nvSpPr>
          <p:cNvPr id="13" name="Text 11"/>
          <p:cNvSpPr/>
          <p:nvPr/>
        </p:nvSpPr>
        <p:spPr>
          <a:xfrm>
            <a:off x="548640" y="3749040"/>
            <a:ext cx="9144000" cy="566928"/>
          </a:xfrm>
          <a:prstGeom prst="rect">
            <a:avLst/>
          </a:prstGeom>
          <a:noFill/>
          <a:ln/>
        </p:spPr>
        <p:txBody>
          <a:bodyPr wrap="square" rtlCol="0" anchor="ctr"/>
          <a:lstStyle/>
          <a:p>
            <a:pPr indent="0" marL="0">
              <a:lnSpc>
                <a:spcPct val="118000"/>
              </a:lnSpc>
              <a:buNone/>
            </a:pPr>
            <a:r>
              <a:rPr lang="en-US" sz="1130" i="1" dirty="0">
                <a:solidFill>
                  <a:srgbClr val="1B2A4A"/>
                </a:solidFill>
                <a:latin typeface="Cambria" pitchFamily="34" charset="0"/>
                <a:ea typeface="Cambria" pitchFamily="34" charset="-122"/>
                <a:cs typeface="Cambria" pitchFamily="34" charset="-120"/>
              </a:rPr>
              <a:t>「我是把高频检查转变成了轻量级周期回顾，还是变成了完全零关注？」</a:t>
            </a:r>
            <a:endParaRPr lang="en-US" sz="1130" dirty="0"/>
          </a:p>
        </p:txBody>
      </p:sp>
      <p:sp>
        <p:nvSpPr>
          <p:cNvPr id="14" name="Text 12"/>
          <p:cNvSpPr/>
          <p:nvPr/>
        </p:nvSpPr>
        <p:spPr>
          <a:xfrm>
            <a:off x="9738360" y="3749040"/>
            <a:ext cx="1691640" cy="566928"/>
          </a:xfrm>
          <a:prstGeom prst="rect">
            <a:avLst/>
          </a:prstGeom>
          <a:noFill/>
          <a:ln/>
        </p:spPr>
        <p:txBody>
          <a:bodyPr wrap="square" rtlCol="0" anchor="ctr"/>
          <a:lstStyle/>
          <a:p>
            <a:pPr algn="r" indent="0" marL="0">
              <a:buNone/>
            </a:pPr>
            <a:r>
              <a:rPr lang="en-US" sz="930" dirty="0">
                <a:solidFill>
                  <a:srgbClr val="8A6D1F"/>
                </a:solidFill>
                <a:latin typeface="Calibri" pitchFamily="34" charset="0"/>
                <a:ea typeface="Calibri" pitchFamily="34" charset="-122"/>
                <a:cs typeface="Calibri" pitchFamily="34" charset="-120"/>
              </a:rPr>
              <a:t>对应陷阱节点二</a:t>
            </a:r>
            <a:endParaRPr lang="en-US" sz="930" dirty="0"/>
          </a:p>
        </p:txBody>
      </p:sp>
      <p:sp>
        <p:nvSpPr>
          <p:cNvPr id="15" name="Text 13"/>
          <p:cNvSpPr/>
          <p:nvPr/>
        </p:nvSpPr>
        <p:spPr>
          <a:xfrm>
            <a:off x="548640" y="4352544"/>
            <a:ext cx="10881360" cy="274320"/>
          </a:xfrm>
          <a:prstGeom prst="rect">
            <a:avLst/>
          </a:prstGeom>
          <a:noFill/>
          <a:ln/>
        </p:spPr>
        <p:txBody>
          <a:bodyPr wrap="square" rtlCol="0" anchor="ctr"/>
          <a:lstStyle/>
          <a:p>
            <a:pPr indent="0" marL="0">
              <a:buNone/>
            </a:pPr>
            <a:r>
              <a:rPr lang="en-US" sz="1230" b="1" dirty="0">
                <a:solidFill>
                  <a:srgbClr val="32436B"/>
                </a:solidFill>
                <a:latin typeface="Calibri" pitchFamily="34" charset="0"/>
                <a:ea typeface="Calibri" pitchFamily="34" charset="-122"/>
                <a:cs typeface="Calibri" pitchFamily="34" charset="-120"/>
              </a:rPr>
              <a:t>当员工提出一个新的请求或挑战意愿时</a:t>
            </a:r>
            <a:endParaRPr lang="en-US" sz="1230" dirty="0"/>
          </a:p>
        </p:txBody>
      </p:sp>
      <p:sp>
        <p:nvSpPr>
          <p:cNvPr id="16" name="Text 14"/>
          <p:cNvSpPr/>
          <p:nvPr/>
        </p:nvSpPr>
        <p:spPr>
          <a:xfrm>
            <a:off x="548640" y="4645152"/>
            <a:ext cx="9144000" cy="566928"/>
          </a:xfrm>
          <a:prstGeom prst="rect">
            <a:avLst/>
          </a:prstGeom>
          <a:noFill/>
          <a:ln/>
        </p:spPr>
        <p:txBody>
          <a:bodyPr wrap="square" rtlCol="0" anchor="ctr"/>
          <a:lstStyle/>
          <a:p>
            <a:pPr indent="0" marL="0">
              <a:lnSpc>
                <a:spcPct val="118000"/>
              </a:lnSpc>
              <a:buNone/>
            </a:pPr>
            <a:r>
              <a:rPr lang="en-US" sz="1130" i="1" dirty="0">
                <a:solidFill>
                  <a:srgbClr val="1B2A4A"/>
                </a:solidFill>
                <a:latin typeface="Cambria" pitchFamily="34" charset="0"/>
                <a:ea typeface="Cambria" pitchFamily="34" charset="-122"/>
                <a:cs typeface="Cambria" pitchFamily="34" charset="-120"/>
              </a:rPr>
              <a:t>「我是不是因为请求听起来可以直接答应或拒绝，就跳过了一次本可以更有质量的对话机会？」</a:t>
            </a:r>
            <a:endParaRPr lang="en-US" sz="1130" dirty="0"/>
          </a:p>
        </p:txBody>
      </p:sp>
      <p:sp>
        <p:nvSpPr>
          <p:cNvPr id="17" name="Text 15"/>
          <p:cNvSpPr/>
          <p:nvPr/>
        </p:nvSpPr>
        <p:spPr>
          <a:xfrm>
            <a:off x="9738360" y="4645152"/>
            <a:ext cx="1691640" cy="566928"/>
          </a:xfrm>
          <a:prstGeom prst="rect">
            <a:avLst/>
          </a:prstGeom>
          <a:noFill/>
          <a:ln/>
        </p:spPr>
        <p:txBody>
          <a:bodyPr wrap="square" rtlCol="0" anchor="ctr"/>
          <a:lstStyle/>
          <a:p>
            <a:pPr algn="r" indent="0" marL="0">
              <a:buNone/>
            </a:pPr>
            <a:r>
              <a:rPr lang="en-US" sz="930" dirty="0">
                <a:solidFill>
                  <a:srgbClr val="8A6D1F"/>
                </a:solidFill>
                <a:latin typeface="Calibri" pitchFamily="34" charset="0"/>
                <a:ea typeface="Calibri" pitchFamily="34" charset="-122"/>
                <a:cs typeface="Calibri" pitchFamily="34" charset="-120"/>
              </a:rPr>
              <a:t>对应主动请求处理</a:t>
            </a:r>
            <a:endParaRPr lang="en-US" sz="930" dirty="0"/>
          </a:p>
        </p:txBody>
      </p:sp>
      <p:sp>
        <p:nvSpPr>
          <p:cNvPr id="18" name="Text 16"/>
          <p:cNvSpPr/>
          <p:nvPr/>
        </p:nvSpPr>
        <p:spPr>
          <a:xfrm>
            <a:off x="548640" y="5248656"/>
            <a:ext cx="10881360" cy="274320"/>
          </a:xfrm>
          <a:prstGeom prst="rect">
            <a:avLst/>
          </a:prstGeom>
          <a:noFill/>
          <a:ln/>
        </p:spPr>
        <p:txBody>
          <a:bodyPr wrap="square" rtlCol="0" anchor="ctr"/>
          <a:lstStyle/>
          <a:p>
            <a:pPr indent="0" marL="0">
              <a:buNone/>
            </a:pPr>
            <a:r>
              <a:rPr lang="en-US" sz="1230" b="1" dirty="0">
                <a:solidFill>
                  <a:srgbClr val="32436B"/>
                </a:solidFill>
                <a:latin typeface="Calibri" pitchFamily="34" charset="0"/>
                <a:ea typeface="Calibri" pitchFamily="34" charset="-122"/>
                <a:cs typeface="Calibri" pitchFamily="34" charset="-120"/>
              </a:rPr>
              <a:t>当给出跨越较长时间的绩效反馈时</a:t>
            </a:r>
            <a:endParaRPr lang="en-US" sz="1230" dirty="0"/>
          </a:p>
        </p:txBody>
      </p:sp>
      <p:sp>
        <p:nvSpPr>
          <p:cNvPr id="19" name="Text 17"/>
          <p:cNvSpPr/>
          <p:nvPr/>
        </p:nvSpPr>
        <p:spPr>
          <a:xfrm>
            <a:off x="548640" y="5541264"/>
            <a:ext cx="9144000" cy="566928"/>
          </a:xfrm>
          <a:prstGeom prst="rect">
            <a:avLst/>
          </a:prstGeom>
          <a:noFill/>
          <a:ln/>
        </p:spPr>
        <p:txBody>
          <a:bodyPr wrap="square" rtlCol="0" anchor="ctr"/>
          <a:lstStyle/>
          <a:p>
            <a:pPr indent="0" marL="0">
              <a:lnSpc>
                <a:spcPct val="118000"/>
              </a:lnSpc>
              <a:buNone/>
            </a:pPr>
            <a:r>
              <a:rPr lang="en-US" sz="1130" i="1" dirty="0">
                <a:solidFill>
                  <a:srgbClr val="1B2A4A"/>
                </a:solidFill>
                <a:latin typeface="Cambria" pitchFamily="34" charset="0"/>
                <a:ea typeface="Cambria" pitchFamily="34" charset="-122"/>
                <a:cs typeface="Cambria" pitchFamily="34" charset="-120"/>
              </a:rPr>
              <a:t>「我引用的是具体的、可验证的行为对比，还是一个笼统的整体印象？」</a:t>
            </a:r>
            <a:endParaRPr lang="en-US" sz="1130" dirty="0"/>
          </a:p>
        </p:txBody>
      </p:sp>
      <p:sp>
        <p:nvSpPr>
          <p:cNvPr id="20" name="Text 18"/>
          <p:cNvSpPr/>
          <p:nvPr/>
        </p:nvSpPr>
        <p:spPr>
          <a:xfrm>
            <a:off x="9738360" y="5541264"/>
            <a:ext cx="1691640" cy="566928"/>
          </a:xfrm>
          <a:prstGeom prst="rect">
            <a:avLst/>
          </a:prstGeom>
          <a:noFill/>
          <a:ln/>
        </p:spPr>
        <p:txBody>
          <a:bodyPr wrap="square" rtlCol="0" anchor="ctr"/>
          <a:lstStyle/>
          <a:p>
            <a:pPr algn="r" indent="0" marL="0">
              <a:buNone/>
            </a:pPr>
            <a:r>
              <a:rPr lang="en-US" sz="930" dirty="0">
                <a:solidFill>
                  <a:srgbClr val="8A6D1F"/>
                </a:solidFill>
                <a:latin typeface="Calibri" pitchFamily="34" charset="0"/>
                <a:ea typeface="Calibri" pitchFamily="34" charset="-122"/>
                <a:cs typeface="Calibri" pitchFamily="34" charset="-120"/>
              </a:rPr>
              <a:t>对应SBI长跨度应用</a:t>
            </a:r>
            <a:endParaRPr lang="en-US" sz="930" dirty="0"/>
          </a:p>
        </p:txBody>
      </p:sp>
      <p:sp>
        <p:nvSpPr>
          <p:cNvPr id="21" name="Shape 19"/>
          <p:cNvSpPr/>
          <p:nvPr/>
        </p:nvSpPr>
        <p:spPr>
          <a:xfrm>
            <a:off x="548640" y="6446520"/>
            <a:ext cx="11091672" cy="0"/>
          </a:xfrm>
          <a:prstGeom prst="line">
            <a:avLst/>
          </a:prstGeom>
          <a:noFill/>
          <a:ln w="9525">
            <a:solidFill>
              <a:srgbClr val="C7CDDB"/>
            </a:solidFill>
            <a:prstDash val="solid"/>
          </a:ln>
        </p:spPr>
      </p:sp>
      <p:sp>
        <p:nvSpPr>
          <p:cNvPr id="22" name="Text 20"/>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可复用的判断习惯</a:t>
            </a:r>
            <a:endParaRPr lang="en-US" sz="900" dirty="0"/>
          </a:p>
        </p:txBody>
      </p:sp>
      <p:sp>
        <p:nvSpPr>
          <p:cNvPr id="23" name="Text 21"/>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822960"/>
            <a:ext cx="0" cy="4937760"/>
          </a:xfrm>
          <a:prstGeom prst="line">
            <a:avLst/>
          </a:prstGeom>
          <a:noFill/>
          <a:ln w="19050">
            <a:solidFill>
              <a:srgbClr val="1B2A4A"/>
            </a:solidFill>
            <a:prstDash val="solid"/>
          </a:ln>
        </p:spPr>
      </p:sp>
      <p:sp>
        <p:nvSpPr>
          <p:cNvPr id="3" name="Text 1"/>
          <p:cNvSpPr/>
          <p:nvPr/>
        </p:nvSpPr>
        <p:spPr>
          <a:xfrm>
            <a:off x="1188720" y="50292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总结与升华</a:t>
            </a:r>
            <a:endParaRPr lang="en-US" sz="1300" dirty="0"/>
          </a:p>
        </p:txBody>
      </p:sp>
      <p:sp>
        <p:nvSpPr>
          <p:cNvPr id="4" name="Text 2"/>
          <p:cNvSpPr/>
          <p:nvPr/>
        </p:nvSpPr>
        <p:spPr>
          <a:xfrm>
            <a:off x="1188720" y="914400"/>
            <a:ext cx="10058400" cy="68580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从单点决策力到持续管理力</a:t>
            </a:r>
            <a:endParaRPr lang="en-US" sz="3000" dirty="0"/>
          </a:p>
        </p:txBody>
      </p:sp>
      <p:sp>
        <p:nvSpPr>
          <p:cNvPr id="5" name="Text 3"/>
          <p:cNvSpPr/>
          <p:nvPr/>
        </p:nvSpPr>
        <p:spPr>
          <a:xfrm>
            <a:off x="1188720" y="1783080"/>
            <a:ext cx="9875520" cy="86868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模块九训练的是在信息不完整、压力扑面而来时，分得清此刻最该用哪一把工具；模块十训练的是另一种同样重要、但更容易被低估的能力——在没有任何紧迫感的日常节奏里，依然保持清醒的优先级判断，不让重要的事情被悄无声息地牺牲。</a:t>
            </a:r>
            <a:endParaRPr lang="en-US" sz="1200" dirty="0"/>
          </a:p>
        </p:txBody>
      </p:sp>
      <p:sp>
        <p:nvSpPr>
          <p:cNvPr id="6" name="Text 4"/>
          <p:cNvSpPr/>
          <p:nvPr/>
        </p:nvSpPr>
        <p:spPr>
          <a:xfrm>
            <a:off x="1188720" y="2743200"/>
            <a:ext cx="9875520" cy="91440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一讲的两个陷阱节点都指向同一个深层洞察：管理中最危险的失败模式，往往不是做出了一个明显错误的判断，而是一个正确的原则被不加区分地长期套用，直到它在某个意想不到的时刻，演变成一个新的、更难处理的问题。这正是为什么常规管理周期需要的不是更多的规则，而是持续的、有纪律性的自我提醒。</a:t>
            </a:r>
            <a:endParaRPr lang="en-US" sz="1200" dirty="0"/>
          </a:p>
        </p:txBody>
      </p:sp>
      <p:sp>
        <p:nvSpPr>
          <p:cNvPr id="7" name="Text 5"/>
          <p:cNvSpPr/>
          <p:nvPr/>
        </p:nvSpPr>
        <p:spPr>
          <a:xfrm>
            <a:off x="1188720" y="3749040"/>
            <a:ext cx="9875520" cy="10058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三条人物线在季度末的状态，是这种持续投入的真实回报：小陈获得了与其能力匹配的自主空间，并且这个空间是被清晰设计而非随意给予的；小林完成了一次从「行为模式」到「自我认知」的真正转变；小吴在循序渐进的授权升级中，建立起了既有自主空间、又不缺乏必要支持的成长节奏。这些变化没有一个是在某个单一时刻「完成」的，而是在持续的、看似平淡的13周里逐渐累积出来的。</a:t>
            </a:r>
            <a:endParaRPr lang="en-US" sz="1200" dirty="0"/>
          </a:p>
        </p:txBody>
      </p:sp>
      <p:sp>
        <p:nvSpPr>
          <p:cNvPr id="8" name="Shape 6"/>
          <p:cNvSpPr/>
          <p:nvPr/>
        </p:nvSpPr>
        <p:spPr>
          <a:xfrm>
            <a:off x="1188720" y="4846320"/>
            <a:ext cx="3657600" cy="0"/>
          </a:xfrm>
          <a:prstGeom prst="line">
            <a:avLst/>
          </a:prstGeom>
          <a:noFill/>
          <a:ln w="12700">
            <a:solidFill>
              <a:srgbClr val="C7CDDB"/>
            </a:solidFill>
            <a:prstDash val="solid"/>
          </a:ln>
        </p:spPr>
      </p:sp>
      <p:sp>
        <p:nvSpPr>
          <p:cNvPr id="9" name="Text 7"/>
          <p:cNvSpPr/>
          <p:nvPr/>
        </p:nvSpPr>
        <p:spPr>
          <a:xfrm>
            <a:off x="1188720" y="4983480"/>
            <a:ext cx="9692640" cy="914400"/>
          </a:xfrm>
          <a:prstGeom prst="rect">
            <a:avLst/>
          </a:prstGeom>
          <a:noFill/>
          <a:ln/>
        </p:spPr>
        <p:txBody>
          <a:bodyPr wrap="square" rtlCol="0" anchor="ctr"/>
          <a:lstStyle/>
          <a:p>
            <a:pPr indent="0" marL="0">
              <a:lnSpc>
                <a:spcPct val="130000"/>
              </a:lnSpc>
              <a:buNone/>
            </a:pPr>
            <a:r>
              <a:rPr lang="en-US" sz="1500" b="1" i="1" dirty="0">
                <a:solidFill>
                  <a:srgbClr val="1B2A4A"/>
                </a:solidFill>
                <a:latin typeface="Cambria" pitchFamily="34" charset="0"/>
                <a:ea typeface="Cambria" pitchFamily="34" charset="-122"/>
                <a:cs typeface="Cambria" pitchFamily="34" charset="-120"/>
              </a:rPr>
              <a:t>持续的管理力，不是靠记住更多原则，而是靠在每一个看似平常的判断时刻，依然记得问自己：这个原则，是不是已经被我用过头了。</a:t>
            </a:r>
            <a:endParaRPr lang="en-US" sz="1500" dirty="0"/>
          </a:p>
        </p:txBody>
      </p:sp>
      <p:sp>
        <p:nvSpPr>
          <p:cNvPr id="10" name="Text 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课后推演练习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请你独立完成一次平行场景的多线推演</a:t>
            </a:r>
            <a:endParaRPr lang="en-US" sz="2700" dirty="0"/>
          </a:p>
        </p:txBody>
      </p:sp>
      <p:sp>
        <p:nvSpPr>
          <p:cNvPr id="6" name="Text 4"/>
          <p:cNvSpPr/>
          <p:nvPr/>
        </p:nvSpPr>
        <p:spPr>
          <a:xfrm>
            <a:off x="548640" y="1508760"/>
            <a:ext cx="10881360" cy="713232"/>
          </a:xfrm>
          <a:prstGeom prst="rect">
            <a:avLst/>
          </a:prstGeom>
          <a:noFill/>
          <a:ln/>
        </p:spPr>
        <p:txBody>
          <a:bodyPr wrap="square" rtlCol="0" anchor="ctr"/>
          <a:lstStyle/>
          <a:p>
            <a:pPr indent="0" marL="0">
              <a:lnSpc>
                <a:spcPct val="120000"/>
              </a:lnSpc>
              <a:buNone/>
            </a:pPr>
            <a:r>
              <a:rPr lang="en-US" sz="1150" i="1" dirty="0">
                <a:solidFill>
                  <a:srgbClr val="5B6270"/>
                </a:solidFill>
                <a:latin typeface="Calibri" pitchFamily="34" charset="0"/>
                <a:ea typeface="Calibri" pitchFamily="34" charset="-122"/>
                <a:cs typeface="Calibri" pitchFamily="34" charset="-120"/>
              </a:rPr>
              <a:t>以下是一个和本讲结构相似、但具体参数不同的季度场景。请你独立完成决策推演，在每个决策点写出你的判断和依据（每个决策点150字左右），并标注对应的理论框架。本练习无标准答案，重点是展示你在多线并行情境下的优先级判断逻辑。</a:t>
            </a:r>
            <a:endParaRPr lang="en-US" sz="1150" dirty="0"/>
          </a:p>
        </p:txBody>
      </p:sp>
      <p:sp>
        <p:nvSpPr>
          <p:cNvPr id="7" name="Text 5"/>
          <p:cNvSpPr/>
          <p:nvPr/>
        </p:nvSpPr>
        <p:spPr>
          <a:xfrm>
            <a:off x="548640" y="2331720"/>
            <a:ext cx="292608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〔平行场景设定〕</a:t>
            </a:r>
            <a:endParaRPr lang="en-US" sz="1100" dirty="0"/>
          </a:p>
        </p:txBody>
      </p:sp>
      <p:sp>
        <p:nvSpPr>
          <p:cNvPr id="8" name="Text 6"/>
          <p:cNvSpPr/>
          <p:nvPr/>
        </p:nvSpPr>
        <p:spPr>
          <a:xfrm>
            <a:off x="548640" y="2624328"/>
            <a:ext cx="10881360" cy="914400"/>
          </a:xfrm>
          <a:prstGeom prst="rect">
            <a:avLst/>
          </a:prstGeom>
          <a:noFill/>
          <a:ln/>
        </p:spPr>
        <p:txBody>
          <a:bodyPr wrap="square" rtlCol="0" anchor="ctr"/>
          <a:lstStyle/>
          <a:p>
            <a:pPr indent="0" marL="0">
              <a:lnSpc>
                <a:spcPct val="122000"/>
              </a:lnSpc>
              <a:buNone/>
            </a:pPr>
            <a:r>
              <a:rPr lang="en-US" sz="1150" dirty="0">
                <a:solidFill>
                  <a:srgbClr val="2B2F36"/>
                </a:solidFill>
                <a:latin typeface="Calibri" pitchFamily="34" charset="0"/>
                <a:ea typeface="Calibri" pitchFamily="34" charset="-122"/>
                <a:cs typeface="Calibri" pitchFamily="34" charset="-120"/>
              </a:rPr>
              <a:t>你是CIM团队组长，本季度团队有三条并行线索：员工甲（资深，5年经验）提出希望在下个项目中减少汇报频率；员工乙（入职8个月，已转正但仍在成长期）这个季度连续两次在工单处理中出现「明明可以问但选择自己硬着头皮做」的情况，导致返工；员工丙在一次团队会议上，对另一名同事的方案提出了比较激烈的质疑，引发了一些团队氛围上的紧张。</a:t>
            </a:r>
            <a:endParaRPr lang="en-US" sz="1150" dirty="0"/>
          </a:p>
        </p:txBody>
      </p:sp>
      <p:sp>
        <p:nvSpPr>
          <p:cNvPr id="9" name="Text 7"/>
          <p:cNvSpPr/>
          <p:nvPr/>
        </p:nvSpPr>
        <p:spPr>
          <a:xfrm>
            <a:off x="548640" y="3749040"/>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〔决策点A〕</a:t>
            </a:r>
            <a:endParaRPr lang="en-US" sz="1100" dirty="0"/>
          </a:p>
        </p:txBody>
      </p:sp>
      <p:sp>
        <p:nvSpPr>
          <p:cNvPr id="10" name="Text 8"/>
          <p:cNvSpPr/>
          <p:nvPr/>
        </p:nvSpPr>
        <p:spPr>
          <a:xfrm>
            <a:off x="548640" y="4041648"/>
            <a:ext cx="10881360" cy="658368"/>
          </a:xfrm>
          <a:prstGeom prst="rect">
            <a:avLst/>
          </a:prstGeom>
          <a:noFill/>
          <a:ln/>
        </p:spPr>
        <p:txBody>
          <a:bodyPr wrap="square" rtlCol="0" anchor="ctr"/>
          <a:lstStyle/>
          <a:p>
            <a:pPr indent="0" marL="0">
              <a:lnSpc>
                <a:spcPct val="120000"/>
              </a:lnSpc>
              <a:buNone/>
            </a:pPr>
            <a:r>
              <a:rPr lang="en-US" sz="1120" dirty="0">
                <a:solidFill>
                  <a:srgbClr val="2B2F36"/>
                </a:solidFill>
                <a:latin typeface="Calibri" pitchFamily="34" charset="0"/>
                <a:ea typeface="Calibri" pitchFamily="34" charset="-122"/>
                <a:cs typeface="Calibri" pitchFamily="34" charset="-120"/>
              </a:rPr>
              <a:t>员工甲提出「减少汇报频率」的请求，你会如何判断是否同意、以及具体的授权方案设计？请说明你的判断依据。</a:t>
            </a:r>
            <a:endParaRPr lang="en-US" sz="1120" dirty="0"/>
          </a:p>
        </p:txBody>
      </p:sp>
      <p:sp>
        <p:nvSpPr>
          <p:cNvPr id="11" name="Text 9"/>
          <p:cNvSpPr/>
          <p:nvPr/>
        </p:nvSpPr>
        <p:spPr>
          <a:xfrm>
            <a:off x="548640" y="4590288"/>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〔决策点B〕</a:t>
            </a:r>
            <a:endParaRPr lang="en-US" sz="1100" dirty="0"/>
          </a:p>
        </p:txBody>
      </p:sp>
      <p:sp>
        <p:nvSpPr>
          <p:cNvPr id="12" name="Text 10"/>
          <p:cNvSpPr/>
          <p:nvPr/>
        </p:nvSpPr>
        <p:spPr>
          <a:xfrm>
            <a:off x="548640" y="4882896"/>
            <a:ext cx="10881360" cy="658368"/>
          </a:xfrm>
          <a:prstGeom prst="rect">
            <a:avLst/>
          </a:prstGeom>
          <a:noFill/>
          <a:ln/>
        </p:spPr>
        <p:txBody>
          <a:bodyPr wrap="square" rtlCol="0" anchor="ctr"/>
          <a:lstStyle/>
          <a:p>
            <a:pPr indent="0" marL="0">
              <a:lnSpc>
                <a:spcPct val="120000"/>
              </a:lnSpc>
              <a:buNone/>
            </a:pPr>
            <a:r>
              <a:rPr lang="en-US" sz="1120" dirty="0">
                <a:solidFill>
                  <a:srgbClr val="2B2F36"/>
                </a:solidFill>
                <a:latin typeface="Calibri" pitchFamily="34" charset="0"/>
                <a:ea typeface="Calibri" pitchFamily="34" charset="-122"/>
                <a:cs typeface="Calibri" pitchFamily="34" charset="-120"/>
              </a:rPr>
              <a:t>员工乙「明明可以问但不问」的行为模式，你认为这背后可能的原因是什么？你会如何在1on1中切入这个话题？</a:t>
            </a:r>
            <a:endParaRPr lang="en-US" sz="1120" dirty="0"/>
          </a:p>
        </p:txBody>
      </p:sp>
      <p:sp>
        <p:nvSpPr>
          <p:cNvPr id="13" name="Text 11"/>
          <p:cNvSpPr/>
          <p:nvPr/>
        </p:nvSpPr>
        <p:spPr>
          <a:xfrm>
            <a:off x="548640" y="5431536"/>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〔决策点C〕</a:t>
            </a:r>
            <a:endParaRPr lang="en-US" sz="1100" dirty="0"/>
          </a:p>
        </p:txBody>
      </p:sp>
      <p:sp>
        <p:nvSpPr>
          <p:cNvPr id="14" name="Text 12"/>
          <p:cNvSpPr/>
          <p:nvPr/>
        </p:nvSpPr>
        <p:spPr>
          <a:xfrm>
            <a:off x="548640" y="5724144"/>
            <a:ext cx="10881360" cy="658368"/>
          </a:xfrm>
          <a:prstGeom prst="rect">
            <a:avLst/>
          </a:prstGeom>
          <a:noFill/>
          <a:ln/>
        </p:spPr>
        <p:txBody>
          <a:bodyPr wrap="square" rtlCol="0" anchor="ctr"/>
          <a:lstStyle/>
          <a:p>
            <a:pPr indent="0" marL="0">
              <a:lnSpc>
                <a:spcPct val="120000"/>
              </a:lnSpc>
              <a:buNone/>
            </a:pPr>
            <a:r>
              <a:rPr lang="en-US" sz="1120" dirty="0">
                <a:solidFill>
                  <a:srgbClr val="2B2F36"/>
                </a:solidFill>
                <a:latin typeface="Calibri" pitchFamily="34" charset="0"/>
                <a:ea typeface="Calibri" pitchFamily="34" charset="-122"/>
                <a:cs typeface="Calibri" pitchFamily="34" charset="-120"/>
              </a:rPr>
              <a:t>本周，员工甲的授权方案需要最终确认、员工乙又出现了一次类似的返工情况、员工丙的团队氛围问题也需要你介入——三件事如何排序？请说明依据。</a:t>
            </a:r>
            <a:endParaRPr lang="en-US" sz="112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课后推演练习 · 一</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模块十 · 实战推演（下）</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课后推演练习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延续场景：季度中段的陷阱识别</a:t>
            </a:r>
            <a:endParaRPr lang="en-US" sz="2700" dirty="0"/>
          </a:p>
        </p:txBody>
      </p:sp>
      <p:sp>
        <p:nvSpPr>
          <p:cNvPr id="6" name="Text 4"/>
          <p:cNvSpPr/>
          <p:nvPr/>
        </p:nvSpPr>
        <p:spPr>
          <a:xfrm>
            <a:off x="548640" y="1600200"/>
            <a:ext cx="292608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〔延续场景〕</a:t>
            </a:r>
            <a:endParaRPr lang="en-US" sz="1100" dirty="0"/>
          </a:p>
        </p:txBody>
      </p:sp>
      <p:sp>
        <p:nvSpPr>
          <p:cNvPr id="7" name="Text 5"/>
          <p:cNvSpPr/>
          <p:nvPr/>
        </p:nvSpPr>
        <p:spPr>
          <a:xfrm>
            <a:off x="548640" y="1892808"/>
            <a:ext cx="10881360" cy="914400"/>
          </a:xfrm>
          <a:prstGeom prst="rect">
            <a:avLst/>
          </a:prstGeom>
          <a:noFill/>
          <a:ln/>
        </p:spPr>
        <p:txBody>
          <a:bodyPr wrap="square" rtlCol="0" anchor="ctr"/>
          <a:lstStyle/>
          <a:p>
            <a:pPr indent="0" marL="0">
              <a:lnSpc>
                <a:spcPct val="125000"/>
              </a:lnSpc>
              <a:buNone/>
            </a:pPr>
            <a:r>
              <a:rPr lang="en-US" sz="1180" dirty="0">
                <a:solidFill>
                  <a:srgbClr val="2B2F36"/>
                </a:solidFill>
                <a:latin typeface="Calibri" pitchFamily="34" charset="0"/>
                <a:ea typeface="Calibri" pitchFamily="34" charset="-122"/>
                <a:cs typeface="Calibri" pitchFamily="34" charset="-120"/>
              </a:rPr>
              <a:t>两个月后，员工甲的授权方案运行良好，你已经很久没有主动关注他的具体工作细节；员工乙在你的1on1介入后，这两个月没有再出现「硬着头皮做」的情况，你认为这个问题已经解决；员工丙的团队氛围问题在你介入后得到了缓解，但你注意到丙这两个月在团队会议上变得异常沉默，几乎不再主动发言。</a:t>
            </a:r>
            <a:endParaRPr lang="en-US" sz="1180" dirty="0"/>
          </a:p>
        </p:txBody>
      </p:sp>
      <p:sp>
        <p:nvSpPr>
          <p:cNvPr id="8" name="Text 6"/>
          <p:cNvSpPr/>
          <p:nvPr/>
        </p:nvSpPr>
        <p:spPr>
          <a:xfrm>
            <a:off x="548640" y="2971800"/>
            <a:ext cx="292608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〔决策点D〕</a:t>
            </a:r>
            <a:endParaRPr lang="en-US" sz="1100" dirty="0"/>
          </a:p>
        </p:txBody>
      </p:sp>
      <p:sp>
        <p:nvSpPr>
          <p:cNvPr id="9" name="Text 7"/>
          <p:cNvSpPr/>
          <p:nvPr/>
        </p:nvSpPr>
        <p:spPr>
          <a:xfrm>
            <a:off x="548640" y="3264408"/>
            <a:ext cx="10881360" cy="594360"/>
          </a:xfrm>
          <a:prstGeom prst="rect">
            <a:avLst/>
          </a:prstGeom>
          <a:noFill/>
          <a:ln/>
        </p:spPr>
        <p:txBody>
          <a:bodyPr wrap="square" rtlCol="0" anchor="ctr"/>
          <a:lstStyle/>
          <a:p>
            <a:pPr indent="0" marL="0">
              <a:lnSpc>
                <a:spcPct val="122000"/>
              </a:lnSpc>
              <a:buNone/>
            </a:pPr>
            <a:r>
              <a:rPr lang="en-US" sz="1150" dirty="0">
                <a:solidFill>
                  <a:srgbClr val="2B2F36"/>
                </a:solidFill>
                <a:latin typeface="Calibri" pitchFamily="34" charset="0"/>
                <a:ea typeface="Calibri" pitchFamily="34" charset="-122"/>
                <a:cs typeface="Calibri" pitchFamily="34" charset="-120"/>
              </a:rPr>
              <a:t>对员工甲「已经很久没有主动关注」这个状态，结合本讲两个陷阱节点的分析，你认为可能存在什么风险？你会如何调整？</a:t>
            </a:r>
            <a:endParaRPr lang="en-US" sz="1150" dirty="0"/>
          </a:p>
        </p:txBody>
      </p:sp>
      <p:sp>
        <p:nvSpPr>
          <p:cNvPr id="10" name="Text 8"/>
          <p:cNvSpPr/>
          <p:nvPr/>
        </p:nvSpPr>
        <p:spPr>
          <a:xfrm>
            <a:off x="548640" y="3813048"/>
            <a:ext cx="292608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〔决策点E〕</a:t>
            </a:r>
            <a:endParaRPr lang="en-US" sz="1100" dirty="0"/>
          </a:p>
        </p:txBody>
      </p:sp>
      <p:sp>
        <p:nvSpPr>
          <p:cNvPr id="11" name="Text 9"/>
          <p:cNvSpPr/>
          <p:nvPr/>
        </p:nvSpPr>
        <p:spPr>
          <a:xfrm>
            <a:off x="548640" y="4105656"/>
            <a:ext cx="10881360" cy="594360"/>
          </a:xfrm>
          <a:prstGeom prst="rect">
            <a:avLst/>
          </a:prstGeom>
          <a:noFill/>
          <a:ln/>
        </p:spPr>
        <p:txBody>
          <a:bodyPr wrap="square" rtlCol="0" anchor="ctr"/>
          <a:lstStyle/>
          <a:p>
            <a:pPr indent="0" marL="0">
              <a:lnSpc>
                <a:spcPct val="122000"/>
              </a:lnSpc>
              <a:buNone/>
            </a:pPr>
            <a:r>
              <a:rPr lang="en-US" sz="1150" dirty="0">
                <a:solidFill>
                  <a:srgbClr val="2B2F36"/>
                </a:solidFill>
                <a:latin typeface="Calibri" pitchFamily="34" charset="0"/>
                <a:ea typeface="Calibri" pitchFamily="34" charset="-122"/>
                <a:cs typeface="Calibri" pitchFamily="34" charset="-120"/>
              </a:rPr>
              <a:t>员工丙从「激烈质疑」变成「异常沉默」，这个转变本身是否值得关注？请说明你的判断逻辑，并说明这是否可能是另一种形式的、需要警惕的陷阱。</a:t>
            </a:r>
            <a:endParaRPr lang="en-US" sz="1150" dirty="0"/>
          </a:p>
        </p:txBody>
      </p:sp>
      <p:sp>
        <p:nvSpPr>
          <p:cNvPr id="12" name="Text 10"/>
          <p:cNvSpPr/>
          <p:nvPr/>
        </p:nvSpPr>
        <p:spPr>
          <a:xfrm>
            <a:off x="548640" y="4700016"/>
            <a:ext cx="292608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〔综合反思题〕</a:t>
            </a:r>
            <a:endParaRPr lang="en-US" sz="1100" dirty="0"/>
          </a:p>
        </p:txBody>
      </p:sp>
      <p:sp>
        <p:nvSpPr>
          <p:cNvPr id="13" name="Text 11"/>
          <p:cNvSpPr/>
          <p:nvPr/>
        </p:nvSpPr>
        <p:spPr>
          <a:xfrm>
            <a:off x="548640" y="4992624"/>
            <a:ext cx="10881360" cy="713232"/>
          </a:xfrm>
          <a:prstGeom prst="rect">
            <a:avLst/>
          </a:prstGeom>
          <a:noFill/>
          <a:ln/>
        </p:spPr>
        <p:txBody>
          <a:bodyPr wrap="square" rtlCol="0" anchor="ctr"/>
          <a:lstStyle/>
          <a:p>
            <a:pPr indent="0" marL="0">
              <a:lnSpc>
                <a:spcPct val="122000"/>
              </a:lnSpc>
              <a:buNone/>
            </a:pPr>
            <a:r>
              <a:rPr lang="en-US" sz="1150" dirty="0">
                <a:solidFill>
                  <a:srgbClr val="2B2F36"/>
                </a:solidFill>
                <a:latin typeface="Calibri" pitchFamily="34" charset="0"/>
                <a:ea typeface="Calibri" pitchFamily="34" charset="-122"/>
                <a:cs typeface="Calibri" pitchFamily="34" charset="-120"/>
              </a:rPr>
              <a:t>回顾整个季度的推演过程（决策点A至E），结合本讲「正确原则被不加区分地长期延伸」这个核心洞察，你认为自己最容易在哪一类情境下，把一个合理的判断原则使用过度？这种倾向背后，反映了你个人怎样的管理风格或心理倾向？</a:t>
            </a:r>
            <a:endParaRPr lang="en-US" sz="1150" dirty="0"/>
          </a:p>
        </p:txBody>
      </p:sp>
      <p:sp>
        <p:nvSpPr>
          <p:cNvPr id="14" name="Shape 12"/>
          <p:cNvSpPr/>
          <p:nvPr/>
        </p:nvSpPr>
        <p:spPr>
          <a:xfrm>
            <a:off x="548640" y="5824728"/>
            <a:ext cx="10881360" cy="0"/>
          </a:xfrm>
          <a:prstGeom prst="line">
            <a:avLst/>
          </a:prstGeom>
          <a:noFill/>
          <a:ln w="12700">
            <a:solidFill>
              <a:srgbClr val="E3E7EF"/>
            </a:solidFill>
            <a:prstDash val="solid"/>
          </a:ln>
        </p:spPr>
      </p:sp>
      <p:sp>
        <p:nvSpPr>
          <p:cNvPr id="15" name="Text 13"/>
          <p:cNvSpPr/>
          <p:nvPr/>
        </p:nvSpPr>
        <p:spPr>
          <a:xfrm>
            <a:off x="548640" y="5916168"/>
            <a:ext cx="10881360" cy="320040"/>
          </a:xfrm>
          <a:prstGeom prst="rect">
            <a:avLst/>
          </a:prstGeom>
          <a:noFill/>
          <a:ln/>
        </p:spPr>
        <p:txBody>
          <a:bodyPr wrap="square" rtlCol="0" anchor="ctr"/>
          <a:lstStyle/>
          <a:p>
            <a:pPr indent="0" marL="0">
              <a:buNone/>
            </a:pPr>
            <a:r>
              <a:rPr lang="en-US" sz="1100" dirty="0">
                <a:solidFill>
                  <a:srgbClr val="5B6270"/>
                </a:solidFill>
                <a:latin typeface="Calibri" pitchFamily="34" charset="0"/>
                <a:ea typeface="Calibri" pitchFamily="34" charset="-122"/>
                <a:cs typeface="Calibri" pitchFamily="34" charset="-120"/>
              </a:rPr>
              <a:t>提交方式：将决策点A至E的推演内容及综合反思题，合并为一份书面材料，于课程结束后两周内提交。</a:t>
            </a:r>
            <a:endParaRPr lang="en-US" sz="1100" dirty="0"/>
          </a:p>
        </p:txBody>
      </p:sp>
      <p:sp>
        <p:nvSpPr>
          <p:cNvPr id="16" name="Shape 14"/>
          <p:cNvSpPr/>
          <p:nvPr/>
        </p:nvSpPr>
        <p:spPr>
          <a:xfrm>
            <a:off x="548640" y="6446520"/>
            <a:ext cx="11091672" cy="0"/>
          </a:xfrm>
          <a:prstGeom prst="line">
            <a:avLst/>
          </a:prstGeom>
          <a:noFill/>
          <a:ln w="9525">
            <a:solidFill>
              <a:srgbClr val="C7CDDB"/>
            </a:solidFill>
            <a:prstDash val="solid"/>
          </a:ln>
        </p:spPr>
      </p:sp>
      <p:sp>
        <p:nvSpPr>
          <p:cNvPr id="17" name="Text 15"/>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课后推演练习 · 二</a:t>
            </a:r>
            <a:endParaRPr lang="en-US" sz="900" dirty="0"/>
          </a:p>
        </p:txBody>
      </p:sp>
      <p:sp>
        <p:nvSpPr>
          <p:cNvPr id="18" name="Text 16"/>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实战推演（下）：一个季度的团队管理周期</dc:title>
  <dc:subject>PptxGenJS Presentation</dc:subject>
  <dc:creator>PptxGenJS</dc:creator>
  <cp:lastModifiedBy>PptxGenJS</cp:lastModifiedBy>
  <cp:revision>1</cp:revision>
  <dcterms:created xsi:type="dcterms:W3CDTF">2026-06-20T23:47:55Z</dcterms:created>
  <dcterms:modified xsi:type="dcterms:W3CDTF">2026-06-20T23:47:55Z</dcterms:modified>
</cp:coreProperties>
</file>