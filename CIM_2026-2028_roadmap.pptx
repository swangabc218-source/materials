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274320"/>
            <a:ext cx="4114800" cy="4114800"/>
          </a:xfrm>
          <a:prstGeom prst="ellipse">
            <a:avLst/>
          </a:prstGeom>
          <a:solidFill>
            <a:srgbClr val="1E4B72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822960"/>
            <a:ext cx="2926080" cy="292608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6012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CIM集团 · 内部机密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两年人才培养与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组织能力建设路线图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2026年7月 — 2028年6月 | 项目管理 · 质量体系 · 产品架构 · AI能力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项目管理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77440" y="37490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3749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质量体系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37490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3749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产品架构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7490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749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AI能力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半导体大厂 CIM集团开发总监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背景与设计逻辑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两年扩张路径 · 从共识到体系的演进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22960"/>
            <a:ext cx="2560320" cy="365760"/>
          </a:xfrm>
          <a:prstGeom prst="roundRect">
            <a:avLst>
              <a:gd name="adj" fmla="val 25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2024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信息流畅通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9级以上员工定义为管理者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建立早会制度，解决信息流问题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0" y="1051560"/>
            <a:ext cx="2743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9784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8229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822960"/>
            <a:ext cx="2560320" cy="36576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822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2025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虚拟组织建设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建立产品/PM/架构/质量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四大虚拟组织，定义职能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1051560"/>
            <a:ext cx="2743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9784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8229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822960"/>
            <a:ext cx="2560320" cy="36576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822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2026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责任意识强化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进一步强化9级以上员工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责任意识，实体四级组织启动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3774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C3553">
              <a:alpha val="92000"/>
            </a:srgbClr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本次规划目标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把过去两年靠少数骨干撑起的隐性能力，转成180人规模下可复制、可传承的体系能力。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能力突破优先级：项目管理 → 质量体系 → 产品与架构设计 → AI能力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4290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429000"/>
            <a:ext cx="164592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493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能力突破顺序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3840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项目管理→质量→产品架构→AI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34290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91840" y="3429000"/>
            <a:ext cx="164592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3493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资源投入模式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20440" y="3840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内部师徒制为主，L0负责人单独补充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34290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3429000"/>
            <a:ext cx="164592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3493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晋升关联方式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55080" y="3840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作为晋升参考依据（非强制门槛）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CIM集团 2026-2028 人才培养路线图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带教机制与人员层级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三层师资结构 × 四个人员层级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553"/>
                </a:solidFill>
              </a:rPr>
              <a:t>三层师资结构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L0 学科总教官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4-6人 | 虚拟组织负责人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733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方法论化自身经验，制作模板/SOP/清单，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训练L1导师，是整套体系的质量天花板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295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L1 内部导师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542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从30名9级以上遴选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27249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经L0训练后，每人带2-4名学员，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有带教大纲、检查点和产出物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97280" y="32461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88720" y="3300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L2 学员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5478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初级工程师及部分资深工程师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88720" y="37307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按带教计划学习，在真实项目中应用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553"/>
                </a:solidFill>
              </a:rPr>
              <a:t>四个人员层级（双通道）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188720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18872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12344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资深管理者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81728" y="162763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新设层级 | 5-8人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72200" y="12618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跨团队协调 · 组织级能力治理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对外关系管理 · 人才梯队规划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148840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14884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21945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初级管理者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81728" y="25877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现有/新晋9级leader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72200" y="22219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团队级人员与项目管理责任人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主导团队质量/AI落地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108960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10896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31546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资深工程师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81728" y="35478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多为9级以上 | 独立序列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72200" y="31821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技术深度主力 · 不强制转管理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承担设计·质量owner·带教责任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4069080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406908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4114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初级工程师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81728" y="45079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入职数年内 | 占比最大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72200" y="414223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技术执行为主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逐步建立产品/质量/PM基础认知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CIM集团 2026-2028 人才培养路线图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四阶段总览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2026年7月 → 2028年6月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1005840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005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1517904"/>
            <a:ext cx="0" cy="7315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00200"/>
            <a:ext cx="2057400" cy="321868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00200"/>
            <a:ext cx="2057400" cy="438912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0020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2026年7-12月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07568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项目管理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基础建设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77063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方法论包v1.0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首批L1导师上岗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交付确定性基线建立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995928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233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退出标准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42336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≥2团队稳定运行≥1月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55848" y="1005840"/>
            <a:ext cx="512064" cy="5120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1005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11880" y="1517904"/>
            <a:ext cx="0" cy="7315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7480" y="1600200"/>
            <a:ext cx="2057400" cy="321868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97480" y="1600200"/>
            <a:ext cx="2057400" cy="438912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160020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2027年1-6月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88920" y="207568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PM推广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+质量启动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07208" y="277063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PM全团队覆盖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质量SOP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缺陷率/逃逸率基线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88920" y="3995928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40233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退出标准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880360" y="42336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全团队PM覆盖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96128" y="1005840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96128" y="1005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52160" y="1517904"/>
            <a:ext cx="0" cy="73152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1600200"/>
            <a:ext cx="2057400" cy="321868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37760" y="1600200"/>
            <a:ext cx="2057400" cy="438912"/>
          </a:xfrm>
          <a:prstGeom prst="roundRect">
            <a:avLst>
              <a:gd name="adj" fmla="val 208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160020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2027年7-12月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207568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质量深化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+产品架构启动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47488" y="277063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质量门禁全员执行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架构文档补齐≥80%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ADR机制稳定运行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3995928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40233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退出标准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20640" y="42336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核心模块架构文档完整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836408" y="1005840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36408" y="1005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92440" y="1517904"/>
            <a:ext cx="0" cy="7315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78040" y="1600200"/>
            <a:ext cx="2057400" cy="321868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178040" y="1600200"/>
            <a:ext cx="2057400" cy="438912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78040" y="160020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2028年1-6月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69480" y="207568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架构深化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+AI规模化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287768" y="277063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产品思维覆盖初级管理者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2-3个AI场景试点上线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两年整体能力盘点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269480" y="3995928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60920" y="40233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退出标准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60920" y="42336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Year 3自转机制规划完成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CIM集团 2026-2028 人才培养路线图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阶段一：项目管理基础建设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2026年7月 — 12月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50292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132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月份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713232"/>
            <a:ext cx="333756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713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核心动作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69080" y="713232"/>
            <a:ext cx="214884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7132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关键交付物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713232"/>
            <a:ext cx="169164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7132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责任人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033272"/>
            <a:ext cx="502920" cy="649224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06070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7月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1033272"/>
            <a:ext cx="3337560" cy="649224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106070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PM负责人盘点现有实践，作为方法论素材来源；遴选L1导师候选3-5名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69080" y="1033272"/>
            <a:ext cx="2148840" cy="649224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106070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现状诊断报告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L1候选名单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1033272"/>
            <a:ext cx="1691640" cy="649224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060704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PM负责人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+总监面谈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1682496"/>
            <a:ext cx="502920" cy="649224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70992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8月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1682496"/>
            <a:ext cx="3337560" cy="649224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17099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输出方法论包v0.1（WBS模板、风险登记表、状态汇报模板、看板规则）；对接公司内部PMO/工艺质量部门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069080" y="1682496"/>
            <a:ext cx="2148840" cy="649224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17099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方法论包v0.1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1682496"/>
            <a:ext cx="1691640" cy="649224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70992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PM负责人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2331720"/>
            <a:ext cx="502920" cy="649224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359152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9月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2331720"/>
            <a:ext cx="3337560" cy="649224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23591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方法论包在2-3个真实项目试点；对L1候选人开展教学方法培训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069080" y="2331720"/>
            <a:ext cx="2148840" cy="649224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235915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试点反馈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导师培训完成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2331720"/>
            <a:ext cx="1691640" cy="649224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235915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PM负责人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+L1候选人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" y="2980944"/>
            <a:ext cx="502920" cy="649224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008376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10月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1520" y="2980944"/>
            <a:ext cx="3337560" cy="649224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300837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迭代方法论包至v1.0；启动周度项目评审节奏；建立交付确定性基线（按时交付率、计划偏差率）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069080" y="2980944"/>
            <a:ext cx="2148840" cy="649224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300837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方法论包v1.0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基线首月数据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17920" y="2980944"/>
            <a:ext cx="1691640" cy="649224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3008376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PM负责人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+各团队负责人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28600" y="3630168"/>
            <a:ext cx="502920" cy="649224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65760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11月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31520" y="3630168"/>
            <a:ext cx="3337560" cy="649224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" y="36576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L1导师正式上岗带教（每人2-3名学员）；早会体系加入双周项目复盘环节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069080" y="3630168"/>
            <a:ext cx="2148840" cy="649224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0" y="36576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导师-学员配对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首次双周复盘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17920" y="3630168"/>
            <a:ext cx="1691640" cy="649224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63640" y="36576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L1导师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+学员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4279392"/>
            <a:ext cx="502920" cy="649224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30682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12月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31520" y="4279392"/>
            <a:ext cx="3337560" cy="649224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7240" y="430682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阶段一复盘会；质量负责人同步开始盘点质量现状，为阶段二做准备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069080" y="4279392"/>
            <a:ext cx="2148840" cy="649224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0" y="430682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阶段一复盘报告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阶段二启动计划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17920" y="4279392"/>
            <a:ext cx="1691640" cy="649224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63640" y="4306824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总监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+PM/质量负责人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阶段一退出标准：方法论包v1.0完成 · ≥2团队稳定运行≥1月 · 5名L1导师上岗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阶段一：分层级重点动作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2026年7月 — 12月 · 项目管理基础建设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77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初级工程师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34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7-9月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5270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理解WBS和状态汇报背后的逻辑，而非被动填表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11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10-12月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3042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在自己任务层面做到准确估算与透明上报；开始接触双周复盘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26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资深工程师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338328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383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7-9月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36758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作为试点项目参与者，体验并反馈新方法论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16052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160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10-12月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44531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部分人成为L1导师候选，开始独立做模块级WBS拆解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77724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777240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777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初级管理者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12344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234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7-8月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15270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参与方法论盘点访谈，提供一线项目管理痛点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201168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011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9-12月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23042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成为L1导师主力来源，用新方法论实际管理自己团队项目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92608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926080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926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资深管理者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92040" y="338328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383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7-9月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040" y="36758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候选人参与诊断与方法论设计决策，提供组织视角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92040" y="416052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4160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10-12月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92040" y="44531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开始接手跨团队交付数据汇总与向上汇报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阶段一退出标准：方法论包v1.0完成 · ≥2团队稳定运行≥1月 · 5名L1导师上岗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阶段二：PM推广 + 质量体系启动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2027年1月 — 6月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5029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132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月份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713232"/>
            <a:ext cx="33375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713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核心动作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69080" y="713232"/>
            <a:ext cx="21488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7132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关键交付物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713232"/>
            <a:ext cx="16916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7132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责任人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033272"/>
            <a:ext cx="502920" cy="6492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06070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1033272"/>
            <a:ext cx="3337560" cy="6492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106070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PM方法论推广至剩余全部团队；L1导师扩展至8-10人；质量负责人启动质量现状诊断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69080" y="1033272"/>
            <a:ext cx="2148840" cy="6492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106070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全员周度评审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质量诊断启动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1033272"/>
            <a:ext cx="1691640" cy="6492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060704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PM/质量负责人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1682496"/>
            <a:ext cx="502920" cy="649224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70992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2月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1682496"/>
            <a:ext cx="3337560" cy="649224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17099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质量诊断完成（缺陷率/逃逸率/根因类型分布）；若有内部工艺质量部门资源，正式对接根因分析方法论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069080" y="1682496"/>
            <a:ext cx="2148840" cy="649224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17099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质量诊断报告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1682496"/>
            <a:ext cx="1691640" cy="649224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70992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质量负责人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2331720"/>
            <a:ext cx="502920" cy="6492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359152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3月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2331720"/>
            <a:ext cx="3337560" cy="6492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23591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输出质量SOP v0.1（代码评审标准、设计评审清单、缺陷分级、质量门禁定义）；遴选质量L1导师候选3-4人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069080" y="2331720"/>
            <a:ext cx="2148840" cy="6492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235915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质量SOP v0.1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L1候选名单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2331720"/>
            <a:ext cx="1691640" cy="6492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235915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质量负责人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" y="2980944"/>
            <a:ext cx="502920" cy="649224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008376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4月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1520" y="2980944"/>
            <a:ext cx="3337560" cy="649224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300837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质量SOP在2-3个项目试点；质量L1导师接受教学方法培训；PM方面进行年中复盘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069080" y="2980944"/>
            <a:ext cx="2148840" cy="649224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300837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试点反馈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PM年中复盘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17920" y="2980944"/>
            <a:ext cx="1691640" cy="649224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3008376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质量负责人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+候选人+总监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28600" y="3630168"/>
            <a:ext cx="502920" cy="6492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65760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5月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31520" y="3630168"/>
            <a:ext cx="3337560" cy="6492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" y="36576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质量SOP迭代至v1.0；质量L1导师开始带教，学员优先选资深工程师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069080" y="3630168"/>
            <a:ext cx="2148840" cy="6492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0" y="36576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质量SOP v1.0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导师-学员配对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17920" y="3630168"/>
            <a:ext cx="1691640" cy="6492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63640" y="36576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质量负责人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4279392"/>
            <a:ext cx="502920" cy="649224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30682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6月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31520" y="4279392"/>
            <a:ext cx="3337560" cy="649224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7240" y="430682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阶段二复盘；半年度进展作为年中绩效沟通的参考输入（非强制）；为阶段三做准备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069080" y="4279392"/>
            <a:ext cx="2148840" cy="649224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0" y="430682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半年复盘报告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年中参考材料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17920" y="4279392"/>
            <a:ext cx="1691640" cy="649224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63640" y="4306824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总监+各L0负责人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阶段二退出标准：PM全团队覆盖 · 质量SOP v1.0完成并完成试点 · 质量基线指标建立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阶段三：质量深化 + 产品架构启动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2027年7月 — 12月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5029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132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月份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713232"/>
            <a:ext cx="33375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713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核心动作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69080" y="713232"/>
            <a:ext cx="214884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7132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关键交付物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713232"/>
            <a:ext cx="169164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7132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责任人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033272"/>
            <a:ext cx="502920" cy="649224"/>
          </a:xfrm>
          <a:prstGeom prst="rect">
            <a:avLst/>
          </a:prstGeom>
          <a:solidFill>
            <a:srgbClr val="F5F3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06070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7月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1033272"/>
            <a:ext cx="3337560" cy="649224"/>
          </a:xfrm>
          <a:prstGeom prst="rect">
            <a:avLst/>
          </a:prstGeom>
          <a:solidFill>
            <a:srgbClr val="F5F3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106070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质量门禁正式嵌入全部团队工作流；架构负责人启动现有系统架构现状盘点，找出隐性架构知识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69080" y="1033272"/>
            <a:ext cx="2148840" cy="649224"/>
          </a:xfrm>
          <a:prstGeom prst="rect">
            <a:avLst/>
          </a:prstGeom>
          <a:solidFill>
            <a:srgbClr val="F5F3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106070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质量门禁生效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架构知识盘点清单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1033272"/>
            <a:ext cx="1691640" cy="649224"/>
          </a:xfrm>
          <a:prstGeom prst="rect">
            <a:avLst/>
          </a:prstGeom>
          <a:solidFill>
            <a:srgbClr val="F5F3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060704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质量/架构负责人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1682496"/>
            <a:ext cx="502920" cy="649224"/>
          </a:xfrm>
          <a:prstGeom prst="rect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70992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8月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1682496"/>
            <a:ext cx="3337560" cy="649224"/>
          </a:xfrm>
          <a:prstGeom prst="rect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17099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高风险模块文档补齐专项启动（懂的人+资深工程师配对）；资深工程师层开始独立承担质量owner角色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069080" y="1682496"/>
            <a:ext cx="2148840" cy="649224"/>
          </a:xfrm>
          <a:prstGeom prst="rect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17099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文档补齐计划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及首批产出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1682496"/>
            <a:ext cx="1691640" cy="649224"/>
          </a:xfrm>
          <a:prstGeom prst="rect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70992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架构负责人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+配对资深工程师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2331720"/>
            <a:ext cx="502920" cy="649224"/>
          </a:xfrm>
          <a:prstGeom prst="rect">
            <a:avLst/>
          </a:prstGeom>
          <a:solidFill>
            <a:srgbClr val="F5F3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359152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9月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2331720"/>
            <a:ext cx="3337560" cy="649224"/>
          </a:xfrm>
          <a:prstGeom prst="rect">
            <a:avLst/>
          </a:prstGeom>
          <a:solidFill>
            <a:srgbClr val="F5F3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23591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建立架构决策框架（ADR）；成立设计评审委员会（架构负责人+若干资深工程师）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069080" y="2331720"/>
            <a:ext cx="2148840" cy="649224"/>
          </a:xfrm>
          <a:prstGeom prst="rect">
            <a:avLst/>
          </a:prstGeom>
          <a:solidFill>
            <a:srgbClr val="F5F3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235915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ADR模板与流程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委员会首次评审记录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2331720"/>
            <a:ext cx="1691640" cy="649224"/>
          </a:xfrm>
          <a:prstGeom prst="rect">
            <a:avLst/>
          </a:prstGeom>
          <a:solidFill>
            <a:srgbClr val="F5F3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235915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架构负责人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" y="2980944"/>
            <a:ext cx="502920" cy="649224"/>
          </a:xfrm>
          <a:prstGeom prst="rect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008376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10月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1520" y="2980944"/>
            <a:ext cx="3337560" cy="649224"/>
          </a:xfrm>
          <a:prstGeom prst="rect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300837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架构文档补齐持续推进（目标：高风险模块≥80%）；ADR在新设计决策中强制使用；遴选架构L1导师候选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069080" y="2980944"/>
            <a:ext cx="2148840" cy="649224"/>
          </a:xfrm>
          <a:prstGeom prst="rect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300837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文档补齐进度报告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ADR使用案例集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17920" y="2980944"/>
            <a:ext cx="1691640" cy="649224"/>
          </a:xfrm>
          <a:prstGeom prst="rect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3008376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架构负责人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28600" y="3630168"/>
            <a:ext cx="502920" cy="649224"/>
          </a:xfrm>
          <a:prstGeom prst="rect">
            <a:avLst/>
          </a:prstGeom>
          <a:solidFill>
            <a:srgbClr val="F5F3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65760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11月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31520" y="3630168"/>
            <a:ext cx="3337560" cy="649224"/>
          </a:xfrm>
          <a:prstGeom prst="rect">
            <a:avLst/>
          </a:prstGeom>
          <a:solidFill>
            <a:srgbClr val="F5F3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" y="36576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质量深化复盘（门禁执行率、缺陷率/逃逸率变化趋势）；架构L1导师开始带教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069080" y="3630168"/>
            <a:ext cx="2148840" cy="649224"/>
          </a:xfrm>
          <a:prstGeom prst="rect">
            <a:avLst/>
          </a:prstGeom>
          <a:solidFill>
            <a:srgbClr val="F5F3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0" y="36576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质量深化复盘报告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架构导师带教计划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17920" y="3630168"/>
            <a:ext cx="1691640" cy="649224"/>
          </a:xfrm>
          <a:prstGeom prst="rect">
            <a:avLst/>
          </a:prstGeom>
          <a:solidFill>
            <a:srgbClr val="F5F3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63640" y="36576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质量/架构负责人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4279392"/>
            <a:ext cx="502920" cy="649224"/>
          </a:xfrm>
          <a:prstGeom prst="rect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30682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12月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31520" y="4279392"/>
            <a:ext cx="3337560" cy="649224"/>
          </a:xfrm>
          <a:prstGeom prst="rect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7240" y="430682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阶段三复盘；年末进展作为绩效/晋升讨论参考输入；为阶段四（产品架构深化+AI规模化）做准备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069080" y="4279392"/>
            <a:ext cx="2148840" cy="649224"/>
          </a:xfrm>
          <a:prstGeom prst="rect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0" y="430682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阶段三复盘报告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年末参考材料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17920" y="4279392"/>
            <a:ext cx="1691640" cy="649224"/>
          </a:xfrm>
          <a:prstGeom prst="rect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63640" y="4306824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总监+各L0负责人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阶段三退出标准：质量门禁全员执行 · 高风险模块架构文档≥80% · ADR机制稳定运行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阶段四：产品架构深化 + AI规模化 + 整体校准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2028年1月 — 6月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50292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132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月份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713232"/>
            <a:ext cx="33375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713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核心动作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69080" y="713232"/>
            <a:ext cx="214884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7132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关键交付物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713232"/>
            <a:ext cx="169164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7132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责任人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033272"/>
            <a:ext cx="502920" cy="649224"/>
          </a:xfrm>
          <a:prstGeom prst="rect">
            <a:avLst/>
          </a:prstGeom>
          <a:solidFill>
            <a:srgbClr val="FFFBEB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06070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1033272"/>
            <a:ext cx="3337560" cy="649224"/>
          </a:xfrm>
          <a:prstGeom prst="rect">
            <a:avLst/>
          </a:prstGeom>
          <a:solidFill>
            <a:srgbClr val="FFFBEB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106070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产品负责人启动产品思维方法论化（需求拆解、优先级判断、roadmap对话机制）；盘点AI工具使用现状，挑选2-3个可规模化场景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69080" y="1033272"/>
            <a:ext cx="2148840" cy="649224"/>
          </a:xfrm>
          <a:prstGeom prst="rect">
            <a:avLst/>
          </a:prstGeom>
          <a:solidFill>
            <a:srgbClr val="FFFBEB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106070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产品思维方法论v0.1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AI试点候选清单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1033272"/>
            <a:ext cx="1691640" cy="649224"/>
          </a:xfrm>
          <a:prstGeom prst="rect">
            <a:avLst/>
          </a:prstGeom>
          <a:solidFill>
            <a:srgbClr val="FFFBEB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060704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产品负责人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1682496"/>
            <a:ext cx="502920" cy="649224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70992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2月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1682496"/>
            <a:ext cx="3337560" cy="649224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17099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产品方法论在初级管理者层试点；AI试点场景正式立项，明确owner与成功指标（产出价值可量化）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069080" y="1682496"/>
            <a:ext cx="2148840" cy="649224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17099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试点反馈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AI试点立项书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1682496"/>
            <a:ext cx="1691640" cy="649224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70992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产品负责人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AI试点owner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2331720"/>
            <a:ext cx="502920" cy="649224"/>
          </a:xfrm>
          <a:prstGeom prst="rect">
            <a:avLst/>
          </a:prstGeom>
          <a:solidFill>
            <a:srgbClr val="FFFBEB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359152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3月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2331720"/>
            <a:ext cx="3337560" cy="649224"/>
          </a:xfrm>
          <a:prstGeom prst="rect">
            <a:avLst/>
          </a:prstGeom>
          <a:solidFill>
            <a:srgbClr val="FFFBEB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23591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产品方法论迭代至v1.0并推广至全部初级管理者层；AI试点进入技术验证阶段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069080" y="2331720"/>
            <a:ext cx="2148840" cy="649224"/>
          </a:xfrm>
          <a:prstGeom prst="rect">
            <a:avLst/>
          </a:prstGeom>
          <a:solidFill>
            <a:srgbClr val="FFFBEB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235915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产品方法论v1.0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AI技术验证进展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2331720"/>
            <a:ext cx="1691640" cy="649224"/>
          </a:xfrm>
          <a:prstGeom prst="rect">
            <a:avLst/>
          </a:prstGeom>
          <a:solidFill>
            <a:srgbClr val="FFFBEB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235915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产品负责人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AI试点owner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" y="2980944"/>
            <a:ext cx="502920" cy="649224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008376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4月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1520" y="2980944"/>
            <a:ext cx="3337560" cy="649224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300837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产品方法论下沉至资深工程师层培训；AI试点进入小范围上线测试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069080" y="2980944"/>
            <a:ext cx="2148840" cy="649224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300837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资深工程师培训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AI小范围上线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17920" y="2980944"/>
            <a:ext cx="1691640" cy="649224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3008376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产品负责人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AI试点owner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28600" y="3630168"/>
            <a:ext cx="502920" cy="649224"/>
          </a:xfrm>
          <a:prstGeom prst="rect">
            <a:avLst/>
          </a:prstGeom>
          <a:solidFill>
            <a:srgbClr val="FFFBEB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65760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5月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31520" y="3630168"/>
            <a:ext cx="3337560" cy="649224"/>
          </a:xfrm>
          <a:prstGeom prst="rect">
            <a:avLst/>
          </a:prstGeom>
          <a:solidFill>
            <a:srgbClr val="FFFBEB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" y="36576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启动两年整体能力盘点（360反馈+交付确定性/缺陷率/架构文档覆盖率/AI试点产出价值）；AI试点效果评估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069080" y="3630168"/>
            <a:ext cx="2148840" cy="649224"/>
          </a:xfrm>
          <a:prstGeom prst="rect">
            <a:avLst/>
          </a:prstGeom>
          <a:solidFill>
            <a:srgbClr val="FFFBEB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0" y="36576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能力盘点初稿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AI效果评估报告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17920" y="3630168"/>
            <a:ext cx="1691640" cy="649224"/>
          </a:xfrm>
          <a:prstGeom prst="rect">
            <a:avLst/>
          </a:prstGeom>
          <a:solidFill>
            <a:srgbClr val="FFFBEB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63640" y="36576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总监+四位L0负责人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4279392"/>
            <a:ext cx="502920" cy="649224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30682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6月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31520" y="4279392"/>
            <a:ext cx="3337560" cy="649224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7240" y="430682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完成两年能力盘点报告，作为年中晋升/绩效参考输入；规划Year 3自转机制；决定AI试点是否规模化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069080" y="4279392"/>
            <a:ext cx="2148840" cy="649224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0" y="430682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两年盘点最终报告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Year 3规划草案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17920" y="4279392"/>
            <a:ext cx="1691640" cy="649224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63640" y="4306824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总监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阶段四退出标准：产品思维覆盖初级管理者 · AI试点产出可量化价值 · 两年能力盘点完成 · Year 3规划就绪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风险提示与应对策略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7008" y="8503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知识天花板风险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117043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风险：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37360" y="1170432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内部师徒制的效果上限取决于L0这4-6人的方法论深度，若他们自身也是凭经验摸索，教出的人大概率参差不齐，规模化后各团队打法各异。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07008" y="14904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应对：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37360" y="1490472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对L0负责人单独投入额外资源：购买方法论书籍、参加1-2个低成本认证或对接公司内部PMO/工艺质量部门，这4-6人身上的投入产出比在整盘里最高。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194560"/>
            <a:ext cx="850392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8600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22677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导师产能风险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07008" y="25877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风险：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37360" y="2587752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L1导师同时承担本职技术/管理工作和带教职责，双重任务容易导致带教质量下滑，或导师本人技术深度受损，引发身份焦虑。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07008" y="29077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应对：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37360" y="2907792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季度复盘会中优先关注导师负荷，若超载及时减少带教学员数量或延长带教周期；明确导师也是资深工程师的独立成长路径，非管理跳板。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611880"/>
            <a:ext cx="850392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70332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07008" y="36850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进度依赖风险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07008" y="4005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风险：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37360" y="4005072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四个阶段按优先级顺序推进。若阶段一（PM基础建设）未能在12月达到退出标准，后续所有阶段将连带顺延。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07008" y="43251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应对：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37360" y="4325112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11月底做一次提前预警检查。若两个或更多指标落后（如L1导师不足5人、方法论包未完成），不强行进入阶段二；宁可顺延一个季度，也不牺牲基线质量为赶时间表。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CIM集团 2026-2028 人才培养路线图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365760"/>
            <a:ext cx="3657600" cy="3657600"/>
          </a:xfrm>
          <a:prstGeom prst="ellipse">
            <a:avLst/>
          </a:prstGeom>
          <a:solidFill>
            <a:srgbClr val="1E4B72">
              <a:alpha val="60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Year 3 展望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两年后，让机制自己转起来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本路线图的终态不是【两年后继续做专项推动】，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而是让各项动作成为日常管理的自然组成部分，不再需要L0/L1专门驱动。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E4B7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786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周度项目评审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44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A5E9"/>
                </a:solidFill>
              </a:rPr>
              <a:t>→ 日常管理节奏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25146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E4B7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5786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质量门禁执行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944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A5E9"/>
                </a:solidFill>
              </a:rPr>
              <a:t>→ 开发流程内建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5146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E4B7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5786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ADR决策框架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944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A5E9"/>
                </a:solidFill>
              </a:rPr>
              <a:t>→ 架构自治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25146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E4B7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5786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产品需求讨论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2944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A5E9"/>
                </a:solidFill>
              </a:rPr>
              <a:t>→ 团队默认模式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566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阶段四末（2028年6月）需明确回答：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哪些机制已经可以【放手】，由团队自转？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哪些仍需专项资源延续到Year 3？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4805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AI试点中是否有1个产生足够价值，值得规模化投入？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CIM集团开发总监 · 2026-2028人才培养与组织能力建设路线图 · 内部机密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CIM团队两年人才培养路线图 2026-2028</dc:title>
  <dc:subject>PptxGenJS Presentation</dc:subject>
  <dc:creator>PptxGenJS</dc:creator>
  <cp:lastModifiedBy>PptxGenJS</cp:lastModifiedBy>
  <cp:revision>1</cp:revision>
  <dcterms:created xsi:type="dcterms:W3CDTF">2026-06-19T01:35:47Z</dcterms:created>
  <dcterms:modified xsi:type="dcterms:W3CDTF">2026-06-19T01:35:47Z</dcterms:modified>
</cp:coreProperties>
</file>