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本PPT为课堂速览版，完整的逐字稿全文、印刷级情景卡、评分表和承诺卡请查阅配套Word文档（层级一/层级二物料包）。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本页为M1模块逐字稿和学员讲义的课堂速览摘要。完整逐字稿全文、可打印的A4学员讲义请查阅配套Word文档。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本页为M1模块情景卡、评分表、承诺卡的课堂速览。可打印的A5情景卡、完整评分维度说明、正式承诺卡模板请查阅配套Word文档。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本页为M2模块逐字稿和学员讲义的课堂速览摘要。完整逐字稿全文、可打印的A4学员讲义请查阅配套Word文档。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本页为M2模块情景卡、评分表、承诺卡的课堂速览。可打印的A5情景卡、完整评分维度说明、正式承诺卡模板请查阅配套Word文档。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本页为M3模块逐字稿和学员讲义的课堂速览摘要。完整逐字稿全文、可打印的A4学员讲义请查阅配套Word文档。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本页为M3模块情景卡、评分表、承诺卡的课堂速览。可打印的A5情景卡、完整评分维度说明、正式承诺卡模板请查阅配套Word文档。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本页为M4模块逐字稿和学员讲义的课堂速览摘要。完整逐字稿全文、可打印的A4学员讲义请查阅配套Word文档。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本页为M4模块情景卡、评分表、承诺卡的课堂速览。可打印的A5情景卡、完整评分维度说明、正式承诺卡模板请查阅配套Word文档。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本页为M1模块逐字稿和学员讲义的课堂速览摘要。完整逐字稿全文、可打印的A4学员讲义请查阅配套Word文档。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本页为M1模块情景卡、评分表、承诺卡的课堂速览。可打印的A5情景卡、完整评分维度说明、正式承诺卡模板请查阅配套Word文档。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本页为M2模块逐字稿和学员讲义的课堂速览摘要。完整逐字稿全文、可打印的A4学员讲义请查阅配套Word文档。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本页为M2模块情景卡、评分表、承诺卡的课堂速览。可打印的A5情景卡、完整评分维度说明、正式承诺卡模板请查阅配套Word文档。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本页为M3模块逐字稿和学员讲义的课堂速览摘要。完整逐字稿全文、可打印的A4学员讲义请查阅配套Word文档。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本页为M3模块情景卡、评分表、承诺卡的课堂速览。可打印的A5情景卡、完整评分维度说明、正式承诺卡模板请查阅配套Word文档。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本页为M4模块逐字稿和学员讲义的课堂速览摘要。完整逐字稿全文、可打印的A4学员讲义请查阅配套Word文档。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本页为M4模块情景卡、评分表、承诺卡的课堂速览。可打印的A5情景卡、完整评分维度说明、正式承诺卡模板请查阅配套Word文档。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结尾页：物料使用说明和完整清单核对表，内训师可用于课前物料准备检查。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7315200" cy="7315200"/>
          </a:xfrm>
          <a:prstGeom prst="ellipse">
            <a:avLst/>
          </a:prstGeom>
          <a:solidFill>
            <a:srgbClr val="1D9E75">
              <a:alpha val="7000"/>
            </a:srgbClr>
          </a:solidFill>
          <a:ln w="635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914400"/>
            <a:ext cx="4572000" cy="4572000"/>
          </a:xfrm>
          <a:prstGeom prst="ellipse">
            <a:avLst/>
          </a:prstGeom>
          <a:solidFill>
            <a:srgbClr val="7F77DD">
              <a:alpha val="11000"/>
            </a:srgbClr>
          </a:solidFill>
          <a:ln w="6350">
            <a:solidFill>
              <a:srgbClr val="7F77DD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M1–M4 配套物料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课堂速览版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两个层级 · 各4个模块 · 每模块5种物料一览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178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逐字稿摘要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4714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内训师开场与点评要点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411480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4178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 + 评分表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44714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实战演练核心工具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411480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4178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4714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可填写模板预览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完整版Word物料包请见配套docx文件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内部资料 · 请勿外传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731520"/>
            <a:ext cx="6858000" cy="6858000"/>
          </a:xfrm>
          <a:prstGeom prst="ellipse">
            <a:avLst/>
          </a:prstGeom>
          <a:solidFill>
            <a:srgbClr val="1D9E75">
              <a:alpha val="7000"/>
            </a:srgbClr>
          </a:solidFill>
          <a:ln w="635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011680"/>
            <a:ext cx="4114800" cy="4114800"/>
          </a:xfrm>
          <a:prstGeom prst="ellipse">
            <a:avLst/>
          </a:prstGeom>
          <a:solidFill>
            <a:srgbClr val="1D9E75">
              <a:alpha val="13000"/>
            </a:srgbClr>
          </a:solidFill>
          <a:ln w="6350">
            <a:solidFill>
              <a:srgbClr val="1D9E75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层级一物料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初任主管 · M1–M4 配套物料速览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半导体CIM管理者培训体系 · 配套物料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角色认知：从工程师到主管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（环视全场，把目光在几位最近经常加班、面露疲态的新任主管脸上停留两秒。声音沉稳，带有一点揭开真相的穿透力。） 各位组长，今天把大家召集到一块儿，我们不聊具体的代码重构，不聊接口协议，也不聊设……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家上任这几个月，有没有一种感觉：比以前当纯工程师的时候累多了？以前你只要管好自己手里的那两个子模块，代码一提交，测试跑通，准点下班。现在呢？白天一睁眼，全是跨部门沟通、紧急开会、各厂区的报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我们要重新定义一下什么叫"产出"。工程师的产出是线性的，你一个人一天写10个小时，产出上限就是10小时。但主管的产出应该是一个放大器。 举个真实的场景：比如下个月我们要上线一套针对某车间的全新Q-Time严苛控制系统，这……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当有学员说"自己写完最安全"时，追问："你的下属这个月学到了什么？明年你离职了这个系统谁维护？" 核心结论要点出来：① 一个人闷头干，团队没有成长；② 主管的"产出"包含了团队被驱动后的总产……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今天这堂课就是一句话：你过去靠技术活下来，现在要靠驱动别人活下来。这不是否定你的技术，而是升级你的武器。下周开始，把那个"我来写"的冲动忍住，换成"你来写，我来……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核心概念一：产出重新定义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工程师产出 = 个人代码量 + 个人解Bug + 模块稳定性 主管产出 = 个人直接产出 + 团队被驱动后的总产出 结论：你的产出上限从「一个人10小时」变成了「N个人×10小时」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核心概念二：个人英雄主义的失效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过去的优势（技术最强、交付最快）若不调整，会成为绊脚石。 典型错误：「算了，我来写」——你做完了，下属学到什么？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核心概念三：三种身份的跃迁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技术执行者 → 技术判断者（我来决定做什么） ② 个人贡献者 → 资源调配者（我来决定谁做） ③ 问题解决者 → 问题定义者（我来决定做哪个问题）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1D9E75">
              <a:alpha val="15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本课关键行动：本周行动：把一项本来打算自己做的任务，交给组员负责，并设置一个Check Point观察进展。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M1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角色认知：从工程师到主管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某资深工程师小张刚升任组长。下个月要上线一套全新的Q-Time严苛控制系统，涉及核心调度逻辑重构。小张手里有4名工程师，其中2人有3年以上经验，2人刚入职1年。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如果小张选择「自己通宵把系统写完」，他是一个好主管吗？为什么？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合格的主管应该如何分配这个项目？自己应该死守哪些部分？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项目结束后，小张作为主管，他的「产出」是什么？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角色意识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是否明确识别「自己做完」是主管的失职行为，而非美德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任务拆解能力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能否合理拆分核心架构（主管自己卡）与具体模块（分派给组员）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成长设计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方案中是否包含对工程师的能力培养考虑（不是只考虑交付速度）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产出定义清晰度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能否准确表达「主管产出=个人产出+团队被驱动产出」这一核心逻辑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下周我将把一项本来打算自己完成的任务交给组员负责： 任务名称：＿＿＿＿＿＿＿＿＿＿＿＿＿＿＿＿ 负责组员：＿＿＿＿＿＿＿＿＿＿＿＿＿＿＿＿ Check Point设置时间：＿＿＿＿天后 我将检查的内容：＿＿＿＿＿＿＿＿＿＿＿＿＿＿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M1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技术判断力：停线风险分级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半导体CIM系统的铁律是什么？"CIM一挂，全厂停线"。几十万一片的晶圆在洁净室里跑着，稍微有个混批或者超时，就是几百万的报废责任，这个锅谁也背不起。所以你们不敢放。但大家要明白，放手不等于……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问大家一个问题：你们组里有没有让你睡不着觉的任务？为什么睡不着？（等几个人说完）再问：这些任务现在是谁在做？你上次看它是什么时候？ 很多组长的问题不是不愿意放手，而是不知道怎么放手——要么全……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要搞"分级授权"。像涉及到Wet-Diffusion这种复杂的湿法与扩散跨区域联合调度逻辑、或者涉及到严苛Q-Time时钟锁死局的代码，你当然不能完全交给一个新人去裸奔。你可以把整体的状态机模型和数据库防御机制定死，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有学员会说"我全程都在看"，要追问："你在看什么？你能看出代码哪里有死锁风险吗？如果能，为什么不让新人多写一些让你来看？" 核心结论：老王的问题不是放了手，而是在关键模块上没有设置门控（Ga……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从今天起，把你手里所有任务过一遍，按停线风险标个高低。高风险的，定两三个Check Point，不是不让别人做，是你要把好两个门。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核心概念一：停线风险分级矩阵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高风险（停线级）：核心调度逻辑、Q-Time防御、数据库表结构、多厂区联动 → 主管必须死守：技术方案评审 + Code Review关键节点 低风险（非核心）：监控看板、非核心接口封装、报表模块、工具类脚本 → 彻底放手，允许试错，这是培养人的机会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核心概念二：主管的技术判断职责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从「写代码」转向「判断这段代码的风险等级」。 技术判断力不能退化：要持续参与架构评审，但不参与具体实现。 禁止两种极端：①什么都不看（失职）②什么都亲自改（退回工程师角色）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核心概念三：Check Point设计原则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不是全程盯，是在关键节点介入。 示例：周二看接口定义，周四看核心死锁逻辑。 原则：「我需要在这个节点知道什么信息，才能决定要不要介入？」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1D9E75">
              <a:alpha val="15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本课关键行动：本周行动：列出本组任务清单，按停线风险标注高/低，并调整Check Point设置。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M2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技术判断力：停线风险分级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工程师小李（入职2年）说要重构湿法/扩散区域的联合调度算法（Wet-Diffusion联调），这是停线级高风险模块。组长老王最近很忙，想直接交给小李自己去做。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老王的做法有什么风险？如果出了问题，责任在谁？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正确的做法：老王应该在哪几个时间节点介入？每次介入检查什么？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如果小李是5年经验的资深工程师，老王的介入方式会有变化吗？为什么？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风险识别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能否准确判断该任务属于停线级高风险，需要更高强度的监控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Point设计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提出的检查节点是否具体（时间点+检查内容），而非笼统的「多关注」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成熟度区分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能否根据执行者经验调整监控强度，体现分级授权思维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责任边界清晰度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能否说清楚「出问题责任在谁」，理解主管对停线级任务的不可让渡责任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本周内，我将对本组所有进行中的任务进行停线风险标注： 已标注任务数：＿＿＿＿＿（高风险＿＿＿，低风险＿＿＿） 针对高风险任务，我将设置的Check Point数量：＿＿＿＿＿ 我将于＿＿＿＿（日期）前告知对应工程师Check Point安排。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M2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分级授权：放手但不放任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问大家一个问题：有没有人授权出去的任务最后自己又接回来做了？发生了什么？（收集2-3个真实故事） 授权失败往往不是因为"不该授权"，而是因为授权的"设计"出了问题——没有清晰的Check P……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授权的本质，是把"任务的停线风险"和"执行者的成熟度"两个维度结合起来，决定你的介入深度。我们来看一个四象限矩阵：高风险+低成熟度，主管直接执行或强监控；高风险+高成熟度，授权+设Gate；……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Point设计有5个要素，缺一不可：① 明确触发时机（时间节点或里程碑节点）；② 明确检查内容（接口？逻辑？测试覆盖率？）；③ 明确判断标准（看到什么算过关，看到什么需要介入）；④ 明确升级路径（如果不过关，……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第15天发现问题是最关键的讨论点。核心结论是：越早发现问题成本越低，Check Point的意义就是让问题尽早暴露，而不是等到最后交付时才爆。 要追问学员："如果一开始就设置了Check P……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授权不是一句"你去做"，是一份带着时间、内容、标准、升级路径的完整合同。回去把你手里至少一个已授权的任务，补上这份合同。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核心概念一：授权的两个维度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维度A：任务的停线风险（高/低） 维度B：执行者的成熟度（高/低） 四象限策略： 高风险+低成熟度→主管直接执行或强监控 高风险+高成熟度→授权+设Gate 低风险+低成熟度→授权+密集陪跑 低风险+高成熟度→完全授权，结果验收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核心概念二：Check Point设计的5个要素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①明确触发时机（时间/里程碑节点） ②明确检查内容（接口？逻辑？测试覆盖率？） ③明确判断标准（过关/需介入的界定） ④明确升级路径（不过关时的下一步） ⑤明确沟通方式（Review/站会/正式评审）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核心概念三：授权常见失败模式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一放到底：没有Check Point，等出问题才发现 假授权：名义上交给别人，但每天询问进度5次 授权不清：「你去做这个」但没说验收标准是什么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1D9E75">
              <a:alpha val="15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本课关键行动：本周行动：为一个已授权任务，补充设计完整的Check Point，并与执行者签字确认。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M3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分级授权：放手但不放任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工程师小陈（3年经验，能力中等）被老王授权独立完成新厂区EAP通信模块的接入工作，工期45天，涉及与设备层的协议适配，属于中等风险任务。第15天，老王发现小陈方向跑偏了，但已经写了大量代码。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老王在授权时犯了什么错误？应该如何设计这45天的Check Point？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现在第15天发现问题，老王应该怎么处理？直接接管还是辅助纠偏？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为了避免下次再出现这种情况，老王的授权流程需要改变什么？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问题归因准确性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能否准确指出问题根源是授权时缺少Check Point设计，而非小陈能力不足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Point方案完整性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提出的45天Check Point方案是否包含5要素（时机/内容/标准/升级/沟通）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纠偏处理得当性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第15天的处理方式是否体现「辅助纠偏」而非直接接管（避免打击信心）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流程改进意识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能否提出可复用的授权流程改进措施，而非仅针对本次个案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我将在本周对一个已授权任务，补充设计完整的Check Point： 任务名称：＿＿＿＿＿＿＿＿＿＿＿＿＿＿ Check Point时机：＿＿＿＿＿＿＿＿＿＿＿＿ 检查内容：＿＿＿＿＿＿＿＿＿＿＿＿＿＿ 判断标准：＿＿＿＿＿＿＿＿＿＿＿＿＿＿ 我将于＿＿＿＿前与执行者对齐并签字确认。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M3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防火墙：挡住口头需求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在走廊上碰见制造部或工艺部的主管，对方拉住你随口说一句："哎，那谁，我们那条清洗线最近进了一批特殊实验片，你帮我在系统里顺手加个临时的过滤逻辑呗，急着用。" 我们很多年轻主管面子薄，满口答应……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结果呢？这个需求没进我们的Backlog排期，没有经过严密的回归测试，晚上悄悄一上线，第二天直接和下一道Diffusion区域的自动派工逻辑冲突了，导致整个Area的机台全部报错，停线两小时……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防火墙三步法：① 礼貌引导（永远不要直接拒绝，而是转移到流程）："这个需求对生产线很重要，我们规范一下，请在系统里提个正式的变更单，我这边才能排进去。" ② 价值反问（过滤掉ROI不明确的需求）："这个改动预期能帮车间提……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很多学员会说"我不敢拒绝领导"，要追问："如果你答应了，系统出了问题，责任在谁？" 强调：防火墙不是拒绝，是把"口头承诺"转化为"流程记录"，既保护了团队，也保护了对方——出了问题双方都有据……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从本周起，凡是走廊上、微信群里的口头需求，一律用三步法接住，不当场答应。这不是不配合，这是对所有人负责。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核心概念一：口头需求为什么危险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没有进入Backlog→没有排期→没有测试→没有回归验证。 「临时改动」是CIM系统停线事故的高频来源。 不拒绝的代价：团队疲于奔命+系统稳定性持续恶化。 主管面子薄是根源：怕得罪制造部、工艺部、设备部的主管。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核心概念二：防火墙三步法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①礼貌引导：请在系统里提正式变更单 ②价值反问：预期提升多少OEE/减少多少报废？ ③流程闭合：所有需求统一入口，包括高管口头交代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核心概念三：建立防火墙的系统保障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明确团队统一的需求入口（Jira/禅道/钉钉工单）。 发布给所有协作方：「我们团队所有需求，必须通过系统提交」。 个人承诺：「本周起，凡口头需求一律当场引导提单，不私下答应」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1D9E75">
              <a:alpha val="15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本课关键行动：本周行动：对至少一个口头需求执行防火墙三步法，记录结果。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M4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1D9E75">
              <a:alpha val="8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防火墙：挡住口头需求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层级一 · 初任主管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Fab制造部主管老赵在走廊碰到了你，说："哎，你们那边帮我在清洗线的系统里加个临时过滤逻辑呗，我们最近进了一批特殊实验片，急着用，明天要。" 此时你的团队排期已经满了，而且这个改动涉及与下游扩散区的逻辑衔接，存在一定停线风险。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现场演练：用防火墙三步法，逐字说出你的回应（不能直接拒绝，不能直接答应）。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如果老赵说「我直接找你们总监了，总监同意了」，你怎么处理？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如果你已经答应了，现在想反悔，如何补救并建立后续的防火墙？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三步法完整度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回应是否完整体现礼貌引导→价值反问→流程闭合三个步骤，而非跳步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语气得体性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话术是否既坚持流程又维护跨部门关系，避免生硬拒绝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升级场景处理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面对「总监同意了」的施压时，能否坚持流程同时不激化矛盾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补救方案可行性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若已答应，提出的补救措施是否现实可执行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从本周起，我将对所有口头需求执行防火墙三步法： 预计本周遇到口头需求次数：＿＿＿＿ 我将使用的统一需求入口：＿＿＿＿＿＿＿＿＿＿ 下次课我将汇报：执行次数＿＿＿，成功引导至流程的次数＿＿＿。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层级一 · 初任主管 · M4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731520"/>
            <a:ext cx="6858000" cy="6858000"/>
          </a:xfrm>
          <a:prstGeom prst="ellipse">
            <a:avLst/>
          </a:prstGeom>
          <a:solidFill>
            <a:srgbClr val="7F77DD">
              <a:alpha val="7000"/>
            </a:srgbClr>
          </a:solidFill>
          <a:ln w="6350">
            <a:solidFill>
              <a:srgbClr val="7F77D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011680"/>
            <a:ext cx="4114800" cy="4114800"/>
          </a:xfrm>
          <a:prstGeom prst="ellipse">
            <a:avLst/>
          </a:prstGeom>
          <a:solidFill>
            <a:srgbClr val="7F77DD">
              <a:alpha val="13000"/>
            </a:srgbClr>
          </a:solidFill>
          <a:ln w="6350">
            <a:solidFill>
              <a:srgbClr val="7F77DD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层级二物料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部门经理 · M1–M4 配套物料速览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半导体CIM管理者培训体系 · 配套物料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管理杠杆率：高产出经理的底层逻辑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（姿态放松但眼神严厉，对待这批资深老手，言语间要给足尊重，同时直击痛点。） 各位经理，大家请坐。欢迎来到我们部门经理层级的专门复盘课。你们和刚才出去的那批年轻组长不同。在座的各位，在半导体C……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让大家在纸上列出"今天下午要做的3件事"，然后逐一问自己："这件事，我不做的话会怎样？" 如果答案是"没什么影响，只是我习惯这样做"，这就是低杠杆。 今天我们借用安迪·格鲁夫（Andy Gr……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安迪·格鲁夫在《高产出管理》里提过一个非常经典的公式：一个经理的产出，等于你下面所有人产出的总和。而你每天做的事情，有些杠杆率极低，有些杠杆率极高。 什么是低杠杆？你花5个小时，亲自跑去洁净室帮工艺工程师调一个特定机台的……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"指名要你去"的会议是最难处理的，很多经理会说"我不得不去"。引导他们思考：如果不去，派组长去，会发生什么？最坏的情况是什么？这个最坏情况值得牺牲高杠杆时间吗？ 这门课的核心行为改变是"学会……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今天回去做一件事：把你这周的日程表打出来，每一项标一个杠杆率高低。如果高杠杆活动占比不到60%，说明你还在用工程师的方式做经理的工作。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核心概念一：格鲁夫公式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经理的产出 = Σ（管理活动 × 对应杠杆率） 关键洞察：经理的时间不是线性产出，而是通过「影响他人」产生杠杆效应。 你的产出上限 = 你影响的人数 × 他们单位时间的产出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核心概念二：高/低杠杆活动的判断标准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高杠杆（单次投入，长期多人受益）： 建立跨Fab统一代码规范、培养基层组长、砍掉ROI不明确的伪需求、制定故障响应SOP 低杠杆（只影响自己，立刻产出消失）： 亲自调机台参数、帮项目组Debug、出席只需要「人在场」的会议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核心概念三：杠杆率自检方法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每周一早上，看你的日程：划出所有「只有我能做」的事（真正高杠杆）。 所有「我做了之后别人就不需要做决定」的事→这是低杠杆，应该授权。 目标：高杠杆活动占比≥60%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7F77DD">
              <a:alpha val="15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本课关键行动：本周行动：标注本周日程的杠杆率，找出至少2项低杠杆活动并授权出去。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M1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管理杠杆率：高产出经理的底层逻辑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CIM部门经理，直接管理3个基层组长。本周日程：①周一上午：参加某厂区MES故障排查会（对方指名要你去）②周二：帮A组审查一段新工程师写的状态机代码③周三：起草跨Fab统一部署规范文档④周四下午：培养B组组长做下一个版本的架构评审主持人⑤周五：出席一个信息传达会（内容可以发邮件代替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对上述5件事进行杠杆率评估，哪些是高杠杆？哪些可以删掉或授权？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周一那个「指名要你去」的故障排查会，你去吗？如果不去，怎么安排？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如果把所有低杠杆活动都取消，腾出的时间打算做什么「高杠杆」的事？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杠杆率判断准确性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能否正确区分5件事中哪些是高杠杆、哪些是低杠杆，理由是否站得住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授权方案具体性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对低杠杆活动，是否提出具体的授权对象和方式，而非笼统说「交给别人」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施压场景处理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「指名要你去」的会议是否能在维护关系的前提下合理转交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高杠杆时间规划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腾出的时间投向是否真正符合高杠杆标准（建机制/培养人/砍需求）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我将对本周日程中的所有事项进行杠杆率标注： 标注完成事项数：＿＿＿＿ 找出的低杠杆事项：＿＿＿＿＿＿＿＿＿＿＿＿ 授权对象：＿＿＿＿＿＿＿＿＿＿＿＿ 下次课我将汇报执行情况。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M1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拒绝越级：架空主管的致命代价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我发现大家刚从大技术专家或者大PM升任部门经理后，最容易犯的一个致命毛病就是："因为自己技术太强，导致手伸得太长"。比如某个厂区的EAP通信或者派工算法出了个报错，你作为曾经的顶级架构师，责……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觉得自己身先士卒、效率极高对不对？错！这是极其严重的"负杠杆"管理！你冲上去了，你把你底下的组长置于何地？他在这件事里被你完全架空了。他失去了在危机中去居中协调、做决策和承担责任的机会。长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越级指挥有三重负杠杆：① 组长被架空——他失去了在这件事上建立权威、做决策、承担责任的机会，长此以往他变成"传话筒"，不再主动思考；② 工程师多头汇报——不知道该听组长的还是听经理的，执行混乱，效率下降，出了问题也没人负……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"5分钟能搞定"是最危险的心理，要专门破解。问学员："你花5分钟搞定了，你的组长在这件事上学到了什么？下次再发生，他能独立处理吗？" 正确做法示范：立刻联系组长："小张，EAP报警了，小王说……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从今天起，遇到紧急技术问题，先问自己一句话："这件事，我的组长知道吗？他有机会先处理吗？" 哪怕多花15分钟，也要让决策权留在组长手里。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核心概念一：越级指挥的三重负杠杆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①组长被架空：失去建立权威、决策、承担责任的机会，长此以往变成「传话筒」 ②工程师多头汇报：执行混乱，效率下降，出问题也没人负责 ③经理自己成为瓶颈：所有事情都得经过你，你越「能干」，部门越低效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核心概念二：高技术经理的「越级冲动」来源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「这个问题我5分钟能搞定，让组长处理要1小时」 「这个风险太高了，我不放心」 「对方指名要找我，我不得不去」 这三种心理都是真实的，但代价都是系统性的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核心概念三：「介入」vs「越级」的边界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合理介入：在组长做完决策后，和组长私下复盘「这个决策你考虑了哪些因素」 越级：直接告诉工程师「按我说的做」，不通过组长 关键原则：你的意见可以通过组长传达，但决策权必须在组长手里 高风险场景例外：停线级故障时可直接介入，但事后必须立刻和组长复盘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7F77DD">
              <a:alpha val="15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本课关键行动：本周行动：遇到紧急技术问题时，先通过对应组长处理，记录执行情况。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M2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拒绝越级：架空主管的致命代价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周五下午，某厂区EAP系统报警，对应的A组工程师小王在群里说"不知道怎么处理"。A组组长小张当时在开另一个会。你（经理）看到了消息，判断这个报警5分钟能解决。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你会怎么做？（列出你的第一反应，然后分析这个行为是「越级」还是「合理介入」）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如果你选择「直接告诉小王怎么修」，这会带来什么后果？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正确的做法是什么？如何在「解决紧急问题」和「不越级」之间找到平衡？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越级风险识别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能否清晰说明「直接告诉小王怎么修」会带来哪些具体的负面后果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处理方案可行性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提出的方案是否兼顾「问题及时解决」和「决策权留在组长手中」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时间底线设置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是否提出了明确的等待时限（如15分钟），而非无限等待或立刻接管二选一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事后复盘意识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无论是否介入，是否提出了事后与组长复盘的必要性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本周遇到需要紧急处理的技术问题时，我将先通过对应组长处理： 预计发生次数：＿＿＿＿ 我设置的等待时限：＿＿＿＿分钟 下次课我将汇报：实际发生次数＿＿＿，我的处理方式＿＿＿＿＿＿。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M2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给舞台：为组长设计成长机会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问大家一个问题：你手下最强的组长，能完整负责一个从0到1的新厂区上线吗？如果不行，是他不够强，还是你没给过他这个机会？ 最后，我想聊聊你们怎么对待手下的那批基层组长。他们刚刚从高级工程师转过……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很多经理给组长的是"碎片化授权"——交给组长"开发子系统A的模块3"，这样组长只是一个高级工程师，没有端到端的责任感。我们要做的是"完整授权"——交给组长"负责XX厂区CIM上线，预算、人员……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完整授权有三要素：① 明确交付物（不是任务列表）："XX月XX日前，XX厂区CIM系统上线并稳定运行14天"；② 明确资源权限："你可以调配本组所有成员，可以向我申请跨组支援"；③ 明确升级条件："遇到停线级风险或涉及超……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架构分叉点"是经典的反问场景。正确回应："这两条路各自的利弊你评估过了吗？哪条路对我们的非功能性需求（稳定性/可维护性）更友好？你带组里讨论过吗？"——逼他自己给出答案，这个内容会在下一个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回去找一个真正完整的交付物，写一份完整授权书，交给你最有潜力的那个组长。这是他成长为下一个你的第一步。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核心概念一：「完整授权」vs「碎片化授权」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碎片化授权（常见错误）：交给组长「开发子系统A的模块3」 →组长只是高级工程师，没有端到端责任感 完整授权：交给组长「负责XX厂区CIM上线，预算/人员/时间节点/对外协调全权负责」 →组长必须思考架构、资源调配、风险控制，真正进入主管模式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核心概念二：完整授权的三要素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①明确交付物（不是任务列表）：「XX月XX日前，XX厂区CIM系统上线并稳定运行14天」 ②明确资源权限：「你可以调配本组所有成员，可以向我申请跨组支援」 ③明确升级条件：「遇到停线级风险或涉及超出预算20%，需要告知我」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核心概念三：里程碑监控而非过程监控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经理角色：定里程碑，在里程碑节点做评估，不干预实现路径。 错误示范：「你今天进展怎么样？那段代码写了吗？为什么用这个架构？」（过程监控） 正确示范：「下周三里程碑：接口定义文档完成并通过评审。周三下午我们做正式Review。」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7F77DD">
              <a:alpha val="15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本课关键行动：本月行动：把一个完整交付物授权给一位组长，用完整授权书格式明确三要素。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M3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给舞台：为组长设计成长机会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A组组长小张已经在你手下做了两年，技术能力和沟通能力都不错，但一直都是在「负责模块」而没有机会「负责项目」。现在有一个新需求：为D厂区建立全新的CIM系统（从零开始，3个月工期）。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你是否愿意把这个项目完整授权给小张？你的顾虑是什么？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如果授权，你的「完整授权书」应该包含哪些要素？（交付物、资源权限、升级条件、里程碑节点）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小张在第6周汇报说「遇到了一个技术架构的分叉点，不确定哪条路更好」，你怎么回应？（注意：不能直接告诉他选哪条）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授权决策合理性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是否基于小张的能力基础做出合理的授权决策，而非一刀切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授权书完整性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完整授权书是否包含交付物、资源权限、升级条件三要素，且具体可执行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里程碑设计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里程碑节点设置是否合理（数量、时间间隔、检查内容）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反问技巧运用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面对架构分叉点的请示，能否用反问引导小张自己分析利弊，而非直接给答案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本月内，我将把一个完整的交付物授权给一位组长： 交付物：＿＿＿＿＿＿＿＿＿＿＿＿ 资源权限：＿＿＿＿＿＿＿＿＿＿＿＿ 升级条件：＿＿＿＿＿＿＿＿＿＿＿＿ 里程碑节点数：＿＿＿＿（不超过3个）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M3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给方法：逼组长独立思考  ·  物料①逐字稿摘要 / ②学员讲义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557784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55778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86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内训师逐字稿（摘要）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5179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问大家一个问题：这一周，你被组长或工程师问了几次技术问题？你每次是怎么回答的？（让他们自己数）再问：其中有多少次，其实他们自己能想出来答案？ 九字诀的第二个字，"给方法"。绝不代替思考：下属……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为什么"直接给答案"是负杠杆？每次给答案，组长就少练一次独立判断；组长慢慢习惯"遇到问题找经理"，变成执行机器；你的时间被"回答问题"占据，无法做高杠杆的事；最终结果是部门的思考能力全集中在……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框架拆解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苏格拉底式反问四步法：① "你对这个问题的判断是什么？"（先让他表态，不能说"我不知道才来问你"）；② "你评估过哪些方案？各自的利弊是什么？"（逼他做分析，不是让他搜索答案）；③ "如果你来决策，你会选哪个？为什么？"……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14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点评要点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"这种事应该你来决定"这句话是关键时刻。正确回应："这个决策在你的权限范围内，我信任你的判断。我们约好：下周一你给我一个正式的决策说明，我帮你Review一下逻辑有没有漏洞。" 重点练习"你……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138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这一周，把你接到的每一个技术请示都用四步法过一遍，记录下来，看看有多少次组长其实自己就能想明白。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786384"/>
            <a:ext cx="5760720" cy="5577840"/>
          </a:xfrm>
          <a:prstGeom prst="roundRect">
            <a:avLst>
              <a:gd name="adj" fmla="val 1639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86384"/>
            <a:ext cx="576072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78638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学员讲义（A4单页核心概念）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2984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核心概念一：为什么「直接给答案」是负杠杆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545336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每次给答案，组长就少练一次独立判断。 组长慢慢习惯「遇到问题找经理」，变成执行机器。 你的时间被「回答问题」占据，无法做高杠杆的事。 最终结果：部门的思考能力全集中在你一个人身上。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4688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核心概念二：苏格拉底式反问四步法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7157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①「你对这个问题的判断是什么？」 ②「你评估过哪些方案？各自的利弊是什么？」 ③「如果你来决策，你会选哪个？为什么？」 ④「好，你按这个方向推进，出了问题我们一起复盘」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核心概念三：何时可以直接给答案（例外）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停线级风险正在发生（没有时间让他慢慢思考）。 组长已做充分分析，只需确认决策是否超出权限。 新入职组长（前3个月可多给指引，逐步减少）。 原则：让「直接给答案」成为例外，而非常态。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85546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7F77DD">
              <a:alpha val="15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901184"/>
            <a:ext cx="52669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本课关键行动：本周行动：遇到请示时用四步法回应，记录使用次数和对方反应。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M4 · 物料速览（1/2）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完整逐字稿全文见Word物料包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11521440" cy="566928"/>
          </a:xfrm>
          <a:prstGeom prst="roundRect">
            <a:avLst>
              <a:gd name="adj" fmla="val 12903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7F77DD">
              <a:alpha val="82000"/>
            </a:srgbClr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146304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给方法：逼组长独立思考  ·  物料③情景卡 / ④评分表 / ⑤承诺卡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0" y="146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层级二 · 部门经理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786384"/>
            <a:ext cx="4114800" cy="5577840"/>
          </a:xfrm>
          <a:prstGeom prst="roundRect">
            <a:avLst>
              <a:gd name="adj" fmla="val 222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86384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7863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【场景】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4996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C组组长小陈来找你："经理，我们现在有两个技术方向都可行：方案A是改造现有系统，工作量小但有技术债；方案B是重写核心模块，工作量大但更干净。我倾向A，但不确定，所以来问你。"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【讨论题】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用苏格拉底四步法，写出你的完整回应（逐步追问，不给答案）。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小陈说：「我来问你就是因为这种事应该你来决定」，你怎么回应？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如果你反问后小陈选了方案A，三个月后出现了技术债问题，怎么处理（复盘还是追责）？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EF9F27">
              <a:alpha val="1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讨论10-15min · 发言3-5min/组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86384"/>
            <a:ext cx="3520440" cy="5577840"/>
          </a:xfrm>
          <a:prstGeom prst="roundRect">
            <a:avLst>
              <a:gd name="adj" fmla="val 2597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86384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863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71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四步法完整运用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回应是否按四步法逐层展开，未跳过任一环节（表态/方案/决策/背书）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432304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05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提问质量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054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2761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追问是否聚焦在「利弊分析」和「决策依据」，而非简单重复问题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39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推责场景处理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953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面对「这种事应该你决定」时，能否守住边界并给予信任和支持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70001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7731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事后复盘态度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773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5029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出现技术债问题后，能否以复盘而非追责的心态处理，维护信任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786384"/>
            <a:ext cx="3611880" cy="5577840"/>
          </a:xfrm>
          <a:prstGeom prst="roundRect">
            <a:avLst>
              <a:gd name="adj" fmla="val 2532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786384"/>
            <a:ext cx="3611880" cy="384048"/>
          </a:xfrm>
          <a:prstGeom prst="roundRect">
            <a:avLst>
              <a:gd name="adj" fmla="val 23810"/>
            </a:avLst>
          </a:prstGeom>
          <a:solidFill>
            <a:srgbClr val="D85A30">
              <a:alpha val="86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7863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行为承诺卡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786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128016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6488" y="1325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_______  组别 _______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____年__月__日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我的承诺：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66760" y="235915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本周遇到组长来请示时，我将用苏格拉底四步法回应： 预计本周遇到请示次数：＿＿＿＿ 我将记录：使用四步法的次数＿＿＿，对方最终独立给出方案的次数＿＿＿。 下次课汇报具体案例。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8366760" y="5074920"/>
            <a:ext cx="3337560" cy="713232"/>
          </a:xfrm>
          <a:prstGeom prst="roundRect">
            <a:avLst>
              <a:gd name="adj" fmla="val 7692"/>
            </a:avLst>
          </a:prstGeom>
          <a:solidFill>
            <a:srgbClr val="D85A30">
              <a:alpha val="12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76488" y="512064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执行追踪（下次课填写）：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□完全执行 □部分执行 □未执行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层级二 · 部门经理 · M4 · 物料速览（2/2）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印刷级情景卡/评分表/承诺卡见Word物料包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502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物料使用说明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1D9E75">
              <a:alpha val="86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完整版在Word文档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4015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本PPT是课堂展示用的速览版（已做摘要压缩）。完整的逐字稿全文、A4学员讲义、A5情景卡、内训师评分表、行为承诺卡，均在配套的两份Word文档中（层级一/层级二物料包）。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86868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868680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EF9F27">
              <a:alpha val="86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868680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  打印建议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1389888"/>
            <a:ext cx="34015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学员讲义和情景卡建议单独打印成册，每位学员/每组一份。评分表和承诺卡建议内训师批量打印，课程结束后统一收回存档。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92440" y="86868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232A3B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868680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7F77DD">
              <a:alpha val="86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868680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与正式课程PPT配合使用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1389888"/>
            <a:ext cx="34015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本物料速览版可在《CIM管理者培训体系（完整版）》PPT基础上，作为每个模块授课时的补充参考。正式授课仍以完整版PPT为主线，本文件用于内训师备课和物料打印前的整体浏览。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11521440" cy="2651760"/>
          </a:xfrm>
          <a:prstGeom prst="roundRect">
            <a:avLst>
              <a:gd name="adj" fmla="val 3448"/>
            </a:avLst>
          </a:prstGeom>
          <a:solidFill>
            <a:srgbClr val="2A3347"/>
          </a:solidFill>
          <a:ln w="6350">
            <a:solidFill>
              <a:srgbClr val="3A42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611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8个模块物料完整清单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层级一 M1 角色认知 — 5种物料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层级一 M2 技术判断力 — 5种物料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层级一 M3 分级授权 — 5种物料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层级一 M4 防火墙 — 5种物料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层级二 M1 管理杠杆率 — 5种物料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层级二 M2 拒绝越级 — 5种物料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层级二 M3 给舞台 — 5种物料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层级二 M4 给方法 — 5种物料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6350">
            <a:solidFill>
              <a:srgbClr val="3A42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629400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半导体CIM管理者培训体系 · M1-M4配套物料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6629400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0"/>
                </a:solidFill>
              </a:rPr>
              <a:t>内部资料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CIM管理者培训体系 · M1-M4配套物料</dc:title>
  <dc:subject>PptxGenJS Presentation</dc:subject>
  <dc:creator>PptxGenJS</dc:creator>
  <cp:lastModifiedBy>PptxGenJS</cp:lastModifiedBy>
  <cp:revision>1</cp:revision>
  <dcterms:created xsi:type="dcterms:W3CDTF">2026-06-16T09:30:28Z</dcterms:created>
  <dcterms:modified xsi:type="dcterms:W3CDTF">2026-06-16T09:30:28Z</dcterms:modified>
</cp:coreProperties>
</file>