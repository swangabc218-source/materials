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114800" cy="41148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731520"/>
            <a:ext cx="3200400" cy="32004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148840"/>
            <a:ext cx="914400" cy="54864"/>
          </a:xfrm>
          <a:prstGeom prst="rect">
            <a:avLst/>
          </a:prstGeom>
          <a:solidFill>
            <a:srgbClr val="9C553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管理者培训体系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CIM 管理者培训体系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设计总述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ABD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层级一 × 层级二 —— 从认知到系统的两次跃迁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7-9年 · 初任主管  ×  L2 · 10-18年 · 部门经理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管理者培训体系  ·  设计总述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9848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设计初衷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管理能力的培养，不能靠「自然生长」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团队从约 80 人扩张至 180 人的过程中暴露出一个结构性矛盾：技术纵深足够深，但管理能力的培养始终停留在「自然生长」——靠资历和悟性，而非靠系统设计。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784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566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核心判断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两个层级的管理者面对的，不是同一问题的两个难度版本，而是两类性质完全不同的挑战。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管理者培训体系  ·  设计总述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两次跃迁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两类性质完全不同的挑战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层级一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3474720" cy="27432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7-9 年经验 · 初任主管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管理者职业生涯里第一次、也是最根本的一次身份跃迁：从「靠自己把事情做好」切换到「靠别人把事情做好」。矛盾大多发生在看得见的尺度——一次判断、一次授权、一次对话、一次汇报。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5806440"/>
            <a:ext cx="5349240" cy="320040"/>
          </a:xfrm>
          <a:prstGeom prst="roundRect">
            <a:avLst>
              <a:gd name="adj" fmla="val 22857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5806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从个体贡献者 → 管理者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层级二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583680" y="2377440"/>
            <a:ext cx="3474720" cy="274320"/>
          </a:xfrm>
          <a:prstGeom prst="roundRect">
            <a:avLst>
              <a:gd name="adj" fmla="val 16667"/>
            </a:avLst>
          </a:prstGeom>
          <a:solidFill>
            <a:srgbClr val="9C553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10-18 年经验 · 部门经理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278892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不再需要学习「如何管理一个人」，需要学习的是「如何管理一群管理者」以及「如何让部门产出不再依赖任何一个具体的人」。矛盾大多发生在看不见的尺度——权力分配、可见度投资、责任归属、组织韧性。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5806440"/>
            <a:ext cx="5349240" cy="320040"/>
          </a:xfrm>
          <a:prstGeom prst="roundRect">
            <a:avLst>
              <a:gd name="adj" fmla="val 22857"/>
            </a:avLst>
          </a:prstGeom>
          <a:solidFill>
            <a:srgbClr val="9C5536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5806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从管理个体 → 管理系统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管理者培训体系  ·  设计总述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层级一 · 7-9年 · 初任主管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从个体贡献者到管理者：十个模块的逻辑链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19072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前四讲（M1-M4）处理新任主管自己内部的认知与判断结构：建立「产出靠撬动」的角色认知（M1）→ 把技术风险显性化（M2）→ 转化为分级授权设计（M3）→ 用防火墙保护体系（M4）。中间三讲（M5-M7）从「管好自己」转向「被组织看见与信任」：跨部门建立信任（M5）→ 让工作被上级看见（M6）→ 用结构化对话帮助下属成长（M7）。第八讲（M8）第一次正面处理「评价他人」。M9/M10 是收口模块，把全部框架压入高压场景验证。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767328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67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M1-M4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内部认知与边界建立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356616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3767328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4F6F5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3767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M5-M8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4160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对外信任与评价能力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356616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3767328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8A6D1F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3767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M9-M10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160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综合实战验证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管理者培训体系  ·  设计总述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层级一 · 模块全景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十个模块的主题与金句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77240" cy="32918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25880" y="1508760"/>
            <a:ext cx="1463040" cy="32918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5087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508760"/>
            <a:ext cx="8823960" cy="32918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1508760"/>
            <a:ext cx="8823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37944"/>
            <a:ext cx="777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837944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25880" y="1837944"/>
            <a:ext cx="1463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99032" y="1837944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角色认知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88920" y="1837944"/>
            <a:ext cx="8823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62072" y="1837944"/>
            <a:ext cx="8677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认知是起点，结构是终点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331720"/>
            <a:ext cx="77724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331720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25880" y="2331720"/>
            <a:ext cx="146304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99032" y="2331720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技术判断力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88920" y="2331720"/>
            <a:ext cx="882396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62072" y="2331720"/>
            <a:ext cx="8677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判断在前，授权在后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825496"/>
            <a:ext cx="777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825496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25880" y="2825496"/>
            <a:ext cx="1463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99032" y="2825496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分级授权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88920" y="2825496"/>
            <a:ext cx="8823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62072" y="2825496"/>
            <a:ext cx="8677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设计是授权的真正工作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319272"/>
            <a:ext cx="77724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319272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325880" y="3319272"/>
            <a:ext cx="146304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99032" y="3319272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防火墙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88920" y="3319272"/>
            <a:ext cx="882396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62072" y="3319272"/>
            <a:ext cx="8677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挡住口头需求，是为了让所有需求都能被安全地实现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813048"/>
            <a:ext cx="777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3813048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325880" y="3813048"/>
            <a:ext cx="1463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99032" y="3813048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跨部门沟通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88920" y="3813048"/>
            <a:ext cx="8823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62072" y="3813048"/>
            <a:ext cx="8677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技术能力决定你能做什么，沟通能力决定别人是否知道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306824"/>
            <a:ext cx="77724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4306824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325880" y="4306824"/>
            <a:ext cx="146304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99032" y="4306824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向上汇报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88920" y="4306824"/>
            <a:ext cx="882396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62072" y="4306824"/>
            <a:ext cx="8677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让工作被看见，不是靠说得更多，而是靠说得更准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4800600"/>
            <a:ext cx="777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" y="4800600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325880" y="4800600"/>
            <a:ext cx="1463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99032" y="4800600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1on1 实战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788920" y="4800600"/>
            <a:ext cx="8823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62072" y="4800600"/>
            <a:ext cx="8677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把谈话变成杠杆，靠的不是聊得更久，而是让对方自己想得更深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5294376"/>
            <a:ext cx="77724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" y="5294376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325880" y="5294376"/>
            <a:ext cx="146304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99032" y="5294376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绩效反馈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788920" y="5294376"/>
            <a:ext cx="882396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62072" y="5294376"/>
            <a:ext cx="8677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好的反馈不是评判一个人，而是帮一个人看清下一步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48640" y="5788152"/>
            <a:ext cx="777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1792" y="5788152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325880" y="5788152"/>
            <a:ext cx="1463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99032" y="5788152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实战推演（上）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788920" y="5788152"/>
            <a:ext cx="8823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62072" y="5788152"/>
            <a:ext cx="8677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危机考验的不是你懂多少道理，而是信息不全、压力爆棚时，你还分不分得清该用哪个工具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48640" y="6281928"/>
            <a:ext cx="77724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" y="6281928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325880" y="6281928"/>
            <a:ext cx="146304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399032" y="6281928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实战推演（下）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2788920" y="6281928"/>
            <a:ext cx="882396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62072" y="6281928"/>
            <a:ext cx="8677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持续的管理力，是在每一个看似平常的决定里，问自己一句：这个原则，我是不是已经用过头了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管理者培训体系  ·  设计总述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069848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层级二 · 10-18年 · 部门经理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从管理个体到管理系统：十个模块的逻辑链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19072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前四讲（M1-M4）处理部门经理如何分配四种最稀缺的个人资源：时间与精力（M1）→ 权威边界（M2）→ 可见度（M3）→ 知识（M4）。后四讲（M5-M8）处理经理作为系统节点的职责：多方需求取舍（M5）→ 战略双向翻译（M6）→ 管理责任归属（M7）→ 组织韧性构建（M8）。M9/M10 同样是收口模块，和层级一形成有意的结构呼应。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767328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9C553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67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M1-M4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四种个人资源的分配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356616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3767328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4F6F5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3767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M5-M8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4160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系统节点的四项职责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356616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3767328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8A6D1F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3767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M9-M10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160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综合实战验证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管理者培训体系  ·  设计总述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层级二 · 模块全景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十个模块的主题与金句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77240" cy="329184"/>
          </a:xfrm>
          <a:prstGeom prst="rect">
            <a:avLst/>
          </a:prstGeom>
          <a:solidFill>
            <a:srgbClr val="9C553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25880" y="1508760"/>
            <a:ext cx="1463040" cy="329184"/>
          </a:xfrm>
          <a:prstGeom prst="rect">
            <a:avLst/>
          </a:prstGeom>
          <a:solidFill>
            <a:srgbClr val="9C5536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5087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508760"/>
            <a:ext cx="8823960" cy="329184"/>
          </a:xfrm>
          <a:prstGeom prst="rect">
            <a:avLst/>
          </a:prstGeom>
          <a:solidFill>
            <a:srgbClr val="9C5536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1508760"/>
            <a:ext cx="8823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37944"/>
            <a:ext cx="777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837944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25880" y="1837944"/>
            <a:ext cx="1463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99032" y="1837944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管理杠杆率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88920" y="1837944"/>
            <a:ext cx="8823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62072" y="1837944"/>
            <a:ext cx="8677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经理的产出，不是他做了多少，而是他撬动了多少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331720"/>
            <a:ext cx="77724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331720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25880" y="2331720"/>
            <a:ext cx="146304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99032" y="2331720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拒绝越级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88920" y="2331720"/>
            <a:ext cx="882396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62072" y="2331720"/>
            <a:ext cx="8677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拒绝接住越级的请求，是为了让主管的判断真正算数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825496"/>
            <a:ext cx="777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825496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25880" y="2825496"/>
            <a:ext cx="1463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99032" y="2825496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给舞台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88920" y="2825496"/>
            <a:ext cx="8823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62072" y="2825496"/>
            <a:ext cx="8677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给舞台，不是经理退场，而是换到能随时补位的位置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319272"/>
            <a:ext cx="77724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319272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325880" y="3319272"/>
            <a:ext cx="146304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99032" y="3319272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给方法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88920" y="3319272"/>
            <a:ext cx="882396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62072" y="3319272"/>
            <a:ext cx="8677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给方法，不是把答案讲清楚，而是让对方下次不用再来问你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813048"/>
            <a:ext cx="777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3813048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325880" y="3813048"/>
            <a:ext cx="1463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99032" y="3813048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需求仲裁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88920" y="3813048"/>
            <a:ext cx="8823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62072" y="3813048"/>
            <a:ext cx="8677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仲裁不是让所有人都满意，而是让所有人都看懂你为什么这样决定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306824"/>
            <a:ext cx="77724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4306824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325880" y="4306824"/>
            <a:ext cx="146304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99032" y="4306824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战略对齐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88920" y="4306824"/>
            <a:ext cx="882396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62072" y="4306824"/>
            <a:ext cx="8677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战略对齐，不是把话听清楚，而是把意图想明白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4800600"/>
            <a:ext cx="777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" y="4800600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325880" y="4800600"/>
            <a:ext cx="1463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99032" y="4800600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背黑锅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788920" y="4800600"/>
            <a:ext cx="8823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62072" y="4800600"/>
            <a:ext cx="8677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背黑锅，不是替别人扛错，而是把本该自己担的责任担起来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5294376"/>
            <a:ext cx="77724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" y="5294376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325880" y="5294376"/>
            <a:ext cx="146304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99032" y="5294376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梯队规划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788920" y="5294376"/>
            <a:ext cx="882396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62072" y="5294376"/>
            <a:ext cx="8677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梯队规划，不是写一份名单，而是让部门不再依赖任何一个人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48640" y="5788152"/>
            <a:ext cx="777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1792" y="5788152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325880" y="5788152"/>
            <a:ext cx="1463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99032" y="5788152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实战推演（上）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788920" y="5788152"/>
            <a:ext cx="8823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62072" y="5788152"/>
            <a:ext cx="8677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危机考验的不是你懂多少道理，而是你在最累的时候，还分不分得清这一刻该用哪一条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48640" y="6281928"/>
            <a:ext cx="77724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" y="6281928"/>
            <a:ext cx="630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325880" y="6281928"/>
            <a:ext cx="146304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399032" y="6281928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实战推演（下）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2788920" y="6281928"/>
            <a:ext cx="8823960" cy="493776"/>
          </a:xfrm>
          <a:prstGeom prst="rect">
            <a:avLst/>
          </a:prstGeom>
          <a:solidFill>
            <a:srgbClr val="F7F8FA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62072" y="6281928"/>
            <a:ext cx="8677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最危险的陷阱，不是不知道该怎么做，而是太知道该怎么做，以至于忘了问一句「这次还适用吗」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管理者培训体系  ·  设计总述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069848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设计原则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每一个理论模块都有「边界反例」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2926080"/>
          </a:xfrm>
          <a:prstGeom prst="roundRect">
            <a:avLst>
              <a:gd name="adj" fmla="val 2500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10332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层级一、层级二全部十六个理论精读模块（M1-M8 × 两层级），无一例外都包含一页专门的边界反例——明确指出这个框架什么时候不适用。学员被训练的不只是「知道框架是什么」，更是「知道框架在哪里失效」。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0" y="164592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1B2A4A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管理者培训体系  ·  设计总述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设计原则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模块之间持续交叉引用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2926080"/>
          </a:xfrm>
          <a:prstGeom prst="roundRect">
            <a:avLst>
              <a:gd name="adj" fmla="val 2500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10332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课程刻意避免把十个模块做成十个孤立的知识点。层级二 M3《给舞台》明确埋下 M8《梯队规划》的伏笔；M5《需求仲裁》的边界判断逻辑在 M6《战略对齐》里被重新使用；M7《背黑锅》呼应 M5 机制解释里「公平的误解」。这种交叉引用让学员形成一张能力网络，而不是一串独立的知识卡片。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0" y="164592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1B2A4A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管理者培训体系  ·  设计总述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设计原则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M9/M10 刻意区分两种不同的失误模式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2926080"/>
          </a:xfrm>
          <a:prstGeom prst="roundRect">
            <a:avLst>
              <a:gd name="adj" fmla="val 2500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10332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 压缩进高压力的单点危机，失误的根源是「压力下来不及思考」——直觉先于框架，看似合理的判断脱离了具体情境。M10 拉长到一个季度，失误的根源换成「太熟悉以至于不再思考」——原则用得太顺手，以至于忘了它也有边界。两种性质完全不同、但同样常见的专家失误，课程特意分开训练。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0" y="164592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1B2A4A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管理者培训体系  ·  设计总述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设计原则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故事世界观的连续性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2926080"/>
          </a:xfrm>
          <a:prstGeom prst="roundRect">
            <a:avLst>
              <a:gd name="adj" fmla="val 2500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10332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层级一 M9 的主角「老吴」，在层级二 M9/M10 中被设定为「老陈」麾下成长起来的产线 CIM 运维组组长。这个连续性设计想让两个层级的学员都能直观感受到：层级一教的是「如何成为一名合格的主管」，层级二教的是「如何带出像老吴这样的主管，并让组织不再依赖任何一个人」。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0" y="164592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1B2A4A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管理者培训体系  ·  设计总述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学员转变 · 层级一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建立管理者的第一套操作系统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3677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367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08760" y="1508760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我是团队里技术最强的人，所以最难的活该我自己上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150876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自己的产出由撬动的团队产出决定，而不是个人产出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20370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0370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08760" y="2075688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凭经验和直觉做技术判断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0" y="207568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207568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习惯性地用「概率×后果」两个维度显性化评估风险，再决定是否授权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642616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277063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7706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2642616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要么全部自己管，要么完全放手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0" y="264261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92240" y="264261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根据任务风险和下属成熟度做分级设计，并设置检查点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209544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" y="333756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3375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08760" y="3209544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来者不拒地接住每一个口头请求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43600" y="3209544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92240" y="320954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用结构化的三步话术筛选请求、保护团队带宽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776472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" y="390448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9044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08760" y="3776472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把跨部门摩擦归因为「对方不配合」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943600" y="3776472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492240" y="377647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理解这是语言体系差异导致的结构性问题，主动用可积累的行为建立信任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343400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" y="447141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4714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508760" y="4343400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「做好工作自然会被看见」的被动期待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943600" y="434340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492240" y="434340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主动、精准地向上同步判断和行动，而不只是罗列事件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4910328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5800" y="503834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5038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508760" y="4910328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1on1 变成进度查岗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943600" y="491032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492240" y="491032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用结构化提问帮助下属自己想得更深，而不是替对方想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48640" y="5477256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5800" y="560527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6052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508760" y="5477256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笼统的「做得不错/还需努力」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943600" y="547725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492240" y="547725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用情境-行为-影响的结构给出可定位、可改变的具体反馈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管理者培训体系  ·  设计总述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69848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学员转变 · 层级二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建立部门作为系统的运行逻辑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3677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9C553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367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08760" y="1508760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用自己的工作量衡量价值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150876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用撬动了多少团队产出衡量价值，主动识别并退出虚假杠杆陷阱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20370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9C553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0370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08760" y="2075688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「举手之劳」式地接住下属的下属的请求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0" y="207568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207568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有意识地保护主管的决策权威，即使这意味着自己要多走一步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642616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277063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9C553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7706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2642616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习惯性占用所有对外曝光机会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0" y="264261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92240" y="264261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把可见度当作一种要主动分配、按准备度分级投资的稀缺资源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209544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" y="333756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9C5536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3375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08760" y="3209544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图省事直接给答案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43600" y="3209544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92240" y="320954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把自己的隐性判断显性化、转移给下属，容忍短期效率损失换取长期能力沉淀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776472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" y="390448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9C5536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9044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08760" y="3776472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平均分配资源来避免冲突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943600" y="3776472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492240" y="377647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用统一标准做出有据可依的取舍，并主动管理「输」的一方的预期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343400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" y="447141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9C5536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4714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508760" y="4343400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机械执行战略指示的字面意思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943600" y="434340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492240" y="434340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理解指示背后的意图，并承担起向上、向下双向翻译的职责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4910328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5800" y="503834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9C5536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5038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508760" y="4910328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把责任向下转移以求自保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943600" y="491032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492240" y="491032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对外第一时间承担管理责任、对内私下追溯真实原因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48640" y="5477256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5800" y="560527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9C5536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6052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508760" y="5477256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把梯队规划当成年底一次性的填表任务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943600" y="547725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492240" y="547725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把它当作日常持续的风险对冲实践，靠真实曝光和压力测试积累可信度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管理者培训体系  ·  设计总述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69848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 vs M10 · 两种失误模式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最难被察觉的两类专家失误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M9 · 实战推演（上）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212848"/>
            <a:ext cx="3200400" cy="274320"/>
          </a:xfrm>
          <a:prstGeom prst="roundRect">
            <a:avLst>
              <a:gd name="adj" fmla="val 16667"/>
            </a:avLst>
          </a:prstGeom>
          <a:solidFill>
            <a:srgbClr val="9C553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48小时危机 · 单点高压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4800600" cy="502920"/>
          </a:xfrm>
          <a:prstGeom prst="roundRect">
            <a:avLst>
              <a:gd name="adj" fmla="val 10909"/>
            </a:avLst>
          </a:prstGeom>
          <a:solidFill>
            <a:srgbClr val="9C5536">
              <a:alpha val="8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517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压力下来不及思考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4754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直觉先于框架启动，看似合理的判断脱离了具体情境。失误是急性的、显性的——当时知道压力很大，但没有时间重新校准。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1737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M10 · 实战推演（下）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83680" y="2212848"/>
            <a:ext cx="3200400" cy="274320"/>
          </a:xfrm>
          <a:prstGeom prst="roundRect">
            <a:avLst>
              <a:gd name="adj" fmla="val 16667"/>
            </a:avLst>
          </a:prstGeom>
          <a:solidFill>
            <a:srgbClr val="8A6D1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13周季度 · 持续节奏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2651760"/>
            <a:ext cx="4800600" cy="502920"/>
          </a:xfrm>
          <a:prstGeom prst="roundRect">
            <a:avLst>
              <a:gd name="adj" fmla="val 10909"/>
            </a:avLst>
          </a:prstGeom>
          <a:solidFill>
            <a:srgbClr val="8A6D1F">
              <a:alpha val="8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6517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太熟悉以至于不再思考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291840"/>
            <a:ext cx="4754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一个原则被验证有效太多次，管理者不自觉地停止重新校准它的适用边界，把它不假思索地延伸到了不该延伸的场景。失误是慢性的、隐性的——当时根本没有意识到有压力需要警惕。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管理者培训体系  ·  设计总述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两个层级共同指向的认知转变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不是更长的工具清单，而是一种新的反射弧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10332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论层级一还是层级二，课程最终都收束到同一个更深的认知——管理能力的成长，不是学会了不犯错，而是不断在真实场景里，把已经熟悉的框架重新校准到适用的边界内。完成全部二十个模块之后，理想状态下学员获得的不是一份更长的工具清单，而是一种新的反射弧：遇到具体情境时，先问「这次适用的是哪个框架」，再问「这次会不会正是这个框架的例外」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577840" y="42519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4754880" cy="109728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41605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这次适用的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是哪个框架？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29400" y="4160520"/>
            <a:ext cx="4754880" cy="1097280"/>
          </a:xfrm>
          <a:prstGeom prst="roundRect">
            <a:avLst>
              <a:gd name="adj" fmla="val 6667"/>
            </a:avLst>
          </a:prstGeom>
          <a:solidFill>
            <a:srgbClr val="F5EEE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0" y="4343400"/>
            <a:ext cx="502920" cy="502920"/>
          </a:xfrm>
          <a:prstGeom prst="ellipse">
            <a:avLst/>
          </a:prstGeom>
          <a:solidFill>
            <a:srgbClr val="9C553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0" y="41605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这次会不会正是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这个框架的例外？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管理者培训体系  ·  设计总述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9848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所有框架都不是用来记住的，而是用来在每一次具体情境里重新判断的。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0" y="4572000"/>
            <a:ext cx="2103120" cy="54864"/>
          </a:xfrm>
          <a:prstGeom prst="rect">
            <a:avLst/>
          </a:prstGeom>
          <a:solidFill>
            <a:srgbClr val="9C553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管理者培训体系 · 设计总述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管理者培训体系  ·  设计总述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CIM管理者培训体系 · 设计总述</dc:title>
  <dc:subject>PptxGenJS Presentation</dc:subject>
  <dc:creator>CIM管理者培训体系</dc:creator>
  <cp:lastModifiedBy>CIM管理者培训体系</cp:lastModifiedBy>
  <cp:revision>1</cp:revision>
  <dcterms:created xsi:type="dcterms:W3CDTF">2026-06-22T02:01:28Z</dcterms:created>
  <dcterms:modified xsi:type="dcterms:W3CDTF">2026-06-22T02:01:28Z</dcterms:modified>
</cp:coreProperties>
</file>