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封面页。本课程为理论精读型课件，强调边界管理框架的建立、论证与边界条件，不含互动讨论环节。建议授课时长50-60分钟，可作为模块四的正式讲授内容，区别于配套的实战工作坊材料。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用走廊需求的真实机制建立认知钩子。强调核心难点不是技术认知（知道该拒绝）而是方法论（怎么在不破坏关系的前提下拒绝）——这个定调让后续框架的价值立刻清晰。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讲解工作系统五步骤框架，建立全篇理论地基。重点强调「确定性的系统漏洞」而非「概率性的风险」——这个表述让学员理解到这不是风险管理问题而是结构性问题，改变了防火墙的正当性来源。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本页是深度版的关键页——主动指出框架的适用边界，避免学员把「防火墙」泛化为「拒绝一切口头沟通」。误用二直接为第7页的三步话术框架做铺垫。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从谈判学和博弈论角度系统性拆解直接拒绝的失效路径，给出三个具体机制名称。第7页的三步话术框架是对这三个机制的直接回应设计——每一步都针对一个失效机制。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具象化第3-5页的理论。案例B的评审发现「被七条产线共用的参数模块」是关键情节——它说明口头需求在结构上必然绕过了这个发现，而不是因为小王不够认真。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第二个核心框架。每一步要讲清楚它的功能——这不是话术技巧，而是有理论根源的结构设计（分别对应第5页三个失效机制的解决方案）。后续第9页的案例将完整示范三步话术在高难度场景的执行。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反例二（没有时间承诺）是最常见的实践偏差，也是最容易让防火墙失效的环节。要引导学员做自检：我在引导对方提单时，有没有给出一个具体的响应时间承诺？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呼应第7页的三步话术框架。这个案例的核心价值是示范「高难度场景」（级别高+有指责意味）下三步话术如何执行——强调「不认错、不直接修改」和「确认问题」是可以同时实现的。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呼应第4页边界条件（防火墙是引导而非拒绝）。「先去确认总监的实际意图」是这个案例的核心动作——它同时完成了「接受权威」和「保留评审空间」两个目标，是三步话术在升级场景的变体执行。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误区一呼应第3页的工作系统五步骤——「我能控制」无法替代那五个步骤。误区二（自我繁殖机制）是M4最重要的行为学洞察，要结合行为激励机制的逻辑讲透。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误区三是最实用的自检工具——「对方不走流程」之前，先问自己「我们的流程够不够顺畅」。误区四呼应第5页机制三（直接拒绝的关系成本）和第14页组织边界理论。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引入项目管理学概念增加理论厚度。「30-50%工时被未计划需求消耗」这个数据要结合CIM团队的实际情况让学员做自测：你们组这个月实际处理的需求中，有多少是通过口头进来的？这个自测本身往往是最有力的认知触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二个跨学科延伸概念（组织社会学），为防火墙提供了更高维度的定位——它不只是「保护自己」的工具，而是「建立高质量协作关系」的工具。这个定位改变了学员对防火墙的认知框架，从「防御性的」变成「建设性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束全篇，呼应第2页的核心问题，形成完整闭环。结尾金句「挡住口头需求，是为了让所有需求都能被安全地实现」是防火墙哲学的最精炼表达，也是与M3（分级授权设计）在理念上的连接——两者都是「通过设计保护安全」，而非「通过拒绝保护自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场景一 —— 对应第7页三步话术。
观察要点：回应是否同时完成了「确认需求真实性」「解释流程目的是保护对方」「给出具体行动路径+时间承诺」三个步骤。若回应只是简单说「需要提单」而没有前两步，说明对三步话术的理解停留在「拒绝的合规借口」层面，而非「关系维护+流程引导」的双目标达成。若回应答应了「就一行配置，帮你改」，说明对第3页工作系统框架（「一行配置」也必然绕过五个步骤）理解不深。
场景二 —— 对应第12页误区三。
观察要点：理想回答应该首先自检「提单流程本身是否太繁琐/响应太慢/结果太不透明」，而不是把「没人提单」归咎于对方的习惯问题。若学员认为「对方不走流程是习惯问题，要加强教育」而未先排查流程设计问题，说明对误区三的理解停留在「流程存在即合理」的层面。
场景三 —— 对应第5页机制解释+第11页误区二（口头需求自我繁殖机制）。
观察要点：理想回答应识别出这正是「上次答应导致形成了预期」的典型案例。处理时既要坚持流程（不因为上次的先例而妥协），又要避免让对方产生「CIM团队内部标准不一致」的负面感知。若学员选择「这次先帮他改，以后不要这样」，说明对口头需求自我繁殖机制理解不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【内训师诊断指引 · 不对学员展示】
场景四 —— 对应第10页高管绕过场景+第3-4页边界条件（紧急事件是否在防火墙范围内）。
观察要点：这是一个需要区分「真正的紧急情况」和「用紧急性作为绕过流程借口」的场景。理想回答应该提出：①定义什么算「真正紧急」（标准是什么）；②为真正紧急的情况设计一个「绿色通道」——不是跳过所有评审步骤，而是压缩评审时间（比如1小时内给出评估），同时要求紧急处理完毕后24小时内补提完整需求单。若学员认为「厂长级别的人可以例外」而未给出量化标准，说明对组织边界理论的理解停留在「级别决定特权」而非「流程保护所有人」的层面。
场景五 —— 对应第7页三步话术第三步（时间承诺）+第12页误区三（流程通道不够顺畅）+第14页组织边界理论。
观察要点：理想回答应该识别出，防火墙的外部表现（话术执行）和内部能力（评估处理速度）是一个系统的两个面——话术执行好但处理速度跟不上，等于给了一张兑付能力不足的支票。这不是「防火墙没用」，而是「防火墙激活了一个原来被掩盖的内部产能问题」。解决方案不是放弃防火墙，而是优化内部评估流程速度。若学员认为「对方的抱怨说明防火墙策略有问题，应该放宽要求」，说明对整体系统的理解不够深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371600"/>
            <a:ext cx="0" cy="4206240"/>
          </a:xfrm>
          <a:prstGeom prst="line">
            <a:avLst/>
          </a:prstGeom>
          <a:noFill/>
          <a:ln w="19050">
            <a:solidFill>
              <a:srgbClr val="1B2A4A"/>
            </a:solidFill>
            <a:prstDash val="solid"/>
          </a:ln>
        </p:spPr>
      </p:sp>
      <p:sp>
        <p:nvSpPr>
          <p:cNvPr id="3" name="Text 1"/>
          <p:cNvSpPr/>
          <p:nvPr/>
        </p:nvSpPr>
        <p:spPr>
          <a:xfrm>
            <a:off x="1188720" y="150876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半导体CIM管理者认知课程</a:t>
            </a:r>
            <a:endParaRPr lang="en-US" sz="1300" dirty="0"/>
          </a:p>
        </p:txBody>
      </p:sp>
      <p:sp>
        <p:nvSpPr>
          <p:cNvPr id="4" name="Text 2"/>
          <p:cNvSpPr/>
          <p:nvPr/>
        </p:nvSpPr>
        <p:spPr>
          <a:xfrm>
            <a:off x="1188720" y="1920240"/>
            <a:ext cx="9144000" cy="411480"/>
          </a:xfrm>
          <a:prstGeom prst="rect">
            <a:avLst/>
          </a:prstGeom>
          <a:noFill/>
          <a:ln/>
        </p:spPr>
        <p:txBody>
          <a:bodyPr wrap="square" rtlCol="0" anchor="ctr"/>
          <a:lstStyle/>
          <a:p>
            <a:pPr indent="0" marL="0">
              <a:buNone/>
            </a:pPr>
            <a:r>
              <a:rPr lang="en-US" sz="1600" i="1" dirty="0">
                <a:solidFill>
                  <a:srgbClr val="9C5536"/>
                </a:solidFill>
                <a:latin typeface="Cambria" pitchFamily="34" charset="0"/>
                <a:ea typeface="Cambria" pitchFamily="34" charset="-122"/>
                <a:cs typeface="Cambria" pitchFamily="34" charset="-120"/>
              </a:rPr>
              <a:t>模块四</a:t>
            </a:r>
            <a:endParaRPr lang="en-US" sz="1600" dirty="0"/>
          </a:p>
        </p:txBody>
      </p:sp>
      <p:sp>
        <p:nvSpPr>
          <p:cNvPr id="5" name="Text 3"/>
          <p:cNvSpPr/>
          <p:nvPr/>
        </p:nvSpPr>
        <p:spPr>
          <a:xfrm>
            <a:off x="1188720" y="246888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防火墙：</a:t>
            </a:r>
            <a:endParaRPr lang="en-US" sz="4600" dirty="0"/>
          </a:p>
        </p:txBody>
      </p:sp>
      <p:sp>
        <p:nvSpPr>
          <p:cNvPr id="6" name="Text 4"/>
          <p:cNvSpPr/>
          <p:nvPr/>
        </p:nvSpPr>
        <p:spPr>
          <a:xfrm>
            <a:off x="1188720" y="3246120"/>
            <a:ext cx="10058400" cy="868680"/>
          </a:xfrm>
          <a:prstGeom prst="rect">
            <a:avLst/>
          </a:prstGeom>
          <a:noFill/>
          <a:ln/>
        </p:spPr>
        <p:txBody>
          <a:bodyPr wrap="square" rtlCol="0" anchor="ctr"/>
          <a:lstStyle/>
          <a:p>
            <a:pPr indent="0" marL="0">
              <a:buNone/>
            </a:pPr>
            <a:r>
              <a:rPr lang="en-US" sz="4600" b="1" dirty="0">
                <a:solidFill>
                  <a:srgbClr val="1B2A4A"/>
                </a:solidFill>
                <a:latin typeface="Cambria" pitchFamily="34" charset="0"/>
                <a:ea typeface="Cambria" pitchFamily="34" charset="-122"/>
                <a:cs typeface="Cambria" pitchFamily="34" charset="-120"/>
              </a:rPr>
              <a:t>挡住口头需求</a:t>
            </a:r>
            <a:endParaRPr lang="en-US" sz="4600" dirty="0"/>
          </a:p>
        </p:txBody>
      </p:sp>
      <p:sp>
        <p:nvSpPr>
          <p:cNvPr id="7" name="Shape 5"/>
          <p:cNvSpPr/>
          <p:nvPr/>
        </p:nvSpPr>
        <p:spPr>
          <a:xfrm>
            <a:off x="1188720" y="4343400"/>
            <a:ext cx="4754880" cy="0"/>
          </a:xfrm>
          <a:prstGeom prst="line">
            <a:avLst/>
          </a:prstGeom>
          <a:noFill/>
          <a:ln w="12700">
            <a:solidFill>
              <a:srgbClr val="C7CDDB"/>
            </a:solidFill>
            <a:prstDash val="solid"/>
          </a:ln>
        </p:spPr>
      </p:sp>
      <p:sp>
        <p:nvSpPr>
          <p:cNvPr id="8" name="Text 6"/>
          <p:cNvSpPr/>
          <p:nvPr/>
        </p:nvSpPr>
        <p:spPr>
          <a:xfrm>
            <a:off x="1188720" y="4526280"/>
            <a:ext cx="8229600" cy="685800"/>
          </a:xfrm>
          <a:prstGeom prst="rect">
            <a:avLst/>
          </a:prstGeom>
          <a:noFill/>
          <a:ln/>
        </p:spPr>
        <p:txBody>
          <a:bodyPr wrap="square" rtlCol="0" anchor="ctr"/>
          <a:lstStyle/>
          <a:p>
            <a:pPr indent="0" marL="0">
              <a:buNone/>
            </a:pPr>
            <a:r>
              <a:rPr lang="en-US" sz="1400" i="1" dirty="0">
                <a:solidFill>
                  <a:srgbClr val="5B6270"/>
                </a:solidFill>
                <a:latin typeface="Calibri" pitchFamily="34" charset="0"/>
                <a:ea typeface="Calibri" pitchFamily="34" charset="-122"/>
                <a:cs typeface="Calibri" pitchFamily="34" charset="-120"/>
              </a:rPr>
              <a:t>一份关于边界管理的理论框架</a:t>
            </a:r>
            <a:endParaRPr lang="en-US" sz="1400" dirty="0"/>
          </a:p>
          <a:p>
            <a:pPr indent="0" marL="0">
              <a:buNone/>
            </a:pPr>
            <a:r>
              <a:rPr lang="en-US" sz="1400" i="1" dirty="0">
                <a:solidFill>
                  <a:srgbClr val="5B6270"/>
                </a:solidFill>
                <a:latin typeface="Calibri" pitchFamily="34" charset="0"/>
                <a:ea typeface="Calibri" pitchFamily="34" charset="-122"/>
                <a:cs typeface="Calibri" pitchFamily="34" charset="-120"/>
              </a:rPr>
              <a:t>写给7–9年经验、初次带队的技术主管</a:t>
            </a:r>
            <a:endParaRPr lang="en-US" sz="1400" dirty="0"/>
          </a:p>
        </p:txBody>
      </p:sp>
      <p:sp>
        <p:nvSpPr>
          <p:cNvPr id="9" name="Text 7"/>
          <p:cNvSpPr/>
          <p:nvPr/>
        </p:nvSpPr>
        <p:spPr>
          <a:xfrm>
            <a:off x="1188720" y="6126480"/>
            <a:ext cx="5486400" cy="274320"/>
          </a:xfrm>
          <a:prstGeom prst="rect">
            <a:avLst/>
          </a:prstGeom>
          <a:noFill/>
          <a:ln/>
        </p:spPr>
        <p:txBody>
          <a:bodyPr wrap="square" rtlCol="0" anchor="ctr"/>
          <a:lstStyle/>
          <a:p>
            <a:pPr indent="0" marL="0">
              <a:buNone/>
            </a:pPr>
            <a:r>
              <a:rPr lang="en-US" sz="1000" dirty="0">
                <a:solidFill>
                  <a:srgbClr val="5B6270"/>
                </a:solidFill>
                <a:latin typeface="Calibri" pitchFamily="34" charset="0"/>
                <a:ea typeface="Calibri" pitchFamily="34" charset="-122"/>
                <a:cs typeface="Calibri" pitchFamily="34" charset="-120"/>
              </a:rPr>
              <a:t>理论精读版 · 全17讲</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现象与问题</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一句话能让系统崩溃的真实机制</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〔观察一〕</a:t>
            </a:r>
            <a:endParaRPr lang="en-US" sz="1100" dirty="0"/>
          </a:p>
        </p:txBody>
      </p:sp>
      <p:sp>
        <p:nvSpPr>
          <p:cNvPr id="7" name="Text 5"/>
          <p:cNvSpPr/>
          <p:nvPr/>
        </p:nvSpPr>
        <p:spPr>
          <a:xfrm>
            <a:off x="548640" y="1965960"/>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走廊需求的高频率与高代价</a:t>
            </a:r>
            <a:endParaRPr lang="en-US" sz="1500" dirty="0"/>
          </a:p>
        </p:txBody>
      </p:sp>
      <p:sp>
        <p:nvSpPr>
          <p:cNvPr id="8" name="Text 6"/>
          <p:cNvSpPr/>
          <p:nvPr/>
        </p:nvSpPr>
        <p:spPr>
          <a:xfrm>
            <a:off x="548640" y="2304288"/>
            <a:ext cx="10881360" cy="868680"/>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在半导体工厂的运营环境中，大量影响CIM系统稳定性的变更，不是来自正式的需求提交流程，而是来自走廊、微信群、饭桌上的一句「帮我顺手改一下」。这类请求的发起者通常不是坏意，他们只是用最自然的方式表达了一个真实的生产需求——但这个表达方式绕过了所有让这个需求变得安全可执行的必要步骤。</a:t>
            </a:r>
            <a:endParaRPr lang="en-US" sz="1250" dirty="0"/>
          </a:p>
        </p:txBody>
      </p:sp>
      <p:sp>
        <p:nvSpPr>
          <p:cNvPr id="9" name="Text 7"/>
          <p:cNvSpPr/>
          <p:nvPr/>
        </p:nvSpPr>
        <p:spPr>
          <a:xfrm>
            <a:off x="548640" y="32918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〔观察二〕</a:t>
            </a:r>
            <a:endParaRPr lang="en-US" sz="1100" dirty="0"/>
          </a:p>
        </p:txBody>
      </p:sp>
      <p:sp>
        <p:nvSpPr>
          <p:cNvPr id="10" name="Text 8"/>
          <p:cNvSpPr/>
          <p:nvPr/>
        </p:nvSpPr>
        <p:spPr>
          <a:xfrm>
            <a:off x="548640" y="3566160"/>
            <a:ext cx="10881360" cy="320040"/>
          </a:xfrm>
          <a:prstGeom prst="rect">
            <a:avLst/>
          </a:prstGeom>
          <a:noFill/>
          <a:ln/>
        </p:spPr>
        <p:txBody>
          <a:bodyPr wrap="square" rtlCol="0" anchor="ctr"/>
          <a:lstStyle/>
          <a:p>
            <a:pPr indent="0" marL="0">
              <a:buNone/>
            </a:pPr>
            <a:r>
              <a:rPr lang="en-US" sz="1500" b="1" dirty="0">
                <a:solidFill>
                  <a:srgbClr val="32436B"/>
                </a:solidFill>
                <a:latin typeface="Calibri" pitchFamily="34" charset="0"/>
                <a:ea typeface="Calibri" pitchFamily="34" charset="-122"/>
                <a:cs typeface="Calibri" pitchFamily="34" charset="-120"/>
              </a:rPr>
              <a:t>主管面子薄是系统性漏洞</a:t>
            </a:r>
            <a:endParaRPr lang="en-US" sz="1500" dirty="0"/>
          </a:p>
        </p:txBody>
      </p:sp>
      <p:sp>
        <p:nvSpPr>
          <p:cNvPr id="11" name="Text 9"/>
          <p:cNvSpPr/>
          <p:nvPr/>
        </p:nvSpPr>
        <p:spPr>
          <a:xfrm>
            <a:off x="548640" y="3904488"/>
            <a:ext cx="10881360" cy="841248"/>
          </a:xfrm>
          <a:prstGeom prst="rect">
            <a:avLst/>
          </a:prstGeom>
          <a:noFill/>
          <a:ln/>
        </p:spPr>
        <p:txBody>
          <a:bodyPr wrap="square" rtlCol="0" anchor="ctr"/>
          <a:lstStyle/>
          <a:p>
            <a:pPr indent="0" marL="0">
              <a:lnSpc>
                <a:spcPct val="125000"/>
              </a:lnSpc>
              <a:buNone/>
            </a:pPr>
            <a:r>
              <a:rPr lang="en-US" sz="1250" dirty="0">
                <a:solidFill>
                  <a:srgbClr val="2B2F36"/>
                </a:solidFill>
                <a:latin typeface="Calibri" pitchFamily="34" charset="0"/>
                <a:ea typeface="Calibri" pitchFamily="34" charset="-122"/>
                <a:cs typeface="Calibri" pitchFamily="34" charset="-120"/>
              </a:rPr>
              <a:t>当口头请求从制造部、工艺部、设备部的主管口中提出时，新任CIM组长往往会因为两种心理压力同时作用而当场答应：一是「不好意思拒绝，以后还要合作」的关系顾虑；二是「这看起来不是大事，不值得走流程」的技术轻视。但恰恰是这两种心理，构成了CIM系统稳定性最常见的主动漏洞——每一个口头答应，都是一次绕过安全阀的主动放行。</a:t>
            </a:r>
            <a:endParaRPr lang="en-US" sz="1250" dirty="0"/>
          </a:p>
        </p:txBody>
      </p:sp>
      <p:sp>
        <p:nvSpPr>
          <p:cNvPr id="12" name="Shape 10"/>
          <p:cNvSpPr/>
          <p:nvPr/>
        </p:nvSpPr>
        <p:spPr>
          <a:xfrm>
            <a:off x="548640" y="4892040"/>
            <a:ext cx="0" cy="1234440"/>
          </a:xfrm>
          <a:prstGeom prst="line">
            <a:avLst/>
          </a:prstGeom>
          <a:noFill/>
          <a:ln w="38100">
            <a:solidFill>
              <a:srgbClr val="9C5536"/>
            </a:solidFill>
            <a:prstDash val="solid"/>
          </a:ln>
        </p:spPr>
      </p:sp>
      <p:sp>
        <p:nvSpPr>
          <p:cNvPr id="13" name="Text 11"/>
          <p:cNvSpPr/>
          <p:nvPr/>
        </p:nvSpPr>
        <p:spPr>
          <a:xfrm>
            <a:off x="777240" y="489204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核心问题</a:t>
            </a:r>
            <a:endParaRPr lang="en-US" sz="1100" dirty="0"/>
          </a:p>
        </p:txBody>
      </p:sp>
      <p:sp>
        <p:nvSpPr>
          <p:cNvPr id="14" name="Text 12"/>
          <p:cNvSpPr/>
          <p:nvPr/>
        </p:nvSpPr>
        <p:spPr>
          <a:xfrm>
            <a:off x="777240" y="5193792"/>
            <a:ext cx="10424160" cy="868680"/>
          </a:xfrm>
          <a:prstGeom prst="rect">
            <a:avLst/>
          </a:prstGeom>
          <a:noFill/>
          <a:ln/>
        </p:spPr>
        <p:txBody>
          <a:bodyPr wrap="square" rtlCol="0" anchor="ctr"/>
          <a:lstStyle/>
          <a:p>
            <a:pPr indent="0" marL="0">
              <a:lnSpc>
                <a:spcPct val="130000"/>
              </a:lnSpc>
              <a:buNone/>
            </a:pPr>
            <a:r>
              <a:rPr lang="en-US" sz="1500" i="1" dirty="0">
                <a:solidFill>
                  <a:srgbClr val="1B2A4A"/>
                </a:solidFill>
                <a:latin typeface="Cambria" pitchFamily="34" charset="0"/>
                <a:ea typeface="Cambria" pitchFamily="34" charset="-122"/>
                <a:cs typeface="Cambria" pitchFamily="34" charset="-120"/>
              </a:rPr>
              <a:t>拒绝口头需求，真正的难点不在技术上（知道应该拒绝），而在关系管理上（不知道如何在不破坏跨部门关系的前提下拒绝）。这不是胆量问题，是方法问题。</a:t>
            </a:r>
            <a:endParaRPr lang="en-US" sz="15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现象与问题</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口头需求为什么在结构上是危险的</a:t>
            </a:r>
            <a:endParaRPr lang="en-US" sz="2700" dirty="0"/>
          </a:p>
        </p:txBody>
      </p:sp>
      <p:sp>
        <p:nvSpPr>
          <p:cNvPr id="6" name="Text 4"/>
          <p:cNvSpPr/>
          <p:nvPr/>
        </p:nvSpPr>
        <p:spPr>
          <a:xfrm>
            <a:off x="548640" y="1691640"/>
            <a:ext cx="10881360" cy="640080"/>
          </a:xfrm>
          <a:prstGeom prst="rect">
            <a:avLst/>
          </a:prstGeom>
          <a:noFill/>
          <a:ln/>
        </p:spPr>
        <p:txBody>
          <a:bodyPr wrap="square" rtlCol="0" anchor="ctr"/>
          <a:lstStyle/>
          <a:p>
            <a:pPr indent="0" marL="0">
              <a:lnSpc>
                <a:spcPct val="128000"/>
              </a:lnSpc>
              <a:buNone/>
            </a:pPr>
            <a:r>
              <a:rPr lang="en-US" sz="1280" dirty="0">
                <a:solidFill>
                  <a:srgbClr val="2B2F36"/>
                </a:solidFill>
                <a:latin typeface="Calibri" pitchFamily="34" charset="0"/>
                <a:ea typeface="Calibri" pitchFamily="34" charset="-122"/>
                <a:cs typeface="Calibri" pitchFamily="34" charset="-120"/>
              </a:rPr>
              <a:t>工作系统理论（Work System Theory）把任何有组织的工作活动理解为包含参与者、信息、流程和约束的系统。在这个框架下，一个需求要从「被提出」变成「可以安全执行」，必须经历五个不可跳过的处理步骤：</a:t>
            </a:r>
            <a:endParaRPr lang="en-US" sz="1280" dirty="0"/>
          </a:p>
        </p:txBody>
      </p:sp>
      <p:sp>
        <p:nvSpPr>
          <p:cNvPr id="7" name="Text 5"/>
          <p:cNvSpPr/>
          <p:nvPr/>
        </p:nvSpPr>
        <p:spPr>
          <a:xfrm>
            <a:off x="548640" y="2487168"/>
            <a:ext cx="1097280" cy="347472"/>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步骤一</a:t>
            </a:r>
            <a:endParaRPr lang="en-US" sz="1100" dirty="0"/>
          </a:p>
        </p:txBody>
      </p:sp>
      <p:sp>
        <p:nvSpPr>
          <p:cNvPr id="8" name="Text 6"/>
          <p:cNvSpPr/>
          <p:nvPr/>
        </p:nvSpPr>
        <p:spPr>
          <a:xfrm>
            <a:off x="1691640" y="2487168"/>
            <a:ext cx="2011680" cy="347472"/>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优先级排序</a:t>
            </a:r>
            <a:endParaRPr lang="en-US" sz="1150" dirty="0"/>
          </a:p>
        </p:txBody>
      </p:sp>
      <p:sp>
        <p:nvSpPr>
          <p:cNvPr id="9" name="Text 7"/>
          <p:cNvSpPr/>
          <p:nvPr/>
        </p:nvSpPr>
        <p:spPr>
          <a:xfrm>
            <a:off x="3749040" y="2487168"/>
            <a:ext cx="7726680" cy="347472"/>
          </a:xfrm>
          <a:prstGeom prst="rect">
            <a:avLst/>
          </a:prstGeom>
          <a:noFill/>
          <a:ln/>
        </p:spPr>
        <p:txBody>
          <a:bodyPr wrap="square" rtlCol="0" anchor="ctr"/>
          <a:lstStyle/>
          <a:p>
            <a:pPr indent="0" marL="0">
              <a:buNone/>
            </a:pPr>
            <a:r>
              <a:rPr lang="en-US" sz="1150" dirty="0">
                <a:solidFill>
                  <a:srgbClr val="2B2F36"/>
                </a:solidFill>
                <a:latin typeface="Calibri" pitchFamily="34" charset="0"/>
                <a:ea typeface="Calibri" pitchFamily="34" charset="-122"/>
                <a:cs typeface="Calibri" pitchFamily="34" charset="-120"/>
              </a:rPr>
              <a:t>这个需求和现有排期中的其他需求相比，应该排在哪里？</a:t>
            </a:r>
            <a:endParaRPr lang="en-US" sz="1150" dirty="0"/>
          </a:p>
        </p:txBody>
      </p:sp>
      <p:sp>
        <p:nvSpPr>
          <p:cNvPr id="10" name="Text 8"/>
          <p:cNvSpPr/>
          <p:nvPr/>
        </p:nvSpPr>
        <p:spPr>
          <a:xfrm>
            <a:off x="548640" y="2926080"/>
            <a:ext cx="1097280" cy="347472"/>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步骤二</a:t>
            </a:r>
            <a:endParaRPr lang="en-US" sz="1100" dirty="0"/>
          </a:p>
        </p:txBody>
      </p:sp>
      <p:sp>
        <p:nvSpPr>
          <p:cNvPr id="11" name="Text 9"/>
          <p:cNvSpPr/>
          <p:nvPr/>
        </p:nvSpPr>
        <p:spPr>
          <a:xfrm>
            <a:off x="1691640" y="2926080"/>
            <a:ext cx="2011680" cy="347472"/>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资源估算</a:t>
            </a:r>
            <a:endParaRPr lang="en-US" sz="1150" dirty="0"/>
          </a:p>
        </p:txBody>
      </p:sp>
      <p:sp>
        <p:nvSpPr>
          <p:cNvPr id="12" name="Text 10"/>
          <p:cNvSpPr/>
          <p:nvPr/>
        </p:nvSpPr>
        <p:spPr>
          <a:xfrm>
            <a:off x="3749040" y="2926080"/>
            <a:ext cx="7726680" cy="347472"/>
          </a:xfrm>
          <a:prstGeom prst="rect">
            <a:avLst/>
          </a:prstGeom>
          <a:noFill/>
          <a:ln/>
        </p:spPr>
        <p:txBody>
          <a:bodyPr wrap="square" rtlCol="0" anchor="ctr"/>
          <a:lstStyle/>
          <a:p>
            <a:pPr indent="0" marL="0">
              <a:buNone/>
            </a:pPr>
            <a:r>
              <a:rPr lang="en-US" sz="1150" dirty="0">
                <a:solidFill>
                  <a:srgbClr val="2B2F36"/>
                </a:solidFill>
                <a:latin typeface="Calibri" pitchFamily="34" charset="0"/>
                <a:ea typeface="Calibri" pitchFamily="34" charset="-122"/>
                <a:cs typeface="Calibri" pitchFamily="34" charset="-120"/>
              </a:rPr>
              <a:t>这个需求的实现需要多少工时？会占用哪些人？</a:t>
            </a:r>
            <a:endParaRPr lang="en-US" sz="1150" dirty="0"/>
          </a:p>
        </p:txBody>
      </p:sp>
      <p:sp>
        <p:nvSpPr>
          <p:cNvPr id="13" name="Text 11"/>
          <p:cNvSpPr/>
          <p:nvPr/>
        </p:nvSpPr>
        <p:spPr>
          <a:xfrm>
            <a:off x="548640" y="3364992"/>
            <a:ext cx="1097280" cy="347472"/>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步骤三</a:t>
            </a:r>
            <a:endParaRPr lang="en-US" sz="1100" dirty="0"/>
          </a:p>
        </p:txBody>
      </p:sp>
      <p:sp>
        <p:nvSpPr>
          <p:cNvPr id="14" name="Text 12"/>
          <p:cNvSpPr/>
          <p:nvPr/>
        </p:nvSpPr>
        <p:spPr>
          <a:xfrm>
            <a:off x="1691640" y="3364992"/>
            <a:ext cx="2011680" cy="347472"/>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风险评审</a:t>
            </a:r>
            <a:endParaRPr lang="en-US" sz="1150" dirty="0"/>
          </a:p>
        </p:txBody>
      </p:sp>
      <p:sp>
        <p:nvSpPr>
          <p:cNvPr id="15" name="Text 13"/>
          <p:cNvSpPr/>
          <p:nvPr/>
        </p:nvSpPr>
        <p:spPr>
          <a:xfrm>
            <a:off x="3749040" y="3364992"/>
            <a:ext cx="7726680" cy="347472"/>
          </a:xfrm>
          <a:prstGeom prst="rect">
            <a:avLst/>
          </a:prstGeom>
          <a:noFill/>
          <a:ln/>
        </p:spPr>
        <p:txBody>
          <a:bodyPr wrap="square" rtlCol="0" anchor="ctr"/>
          <a:lstStyle/>
          <a:p>
            <a:pPr indent="0" marL="0">
              <a:buNone/>
            </a:pPr>
            <a:r>
              <a:rPr lang="en-US" sz="1150" dirty="0">
                <a:solidFill>
                  <a:srgbClr val="2B2F36"/>
                </a:solidFill>
                <a:latin typeface="Calibri" pitchFamily="34" charset="0"/>
                <a:ea typeface="Calibri" pitchFamily="34" charset="-122"/>
                <a:cs typeface="Calibri" pitchFamily="34" charset="-120"/>
              </a:rPr>
              <a:t>M2的概率×后果矩阵：这个改动有多危险？</a:t>
            </a:r>
            <a:endParaRPr lang="en-US" sz="1150" dirty="0"/>
          </a:p>
        </p:txBody>
      </p:sp>
      <p:sp>
        <p:nvSpPr>
          <p:cNvPr id="16" name="Text 14"/>
          <p:cNvSpPr/>
          <p:nvPr/>
        </p:nvSpPr>
        <p:spPr>
          <a:xfrm>
            <a:off x="548640" y="3803904"/>
            <a:ext cx="1097280" cy="347472"/>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步骤四</a:t>
            </a:r>
            <a:endParaRPr lang="en-US" sz="1100" dirty="0"/>
          </a:p>
        </p:txBody>
      </p:sp>
      <p:sp>
        <p:nvSpPr>
          <p:cNvPr id="17" name="Text 15"/>
          <p:cNvSpPr/>
          <p:nvPr/>
        </p:nvSpPr>
        <p:spPr>
          <a:xfrm>
            <a:off x="1691640" y="3803904"/>
            <a:ext cx="2011680" cy="347472"/>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回归测试设计</a:t>
            </a:r>
            <a:endParaRPr lang="en-US" sz="1150" dirty="0"/>
          </a:p>
        </p:txBody>
      </p:sp>
      <p:sp>
        <p:nvSpPr>
          <p:cNvPr id="18" name="Text 16"/>
          <p:cNvSpPr/>
          <p:nvPr/>
        </p:nvSpPr>
        <p:spPr>
          <a:xfrm>
            <a:off x="3749040" y="3803904"/>
            <a:ext cx="7726680" cy="347472"/>
          </a:xfrm>
          <a:prstGeom prst="rect">
            <a:avLst/>
          </a:prstGeom>
          <a:noFill/>
          <a:ln/>
        </p:spPr>
        <p:txBody>
          <a:bodyPr wrap="square" rtlCol="0" anchor="ctr"/>
          <a:lstStyle/>
          <a:p>
            <a:pPr indent="0" marL="0">
              <a:buNone/>
            </a:pPr>
            <a:r>
              <a:rPr lang="en-US" sz="1150" dirty="0">
                <a:solidFill>
                  <a:srgbClr val="2B2F36"/>
                </a:solidFill>
                <a:latin typeface="Calibri" pitchFamily="34" charset="0"/>
                <a:ea typeface="Calibri" pitchFamily="34" charset="-122"/>
                <a:cs typeface="Calibri" pitchFamily="34" charset="-120"/>
              </a:rPr>
              <a:t>改完之后，如何验证没有破坏已有功能？</a:t>
            </a:r>
            <a:endParaRPr lang="en-US" sz="1150" dirty="0"/>
          </a:p>
        </p:txBody>
      </p:sp>
      <p:sp>
        <p:nvSpPr>
          <p:cNvPr id="19" name="Text 17"/>
          <p:cNvSpPr/>
          <p:nvPr/>
        </p:nvSpPr>
        <p:spPr>
          <a:xfrm>
            <a:off x="548640" y="4242816"/>
            <a:ext cx="1097280" cy="347472"/>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步骤五</a:t>
            </a:r>
            <a:endParaRPr lang="en-US" sz="1100" dirty="0"/>
          </a:p>
        </p:txBody>
      </p:sp>
      <p:sp>
        <p:nvSpPr>
          <p:cNvPr id="20" name="Text 18"/>
          <p:cNvSpPr/>
          <p:nvPr/>
        </p:nvSpPr>
        <p:spPr>
          <a:xfrm>
            <a:off x="1691640" y="4242816"/>
            <a:ext cx="2011680" cy="347472"/>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上线计划确认</a:t>
            </a:r>
            <a:endParaRPr lang="en-US" sz="1150" dirty="0"/>
          </a:p>
        </p:txBody>
      </p:sp>
      <p:sp>
        <p:nvSpPr>
          <p:cNvPr id="21" name="Text 19"/>
          <p:cNvSpPr/>
          <p:nvPr/>
        </p:nvSpPr>
        <p:spPr>
          <a:xfrm>
            <a:off x="3749040" y="4242816"/>
            <a:ext cx="7726680" cy="347472"/>
          </a:xfrm>
          <a:prstGeom prst="rect">
            <a:avLst/>
          </a:prstGeom>
          <a:noFill/>
          <a:ln/>
        </p:spPr>
        <p:txBody>
          <a:bodyPr wrap="square" rtlCol="0" anchor="ctr"/>
          <a:lstStyle/>
          <a:p>
            <a:pPr indent="0" marL="0">
              <a:buNone/>
            </a:pPr>
            <a:r>
              <a:rPr lang="en-US" sz="1150" dirty="0">
                <a:solidFill>
                  <a:srgbClr val="2B2F36"/>
                </a:solidFill>
                <a:latin typeface="Calibri" pitchFamily="34" charset="0"/>
                <a:ea typeface="Calibri" pitchFamily="34" charset="-122"/>
                <a:cs typeface="Calibri" pitchFamily="34" charset="-120"/>
              </a:rPr>
              <a:t>什么时间窗口上线？有没有回滚预案？</a:t>
            </a:r>
            <a:endParaRPr lang="en-US" sz="1150" dirty="0"/>
          </a:p>
        </p:txBody>
      </p:sp>
      <p:sp>
        <p:nvSpPr>
          <p:cNvPr id="22" name="Shape 20"/>
          <p:cNvSpPr/>
          <p:nvPr/>
        </p:nvSpPr>
        <p:spPr>
          <a:xfrm>
            <a:off x="548640" y="4773168"/>
            <a:ext cx="0" cy="1417320"/>
          </a:xfrm>
          <a:prstGeom prst="line">
            <a:avLst/>
          </a:prstGeom>
          <a:noFill/>
          <a:ln w="38100">
            <a:solidFill>
              <a:srgbClr val="9C5536"/>
            </a:solidFill>
            <a:prstDash val="solid"/>
          </a:ln>
        </p:spPr>
      </p:sp>
      <p:sp>
        <p:nvSpPr>
          <p:cNvPr id="23" name="Text 21"/>
          <p:cNvSpPr/>
          <p:nvPr/>
        </p:nvSpPr>
        <p:spPr>
          <a:xfrm>
            <a:off x="777240" y="4773168"/>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核心论断</a:t>
            </a:r>
            <a:endParaRPr lang="en-US" sz="1100" dirty="0"/>
          </a:p>
        </p:txBody>
      </p:sp>
      <p:sp>
        <p:nvSpPr>
          <p:cNvPr id="24" name="Text 22"/>
          <p:cNvSpPr/>
          <p:nvPr/>
        </p:nvSpPr>
        <p:spPr>
          <a:xfrm>
            <a:off x="777240" y="5074920"/>
            <a:ext cx="10424160" cy="1024128"/>
          </a:xfrm>
          <a:prstGeom prst="rect">
            <a:avLst/>
          </a:prstGeom>
          <a:noFill/>
          <a:ln/>
        </p:spPr>
        <p:txBody>
          <a:bodyPr wrap="square" rtlCol="0" anchor="ctr"/>
          <a:lstStyle/>
          <a:p>
            <a:pPr indent="0" marL="0">
              <a:lnSpc>
                <a:spcPct val="130000"/>
              </a:lnSpc>
              <a:buNone/>
            </a:pPr>
            <a:r>
              <a:rPr lang="en-US" sz="1250" i="1" dirty="0">
                <a:solidFill>
                  <a:srgbClr val="1B2A4A"/>
                </a:solidFill>
                <a:latin typeface="Cambria" pitchFamily="34" charset="0"/>
                <a:ea typeface="Cambria" pitchFamily="34" charset="-122"/>
                <a:cs typeface="Cambria" pitchFamily="34" charset="-120"/>
              </a:rPr>
              <a:t>一个口头需求绕过的，正是上述全部五个步骤。「顺手改一下」不只是一个风险概率的问题，而是一个确定性的系统漏洞——它必然绕过了安全约束，无论改动本身是否真的简单。这不是某个人的失职，而是口头传递方式在结构上就缺少了让需求变得安全可执行所需的信息密度。</a:t>
            </a:r>
            <a:endParaRPr lang="en-US" sz="1250" dirty="0"/>
          </a:p>
        </p:txBody>
      </p:sp>
      <p:sp>
        <p:nvSpPr>
          <p:cNvPr id="25" name="Shape 23"/>
          <p:cNvSpPr/>
          <p:nvPr/>
        </p:nvSpPr>
        <p:spPr>
          <a:xfrm>
            <a:off x="548640" y="6446520"/>
            <a:ext cx="11091672" cy="0"/>
          </a:xfrm>
          <a:prstGeom prst="line">
            <a:avLst/>
          </a:prstGeom>
          <a:noFill/>
          <a:ln w="9525">
            <a:solidFill>
              <a:srgbClr val="C7CDDB"/>
            </a:solidFill>
            <a:prstDash val="solid"/>
          </a:ln>
        </p:spPr>
      </p:sp>
      <p:sp>
        <p:nvSpPr>
          <p:cNvPr id="26" name="Text 2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提出</a:t>
            </a:r>
            <a:endParaRPr lang="en-US" sz="900" dirty="0"/>
          </a:p>
        </p:txBody>
      </p:sp>
      <p:sp>
        <p:nvSpPr>
          <p:cNvPr id="27" name="Text 2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理论框架一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不是所有口头沟通都有害</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把「防火墙」理解为「拒绝所有口头沟通」</a:t>
            </a:r>
            <a:endParaRPr lang="en-US" sz="1450" dirty="0"/>
          </a:p>
        </p:txBody>
      </p:sp>
      <p:sp>
        <p:nvSpPr>
          <p:cNvPr id="8" name="Text 6"/>
          <p:cNvSpPr/>
          <p:nvPr/>
        </p:nvSpPr>
        <p:spPr>
          <a:xfrm>
            <a:off x="548640" y="2368296"/>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工作系统框架的意思不是所有信息都必须通过书面流程传递，而是「会产生系统变更的需求」必须经历必要的处理步骤。日常的技术讨论、问题排查的现场沟通、紧急事件的即时协调——这些都不在「口头需求」的防范范畴内。防火墙针对的是「口头提出的、会导致系统代码/配置/逻辑发生变更的请求」，而不是针对一切口头交流。</a:t>
            </a:r>
            <a:endParaRPr lang="en-US" sz="1250" dirty="0"/>
          </a:p>
        </p:txBody>
      </p:sp>
      <p:sp>
        <p:nvSpPr>
          <p:cNvPr id="9" name="Text 7"/>
          <p:cNvSpPr/>
          <p:nvPr/>
        </p:nvSpPr>
        <p:spPr>
          <a:xfrm>
            <a:off x="548640" y="347472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〔误用二〕</a:t>
            </a:r>
            <a:endParaRPr lang="en-US" sz="1100" dirty="0"/>
          </a:p>
        </p:txBody>
      </p:sp>
      <p:sp>
        <p:nvSpPr>
          <p:cNvPr id="10" name="Text 8"/>
          <p:cNvSpPr/>
          <p:nvPr/>
        </p:nvSpPr>
        <p:spPr>
          <a:xfrm>
            <a:off x="548640" y="376732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把「走流程」理解为「拒绝帮忙」</a:t>
            </a:r>
            <a:endParaRPr lang="en-US" sz="1450" dirty="0"/>
          </a:p>
        </p:txBody>
      </p:sp>
      <p:sp>
        <p:nvSpPr>
          <p:cNvPr id="11" name="Text 9"/>
          <p:cNvSpPr/>
          <p:nvPr/>
        </p:nvSpPr>
        <p:spPr>
          <a:xfrm>
            <a:off x="548640" y="4151376"/>
            <a:ext cx="10881360" cy="91440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引导需求进入标准流程，不等于拒绝对方的需求，而是在说「我们会处理这个需求，但需要用能够保证安全性的方式来处理」。如果被对方感知为「CIM团队不配合、推诿」，防火墙不但没有保护团队，反而损害了跨部门关系。有效的防火墙在执行上必须是「引导」而非「拒绝」——这个区别是本讲第二个理论框架的核心。</a:t>
            </a:r>
            <a:endParaRPr lang="en-US" sz="1250" dirty="0"/>
          </a:p>
        </p:txBody>
      </p:sp>
      <p:sp>
        <p:nvSpPr>
          <p:cNvPr id="12" name="Shape 10"/>
          <p:cNvSpPr/>
          <p:nvPr/>
        </p:nvSpPr>
        <p:spPr>
          <a:xfrm>
            <a:off x="548640" y="5303520"/>
            <a:ext cx="0" cy="1051560"/>
          </a:xfrm>
          <a:prstGeom prst="line">
            <a:avLst/>
          </a:prstGeom>
          <a:noFill/>
          <a:ln w="38100">
            <a:solidFill>
              <a:srgbClr val="9C5536"/>
            </a:solidFill>
            <a:prstDash val="solid"/>
          </a:ln>
        </p:spPr>
      </p:sp>
      <p:sp>
        <p:nvSpPr>
          <p:cNvPr id="13" name="Text 11"/>
          <p:cNvSpPr/>
          <p:nvPr/>
        </p:nvSpPr>
        <p:spPr>
          <a:xfrm>
            <a:off x="777240" y="530352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05272"/>
            <a:ext cx="10424160" cy="77724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防火墙机制针对的是「会触发系统变更的口头需求」，不针对日常沟通；防火墙的执行方式是「引导进入流程」而非「直接拒绝」。脱离这两个边界条件，防火墙会从保护机制变成协作障碍。</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理论框架一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机制解释</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为什么「直接拒绝」是次优策略</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从谈判学和博弈论角度，拆解直接拒绝的失效路径</a:t>
            </a:r>
            <a:endParaRPr lang="en-US" sz="1300" dirty="0"/>
          </a:p>
        </p:txBody>
      </p:sp>
      <p:sp>
        <p:nvSpPr>
          <p:cNvPr id="7" name="Text 5"/>
          <p:cNvSpPr/>
          <p:nvPr/>
        </p:nvSpPr>
        <p:spPr>
          <a:xfrm>
            <a:off x="548640" y="196596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〔机制一〕</a:t>
            </a:r>
            <a:endParaRPr lang="en-US" sz="1100" dirty="0"/>
          </a:p>
        </p:txBody>
      </p:sp>
      <p:sp>
        <p:nvSpPr>
          <p:cNvPr id="8" name="Text 6"/>
          <p:cNvSpPr/>
          <p:nvPr/>
        </p:nvSpPr>
        <p:spPr>
          <a:xfrm>
            <a:off x="2148840" y="1965960"/>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直接拒绝触发「被拒绝」心理反应</a:t>
            </a:r>
            <a:endParaRPr lang="en-US" sz="1300" dirty="0"/>
          </a:p>
        </p:txBody>
      </p:sp>
      <p:sp>
        <p:nvSpPr>
          <p:cNvPr id="9" name="Text 7"/>
          <p:cNvSpPr/>
          <p:nvPr/>
        </p:nvSpPr>
        <p:spPr>
          <a:xfrm>
            <a:off x="548640" y="2295144"/>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谈判学研究表明，当一个人的请求被直接拒绝时，第一反应往往不是「好的，我理解」，而是「为什么不行？是不是不想帮我？」这种反应与请求本身的合理性无关，而是人类对「被拒」这个动作本身的本能反应。在跨部门场景中，这个反应会被放大，因为对方通常有一个真实的生产压力在驱动他提出请求——直接拒绝在他看来，等于CIM团队选择了「守规矩」而放弃了「帮生产解决问题」。</a:t>
            </a:r>
            <a:endParaRPr lang="en-US" sz="1180" dirty="0"/>
          </a:p>
        </p:txBody>
      </p:sp>
      <p:sp>
        <p:nvSpPr>
          <p:cNvPr id="10" name="Text 8"/>
          <p:cNvSpPr/>
          <p:nvPr/>
        </p:nvSpPr>
        <p:spPr>
          <a:xfrm>
            <a:off x="548640" y="3044952"/>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〔机制二〕</a:t>
            </a:r>
            <a:endParaRPr lang="en-US" sz="1100" dirty="0"/>
          </a:p>
        </p:txBody>
      </p:sp>
      <p:sp>
        <p:nvSpPr>
          <p:cNvPr id="11" name="Text 9"/>
          <p:cNvSpPr/>
          <p:nvPr/>
        </p:nvSpPr>
        <p:spPr>
          <a:xfrm>
            <a:off x="2148840" y="3044952"/>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直接拒绝破坏了信息不对称的优势</a:t>
            </a:r>
            <a:endParaRPr lang="en-US" sz="1300" dirty="0"/>
          </a:p>
        </p:txBody>
      </p:sp>
      <p:sp>
        <p:nvSpPr>
          <p:cNvPr id="12" name="Text 10"/>
          <p:cNvSpPr/>
          <p:nvPr/>
        </p:nvSpPr>
        <p:spPr>
          <a:xfrm>
            <a:off x="548640" y="3374136"/>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主管通常比对方更了解「为什么这个需求需要走流程」的技术原因。直接说「不行」放弃了这个信息不对称的优势。而说「我们来走一个流程，这样才能安全快速地帮你实现」，则把信息不对称转化为了协作框架——对方得到「你的需求会被处理」的保证，主管得到「需求进入约束层」的保护。</a:t>
            </a:r>
            <a:endParaRPr lang="en-US" sz="1180" dirty="0"/>
          </a:p>
        </p:txBody>
      </p:sp>
      <p:sp>
        <p:nvSpPr>
          <p:cNvPr id="13" name="Text 11"/>
          <p:cNvSpPr/>
          <p:nvPr/>
        </p:nvSpPr>
        <p:spPr>
          <a:xfrm>
            <a:off x="548640" y="4123944"/>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〔机制三〕</a:t>
            </a:r>
            <a:endParaRPr lang="en-US" sz="1100" dirty="0"/>
          </a:p>
        </p:txBody>
      </p:sp>
      <p:sp>
        <p:nvSpPr>
          <p:cNvPr id="14" name="Text 12"/>
          <p:cNvSpPr/>
          <p:nvPr/>
        </p:nvSpPr>
        <p:spPr>
          <a:xfrm>
            <a:off x="2148840" y="4123944"/>
            <a:ext cx="9281160" cy="27432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直接拒绝不能解决根本问题</a:t>
            </a:r>
            <a:endParaRPr lang="en-US" sz="1300" dirty="0"/>
          </a:p>
        </p:txBody>
      </p:sp>
      <p:sp>
        <p:nvSpPr>
          <p:cNvPr id="15" name="Text 13"/>
          <p:cNvSpPr/>
          <p:nvPr/>
        </p:nvSpPr>
        <p:spPr>
          <a:xfrm>
            <a:off x="548640" y="4453128"/>
            <a:ext cx="10881360" cy="713232"/>
          </a:xfrm>
          <a:prstGeom prst="rect">
            <a:avLst/>
          </a:prstGeom>
          <a:noFill/>
          <a:ln/>
        </p:spPr>
        <p:txBody>
          <a:bodyPr wrap="square" rtlCol="0" anchor="ctr"/>
          <a:lstStyle/>
          <a:p>
            <a:pPr indent="0" marL="0">
              <a:lnSpc>
                <a:spcPct val="122000"/>
              </a:lnSpc>
              <a:buNone/>
            </a:pPr>
            <a:r>
              <a:rPr lang="en-US" sz="1180" dirty="0">
                <a:solidFill>
                  <a:srgbClr val="2B2F36"/>
                </a:solidFill>
                <a:latin typeface="Calibri" pitchFamily="34" charset="0"/>
                <a:ea typeface="Calibri" pitchFamily="34" charset="-122"/>
                <a:cs typeface="Calibri" pitchFamily="34" charset="-120"/>
              </a:rPr>
              <a:t>即使这次口头拒绝成功，对方下次仍然会用同样的方式提出需求，因为他没有从这次交互中学到「为什么需要走流程」。而「引导进入流程」则是一次正向重塑——它向对方传递了「走这套方法对你也有好处」的信息，是对跨部门协作规则的一次结构性改写。</a:t>
            </a:r>
            <a:endParaRPr lang="en-US" sz="1180" dirty="0"/>
          </a:p>
        </p:txBody>
      </p:sp>
      <p:sp>
        <p:nvSpPr>
          <p:cNvPr id="16" name="Shape 14"/>
          <p:cNvSpPr/>
          <p:nvPr/>
        </p:nvSpPr>
        <p:spPr>
          <a:xfrm>
            <a:off x="548640" y="6126480"/>
            <a:ext cx="10881360" cy="0"/>
          </a:xfrm>
          <a:prstGeom prst="line">
            <a:avLst/>
          </a:prstGeom>
          <a:noFill/>
          <a:ln w="12700">
            <a:solidFill>
              <a:srgbClr val="E3E7EF"/>
            </a:solidFill>
            <a:prstDash val="solid"/>
          </a:ln>
        </p:spPr>
      </p:sp>
      <p:sp>
        <p:nvSpPr>
          <p:cNvPr id="17" name="Text 15"/>
          <p:cNvSpPr/>
          <p:nvPr/>
        </p:nvSpPr>
        <p:spPr>
          <a:xfrm>
            <a:off x="548640" y="6199632"/>
            <a:ext cx="10881360" cy="292608"/>
          </a:xfrm>
          <a:prstGeom prst="rect">
            <a:avLst/>
          </a:prstGeom>
          <a:noFill/>
          <a:ln/>
        </p:spPr>
        <p:txBody>
          <a:bodyPr wrap="square" rtlCol="0" anchor="ctr"/>
          <a:lstStyle/>
          <a:p>
            <a:pPr indent="0" marL="0">
              <a:buNone/>
            </a:pPr>
            <a:r>
              <a:rPr lang="en-US" sz="1250" i="1" dirty="0">
                <a:solidFill>
                  <a:srgbClr val="9C5536"/>
                </a:solidFill>
                <a:latin typeface="Calibri" pitchFamily="34" charset="0"/>
                <a:ea typeface="Calibri" pitchFamily="34" charset="-122"/>
                <a:cs typeface="Calibri" pitchFamily="34" charset="-120"/>
              </a:rPr>
              <a:t>三个机制共同指向一个结论：防火墙的有效形式不是「拒绝」，而是「流程化引导」。</a:t>
            </a:r>
            <a:endParaRPr lang="en-US" sz="1250" dirty="0"/>
          </a:p>
        </p:txBody>
      </p:sp>
      <p:sp>
        <p:nvSpPr>
          <p:cNvPr id="18" name="Shape 16"/>
          <p:cNvSpPr/>
          <p:nvPr/>
        </p:nvSpPr>
        <p:spPr>
          <a:xfrm>
            <a:off x="548640" y="6446520"/>
            <a:ext cx="11091672" cy="0"/>
          </a:xfrm>
          <a:prstGeom prst="line">
            <a:avLst/>
          </a:prstGeom>
          <a:noFill/>
          <a:ln w="9525">
            <a:solidFill>
              <a:srgbClr val="C7CDDB"/>
            </a:solidFill>
            <a:prstDash val="solid"/>
          </a:ln>
        </p:spPr>
      </p:sp>
      <p:sp>
        <p:nvSpPr>
          <p:cNvPr id="19" name="Text 17"/>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机制解释</a:t>
            </a:r>
            <a:endParaRPr lang="en-US" sz="900" dirty="0"/>
          </a:p>
        </p:txBody>
      </p:sp>
      <p:sp>
        <p:nvSpPr>
          <p:cNvPr id="20" name="Text 18"/>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两种应对方式的真实分野</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〔案例A · 直接答应〕</a:t>
            </a:r>
            <a:endParaRPr lang="en-US" sz="1100" dirty="0"/>
          </a:p>
        </p:txBody>
      </p:sp>
      <p:sp>
        <p:nvSpPr>
          <p:cNvPr id="7" name="Shape 5"/>
          <p:cNvSpPr/>
          <p:nvPr/>
        </p:nvSpPr>
        <p:spPr>
          <a:xfrm>
            <a:off x="548640" y="2057400"/>
            <a:ext cx="5257800" cy="0"/>
          </a:xfrm>
          <a:prstGeom prst="line">
            <a:avLst/>
          </a:prstGeom>
          <a:noFill/>
          <a:ln w="19050">
            <a:solidFill>
              <a:srgbClr val="9C5536"/>
            </a:solidFill>
            <a:prstDash val="solid"/>
          </a:ln>
        </p:spPr>
      </p:sp>
      <p:sp>
        <p:nvSpPr>
          <p:cNvPr id="8" name="Text 6"/>
          <p:cNvSpPr/>
          <p:nvPr/>
        </p:nvSpPr>
        <p:spPr>
          <a:xfrm>
            <a:off x="548640" y="2194560"/>
            <a:ext cx="5257800" cy="749808"/>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制造部主管老赵在走廊碰到CIM组长小王，说「帮我在清洗线的系统里加个临时过滤逻辑」。小王心想「顺手的事」，当场答应了。</a:t>
            </a:r>
            <a:endParaRPr lang="en-US" sz="1200" dirty="0"/>
          </a:p>
        </p:txBody>
      </p:sp>
      <p:sp>
        <p:nvSpPr>
          <p:cNvPr id="9" name="Text 7"/>
          <p:cNvSpPr/>
          <p:nvPr/>
        </p:nvSpPr>
        <p:spPr>
          <a:xfrm>
            <a:off x="548640" y="3017520"/>
            <a:ext cx="5257800" cy="274320"/>
          </a:xfrm>
          <a:prstGeom prst="rect">
            <a:avLst/>
          </a:prstGeom>
          <a:noFill/>
          <a:ln/>
        </p:spPr>
        <p:txBody>
          <a:bodyPr wrap="square" rtlCol="0" anchor="ctr"/>
          <a:lstStyle/>
          <a:p>
            <a:pPr indent="0" marL="0">
              <a:buNone/>
            </a:pPr>
            <a:r>
              <a:rPr lang="en-US" sz="1200" b="1" dirty="0">
                <a:solidFill>
                  <a:srgbClr val="9C5536"/>
                </a:solidFill>
                <a:latin typeface="Calibri" pitchFamily="34" charset="0"/>
                <a:ea typeface="Calibri" pitchFamily="34" charset="-122"/>
                <a:cs typeface="Calibri" pitchFamily="34" charset="-120"/>
              </a:rPr>
              <a:t>结果：</a:t>
            </a:r>
            <a:endParaRPr lang="en-US" sz="1200" dirty="0"/>
          </a:p>
        </p:txBody>
      </p:sp>
      <p:sp>
        <p:nvSpPr>
          <p:cNvPr id="10" name="Text 8"/>
          <p:cNvSpPr/>
          <p:nvPr/>
        </p:nvSpPr>
        <p:spPr>
          <a:xfrm>
            <a:off x="548640" y="3328416"/>
            <a:ext cx="5257800" cy="14630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当天晚上，组里工程师在未经充分测试的情况下上线了这个「临时逻辑」，触发了与下游扩散区调度逻辑的冲突，导致第二天早班停线两小时。事后查变更记录，没有正式需求提交，没有测试记录，没有上线审批——责任无处厘清，老赵反而对CIM团队的「不专业」感到不满。</a:t>
            </a:r>
            <a:endParaRPr lang="en-US" sz="1200" dirty="0"/>
          </a:p>
        </p:txBody>
      </p:sp>
      <p:sp>
        <p:nvSpPr>
          <p:cNvPr id="11" name="Shape 9"/>
          <p:cNvSpPr/>
          <p:nvPr/>
        </p:nvSpPr>
        <p:spPr>
          <a:xfrm>
            <a:off x="6080760" y="1691640"/>
            <a:ext cx="0" cy="4160520"/>
          </a:xfrm>
          <a:prstGeom prst="line">
            <a:avLst/>
          </a:prstGeom>
          <a:noFill/>
          <a:ln w="12700">
            <a:solidFill>
              <a:srgbClr val="E3E7EF"/>
            </a:solidFill>
            <a:prstDash val="solid"/>
          </a:ln>
        </p:spPr>
      </p:sp>
      <p:sp>
        <p:nvSpPr>
          <p:cNvPr id="12" name="Text 10"/>
          <p:cNvSpPr/>
          <p:nvPr/>
        </p:nvSpPr>
        <p:spPr>
          <a:xfrm>
            <a:off x="6519672" y="1691640"/>
            <a:ext cx="2377440" cy="274320"/>
          </a:xfrm>
          <a:prstGeom prst="rect">
            <a:avLst/>
          </a:prstGeom>
          <a:noFill/>
          <a:ln/>
        </p:spPr>
        <p:txBody>
          <a:bodyPr wrap="square" rtlCol="0" anchor="ctr"/>
          <a:lstStyle/>
          <a:p>
            <a:pPr indent="0" marL="0">
              <a:buNone/>
            </a:pPr>
            <a:r>
              <a:rPr lang="en-US" sz="1100" b="1" dirty="0">
                <a:solidFill>
                  <a:srgbClr val="4F6F52"/>
                </a:solidFill>
                <a:latin typeface="Calibri" pitchFamily="34" charset="0"/>
                <a:ea typeface="Calibri" pitchFamily="34" charset="-122"/>
                <a:cs typeface="Calibri" pitchFamily="34" charset="-120"/>
              </a:rPr>
              <a:t>〔案例B · 流程化引导〕</a:t>
            </a:r>
            <a:endParaRPr lang="en-US" sz="1100" dirty="0"/>
          </a:p>
        </p:txBody>
      </p:sp>
      <p:sp>
        <p:nvSpPr>
          <p:cNvPr id="13" name="Shape 11"/>
          <p:cNvSpPr/>
          <p:nvPr/>
        </p:nvSpPr>
        <p:spPr>
          <a:xfrm>
            <a:off x="6519672" y="2057400"/>
            <a:ext cx="5257800" cy="0"/>
          </a:xfrm>
          <a:prstGeom prst="line">
            <a:avLst/>
          </a:prstGeom>
          <a:noFill/>
          <a:ln w="19050">
            <a:solidFill>
              <a:srgbClr val="4F6F52"/>
            </a:solidFill>
            <a:prstDash val="solid"/>
          </a:ln>
        </p:spPr>
      </p:sp>
      <p:sp>
        <p:nvSpPr>
          <p:cNvPr id="14" name="Text 12"/>
          <p:cNvSpPr/>
          <p:nvPr/>
        </p:nvSpPr>
        <p:spPr>
          <a:xfrm>
            <a:off x="6519672" y="2194560"/>
            <a:ext cx="5257800" cy="14173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同样的场景，另一位CIM组长小李回应：「老赵，你们这个需求挺重要的，实验片的Q-Time要求肯定比较特殊。你在我们的需求系统里提一个单，描述一下实验片的批次规格和过滤条件，我们评估一下影响范围，争取这周内给你一个上线方案，这样你们也有保障。」</a:t>
            </a:r>
            <a:endParaRPr lang="en-US" sz="1200" dirty="0"/>
          </a:p>
        </p:txBody>
      </p:sp>
      <p:sp>
        <p:nvSpPr>
          <p:cNvPr id="15" name="Text 13"/>
          <p:cNvSpPr/>
          <p:nvPr/>
        </p:nvSpPr>
        <p:spPr>
          <a:xfrm>
            <a:off x="6519672" y="3685032"/>
            <a:ext cx="5257800" cy="274320"/>
          </a:xfrm>
          <a:prstGeom prst="rect">
            <a:avLst/>
          </a:prstGeom>
          <a:noFill/>
          <a:ln/>
        </p:spPr>
        <p:txBody>
          <a:bodyPr wrap="square" rtlCol="0" anchor="ctr"/>
          <a:lstStyle/>
          <a:p>
            <a:pPr indent="0" marL="0">
              <a:buNone/>
            </a:pPr>
            <a:r>
              <a:rPr lang="en-US" sz="1200" b="1" dirty="0">
                <a:solidFill>
                  <a:srgbClr val="4F6F52"/>
                </a:solidFill>
                <a:latin typeface="Calibri" pitchFamily="34" charset="0"/>
                <a:ea typeface="Calibri" pitchFamily="34" charset="-122"/>
                <a:cs typeface="Calibri" pitchFamily="34" charset="-120"/>
              </a:rPr>
              <a:t>结果：</a:t>
            </a:r>
            <a:endParaRPr lang="en-US" sz="1200" dirty="0"/>
          </a:p>
        </p:txBody>
      </p:sp>
      <p:sp>
        <p:nvSpPr>
          <p:cNvPr id="16" name="Text 14"/>
          <p:cNvSpPr/>
          <p:nvPr/>
        </p:nvSpPr>
        <p:spPr>
          <a:xfrm>
            <a:off x="6519672" y="3995928"/>
            <a:ext cx="5257800" cy="118872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两天后，需求单进来了。经过评审，发现这个「临时逻辑」实际上需要修改一个被七条产线共用的参数模块——如果当场答应直接改，停线概率极高。最终方案做了完整的隔离设计，平稳上线。</a:t>
            </a:r>
            <a:endParaRPr lang="en-US" sz="1200" dirty="0"/>
          </a:p>
        </p:txBody>
      </p:sp>
      <p:sp>
        <p:nvSpPr>
          <p:cNvPr id="17" name="Shape 15"/>
          <p:cNvSpPr/>
          <p:nvPr/>
        </p:nvSpPr>
        <p:spPr>
          <a:xfrm>
            <a:off x="548640" y="5989320"/>
            <a:ext cx="0" cy="347472"/>
          </a:xfrm>
          <a:prstGeom prst="line">
            <a:avLst/>
          </a:prstGeom>
          <a:noFill/>
          <a:ln w="38100">
            <a:solidFill>
              <a:srgbClr val="1B2A4A"/>
            </a:solidFill>
            <a:prstDash val="solid"/>
          </a:ln>
        </p:spPr>
      </p:sp>
      <p:sp>
        <p:nvSpPr>
          <p:cNvPr id="18" name="Text 16"/>
          <p:cNvSpPr/>
          <p:nvPr/>
        </p:nvSpPr>
        <p:spPr>
          <a:xfrm>
            <a:off x="777240" y="5989320"/>
            <a:ext cx="10424160" cy="347472"/>
          </a:xfrm>
          <a:prstGeom prst="rect">
            <a:avLst/>
          </a:prstGeom>
          <a:noFill/>
          <a:ln/>
        </p:spPr>
        <p:txBody>
          <a:bodyPr wrap="square" rtlCol="0" anchor="ctr"/>
          <a:lstStyle/>
          <a:p>
            <a:pPr indent="0" marL="0">
              <a:lnSpc>
                <a:spcPct val="120000"/>
              </a:lnSpc>
              <a:buNone/>
            </a:pPr>
            <a:r>
              <a:rPr lang="en-US" sz="1250" i="1" dirty="0">
                <a:solidFill>
                  <a:srgbClr val="1B2A4A"/>
                </a:solidFill>
                <a:latin typeface="Cambria" pitchFamily="34" charset="0"/>
                <a:ea typeface="Cambria" pitchFamily="34" charset="-122"/>
                <a:cs typeface="Cambria" pitchFamily="34" charset="-120"/>
              </a:rPr>
              <a:t>案例B的防火墙不是拒绝，而是把一个危险的口头承诺转化成了一个有安全保障的协作流程，同时维护了跨部门关系。</a:t>
            </a:r>
            <a:endParaRPr lang="en-US" sz="1250" dirty="0"/>
          </a:p>
        </p:txBody>
      </p:sp>
      <p:sp>
        <p:nvSpPr>
          <p:cNvPr id="19" name="Shape 17"/>
          <p:cNvSpPr/>
          <p:nvPr/>
        </p:nvSpPr>
        <p:spPr>
          <a:xfrm>
            <a:off x="548640" y="6446520"/>
            <a:ext cx="11091672" cy="0"/>
          </a:xfrm>
          <a:prstGeom prst="line">
            <a:avLst/>
          </a:prstGeom>
          <a:noFill/>
          <a:ln w="9525">
            <a:solidFill>
              <a:srgbClr val="C7CDDB"/>
            </a:solidFill>
            <a:prstDash val="solid"/>
          </a:ln>
        </p:spPr>
      </p:sp>
      <p:sp>
        <p:nvSpPr>
          <p:cNvPr id="20" name="Text 18"/>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案例对照一</a:t>
            </a:r>
            <a:endParaRPr lang="en-US" sz="900" dirty="0"/>
          </a:p>
        </p:txBody>
      </p:sp>
      <p:sp>
        <p:nvSpPr>
          <p:cNvPr id="21" name="Text 19"/>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提出</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流程化引导不是即兴发挥，是可以设计的话术结构</a:t>
            </a:r>
            <a:endParaRPr lang="en-US" sz="2700" dirty="0"/>
          </a:p>
        </p:txBody>
      </p:sp>
      <p:sp>
        <p:nvSpPr>
          <p:cNvPr id="6" name="Text 4"/>
          <p:cNvSpPr/>
          <p:nvPr/>
        </p:nvSpPr>
        <p:spPr>
          <a:xfrm>
            <a:off x="548640" y="1691640"/>
            <a:ext cx="10881360" cy="411480"/>
          </a:xfrm>
          <a:prstGeom prst="rect">
            <a:avLst/>
          </a:prstGeom>
          <a:noFill/>
          <a:ln/>
        </p:spPr>
        <p:txBody>
          <a:bodyPr wrap="square" rtlCol="0" anchor="ctr"/>
          <a:lstStyle/>
          <a:p>
            <a:pPr indent="0" marL="0">
              <a:buNone/>
            </a:pPr>
            <a:r>
              <a:rPr lang="en-US" sz="1300" dirty="0">
                <a:solidFill>
                  <a:srgbClr val="2B2F36"/>
                </a:solidFill>
                <a:latin typeface="Calibri" pitchFamily="34" charset="0"/>
                <a:ea typeface="Calibri" pitchFamily="34" charset="-122"/>
                <a:cs typeface="Calibri" pitchFamily="34" charset="-120"/>
              </a:rPr>
              <a:t>防火墙的执行需要一套固定的、可以被练习和内化的三步话术结构，每个步骤都有明确的功能：</a:t>
            </a:r>
            <a:endParaRPr lang="en-US" sz="1300" dirty="0"/>
          </a:p>
        </p:txBody>
      </p:sp>
      <p:sp>
        <p:nvSpPr>
          <p:cNvPr id="7" name="Text 5"/>
          <p:cNvSpPr/>
          <p:nvPr/>
        </p:nvSpPr>
        <p:spPr>
          <a:xfrm>
            <a:off x="548640" y="2240280"/>
            <a:ext cx="1051560" cy="256032"/>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第一步</a:t>
            </a:r>
            <a:endParaRPr lang="en-US" sz="1100" dirty="0"/>
          </a:p>
        </p:txBody>
      </p:sp>
      <p:sp>
        <p:nvSpPr>
          <p:cNvPr id="8" name="Text 6"/>
          <p:cNvSpPr/>
          <p:nvPr/>
        </p:nvSpPr>
        <p:spPr>
          <a:xfrm>
            <a:off x="1627632" y="2240280"/>
            <a:ext cx="9784080" cy="256032"/>
          </a:xfrm>
          <a:prstGeom prst="rect">
            <a:avLst/>
          </a:prstGeom>
          <a:noFill/>
          <a:ln/>
        </p:spPr>
        <p:txBody>
          <a:bodyPr wrap="square" rtlCol="0" anchor="ctr"/>
          <a:lstStyle/>
          <a:p>
            <a:pPr indent="0" marL="0">
              <a:buNone/>
            </a:pPr>
            <a:r>
              <a:rPr lang="en-US" sz="1200" b="1" dirty="0">
                <a:solidFill>
                  <a:srgbClr val="32436B"/>
                </a:solidFill>
                <a:latin typeface="Calibri" pitchFamily="34" charset="0"/>
                <a:ea typeface="Calibri" pitchFamily="34" charset="-122"/>
                <a:cs typeface="Calibri" pitchFamily="34" charset="-120"/>
              </a:rPr>
              <a:t>确认需求的真实性和重要性（建立共情，避免「被拒绝」感）</a:t>
            </a:r>
            <a:endParaRPr lang="en-US" sz="1200" dirty="0"/>
          </a:p>
        </p:txBody>
      </p:sp>
      <p:sp>
        <p:nvSpPr>
          <p:cNvPr id="9" name="Text 7"/>
          <p:cNvSpPr/>
          <p:nvPr/>
        </p:nvSpPr>
        <p:spPr>
          <a:xfrm>
            <a:off x="548640" y="2532888"/>
            <a:ext cx="10881360" cy="320040"/>
          </a:xfrm>
          <a:prstGeom prst="rect">
            <a:avLst/>
          </a:prstGeom>
          <a:noFill/>
          <a:ln/>
        </p:spPr>
        <p:txBody>
          <a:bodyPr wrap="square" rtlCol="0" anchor="ctr"/>
          <a:lstStyle/>
          <a:p>
            <a:pPr indent="0" marL="0">
              <a:buNone/>
            </a:pPr>
            <a:r>
              <a:rPr lang="en-US" sz="1100" i="1" dirty="0">
                <a:solidFill>
                  <a:srgbClr val="1B2A4A"/>
                </a:solidFill>
                <a:latin typeface="Cambria" pitchFamily="34" charset="0"/>
                <a:ea typeface="Cambria" pitchFamily="34" charset="-122"/>
                <a:cs typeface="Cambria" pitchFamily="34" charset="-120"/>
              </a:rPr>
              <a:t>示例：「你们这个需求确实重要，实验片的批次管理如果出问题，影响会很大。」</a:t>
            </a:r>
            <a:endParaRPr lang="en-US" sz="1100" dirty="0"/>
          </a:p>
        </p:txBody>
      </p:sp>
      <p:sp>
        <p:nvSpPr>
          <p:cNvPr id="10" name="Text 8"/>
          <p:cNvSpPr/>
          <p:nvPr/>
        </p:nvSpPr>
        <p:spPr>
          <a:xfrm>
            <a:off x="548640" y="2862072"/>
            <a:ext cx="10881360" cy="256032"/>
          </a:xfrm>
          <a:prstGeom prst="rect">
            <a:avLst/>
          </a:prstGeom>
          <a:noFill/>
          <a:ln/>
        </p:spPr>
        <p:txBody>
          <a:bodyPr wrap="square" rtlCol="0" anchor="ctr"/>
          <a:lstStyle/>
          <a:p>
            <a:pPr indent="0" marL="0">
              <a:buNone/>
            </a:pPr>
            <a:r>
              <a:rPr lang="en-US" sz="1080" dirty="0">
                <a:solidFill>
                  <a:srgbClr val="5B6270"/>
                </a:solidFill>
                <a:latin typeface="Calibri" pitchFamily="34" charset="0"/>
                <a:ea typeface="Calibri" pitchFamily="34" charset="-122"/>
                <a:cs typeface="Calibri" pitchFamily="34" charset="-120"/>
              </a:rPr>
              <a:t>目的：让对方感知到「CIM团队理解我的问题，不是在推诿」。</a:t>
            </a:r>
            <a:endParaRPr lang="en-US" sz="1080" dirty="0"/>
          </a:p>
        </p:txBody>
      </p:sp>
      <p:sp>
        <p:nvSpPr>
          <p:cNvPr id="11" name="Text 9"/>
          <p:cNvSpPr/>
          <p:nvPr/>
        </p:nvSpPr>
        <p:spPr>
          <a:xfrm>
            <a:off x="548640" y="3291840"/>
            <a:ext cx="1051560" cy="256032"/>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第二步</a:t>
            </a:r>
            <a:endParaRPr lang="en-US" sz="1100" dirty="0"/>
          </a:p>
        </p:txBody>
      </p:sp>
      <p:sp>
        <p:nvSpPr>
          <p:cNvPr id="12" name="Text 10"/>
          <p:cNvSpPr/>
          <p:nvPr/>
        </p:nvSpPr>
        <p:spPr>
          <a:xfrm>
            <a:off x="1627632" y="3291840"/>
            <a:ext cx="9784080" cy="256032"/>
          </a:xfrm>
          <a:prstGeom prst="rect">
            <a:avLst/>
          </a:prstGeom>
          <a:noFill/>
          <a:ln/>
        </p:spPr>
        <p:txBody>
          <a:bodyPr wrap="square" rtlCol="0" anchor="ctr"/>
          <a:lstStyle/>
          <a:p>
            <a:pPr indent="0" marL="0">
              <a:buNone/>
            </a:pPr>
            <a:r>
              <a:rPr lang="en-US" sz="1200" b="1" dirty="0">
                <a:solidFill>
                  <a:srgbClr val="32436B"/>
                </a:solidFill>
                <a:latin typeface="Calibri" pitchFamily="34" charset="0"/>
                <a:ea typeface="Calibri" pitchFamily="34" charset="-122"/>
                <a:cs typeface="Calibri" pitchFamily="34" charset="-120"/>
              </a:rPr>
              <a:t>说明流程的目的是「确保你的需求被安全实现」（把流程从障碍变成服务）</a:t>
            </a:r>
            <a:endParaRPr lang="en-US" sz="1200" dirty="0"/>
          </a:p>
        </p:txBody>
      </p:sp>
      <p:sp>
        <p:nvSpPr>
          <p:cNvPr id="13" name="Text 11"/>
          <p:cNvSpPr/>
          <p:nvPr/>
        </p:nvSpPr>
        <p:spPr>
          <a:xfrm>
            <a:off x="548640" y="3584448"/>
            <a:ext cx="10881360" cy="320040"/>
          </a:xfrm>
          <a:prstGeom prst="rect">
            <a:avLst/>
          </a:prstGeom>
          <a:noFill/>
          <a:ln/>
        </p:spPr>
        <p:txBody>
          <a:bodyPr wrap="square" rtlCol="0" anchor="ctr"/>
          <a:lstStyle/>
          <a:p>
            <a:pPr indent="0" marL="0">
              <a:buNone/>
            </a:pPr>
            <a:r>
              <a:rPr lang="en-US" sz="1100" i="1" dirty="0">
                <a:solidFill>
                  <a:srgbClr val="1B2A4A"/>
                </a:solidFill>
                <a:latin typeface="Cambria" pitchFamily="34" charset="0"/>
                <a:ea typeface="Cambria" pitchFamily="34" charset="-122"/>
                <a:cs typeface="Cambria" pitchFamily="34" charset="-120"/>
              </a:rPr>
              <a:t>示例：「我们走一个正式的流程，是为了评估这个改动会不会影响其他产线——这样你们才有保障。」</a:t>
            </a:r>
            <a:endParaRPr lang="en-US" sz="1100" dirty="0"/>
          </a:p>
        </p:txBody>
      </p:sp>
      <p:sp>
        <p:nvSpPr>
          <p:cNvPr id="14" name="Text 12"/>
          <p:cNvSpPr/>
          <p:nvPr/>
        </p:nvSpPr>
        <p:spPr>
          <a:xfrm>
            <a:off x="548640" y="3913632"/>
            <a:ext cx="10881360" cy="256032"/>
          </a:xfrm>
          <a:prstGeom prst="rect">
            <a:avLst/>
          </a:prstGeom>
          <a:noFill/>
          <a:ln/>
        </p:spPr>
        <p:txBody>
          <a:bodyPr wrap="square" rtlCol="0" anchor="ctr"/>
          <a:lstStyle/>
          <a:p>
            <a:pPr indent="0" marL="0">
              <a:buNone/>
            </a:pPr>
            <a:r>
              <a:rPr lang="en-US" sz="1080" dirty="0">
                <a:solidFill>
                  <a:srgbClr val="5B6270"/>
                </a:solidFill>
                <a:latin typeface="Calibri" pitchFamily="34" charset="0"/>
                <a:ea typeface="Calibri" pitchFamily="34" charset="-122"/>
                <a:cs typeface="Calibri" pitchFamily="34" charset="-120"/>
              </a:rPr>
              <a:t>目的：让对方感知到「走流程是对他有利的」。</a:t>
            </a:r>
            <a:endParaRPr lang="en-US" sz="1080" dirty="0"/>
          </a:p>
        </p:txBody>
      </p:sp>
      <p:sp>
        <p:nvSpPr>
          <p:cNvPr id="15" name="Text 13"/>
          <p:cNvSpPr/>
          <p:nvPr/>
        </p:nvSpPr>
        <p:spPr>
          <a:xfrm>
            <a:off x="548640" y="4343400"/>
            <a:ext cx="1051560" cy="256032"/>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第三步</a:t>
            </a:r>
            <a:endParaRPr lang="en-US" sz="1100" dirty="0"/>
          </a:p>
        </p:txBody>
      </p:sp>
      <p:sp>
        <p:nvSpPr>
          <p:cNvPr id="16" name="Text 14"/>
          <p:cNvSpPr/>
          <p:nvPr/>
        </p:nvSpPr>
        <p:spPr>
          <a:xfrm>
            <a:off x="1627632" y="4343400"/>
            <a:ext cx="9784080" cy="256032"/>
          </a:xfrm>
          <a:prstGeom prst="rect">
            <a:avLst/>
          </a:prstGeom>
          <a:noFill/>
          <a:ln/>
        </p:spPr>
        <p:txBody>
          <a:bodyPr wrap="square" rtlCol="0" anchor="ctr"/>
          <a:lstStyle/>
          <a:p>
            <a:pPr indent="0" marL="0">
              <a:buNone/>
            </a:pPr>
            <a:r>
              <a:rPr lang="en-US" sz="1200" b="1" dirty="0">
                <a:solidFill>
                  <a:srgbClr val="32436B"/>
                </a:solidFill>
                <a:latin typeface="Calibri" pitchFamily="34" charset="0"/>
                <a:ea typeface="Calibri" pitchFamily="34" charset="-122"/>
                <a:cs typeface="Calibri" pitchFamily="34" charset="-120"/>
              </a:rPr>
              <a:t>给出具体的行动指引和时间承诺（让对方看到明确的下一步）</a:t>
            </a:r>
            <a:endParaRPr lang="en-US" sz="1200" dirty="0"/>
          </a:p>
        </p:txBody>
      </p:sp>
      <p:sp>
        <p:nvSpPr>
          <p:cNvPr id="17" name="Text 15"/>
          <p:cNvSpPr/>
          <p:nvPr/>
        </p:nvSpPr>
        <p:spPr>
          <a:xfrm>
            <a:off x="548640" y="4636008"/>
            <a:ext cx="10881360" cy="320040"/>
          </a:xfrm>
          <a:prstGeom prst="rect">
            <a:avLst/>
          </a:prstGeom>
          <a:noFill/>
          <a:ln/>
        </p:spPr>
        <p:txBody>
          <a:bodyPr wrap="square" rtlCol="0" anchor="ctr"/>
          <a:lstStyle/>
          <a:p>
            <a:pPr indent="0" marL="0">
              <a:buNone/>
            </a:pPr>
            <a:r>
              <a:rPr lang="en-US" sz="1100" i="1" dirty="0">
                <a:solidFill>
                  <a:srgbClr val="1B2A4A"/>
                </a:solidFill>
                <a:latin typeface="Cambria" pitchFamily="34" charset="0"/>
                <a:ea typeface="Cambria" pitchFamily="34" charset="-122"/>
                <a:cs typeface="Cambria" pitchFamily="34" charset="-120"/>
              </a:rPr>
              <a:t>示例：「你在我们的系统里提一个需求单，我们承诺48小时内给你评估结果和上线时间。」</a:t>
            </a:r>
            <a:endParaRPr lang="en-US" sz="1100" dirty="0"/>
          </a:p>
        </p:txBody>
      </p:sp>
      <p:sp>
        <p:nvSpPr>
          <p:cNvPr id="18" name="Text 16"/>
          <p:cNvSpPr/>
          <p:nvPr/>
        </p:nvSpPr>
        <p:spPr>
          <a:xfrm>
            <a:off x="548640" y="4965192"/>
            <a:ext cx="10881360" cy="256032"/>
          </a:xfrm>
          <a:prstGeom prst="rect">
            <a:avLst/>
          </a:prstGeom>
          <a:noFill/>
          <a:ln/>
        </p:spPr>
        <p:txBody>
          <a:bodyPr wrap="square" rtlCol="0" anchor="ctr"/>
          <a:lstStyle/>
          <a:p>
            <a:pPr indent="0" marL="0">
              <a:buNone/>
            </a:pPr>
            <a:r>
              <a:rPr lang="en-US" sz="1080" dirty="0">
                <a:solidFill>
                  <a:srgbClr val="5B6270"/>
                </a:solidFill>
                <a:latin typeface="Calibri" pitchFamily="34" charset="0"/>
                <a:ea typeface="Calibri" pitchFamily="34" charset="-122"/>
                <a:cs typeface="Calibri" pitchFamily="34" charset="-120"/>
              </a:rPr>
              <a:t>目的：消除「走流程就是拖延」的顾虑，让对方知道这件事不会石沉大海。</a:t>
            </a:r>
            <a:endParaRPr lang="en-US" sz="1080" dirty="0"/>
          </a:p>
        </p:txBody>
      </p:sp>
      <p:sp>
        <p:nvSpPr>
          <p:cNvPr id="19" name="Shape 17"/>
          <p:cNvSpPr/>
          <p:nvPr/>
        </p:nvSpPr>
        <p:spPr>
          <a:xfrm>
            <a:off x="548640" y="5440680"/>
            <a:ext cx="10881360" cy="0"/>
          </a:xfrm>
          <a:prstGeom prst="line">
            <a:avLst/>
          </a:prstGeom>
          <a:noFill/>
          <a:ln w="12700">
            <a:solidFill>
              <a:srgbClr val="E3E7EF"/>
            </a:solidFill>
            <a:prstDash val="solid"/>
          </a:ln>
        </p:spPr>
      </p:sp>
      <p:sp>
        <p:nvSpPr>
          <p:cNvPr id="20" name="Text 18"/>
          <p:cNvSpPr/>
          <p:nvPr/>
        </p:nvSpPr>
        <p:spPr>
          <a:xfrm>
            <a:off x="548640" y="5532120"/>
            <a:ext cx="10881360" cy="320040"/>
          </a:xfrm>
          <a:prstGeom prst="rect">
            <a:avLst/>
          </a:prstGeom>
          <a:noFill/>
          <a:ln/>
        </p:spPr>
        <p:txBody>
          <a:bodyPr wrap="square" rtlCol="0" anchor="ctr"/>
          <a:lstStyle/>
          <a:p>
            <a:pPr indent="0" marL="0">
              <a:buNone/>
            </a:pPr>
            <a:r>
              <a:rPr lang="en-US" sz="1200" i="1" dirty="0">
                <a:solidFill>
                  <a:srgbClr val="9C5536"/>
                </a:solidFill>
                <a:latin typeface="Calibri" pitchFamily="34" charset="0"/>
                <a:ea typeface="Calibri" pitchFamily="34" charset="-122"/>
                <a:cs typeface="Calibri" pitchFamily="34" charset="-120"/>
              </a:rPr>
              <a:t>三步结构合并执行，整个对话不超过一分钟，但完成了「确认需求→解释流程→给出路径」的完整闭环。</a:t>
            </a:r>
            <a:endParaRPr lang="en-US" sz="1200" dirty="0"/>
          </a:p>
        </p:txBody>
      </p:sp>
      <p:sp>
        <p:nvSpPr>
          <p:cNvPr id="21" name="Shape 19"/>
          <p:cNvSpPr/>
          <p:nvPr/>
        </p:nvSpPr>
        <p:spPr>
          <a:xfrm>
            <a:off x="548640" y="6446520"/>
            <a:ext cx="11091672" cy="0"/>
          </a:xfrm>
          <a:prstGeom prst="line">
            <a:avLst/>
          </a:prstGeom>
          <a:noFill/>
          <a:ln w="9525">
            <a:solidFill>
              <a:srgbClr val="C7CDDB"/>
            </a:solidFill>
            <a:prstDash val="solid"/>
          </a:ln>
        </p:spPr>
      </p:sp>
      <p:sp>
        <p:nvSpPr>
          <p:cNvPr id="22" name="Text 20"/>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提出</a:t>
            </a:r>
            <a:endParaRPr lang="en-US" sz="900" dirty="0"/>
          </a:p>
        </p:txBody>
      </p:sp>
      <p:sp>
        <p:nvSpPr>
          <p:cNvPr id="23" name="Text 21"/>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理论框架二 · 边界与反例</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三步话术的两种退化形式</a:t>
            </a:r>
            <a:endParaRPr lang="en-US" sz="2700" dirty="0"/>
          </a:p>
        </p:txBody>
      </p:sp>
      <p:sp>
        <p:nvSpPr>
          <p:cNvPr id="6" name="Text 4"/>
          <p:cNvSpPr/>
          <p:nvPr/>
        </p:nvSpPr>
        <p:spPr>
          <a:xfrm>
            <a:off x="548640" y="16916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〔反例一〕</a:t>
            </a:r>
            <a:endParaRPr lang="en-US" sz="1100" dirty="0"/>
          </a:p>
        </p:txBody>
      </p:sp>
      <p:sp>
        <p:nvSpPr>
          <p:cNvPr id="7" name="Text 5"/>
          <p:cNvSpPr/>
          <p:nvPr/>
        </p:nvSpPr>
        <p:spPr>
          <a:xfrm>
            <a:off x="548640" y="19842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第一步做过头——过度道歉和过度理解</a:t>
            </a:r>
            <a:endParaRPr lang="en-US" sz="1450" dirty="0"/>
          </a:p>
        </p:txBody>
      </p:sp>
      <p:sp>
        <p:nvSpPr>
          <p:cNvPr id="8" name="Text 6"/>
          <p:cNvSpPr/>
          <p:nvPr/>
        </p:nvSpPr>
        <p:spPr>
          <a:xfrm>
            <a:off x="548640" y="2368296"/>
            <a:ext cx="10881360" cy="9601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如果在第一步花太多时间表达「我完全理解你的痛苦」，对方会误以为「你理解我，所以应该帮我跳过流程」，从而在进入第二步时产生更强烈的落差感。第一步的正确执行是「简洁地确认，不超过两句话」，而不是铺垫得越详细越好——过度共情在这个场景中会成为一个信号误导。</a:t>
            </a:r>
            <a:endParaRPr lang="en-US" sz="125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〔反例二〕</a:t>
            </a:r>
            <a:endParaRPr lang="en-US" sz="1100" dirty="0"/>
          </a:p>
        </p:txBody>
      </p:sp>
      <p:sp>
        <p:nvSpPr>
          <p:cNvPr id="10" name="Text 8"/>
          <p:cNvSpPr/>
          <p:nvPr/>
        </p:nvSpPr>
        <p:spPr>
          <a:xfrm>
            <a:off x="548640" y="3813048"/>
            <a:ext cx="10881360" cy="365760"/>
          </a:xfrm>
          <a:prstGeom prst="rect">
            <a:avLst/>
          </a:prstGeom>
          <a:noFill/>
          <a:ln/>
        </p:spPr>
        <p:txBody>
          <a:bodyPr wrap="square" rtlCol="0" anchor="ctr"/>
          <a:lstStyle/>
          <a:p>
            <a:pPr indent="0" marL="0">
              <a:buNone/>
            </a:pPr>
            <a:r>
              <a:rPr lang="en-US" sz="1450" b="1" dirty="0">
                <a:solidFill>
                  <a:srgbClr val="32436B"/>
                </a:solidFill>
                <a:latin typeface="Calibri" pitchFamily="34" charset="0"/>
                <a:ea typeface="Calibri" pitchFamily="34" charset="-122"/>
                <a:cs typeface="Calibri" pitchFamily="34" charset="-120"/>
              </a:rPr>
              <a:t>第三步没有明确时间承诺——让「走流程」变成「遥遥无期」</a:t>
            </a:r>
            <a:endParaRPr lang="en-US" sz="1450" dirty="0"/>
          </a:p>
        </p:txBody>
      </p:sp>
      <p:sp>
        <p:nvSpPr>
          <p:cNvPr id="11" name="Text 9"/>
          <p:cNvSpPr/>
          <p:nvPr/>
        </p:nvSpPr>
        <p:spPr>
          <a:xfrm>
            <a:off x="548640" y="4197096"/>
            <a:ext cx="10881360" cy="96012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如果第三步只说「你在系统里提一个单」而没有给出「多少时间内我们会回复」，对方会感觉「这个需求进了流程就消失了，走流程等于不做」。这种感知会直接破坏防火墙的可持续性——对方下次会直接绕过流程，找更高级别的管理者施压。时间承诺是三步话术中最容易被忽略、但影响最大的要素。</a:t>
            </a:r>
            <a:endParaRPr lang="en-US" sz="1250" dirty="0"/>
          </a:p>
        </p:txBody>
      </p:sp>
      <p:sp>
        <p:nvSpPr>
          <p:cNvPr id="12" name="Shape 10"/>
          <p:cNvSpPr/>
          <p:nvPr/>
        </p:nvSpPr>
        <p:spPr>
          <a:xfrm>
            <a:off x="548640" y="5394960"/>
            <a:ext cx="0" cy="1051560"/>
          </a:xfrm>
          <a:prstGeom prst="line">
            <a:avLst/>
          </a:prstGeom>
          <a:noFill/>
          <a:ln w="38100">
            <a:solidFill>
              <a:srgbClr val="9C5536"/>
            </a:solidFill>
            <a:prstDash val="solid"/>
          </a:ln>
        </p:spPr>
      </p:sp>
      <p:sp>
        <p:nvSpPr>
          <p:cNvPr id="13" name="Text 11"/>
          <p:cNvSpPr/>
          <p:nvPr/>
        </p:nvSpPr>
        <p:spPr>
          <a:xfrm>
            <a:off x="777240" y="5394960"/>
            <a:ext cx="274320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边界条件总结</a:t>
            </a:r>
            <a:endParaRPr lang="en-US" sz="1100" dirty="0"/>
          </a:p>
        </p:txBody>
      </p:sp>
      <p:sp>
        <p:nvSpPr>
          <p:cNvPr id="14" name="Text 12"/>
          <p:cNvSpPr/>
          <p:nvPr/>
        </p:nvSpPr>
        <p:spPr>
          <a:xfrm>
            <a:off x="777240" y="5696712"/>
            <a:ext cx="10424160" cy="777240"/>
          </a:xfrm>
          <a:prstGeom prst="rect">
            <a:avLst/>
          </a:prstGeom>
          <a:noFill/>
          <a:ln/>
        </p:spPr>
        <p:txBody>
          <a:bodyPr wrap="square" rtlCol="0" anchor="ctr"/>
          <a:lstStyle/>
          <a:p>
            <a:pPr indent="0" marL="0">
              <a:lnSpc>
                <a:spcPct val="128000"/>
              </a:lnSpc>
              <a:buNone/>
            </a:pPr>
            <a:r>
              <a:rPr lang="en-US" sz="1300" i="1" dirty="0">
                <a:solidFill>
                  <a:srgbClr val="1B2A4A"/>
                </a:solidFill>
                <a:latin typeface="Cambria" pitchFamily="34" charset="0"/>
                <a:ea typeface="Cambria" pitchFamily="34" charset="-122"/>
                <a:cs typeface="Cambria" pitchFamily="34" charset="-120"/>
              </a:rPr>
              <a:t>三步话术有效的前提是每一步都准确执行——任何一步的缺失或变形都会破坏整体效果。特别是第三步的时间承诺，是维系跨部门信任的关键。没有时间承诺的流程引导，在对方看来等同于拒绝。</a:t>
            </a:r>
            <a:endParaRPr lang="en-US" sz="1300" dirty="0"/>
          </a:p>
        </p:txBody>
      </p:sp>
      <p:sp>
        <p:nvSpPr>
          <p:cNvPr id="15" name="Shape 13"/>
          <p:cNvSpPr/>
          <p:nvPr/>
        </p:nvSpPr>
        <p:spPr>
          <a:xfrm>
            <a:off x="548640" y="6446520"/>
            <a:ext cx="11091672" cy="0"/>
          </a:xfrm>
          <a:prstGeom prst="line">
            <a:avLst/>
          </a:prstGeom>
          <a:noFill/>
          <a:ln w="9525">
            <a:solidFill>
              <a:srgbClr val="C7CDDB"/>
            </a:solidFill>
            <a:prstDash val="solid"/>
          </a:ln>
        </p:spPr>
      </p:sp>
      <p:sp>
        <p:nvSpPr>
          <p:cNvPr id="16" name="Text 14"/>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理论框架二 · 边界与反例</a:t>
            </a:r>
            <a:endParaRPr lang="en-US" sz="900" dirty="0"/>
          </a:p>
        </p:txBody>
      </p:sp>
      <p:sp>
        <p:nvSpPr>
          <p:cNvPr id="17" name="Text 15"/>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二（三步话术实际应用）</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高难度场景下三步话术的完整展开</a:t>
            </a:r>
            <a:endParaRPr lang="en-US" sz="2700" dirty="0"/>
          </a:p>
        </p:txBody>
      </p:sp>
      <p:sp>
        <p:nvSpPr>
          <p:cNvPr id="6" name="Text 4"/>
          <p:cNvSpPr/>
          <p:nvPr/>
        </p:nvSpPr>
        <p:spPr>
          <a:xfrm>
            <a:off x="548640" y="1691640"/>
            <a:ext cx="10881360" cy="841248"/>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场景：工艺总监张总在生产例会结束后截住了CIM组长，说：「你们那个APC参数推送逻辑，上次那批片子的参数偏了，我们工艺那边分析是你们推送的参数有问题。你帮我看一下，顺手改一改。」</a:t>
            </a:r>
            <a:endParaRPr lang="en-US" sz="1250" dirty="0"/>
          </a:p>
        </p:txBody>
      </p:sp>
      <p:sp>
        <p:nvSpPr>
          <p:cNvPr id="7" name="Text 5"/>
          <p:cNvSpPr/>
          <p:nvPr/>
        </p:nvSpPr>
        <p:spPr>
          <a:xfrm>
            <a:off x="548640" y="2606040"/>
            <a:ext cx="10881360" cy="384048"/>
          </a:xfrm>
          <a:prstGeom prst="rect">
            <a:avLst/>
          </a:prstGeom>
          <a:noFill/>
          <a:ln/>
        </p:spPr>
        <p:txBody>
          <a:bodyPr wrap="square" rtlCol="0" anchor="ctr"/>
          <a:lstStyle/>
          <a:p>
            <a:pPr indent="0" marL="0">
              <a:buNone/>
            </a:pPr>
            <a:r>
              <a:rPr lang="en-US" sz="1150" i="1" dirty="0">
                <a:solidFill>
                  <a:srgbClr val="5B6270"/>
                </a:solidFill>
                <a:latin typeface="Calibri" pitchFamily="34" charset="0"/>
                <a:ea typeface="Calibri" pitchFamily="34" charset="-122"/>
                <a:cs typeface="Calibri" pitchFamily="34" charset="-120"/>
              </a:rPr>
              <a:t>场景特殊压力：提出者是工艺总监（级别高于CIM组长），措辞中包含对CIM系统的指责，同时仍然是口头需求。这是防火墙最难执行的场景之一。</a:t>
            </a:r>
            <a:endParaRPr lang="en-US" sz="1150" dirty="0"/>
          </a:p>
        </p:txBody>
      </p:sp>
      <p:sp>
        <p:nvSpPr>
          <p:cNvPr id="8" name="Text 6"/>
          <p:cNvSpPr/>
          <p:nvPr/>
        </p:nvSpPr>
        <p:spPr>
          <a:xfrm>
            <a:off x="548640" y="3127248"/>
            <a:ext cx="1051560" cy="822960"/>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第一步</a:t>
            </a:r>
            <a:endParaRPr lang="en-US" sz="1150" dirty="0"/>
          </a:p>
        </p:txBody>
      </p:sp>
      <p:sp>
        <p:nvSpPr>
          <p:cNvPr id="9" name="Text 7"/>
          <p:cNvSpPr/>
          <p:nvPr/>
        </p:nvSpPr>
        <p:spPr>
          <a:xfrm>
            <a:off x="1627632" y="3127248"/>
            <a:ext cx="9784080" cy="82296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「张总，APC参数推送的准确性确实是核心问题，如果参数偏移对那批片子有影响，我们一定要搞清楚根因。」——确认了需求的真实性，同时没有在还不知道真正原因的情况下认错。</a:t>
            </a:r>
            <a:endParaRPr lang="en-US" sz="1200" dirty="0"/>
          </a:p>
        </p:txBody>
      </p:sp>
      <p:sp>
        <p:nvSpPr>
          <p:cNvPr id="10" name="Text 8"/>
          <p:cNvSpPr/>
          <p:nvPr/>
        </p:nvSpPr>
        <p:spPr>
          <a:xfrm>
            <a:off x="548640" y="4041648"/>
            <a:ext cx="1051560" cy="822960"/>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第二步</a:t>
            </a:r>
            <a:endParaRPr lang="en-US" sz="1150" dirty="0"/>
          </a:p>
        </p:txBody>
      </p:sp>
      <p:sp>
        <p:nvSpPr>
          <p:cNvPr id="11" name="Text 9"/>
          <p:cNvSpPr/>
          <p:nvPr/>
        </p:nvSpPr>
        <p:spPr>
          <a:xfrm>
            <a:off x="1627632" y="4041648"/>
            <a:ext cx="9784080" cy="82296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APC参数推送涉及多个工艺腔室的联动，我们需要先调出那批片子的参数推送日志，和工艺模型做对比，才能确认问题出在哪个环节——如果直接改，可能改错地方。」——把走流程的原因从「规定」变成「为了找到真正的问题」，用技术理由保护了流程的必要性。</a:t>
            </a:r>
            <a:endParaRPr lang="en-US" sz="1200" dirty="0"/>
          </a:p>
        </p:txBody>
      </p:sp>
      <p:sp>
        <p:nvSpPr>
          <p:cNvPr id="12" name="Text 10"/>
          <p:cNvSpPr/>
          <p:nvPr/>
        </p:nvSpPr>
        <p:spPr>
          <a:xfrm>
            <a:off x="548640" y="4956048"/>
            <a:ext cx="1051560" cy="822960"/>
          </a:xfrm>
          <a:prstGeom prst="rect">
            <a:avLst/>
          </a:prstGeom>
          <a:noFill/>
          <a:ln/>
        </p:spPr>
        <p:txBody>
          <a:bodyPr wrap="square" rtlCol="0" anchor="ctr"/>
          <a:lstStyle/>
          <a:p>
            <a:pPr indent="0" marL="0">
              <a:buNone/>
            </a:pPr>
            <a:r>
              <a:rPr lang="en-US" sz="1150" b="1" dirty="0">
                <a:solidFill>
                  <a:srgbClr val="9C5536"/>
                </a:solidFill>
                <a:latin typeface="Calibri" pitchFamily="34" charset="0"/>
                <a:ea typeface="Calibri" pitchFamily="34" charset="-122"/>
                <a:cs typeface="Calibri" pitchFamily="34" charset="-120"/>
              </a:rPr>
              <a:t>第三步</a:t>
            </a:r>
            <a:endParaRPr lang="en-US" sz="1150" dirty="0"/>
          </a:p>
        </p:txBody>
      </p:sp>
      <p:sp>
        <p:nvSpPr>
          <p:cNvPr id="13" name="Text 11"/>
          <p:cNvSpPr/>
          <p:nvPr/>
        </p:nvSpPr>
        <p:spPr>
          <a:xfrm>
            <a:off x="1627632" y="4956048"/>
            <a:ext cx="9784080" cy="82296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这样，你们工艺那边把那批片子的具体工艺参数期望值和实际值发给我，我们今天内调出推送日志做对比，明天下午给你一个完整的分析报告，再讨论是否需要修改推送逻辑。」——给出了具体的下一步动作，时间承诺精确到「明天下午」。</a:t>
            </a:r>
            <a:endParaRPr lang="en-US" sz="1200" dirty="0"/>
          </a:p>
        </p:txBody>
      </p:sp>
      <p:sp>
        <p:nvSpPr>
          <p:cNvPr id="14" name="Shape 12"/>
          <p:cNvSpPr/>
          <p:nvPr/>
        </p:nvSpPr>
        <p:spPr>
          <a:xfrm>
            <a:off x="548640" y="5943600"/>
            <a:ext cx="10881360" cy="0"/>
          </a:xfrm>
          <a:prstGeom prst="line">
            <a:avLst/>
          </a:prstGeom>
          <a:noFill/>
          <a:ln w="12700">
            <a:solidFill>
              <a:srgbClr val="E3E7EF"/>
            </a:solidFill>
            <a:prstDash val="solid"/>
          </a:ln>
        </p:spPr>
      </p:sp>
      <p:sp>
        <p:nvSpPr>
          <p:cNvPr id="15" name="Text 13"/>
          <p:cNvSpPr/>
          <p:nvPr/>
        </p:nvSpPr>
        <p:spPr>
          <a:xfrm>
            <a:off x="548640" y="6035040"/>
            <a:ext cx="10881360" cy="292608"/>
          </a:xfrm>
          <a:prstGeom prst="rect">
            <a:avLst/>
          </a:prstGeom>
          <a:noFill/>
          <a:ln/>
        </p:spPr>
        <p:txBody>
          <a:bodyPr wrap="square" rtlCol="0" anchor="ctr"/>
          <a:lstStyle/>
          <a:p>
            <a:pPr indent="0" marL="0">
              <a:buNone/>
            </a:pPr>
            <a:r>
              <a:rPr lang="en-US" sz="1200" i="1" dirty="0">
                <a:solidFill>
                  <a:srgbClr val="9C5536"/>
                </a:solidFill>
                <a:latin typeface="Calibri" pitchFamily="34" charset="0"/>
                <a:ea typeface="Calibri" pitchFamily="34" charset="-122"/>
                <a:cs typeface="Calibri" pitchFamily="34" charset="-120"/>
              </a:rPr>
              <a:t>即使面对更高级别的跨部门主管，三步话术仍然可以在不拒绝、不认错、不直接修改的前提下，完成防火墙的功能。</a:t>
            </a:r>
            <a:endParaRPr lang="en-US" sz="1200" dirty="0"/>
          </a:p>
        </p:txBody>
      </p:sp>
      <p:sp>
        <p:nvSpPr>
          <p:cNvPr id="16" name="Shape 14"/>
          <p:cNvSpPr/>
          <p:nvPr/>
        </p:nvSpPr>
        <p:spPr>
          <a:xfrm>
            <a:off x="548640" y="6446520"/>
            <a:ext cx="11091672" cy="0"/>
          </a:xfrm>
          <a:prstGeom prst="line">
            <a:avLst/>
          </a:prstGeom>
          <a:noFill/>
          <a:ln w="9525">
            <a:solidFill>
              <a:srgbClr val="C7CDDB"/>
            </a:solidFill>
            <a:prstDash val="solid"/>
          </a:ln>
        </p:spPr>
      </p:sp>
      <p:sp>
        <p:nvSpPr>
          <p:cNvPr id="17" name="Text 15"/>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案例对照二 · 三步话术实际应用</a:t>
            </a:r>
            <a:endParaRPr lang="en-US" sz="9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案例对照 · 三（防火墙边界场景）</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当「高管说了算」时，防火墙如何应对</a:t>
            </a:r>
            <a:endParaRPr lang="en-US" sz="2700" dirty="0"/>
          </a:p>
        </p:txBody>
      </p:sp>
      <p:sp>
        <p:nvSpPr>
          <p:cNvPr id="6" name="Text 4"/>
          <p:cNvSpPr/>
          <p:nvPr/>
        </p:nvSpPr>
        <p:spPr>
          <a:xfrm>
            <a:off x="548640" y="1691640"/>
            <a:ext cx="10881360" cy="530352"/>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场景：CIM组长小陈在执行防火墙三步话术之后，对方Fab厂长说：「我已经和你们总监说过了，总监同意了，你直接做就好。」</a:t>
            </a:r>
            <a:endParaRPr lang="en-US" sz="1250" dirty="0"/>
          </a:p>
        </p:txBody>
      </p:sp>
      <p:sp>
        <p:nvSpPr>
          <p:cNvPr id="7" name="Text 5"/>
          <p:cNvSpPr/>
          <p:nvPr/>
        </p:nvSpPr>
        <p:spPr>
          <a:xfrm>
            <a:off x="548640" y="2331720"/>
            <a:ext cx="10881360" cy="320040"/>
          </a:xfrm>
          <a:prstGeom prst="rect">
            <a:avLst/>
          </a:prstGeom>
          <a:noFill/>
          <a:ln/>
        </p:spPr>
        <p:txBody>
          <a:bodyPr wrap="square" rtlCol="0" anchor="ctr"/>
          <a:lstStyle/>
          <a:p>
            <a:pPr indent="0" marL="0">
              <a:buNone/>
            </a:pPr>
            <a:r>
              <a:rPr lang="en-US" sz="1280" b="1" dirty="0">
                <a:solidFill>
                  <a:srgbClr val="32436B"/>
                </a:solidFill>
                <a:latin typeface="Calibri" pitchFamily="34" charset="0"/>
                <a:ea typeface="Calibri" pitchFamily="34" charset="-122"/>
                <a:cs typeface="Calibri" pitchFamily="34" charset="-120"/>
              </a:rPr>
              <a:t>这个场景需要区分两种不同的情况：</a:t>
            </a:r>
            <a:endParaRPr lang="en-US" sz="1280" dirty="0"/>
          </a:p>
        </p:txBody>
      </p:sp>
      <p:sp>
        <p:nvSpPr>
          <p:cNvPr id="8" name="Text 6"/>
          <p:cNvSpPr/>
          <p:nvPr/>
        </p:nvSpPr>
        <p:spPr>
          <a:xfrm>
            <a:off x="548640" y="2761488"/>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〔情况一〕</a:t>
            </a:r>
            <a:endParaRPr lang="en-US" sz="1100" dirty="0"/>
          </a:p>
        </p:txBody>
      </p:sp>
      <p:sp>
        <p:nvSpPr>
          <p:cNvPr id="9" name="Text 7"/>
          <p:cNvSpPr/>
          <p:nvPr/>
        </p:nvSpPr>
        <p:spPr>
          <a:xfrm>
            <a:off x="548640" y="3054096"/>
            <a:ext cx="10881360" cy="347472"/>
          </a:xfrm>
          <a:prstGeom prst="rect">
            <a:avLst/>
          </a:prstGeom>
          <a:noFill/>
          <a:ln/>
        </p:spPr>
        <p:txBody>
          <a:bodyPr wrap="square" rtlCol="0" anchor="ctr"/>
          <a:lstStyle/>
          <a:p>
            <a:pPr indent="0" marL="0">
              <a:buNone/>
            </a:pPr>
            <a:r>
              <a:rPr lang="en-US" sz="1350" b="1" dirty="0">
                <a:solidFill>
                  <a:srgbClr val="32436B"/>
                </a:solidFill>
                <a:latin typeface="Calibri" pitchFamily="34" charset="0"/>
                <a:ea typeface="Calibri" pitchFamily="34" charset="-122"/>
                <a:cs typeface="Calibri" pitchFamily="34" charset="-120"/>
              </a:rPr>
              <a:t>总监真的已经知情并批准（需要确认，不能假设）</a:t>
            </a:r>
            <a:endParaRPr lang="en-US" sz="1350" dirty="0"/>
          </a:p>
        </p:txBody>
      </p:sp>
      <p:sp>
        <p:nvSpPr>
          <p:cNvPr id="10" name="Text 8"/>
          <p:cNvSpPr/>
          <p:nvPr/>
        </p:nvSpPr>
        <p:spPr>
          <a:xfrm>
            <a:off x="548640" y="3419856"/>
            <a:ext cx="10881360" cy="91440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正确应对：「好的，我先和总监确认一下具体的需求范围和上线时间要求，确认后我们马上走评审，今天内给你回复。」——接受了总监的权威，但没有跳过评审步骤，只是把总监批准作为「优先级提升」的依据，而不是「跳过流程」的依据。</a:t>
            </a:r>
            <a:endParaRPr lang="en-US" sz="1200" dirty="0"/>
          </a:p>
        </p:txBody>
      </p:sp>
      <p:sp>
        <p:nvSpPr>
          <p:cNvPr id="11" name="Text 9"/>
          <p:cNvSpPr/>
          <p:nvPr/>
        </p:nvSpPr>
        <p:spPr>
          <a:xfrm>
            <a:off x="548640" y="4517136"/>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〔情况二〕</a:t>
            </a:r>
            <a:endParaRPr lang="en-US" sz="1100" dirty="0"/>
          </a:p>
        </p:txBody>
      </p:sp>
      <p:sp>
        <p:nvSpPr>
          <p:cNvPr id="12" name="Text 10"/>
          <p:cNvSpPr/>
          <p:nvPr/>
        </p:nvSpPr>
        <p:spPr>
          <a:xfrm>
            <a:off x="548640" y="4809744"/>
            <a:ext cx="10881360" cy="347472"/>
          </a:xfrm>
          <a:prstGeom prst="rect">
            <a:avLst/>
          </a:prstGeom>
          <a:noFill/>
          <a:ln/>
        </p:spPr>
        <p:txBody>
          <a:bodyPr wrap="square" rtlCol="0" anchor="ctr"/>
          <a:lstStyle/>
          <a:p>
            <a:pPr indent="0" marL="0">
              <a:buNone/>
            </a:pPr>
            <a:r>
              <a:rPr lang="en-US" sz="1350" b="1" dirty="0">
                <a:solidFill>
                  <a:srgbClr val="32436B"/>
                </a:solidFill>
                <a:latin typeface="Calibri" pitchFamily="34" charset="0"/>
                <a:ea typeface="Calibri" pitchFamily="34" charset="-122"/>
                <a:cs typeface="Calibri" pitchFamily="34" charset="-120"/>
              </a:rPr>
              <a:t>对方是在用「总监同意了」来施压，而总监实际上只是泛泛地说了「帮他们看看」</a:t>
            </a:r>
            <a:endParaRPr lang="en-US" sz="1350" dirty="0"/>
          </a:p>
        </p:txBody>
      </p:sp>
      <p:sp>
        <p:nvSpPr>
          <p:cNvPr id="13" name="Text 11"/>
          <p:cNvSpPr/>
          <p:nvPr/>
        </p:nvSpPr>
        <p:spPr>
          <a:xfrm>
            <a:off x="548640" y="5175504"/>
            <a:ext cx="10881360" cy="914400"/>
          </a:xfrm>
          <a:prstGeom prst="rect">
            <a:avLst/>
          </a:prstGeom>
          <a:noFill/>
          <a:ln/>
        </p:spPr>
        <p:txBody>
          <a:bodyPr wrap="square" rtlCol="0" anchor="ctr"/>
          <a:lstStyle/>
          <a:p>
            <a:pPr indent="0" marL="0">
              <a:lnSpc>
                <a:spcPct val="128000"/>
              </a:lnSpc>
              <a:buNone/>
            </a:pPr>
            <a:r>
              <a:rPr lang="en-US" sz="1200" dirty="0">
                <a:solidFill>
                  <a:srgbClr val="2B2F36"/>
                </a:solidFill>
                <a:latin typeface="Calibri" pitchFamily="34" charset="0"/>
                <a:ea typeface="Calibri" pitchFamily="34" charset="-122"/>
                <a:cs typeface="Calibri" pitchFamily="34" charset="-120"/>
              </a:rPr>
              <a:t>正确应对：同上。先去确认总监的实际意图，而不是直接质疑对方，也不是直接答应。确认的动作本身是合理的，不是在不信任对方——任何人面对模糊的授权，都应该先确认边界。</a:t>
            </a:r>
            <a:endParaRPr lang="en-US" sz="1200" dirty="0"/>
          </a:p>
        </p:txBody>
      </p:sp>
      <p:sp>
        <p:nvSpPr>
          <p:cNvPr id="14" name="Shape 12"/>
          <p:cNvSpPr/>
          <p:nvPr/>
        </p:nvSpPr>
        <p:spPr>
          <a:xfrm>
            <a:off x="548640" y="6318504"/>
            <a:ext cx="0" cy="685800"/>
          </a:xfrm>
          <a:prstGeom prst="line">
            <a:avLst/>
          </a:prstGeom>
          <a:noFill/>
          <a:ln w="38100">
            <a:solidFill>
              <a:srgbClr val="1B2A4A"/>
            </a:solidFill>
            <a:prstDash val="solid"/>
          </a:ln>
        </p:spPr>
      </p:sp>
      <p:sp>
        <p:nvSpPr>
          <p:cNvPr id="15" name="Text 13"/>
          <p:cNvSpPr/>
          <p:nvPr/>
        </p:nvSpPr>
        <p:spPr>
          <a:xfrm>
            <a:off x="777240" y="6318504"/>
            <a:ext cx="10424160" cy="685800"/>
          </a:xfrm>
          <a:prstGeom prst="rect">
            <a:avLst/>
          </a:prstGeom>
          <a:noFill/>
          <a:ln/>
        </p:spPr>
        <p:txBody>
          <a:bodyPr wrap="square" rtlCol="0" anchor="ctr"/>
          <a:lstStyle/>
          <a:p>
            <a:pPr indent="0" marL="0">
              <a:lnSpc>
                <a:spcPct val="125000"/>
              </a:lnSpc>
              <a:buNone/>
            </a:pPr>
            <a:r>
              <a:rPr lang="en-US" sz="1250" i="1" dirty="0">
                <a:solidFill>
                  <a:srgbClr val="1B2A4A"/>
                </a:solidFill>
                <a:latin typeface="Cambria" pitchFamily="34" charset="0"/>
                <a:ea typeface="Cambria" pitchFamily="34" charset="-122"/>
                <a:cs typeface="Cambria" pitchFamily="34" charset="-120"/>
              </a:rPr>
              <a:t>关键认知：任何管理层级的口头批准，都不能替代技术评审步骤，但可以合理地提升需求的优先级和响应速度。防火墙不是在和任何人的权威对抗，而是在保护「让需求安全可执行」的必要处理步骤不被绕过。</a:t>
            </a:r>
            <a:endParaRPr lang="en-US" sz="1250" dirty="0"/>
          </a:p>
        </p:txBody>
      </p:sp>
      <p:sp>
        <p:nvSpPr>
          <p:cNvPr id="16" name="Shape 14"/>
          <p:cNvSpPr/>
          <p:nvPr/>
        </p:nvSpPr>
        <p:spPr>
          <a:xfrm>
            <a:off x="548640" y="6446520"/>
            <a:ext cx="11091672" cy="0"/>
          </a:xfrm>
          <a:prstGeom prst="line">
            <a:avLst/>
          </a:prstGeom>
          <a:noFill/>
          <a:ln w="9525">
            <a:solidFill>
              <a:srgbClr val="C7CDDB"/>
            </a:solidFill>
            <a:prstDash val="solid"/>
          </a:ln>
        </p:spPr>
      </p:sp>
      <p:sp>
        <p:nvSpPr>
          <p:cNvPr id="17" name="Text 15"/>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案例对照三 · 防火墙边界场景</a:t>
            </a:r>
            <a:endParaRPr lang="en-US" sz="9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防火墙实践中最常见的认知误区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〔误区一〕</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「走廊改动不是大事，我能控制」</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用「我能控制」替代了「系统能安全处理」。个人能力的自信和系统安全性是两个不同维度的判断。一名技术能力很强的主管，可以在技术上正确地实现一个口头需求，但他无法在走廊的一分钟内完成优先级排序、资源影响评估、回归测试设计和回滚预案制定。即使他很快实现了需求，他绕过的那些步骤所指向的风险（对其他模块的影响、与其他变更的冲突）仍然存在，只是被暂时掩盖了。「我能控制」的自信，是对口头需求危险性最常见的低估来源。</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〔误区二〕</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「这个需求就这一次，以后不会有了」</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忽略了口头需求的自我繁殖机制。一旦主管答应了一次口头需求，这件事会在提出者的社交网络中传播——「CIM组长可以走后门的，直接找他说就行了」。每一次口头答应，都在向所有潜在的需求提出者发出一个信号：「不走流程也可以」。这个信号会指数级地增加未来的口头需求频率——这不是对人品的评价，而是对行为激励机制的描述。</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上</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常见认知误区 · 之二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防火墙实践中最常见的认知误区</a:t>
            </a:r>
            <a:endParaRPr lang="en-US" sz="2700" dirty="0"/>
          </a:p>
        </p:txBody>
      </p:sp>
      <p:sp>
        <p:nvSpPr>
          <p:cNvPr id="6" name="Text 4"/>
          <p:cNvSpPr/>
          <p:nvPr/>
        </p:nvSpPr>
        <p:spPr>
          <a:xfrm>
            <a:off x="548640" y="166420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〔误区三〕</a:t>
            </a:r>
            <a:endParaRPr lang="en-US" sz="1100" dirty="0"/>
          </a:p>
        </p:txBody>
      </p:sp>
      <p:sp>
        <p:nvSpPr>
          <p:cNvPr id="7" name="Text 5"/>
          <p:cNvSpPr/>
          <p:nvPr/>
        </p:nvSpPr>
        <p:spPr>
          <a:xfrm>
            <a:off x="548640" y="1975104"/>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「设了流程，但对方根本不提单，怎么办」</a:t>
            </a:r>
            <a:endParaRPr lang="en-US" sz="1400" dirty="0"/>
          </a:p>
        </p:txBody>
      </p:sp>
      <p:sp>
        <p:nvSpPr>
          <p:cNvPr id="8" name="Text 6"/>
          <p:cNvSpPr/>
          <p:nvPr/>
        </p:nvSpPr>
        <p:spPr>
          <a:xfrm>
            <a:off x="548640" y="2505456"/>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9" name="Text 7"/>
          <p:cNvSpPr/>
          <p:nvPr/>
        </p:nvSpPr>
        <p:spPr>
          <a:xfrm>
            <a:off x="548640" y="2798064"/>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把「对方不遵守流程」归因于流程本身的问题，但通常真正的原因是「提单的成本太高，或者提单后的响应太慢」。如果需求提交流程繁琐、评估周期过长、结果反馈模糊，即使有意愿走流程的人也会放弃。防火墙的设计不只包括拒绝口头需求，还包括让合规的需求通道变得足够顺畅——「走流程」应该比「走后门」更快、更有保障，而不是更麻烦、更不确定。</a:t>
            </a:r>
            <a:endParaRPr lang="en-US" sz="1200" dirty="0"/>
          </a:p>
        </p:txBody>
      </p:sp>
      <p:sp>
        <p:nvSpPr>
          <p:cNvPr id="10" name="Text 8"/>
          <p:cNvSpPr/>
          <p:nvPr/>
        </p:nvSpPr>
        <p:spPr>
          <a:xfrm>
            <a:off x="548640" y="42062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〔误区四〕</a:t>
            </a:r>
            <a:endParaRPr lang="en-US" sz="1100" dirty="0"/>
          </a:p>
        </p:txBody>
      </p:sp>
      <p:sp>
        <p:nvSpPr>
          <p:cNvPr id="11" name="Text 9"/>
          <p:cNvSpPr/>
          <p:nvPr/>
        </p:nvSpPr>
        <p:spPr>
          <a:xfrm>
            <a:off x="548640" y="4517136"/>
            <a:ext cx="10881360" cy="502920"/>
          </a:xfrm>
          <a:prstGeom prst="rect">
            <a:avLst/>
          </a:prstGeom>
          <a:noFill/>
          <a:ln/>
        </p:spPr>
        <p:txBody>
          <a:bodyPr wrap="square" rtlCol="0" anchor="ctr"/>
          <a:lstStyle/>
          <a:p>
            <a:pPr indent="0" marL="0">
              <a:lnSpc>
                <a:spcPct val="115000"/>
              </a:lnSpc>
              <a:buNone/>
            </a:pPr>
            <a:r>
              <a:rPr lang="en-US" sz="1400" b="1" i="1" dirty="0">
                <a:solidFill>
                  <a:srgbClr val="1B2A4A"/>
                </a:solidFill>
                <a:latin typeface="Cambria" pitchFamily="34" charset="0"/>
                <a:ea typeface="Cambria" pitchFamily="34" charset="-122"/>
                <a:cs typeface="Cambria" pitchFamily="34" charset="-120"/>
              </a:rPr>
              <a:t>「防火墙会破坏我和跨部门同事的关系」</a:t>
            </a:r>
            <a:endParaRPr lang="en-US" sz="1400" dirty="0"/>
          </a:p>
        </p:txBody>
      </p:sp>
      <p:sp>
        <p:nvSpPr>
          <p:cNvPr id="12" name="Text 10"/>
          <p:cNvSpPr/>
          <p:nvPr/>
        </p:nvSpPr>
        <p:spPr>
          <a:xfrm>
            <a:off x="548640" y="5047488"/>
            <a:ext cx="1828800" cy="274320"/>
          </a:xfrm>
          <a:prstGeom prst="rect">
            <a:avLst/>
          </a:prstGeom>
          <a:noFill/>
          <a:ln/>
        </p:spPr>
        <p:txBody>
          <a:bodyPr wrap="square" rtlCol="0" anchor="ctr"/>
          <a:lstStyle/>
          <a:p>
            <a:pPr indent="0" marL="0">
              <a:buNone/>
            </a:pPr>
            <a:r>
              <a:rPr lang="en-US" sz="1150" b="1" dirty="0">
                <a:solidFill>
                  <a:srgbClr val="32436B"/>
                </a:solidFill>
                <a:latin typeface="Calibri" pitchFamily="34" charset="0"/>
                <a:ea typeface="Calibri" pitchFamily="34" charset="-122"/>
                <a:cs typeface="Calibri" pitchFamily="34" charset="-120"/>
              </a:rPr>
              <a:t>错误根源：</a:t>
            </a:r>
            <a:endParaRPr lang="en-US" sz="1150" dirty="0"/>
          </a:p>
        </p:txBody>
      </p:sp>
      <p:sp>
        <p:nvSpPr>
          <p:cNvPr id="13" name="Text 11"/>
          <p:cNvSpPr/>
          <p:nvPr/>
        </p:nvSpPr>
        <p:spPr>
          <a:xfrm>
            <a:off x="548640" y="5340096"/>
            <a:ext cx="10881360" cy="1234440"/>
          </a:xfrm>
          <a:prstGeom prst="rect">
            <a:avLst/>
          </a:prstGeom>
          <a:noFill/>
          <a:ln/>
        </p:spPr>
        <p:txBody>
          <a:bodyPr wrap="square" rtlCol="0" anchor="ctr"/>
          <a:lstStyle/>
          <a:p>
            <a:pPr indent="0" marL="0">
              <a:lnSpc>
                <a:spcPct val="125000"/>
              </a:lnSpc>
              <a:buNone/>
            </a:pPr>
            <a:r>
              <a:rPr lang="en-US" sz="1200" dirty="0">
                <a:solidFill>
                  <a:srgbClr val="2B2F36"/>
                </a:solidFill>
                <a:latin typeface="Calibri" pitchFamily="34" charset="0"/>
                <a:ea typeface="Calibri" pitchFamily="34" charset="-122"/>
                <a:cs typeface="Calibri" pitchFamily="34" charset="-120"/>
              </a:rPr>
              <a:t>这种认知混淆了「短期舒适感」和「长期协作质量」。答应口头需求在短期会让对方满意，但一旦因此导致系统问题，双方关系会遭受远比「要求走流程」更大的破坏——因为出了问题，责任归属不清，双方都会有委屈。「防火墙破坏关系」的担忧，通常是因为防火墙的执行方式是「直接拒绝」而非「流程化引导」；一旦用三步话术执行，对方感知到的是「CIM团队很专业」，而不是「被拒绝了」。</a:t>
            </a:r>
            <a:endParaRPr lang="en-US" sz="1200" dirty="0"/>
          </a:p>
        </p:txBody>
      </p:sp>
      <p:sp>
        <p:nvSpPr>
          <p:cNvPr id="14" name="Shape 12"/>
          <p:cNvSpPr/>
          <p:nvPr/>
        </p:nvSpPr>
        <p:spPr>
          <a:xfrm>
            <a:off x="548640" y="6446520"/>
            <a:ext cx="11091672" cy="0"/>
          </a:xfrm>
          <a:prstGeom prst="line">
            <a:avLst/>
          </a:prstGeom>
          <a:noFill/>
          <a:ln w="9525">
            <a:solidFill>
              <a:srgbClr val="C7CDDB"/>
            </a:solidFill>
            <a:prstDash val="solid"/>
          </a:ln>
        </p:spPr>
      </p:sp>
      <p:sp>
        <p:nvSpPr>
          <p:cNvPr id="15" name="Text 13"/>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常见认知误区 · 下</a:t>
            </a:r>
            <a:endParaRPr lang="en-US" sz="900" dirty="0"/>
          </a:p>
        </p:txBody>
      </p:sp>
      <p:sp>
        <p:nvSpPr>
          <p:cNvPr id="16" name="Text 14"/>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为什么不设防火墙的团队会被非计划工作淹没</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需求通胀（Scope Creep）与范围蔓延</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〔核心现象〕</a:t>
            </a:r>
            <a:endParaRPr lang="en-US" sz="1100" dirty="0"/>
          </a:p>
        </p:txBody>
      </p:sp>
      <p:sp>
        <p:nvSpPr>
          <p:cNvPr id="8" name="Text 6"/>
          <p:cNvSpPr/>
          <p:nvPr/>
        </p:nvSpPr>
        <p:spPr>
          <a:xfrm>
            <a:off x="548640" y="2240280"/>
            <a:ext cx="10881360" cy="1024128"/>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需求通胀是项目管理领域一个被广泛记录的现象：当一个团队的工作范围缺乏明确的边界管理机制时，工作范围会在不知不觉中持续扩张，直到超过团队的实际处理能力。这种扩张不是因为有人蓄意破坏计划，而是因为每一个单独的小需求在提出时看起来都是合理的和微小的，「顺手改一下」在没有防火墙的情况下，几乎每次都会被答应。</a:t>
            </a:r>
            <a:endParaRPr lang="en-US" sz="1250" dirty="0"/>
          </a:p>
        </p:txBody>
      </p:sp>
      <p:sp>
        <p:nvSpPr>
          <p:cNvPr id="9" name="Text 7"/>
          <p:cNvSpPr/>
          <p:nvPr/>
        </p:nvSpPr>
        <p:spPr>
          <a:xfrm>
            <a:off x="548640" y="3355848"/>
            <a:ext cx="10881360" cy="320040"/>
          </a:xfrm>
          <a:prstGeom prst="rect">
            <a:avLst/>
          </a:prstGeom>
          <a:noFill/>
          <a:ln/>
        </p:spPr>
        <p:txBody>
          <a:bodyPr wrap="square" rtlCol="0" anchor="ctr"/>
          <a:lstStyle/>
          <a:p>
            <a:pPr indent="0" marL="0">
              <a:buNone/>
            </a:pPr>
            <a:r>
              <a:rPr lang="en-US" sz="1280" b="1" dirty="0">
                <a:solidFill>
                  <a:srgbClr val="32436B"/>
                </a:solidFill>
                <a:latin typeface="Calibri" pitchFamily="34" charset="0"/>
                <a:ea typeface="Calibri" pitchFamily="34" charset="-122"/>
                <a:cs typeface="Calibri" pitchFamily="34" charset="-120"/>
              </a:rPr>
              <a:t>在CIM团队的场景中，需求通胀有一个特有的放大效应：</a:t>
            </a:r>
            <a:endParaRPr lang="en-US" sz="1280" dirty="0"/>
          </a:p>
        </p:txBody>
      </p:sp>
      <p:sp>
        <p:nvSpPr>
          <p:cNvPr id="10" name="Text 8"/>
          <p:cNvSpPr/>
          <p:nvPr/>
        </p:nvSpPr>
        <p:spPr>
          <a:xfrm>
            <a:off x="548640" y="3703320"/>
            <a:ext cx="10881360" cy="987552"/>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CIM系统连接着工厂里几乎所有关键生产流程，这意味着每个制造组、工艺组、设备组都有理由向CIM团队提出需求。如果没有统一的防火墙机制，CIM团队会从每个协作方各自接收口头需求，而这些需求之间可能相互冲突，也可能共同消耗本应用于高优先级任务的资源，使真正重要的系统维护和升级无法按时完成。</a:t>
            </a:r>
            <a:endParaRPr lang="en-US" sz="1230" dirty="0"/>
          </a:p>
        </p:txBody>
      </p:sp>
      <p:sp>
        <p:nvSpPr>
          <p:cNvPr id="11" name="Shape 9"/>
          <p:cNvSpPr/>
          <p:nvPr/>
        </p:nvSpPr>
        <p:spPr>
          <a:xfrm>
            <a:off x="548640" y="4800600"/>
            <a:ext cx="0" cy="1298448"/>
          </a:xfrm>
          <a:prstGeom prst="line">
            <a:avLst/>
          </a:prstGeom>
          <a:noFill/>
          <a:ln w="38100">
            <a:solidFill>
              <a:srgbClr val="9C5536"/>
            </a:solidFill>
            <a:prstDash val="solid"/>
          </a:ln>
        </p:spPr>
      </p:sp>
      <p:sp>
        <p:nvSpPr>
          <p:cNvPr id="12" name="Text 10"/>
          <p:cNvSpPr/>
          <p:nvPr/>
        </p:nvSpPr>
        <p:spPr>
          <a:xfrm>
            <a:off x="777240" y="4800600"/>
            <a:ext cx="10424160" cy="1298448"/>
          </a:xfrm>
          <a:prstGeom prst="rect">
            <a:avLst/>
          </a:prstGeom>
          <a:noFill/>
          <a:ln/>
        </p:spPr>
        <p:txBody>
          <a:bodyPr wrap="square" rtlCol="0" anchor="ctr"/>
          <a:lstStyle/>
          <a:p>
            <a:pPr indent="0" marL="0">
              <a:lnSpc>
                <a:spcPct val="128000"/>
              </a:lnSpc>
              <a:buNone/>
            </a:pPr>
            <a:r>
              <a:rPr lang="en-US" sz="1250" i="1" dirty="0">
                <a:solidFill>
                  <a:srgbClr val="1B2A4A"/>
                </a:solidFill>
                <a:latin typeface="Cambria" pitchFamily="34" charset="0"/>
                <a:ea typeface="Cambria" pitchFamily="34" charset="-122"/>
                <a:cs typeface="Cambria" pitchFamily="34" charset="-120"/>
              </a:rPr>
              <a:t>研究表明，没有边界管理机制的技术支持团队，通常有30-50%的实际工时被未计划的、非正式渠道进来的需求所消耗。这部分工时不出现在任何计划表上，但它们对应的风险（未经测试的变更）会出现在停线记录上。</a:t>
            </a:r>
            <a:endParaRPr lang="en-US" sz="125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延伸视角一 · 需求通胀</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延伸视角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清晰的边界为什么是协作的基础，而不是障碍</a:t>
            </a:r>
            <a:endParaRPr lang="en-US" sz="2700" dirty="0"/>
          </a:p>
        </p:txBody>
      </p:sp>
      <p:sp>
        <p:nvSpPr>
          <p:cNvPr id="6" name="Text 4"/>
          <p:cNvSpPr/>
          <p:nvPr/>
        </p:nvSpPr>
        <p:spPr>
          <a:xfrm>
            <a:off x="548640" y="1481328"/>
            <a:ext cx="10881360" cy="320040"/>
          </a:xfrm>
          <a:prstGeom prst="rect">
            <a:avLst/>
          </a:prstGeom>
          <a:noFill/>
          <a:ln/>
        </p:spPr>
        <p:txBody>
          <a:bodyPr wrap="square" rtlCol="0" anchor="ctr"/>
          <a:lstStyle/>
          <a:p>
            <a:pPr indent="0" marL="0">
              <a:buNone/>
            </a:pPr>
            <a:r>
              <a:rPr lang="en-US" sz="1300" i="1" dirty="0">
                <a:solidFill>
                  <a:srgbClr val="5B6270"/>
                </a:solidFill>
                <a:latin typeface="Calibri" pitchFamily="34" charset="0"/>
                <a:ea typeface="Calibri" pitchFamily="34" charset="-122"/>
                <a:cs typeface="Calibri" pitchFamily="34" charset="-120"/>
              </a:rPr>
              <a:t>组织边界理论（Organizational Boundary Theory）</a:t>
            </a:r>
            <a:endParaRPr lang="en-US" sz="1300" dirty="0"/>
          </a:p>
        </p:txBody>
      </p:sp>
      <p:sp>
        <p:nvSpPr>
          <p:cNvPr id="7" name="Text 5"/>
          <p:cNvSpPr/>
          <p:nvPr/>
        </p:nvSpPr>
        <p:spPr>
          <a:xfrm>
            <a:off x="548640" y="1920240"/>
            <a:ext cx="2377440" cy="274320"/>
          </a:xfrm>
          <a:prstGeom prst="rect">
            <a:avLst/>
          </a:prstGeom>
          <a:noFill/>
          <a:ln/>
        </p:spPr>
        <p:txBody>
          <a:bodyPr wrap="square" rtlCol="0" anchor="ctr"/>
          <a:lstStyle/>
          <a:p>
            <a:pPr indent="0" marL="0">
              <a:buNone/>
            </a:pPr>
            <a:r>
              <a:rPr lang="en-US" sz="1100" b="1" dirty="0">
                <a:solidFill>
                  <a:srgbClr val="8A6D1F"/>
                </a:solidFill>
                <a:latin typeface="Calibri" pitchFamily="34" charset="0"/>
                <a:ea typeface="Calibri" pitchFamily="34" charset="-122"/>
                <a:cs typeface="Calibri" pitchFamily="34" charset="-120"/>
              </a:rPr>
              <a:t>〔反直觉洞察〕</a:t>
            </a:r>
            <a:endParaRPr lang="en-US" sz="1100" dirty="0"/>
          </a:p>
        </p:txBody>
      </p:sp>
      <p:sp>
        <p:nvSpPr>
          <p:cNvPr id="8" name="Text 6"/>
          <p:cNvSpPr/>
          <p:nvPr/>
        </p:nvSpPr>
        <p:spPr>
          <a:xfrm>
            <a:off x="548640" y="2240280"/>
            <a:ext cx="10881360" cy="1005840"/>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组织边界理论在研究跨部门协作时提出了一个反直觉的洞察：部门之间的边界越模糊，跨部门协作的摩擦往往越大，而不是越小。这是因为边界模糊导致了责任归属不清——当任何一方都可以随时越过边界提出任何要求时，没有人知道「这件事到底该谁负责、谁决策、谁承担后果」。</a:t>
            </a:r>
            <a:endParaRPr lang="en-US" sz="1250" dirty="0"/>
          </a:p>
        </p:txBody>
      </p:sp>
      <p:sp>
        <p:nvSpPr>
          <p:cNvPr id="9" name="Text 7"/>
          <p:cNvSpPr/>
          <p:nvPr/>
        </p:nvSpPr>
        <p:spPr>
          <a:xfrm>
            <a:off x="548640" y="3337560"/>
            <a:ext cx="10881360" cy="347472"/>
          </a:xfrm>
          <a:prstGeom prst="rect">
            <a:avLst/>
          </a:prstGeom>
          <a:noFill/>
          <a:ln/>
        </p:spPr>
        <p:txBody>
          <a:bodyPr wrap="square" rtlCol="0" anchor="ctr"/>
          <a:lstStyle/>
          <a:p>
            <a:pPr indent="0" marL="0">
              <a:buNone/>
            </a:pPr>
            <a:r>
              <a:rPr lang="en-US" sz="1280" b="1" dirty="0">
                <a:solidFill>
                  <a:srgbClr val="32436B"/>
                </a:solidFill>
                <a:latin typeface="Calibri" pitchFamily="34" charset="0"/>
                <a:ea typeface="Calibri" pitchFamily="34" charset="-122"/>
                <a:cs typeface="Calibri" pitchFamily="34" charset="-120"/>
              </a:rPr>
              <a:t>在CIM与制造/工艺/设备的协作关系中，防火墙机制实际上是在建立一个清晰的边界结构：</a:t>
            </a:r>
            <a:endParaRPr lang="en-US" sz="1280" dirty="0"/>
          </a:p>
        </p:txBody>
      </p:sp>
      <p:sp>
        <p:nvSpPr>
          <p:cNvPr id="10" name="Text 8"/>
          <p:cNvSpPr/>
          <p:nvPr/>
        </p:nvSpPr>
        <p:spPr>
          <a:xfrm>
            <a:off x="548640" y="3712464"/>
            <a:ext cx="10881360" cy="86868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需求的提出在制造侧，需求的评估和实现在CIM侧，需求进入CIM处理流程的入口是统一的需求提交渠道。这个边界结构清晰之后，双方的协作反而会变得更顺畅——因为双方都知道「用什么方式提需求」「提了之后会发生什么」「谁负责什么阶段」。</a:t>
            </a:r>
            <a:endParaRPr lang="en-US" sz="1230" dirty="0"/>
          </a:p>
        </p:txBody>
      </p:sp>
      <p:sp>
        <p:nvSpPr>
          <p:cNvPr id="11" name="Text 9"/>
          <p:cNvSpPr/>
          <p:nvPr/>
        </p:nvSpPr>
        <p:spPr>
          <a:xfrm>
            <a:off x="548640" y="4681728"/>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〔更深的定位〕</a:t>
            </a:r>
            <a:endParaRPr lang="en-US" sz="1100" dirty="0"/>
          </a:p>
        </p:txBody>
      </p:sp>
      <p:sp>
        <p:nvSpPr>
          <p:cNvPr id="12" name="Text 10"/>
          <p:cNvSpPr/>
          <p:nvPr/>
        </p:nvSpPr>
        <p:spPr>
          <a:xfrm>
            <a:off x="548640" y="4983480"/>
            <a:ext cx="10881360" cy="109728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防火墙不只是CIM团队保护自己的工具，更是整个跨部门协作系统中「需求处理流程」这一环节的边界定义工具。一个运作良好的防火墙，会让制造/工艺/设备团队感受到的是「CIM团队有专业的处理能力和清晰的承诺机制」，而不是「CIM团队不配合、设置障碍」。</a:t>
            </a:r>
            <a:endParaRPr lang="en-US" sz="123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延伸视角二 · 组织边界理论</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822960"/>
            <a:ext cx="0" cy="4937760"/>
          </a:xfrm>
          <a:prstGeom prst="line">
            <a:avLst/>
          </a:prstGeom>
          <a:noFill/>
          <a:ln w="19050">
            <a:solidFill>
              <a:srgbClr val="1B2A4A"/>
            </a:solidFill>
            <a:prstDash val="solid"/>
          </a:ln>
        </p:spPr>
      </p:sp>
      <p:sp>
        <p:nvSpPr>
          <p:cNvPr id="3" name="Text 1"/>
          <p:cNvSpPr/>
          <p:nvPr/>
        </p:nvSpPr>
        <p:spPr>
          <a:xfrm>
            <a:off x="1188720" y="502920"/>
            <a:ext cx="9144000" cy="365760"/>
          </a:xfrm>
          <a:prstGeom prst="rect">
            <a:avLst/>
          </a:prstGeom>
          <a:noFill/>
          <a:ln/>
        </p:spPr>
        <p:txBody>
          <a:bodyPr wrap="square" rtlCol="0" anchor="ctr"/>
          <a:lstStyle/>
          <a:p>
            <a:pPr indent="0" marL="0">
              <a:buNone/>
            </a:pPr>
            <a:r>
              <a:rPr lang="en-US" sz="1300" b="1" spc="150" kern="0" dirty="0">
                <a:solidFill>
                  <a:srgbClr val="32436B"/>
                </a:solidFill>
                <a:latin typeface="Calibri" pitchFamily="34" charset="0"/>
                <a:ea typeface="Calibri" pitchFamily="34" charset="-122"/>
                <a:cs typeface="Calibri" pitchFamily="34" charset="-120"/>
              </a:rPr>
              <a:t>总结与升华</a:t>
            </a:r>
            <a:endParaRPr lang="en-US" sz="1300" dirty="0"/>
          </a:p>
        </p:txBody>
      </p:sp>
      <p:sp>
        <p:nvSpPr>
          <p:cNvPr id="4" name="Text 2"/>
          <p:cNvSpPr/>
          <p:nvPr/>
        </p:nvSpPr>
        <p:spPr>
          <a:xfrm>
            <a:off x="1188720" y="914400"/>
            <a:ext cx="10058400" cy="685800"/>
          </a:xfrm>
          <a:prstGeom prst="rect">
            <a:avLst/>
          </a:prstGeom>
          <a:noFill/>
          <a:ln/>
        </p:spPr>
        <p:txBody>
          <a:bodyPr wrap="square" rtlCol="0" anchor="ctr"/>
          <a:lstStyle/>
          <a:p>
            <a:pPr indent="0" marL="0">
              <a:buNone/>
            </a:pPr>
            <a:r>
              <a:rPr lang="en-US" sz="3400" b="1" dirty="0">
                <a:solidFill>
                  <a:srgbClr val="1B2A4A"/>
                </a:solidFill>
                <a:latin typeface="Cambria" pitchFamily="34" charset="0"/>
                <a:ea typeface="Cambria" pitchFamily="34" charset="-122"/>
                <a:cs typeface="Cambria" pitchFamily="34" charset="-120"/>
              </a:rPr>
              <a:t>从拒绝到设计</a:t>
            </a:r>
            <a:endParaRPr lang="en-US" sz="3400" dirty="0"/>
          </a:p>
        </p:txBody>
      </p:sp>
      <p:sp>
        <p:nvSpPr>
          <p:cNvPr id="5" name="Text 3"/>
          <p:cNvSpPr/>
          <p:nvPr/>
        </p:nvSpPr>
        <p:spPr>
          <a:xfrm>
            <a:off x="1188720" y="1783080"/>
            <a:ext cx="9875520" cy="868680"/>
          </a:xfrm>
          <a:prstGeom prst="rect">
            <a:avLst/>
          </a:prstGeom>
          <a:noFill/>
          <a:ln/>
        </p:spPr>
        <p:txBody>
          <a:bodyPr wrap="square" rtlCol="0" anchor="ctr"/>
          <a:lstStyle/>
          <a:p>
            <a:pPr indent="0" marL="0">
              <a:lnSpc>
                <a:spcPct val="128000"/>
              </a:lnSpc>
              <a:buNone/>
            </a:pPr>
            <a:r>
              <a:rPr lang="en-US" sz="1300" dirty="0">
                <a:solidFill>
                  <a:srgbClr val="2B2F36"/>
                </a:solidFill>
                <a:latin typeface="Calibri" pitchFamily="34" charset="0"/>
                <a:ea typeface="Calibri" pitchFamily="34" charset="-122"/>
                <a:cs typeface="Calibri" pitchFamily="34" charset="-120"/>
              </a:rPr>
              <a:t>回到第2页提出的核心问题：在不破坏跨部门关系的前提下，如何挡住口头需求？现在可以给出完整的回答——这套能力建立在三层结构之上：</a:t>
            </a:r>
            <a:endParaRPr lang="en-US" sz="1300" dirty="0"/>
          </a:p>
        </p:txBody>
      </p:sp>
      <p:sp>
        <p:nvSpPr>
          <p:cNvPr id="6" name="Text 4"/>
          <p:cNvSpPr/>
          <p:nvPr/>
        </p:nvSpPr>
        <p:spPr>
          <a:xfrm>
            <a:off x="1188720" y="2788920"/>
            <a:ext cx="1188720" cy="45720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第一层</a:t>
            </a:r>
            <a:endParaRPr lang="en-US" sz="1300" dirty="0"/>
          </a:p>
        </p:txBody>
      </p:sp>
      <p:sp>
        <p:nvSpPr>
          <p:cNvPr id="7" name="Text 5"/>
          <p:cNvSpPr/>
          <p:nvPr/>
        </p:nvSpPr>
        <p:spPr>
          <a:xfrm>
            <a:off x="2377440" y="2788920"/>
            <a:ext cx="2377440" cy="45720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(需求的结构)</a:t>
            </a:r>
            <a:endParaRPr lang="en-US" sz="1300" dirty="0"/>
          </a:p>
        </p:txBody>
      </p:sp>
      <p:sp>
        <p:nvSpPr>
          <p:cNvPr id="8" name="Text 6"/>
          <p:cNvSpPr/>
          <p:nvPr/>
        </p:nvSpPr>
        <p:spPr>
          <a:xfrm>
            <a:off x="4800600" y="2807208"/>
            <a:ext cx="6263640" cy="59436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口头传递方式本身缺少让需求安全可执行所需的信息密度，必然绕过五个约束步骤——这是确定性的系统漏洞，不是概率性的风险</a:t>
            </a:r>
            <a:endParaRPr lang="en-US" sz="1200" dirty="0"/>
          </a:p>
        </p:txBody>
      </p:sp>
      <p:sp>
        <p:nvSpPr>
          <p:cNvPr id="9" name="Text 7"/>
          <p:cNvSpPr/>
          <p:nvPr/>
        </p:nvSpPr>
        <p:spPr>
          <a:xfrm>
            <a:off x="1188720" y="3474720"/>
            <a:ext cx="1188720" cy="45720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第二层</a:t>
            </a:r>
            <a:endParaRPr lang="en-US" sz="1300" dirty="0"/>
          </a:p>
        </p:txBody>
      </p:sp>
      <p:sp>
        <p:nvSpPr>
          <p:cNvPr id="10" name="Text 8"/>
          <p:cNvSpPr/>
          <p:nvPr/>
        </p:nvSpPr>
        <p:spPr>
          <a:xfrm>
            <a:off x="2377440" y="3474720"/>
            <a:ext cx="2377440" cy="45720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(防火墙的执行)</a:t>
            </a:r>
            <a:endParaRPr lang="en-US" sz="1300" dirty="0"/>
          </a:p>
        </p:txBody>
      </p:sp>
      <p:sp>
        <p:nvSpPr>
          <p:cNvPr id="11" name="Text 9"/>
          <p:cNvSpPr/>
          <p:nvPr/>
        </p:nvSpPr>
        <p:spPr>
          <a:xfrm>
            <a:off x="4800600" y="3493008"/>
            <a:ext cx="6263640" cy="59436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用三步话术把「拒绝」转化为「流程化引导」——确认需求真实性、解释流程对对方的价值、给出具体行动路径和时间承诺</a:t>
            </a:r>
            <a:endParaRPr lang="en-US" sz="1200" dirty="0"/>
          </a:p>
        </p:txBody>
      </p:sp>
      <p:sp>
        <p:nvSpPr>
          <p:cNvPr id="12" name="Text 10"/>
          <p:cNvSpPr/>
          <p:nvPr/>
        </p:nvSpPr>
        <p:spPr>
          <a:xfrm>
            <a:off x="1188720" y="4160520"/>
            <a:ext cx="1188720" cy="457200"/>
          </a:xfrm>
          <a:prstGeom prst="rect">
            <a:avLst/>
          </a:prstGeom>
          <a:noFill/>
          <a:ln/>
        </p:spPr>
        <p:txBody>
          <a:bodyPr wrap="square" rtlCol="0" anchor="ctr"/>
          <a:lstStyle/>
          <a:p>
            <a:pPr indent="0" marL="0">
              <a:buNone/>
            </a:pPr>
            <a:r>
              <a:rPr lang="en-US" sz="1300" b="1" i="1" dirty="0">
                <a:solidFill>
                  <a:srgbClr val="9C5536"/>
                </a:solidFill>
                <a:latin typeface="Cambria" pitchFamily="34" charset="0"/>
                <a:ea typeface="Cambria" pitchFamily="34" charset="-122"/>
                <a:cs typeface="Cambria" pitchFamily="34" charset="-120"/>
              </a:rPr>
              <a:t>第三层</a:t>
            </a:r>
            <a:endParaRPr lang="en-US" sz="1300" dirty="0"/>
          </a:p>
        </p:txBody>
      </p:sp>
      <p:sp>
        <p:nvSpPr>
          <p:cNvPr id="13" name="Text 11"/>
          <p:cNvSpPr/>
          <p:nvPr/>
        </p:nvSpPr>
        <p:spPr>
          <a:xfrm>
            <a:off x="2377440" y="4160520"/>
            <a:ext cx="2377440" cy="457200"/>
          </a:xfrm>
          <a:prstGeom prst="rect">
            <a:avLst/>
          </a:prstGeom>
          <a:noFill/>
          <a:ln/>
        </p:spPr>
        <p:txBody>
          <a:bodyPr wrap="square" rtlCol="0" anchor="ctr"/>
          <a:lstStyle/>
          <a:p>
            <a:pPr indent="0" marL="0">
              <a:buNone/>
            </a:pPr>
            <a:r>
              <a:rPr lang="en-US" sz="1300" b="1" dirty="0">
                <a:solidFill>
                  <a:srgbClr val="32436B"/>
                </a:solidFill>
                <a:latin typeface="Calibri" pitchFamily="34" charset="0"/>
                <a:ea typeface="Calibri" pitchFamily="34" charset="-122"/>
                <a:cs typeface="Calibri" pitchFamily="34" charset="-120"/>
              </a:rPr>
              <a:t>(边界的战略意义)</a:t>
            </a:r>
            <a:endParaRPr lang="en-US" sz="1300" dirty="0"/>
          </a:p>
        </p:txBody>
      </p:sp>
      <p:sp>
        <p:nvSpPr>
          <p:cNvPr id="14" name="Text 12"/>
          <p:cNvSpPr/>
          <p:nvPr/>
        </p:nvSpPr>
        <p:spPr>
          <a:xfrm>
            <a:off x="4800600" y="4178808"/>
            <a:ext cx="6263640" cy="594360"/>
          </a:xfrm>
          <a:prstGeom prst="rect">
            <a:avLst/>
          </a:prstGeom>
          <a:noFill/>
          <a:ln/>
        </p:spPr>
        <p:txBody>
          <a:bodyPr wrap="square" rtlCol="0" anchor="ctr"/>
          <a:lstStyle/>
          <a:p>
            <a:pPr indent="0" marL="0">
              <a:lnSpc>
                <a:spcPct val="120000"/>
              </a:lnSpc>
              <a:buNone/>
            </a:pPr>
            <a:r>
              <a:rPr lang="en-US" sz="1200" dirty="0">
                <a:solidFill>
                  <a:srgbClr val="2B2F36"/>
                </a:solidFill>
                <a:latin typeface="Calibri" pitchFamily="34" charset="0"/>
                <a:ea typeface="Calibri" pitchFamily="34" charset="-122"/>
                <a:cs typeface="Calibri" pitchFamily="34" charset="-120"/>
              </a:rPr>
              <a:t>防火墙不只是个人保护机制，而是整个跨部门协作系统的边界定义工具——清晰的需求处理边界，是高质量协作关系的基础</a:t>
            </a:r>
            <a:endParaRPr lang="en-US" sz="1200" dirty="0"/>
          </a:p>
        </p:txBody>
      </p:sp>
      <p:sp>
        <p:nvSpPr>
          <p:cNvPr id="15" name="Text 13"/>
          <p:cNvSpPr/>
          <p:nvPr/>
        </p:nvSpPr>
        <p:spPr>
          <a:xfrm>
            <a:off x="1188720" y="4937760"/>
            <a:ext cx="9875520" cy="658368"/>
          </a:xfrm>
          <a:prstGeom prst="rect">
            <a:avLst/>
          </a:prstGeom>
          <a:noFill/>
          <a:ln/>
        </p:spPr>
        <p:txBody>
          <a:bodyPr wrap="square" rtlCol="0" anchor="ctr"/>
          <a:lstStyle/>
          <a:p>
            <a:pPr indent="0" marL="0">
              <a:lnSpc>
                <a:spcPct val="128000"/>
              </a:lnSpc>
              <a:buNone/>
            </a:pPr>
            <a:r>
              <a:rPr lang="en-US" sz="1250" dirty="0">
                <a:solidFill>
                  <a:srgbClr val="2B2F36"/>
                </a:solidFill>
                <a:latin typeface="Calibri" pitchFamily="34" charset="0"/>
                <a:ea typeface="Calibri" pitchFamily="34" charset="-122"/>
                <a:cs typeface="Calibri" pitchFamily="34" charset="-120"/>
              </a:rPr>
              <a:t>防火墙的三步话术提供了一个让「不拒绝但不答应」成为可能的操作框架——这正是解答了「为什么知道该拒绝但还是做不到」这个问题的关键。</a:t>
            </a:r>
            <a:endParaRPr lang="en-US" sz="1250" dirty="0"/>
          </a:p>
        </p:txBody>
      </p:sp>
      <p:sp>
        <p:nvSpPr>
          <p:cNvPr id="16" name="Shape 14"/>
          <p:cNvSpPr/>
          <p:nvPr/>
        </p:nvSpPr>
        <p:spPr>
          <a:xfrm>
            <a:off x="1188720" y="5669280"/>
            <a:ext cx="3657600" cy="0"/>
          </a:xfrm>
          <a:prstGeom prst="line">
            <a:avLst/>
          </a:prstGeom>
          <a:noFill/>
          <a:ln w="12700">
            <a:solidFill>
              <a:srgbClr val="C7CDDB"/>
            </a:solidFill>
            <a:prstDash val="solid"/>
          </a:ln>
        </p:spPr>
      </p:sp>
      <p:sp>
        <p:nvSpPr>
          <p:cNvPr id="17" name="Text 15"/>
          <p:cNvSpPr/>
          <p:nvPr/>
        </p:nvSpPr>
        <p:spPr>
          <a:xfrm>
            <a:off x="1188720" y="5806440"/>
            <a:ext cx="9144000" cy="411480"/>
          </a:xfrm>
          <a:prstGeom prst="rect">
            <a:avLst/>
          </a:prstGeom>
          <a:noFill/>
          <a:ln/>
        </p:spPr>
        <p:txBody>
          <a:bodyPr wrap="square" rtlCol="0" anchor="ctr"/>
          <a:lstStyle/>
          <a:p>
            <a:pPr indent="0" marL="0">
              <a:buNone/>
            </a:pPr>
            <a:r>
              <a:rPr lang="en-US" sz="1600" b="1" i="1" dirty="0">
                <a:solidFill>
                  <a:srgbClr val="1B2A4A"/>
                </a:solidFill>
                <a:latin typeface="Cambria" pitchFamily="34" charset="0"/>
                <a:ea typeface="Cambria" pitchFamily="34" charset="-122"/>
                <a:cs typeface="Cambria" pitchFamily="34" charset="-120"/>
              </a:rPr>
              <a:t>挡住口头需求，是为了让所有需求都能被安全地实现。</a:t>
            </a:r>
            <a:endParaRPr lang="en-US" sz="1600" dirty="0"/>
          </a:p>
        </p:txBody>
      </p:sp>
      <p:sp>
        <p:nvSpPr>
          <p:cNvPr id="18" name="Text 16"/>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一</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请结合本讲内容，书面阐述你的判断</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请在课程结束后独立完成书面回答（每题150-300字），并于下次课程前提交。本练习不设标准答案，目的是呈现你对相关认知框架的理解方式。</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〔场景一〕</a:t>
            </a:r>
            <a:endParaRPr lang="en-US" sz="1100" dirty="0"/>
          </a:p>
        </p:txBody>
      </p:sp>
      <p:sp>
        <p:nvSpPr>
          <p:cNvPr id="8" name="Text 6"/>
          <p:cNvSpPr/>
          <p:nvPr/>
        </p:nvSpPr>
        <p:spPr>
          <a:xfrm>
            <a:off x="548640" y="24780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设备部一位工程师在系统群里发消息：「CIM那边，我们最近调了一台蚀刻机的Recipe参数，能不能帮我们在系统里把这台机台的参数范围也更新一下？就一行配置，很快的。」你会如何回应这条消息？请写出你的完整回应（可以用三步话术框架）。</a:t>
            </a:r>
            <a:endParaRPr lang="en-US" sz="1230" dirty="0"/>
          </a:p>
        </p:txBody>
      </p:sp>
      <p:sp>
        <p:nvSpPr>
          <p:cNvPr id="9" name="Text 7"/>
          <p:cNvSpPr/>
          <p:nvPr/>
        </p:nvSpPr>
        <p:spPr>
          <a:xfrm>
            <a:off x="548640" y="35204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〔场景二〕</a:t>
            </a:r>
            <a:endParaRPr lang="en-US" sz="1100" dirty="0"/>
          </a:p>
        </p:txBody>
      </p:sp>
      <p:sp>
        <p:nvSpPr>
          <p:cNvPr id="10" name="Text 8"/>
          <p:cNvSpPr/>
          <p:nvPr/>
        </p:nvSpPr>
        <p:spPr>
          <a:xfrm>
            <a:off x="548640" y="38496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你已经建立了一套需求提交流程，但发现三个月来几乎没有人主动提单——大家还是习惯在群里@你或者走廊上找你说。这说明什么问题？你应该如何分析原因，并决定下一步怎么做？</a:t>
            </a:r>
            <a:endParaRPr lang="en-US" sz="1230" dirty="0"/>
          </a:p>
        </p:txBody>
      </p:sp>
      <p:sp>
        <p:nvSpPr>
          <p:cNvPr id="11" name="Text 9"/>
          <p:cNvSpPr/>
          <p:nvPr/>
        </p:nvSpPr>
        <p:spPr>
          <a:xfrm>
            <a:off x="548640" y="4892040"/>
            <a:ext cx="2377440" cy="274320"/>
          </a:xfrm>
          <a:prstGeom prst="rect">
            <a:avLst/>
          </a:prstGeom>
          <a:noFill/>
          <a:ln/>
        </p:spPr>
        <p:txBody>
          <a:bodyPr wrap="square"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〔场景三〕</a:t>
            </a:r>
            <a:endParaRPr lang="en-US" sz="1100" dirty="0"/>
          </a:p>
        </p:txBody>
      </p:sp>
      <p:sp>
        <p:nvSpPr>
          <p:cNvPr id="12" name="Text 10"/>
          <p:cNvSpPr/>
          <p:nvPr/>
        </p:nvSpPr>
        <p:spPr>
          <a:xfrm>
            <a:off x="548640" y="5221224"/>
            <a:ext cx="10881360" cy="91440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你用三步话术回应了一个口头需求，但对方说「上次小张帮我直接改了，就两分钟的事，你为什么不能」。你会如何处理？</a:t>
            </a:r>
            <a:endParaRPr lang="en-US" sz="123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一</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5486400" cy="274320"/>
          </a:xfrm>
          <a:prstGeom prst="rect">
            <a:avLst/>
          </a:prstGeom>
          <a:noFill/>
          <a:ln/>
        </p:spPr>
        <p:txBody>
          <a:bodyPr wrap="square" rtlCol="0" anchor="ctr"/>
          <a:lstStyle/>
          <a:p>
            <a:pPr indent="0" marL="0">
              <a:buNone/>
            </a:pPr>
            <a:r>
              <a:rPr lang="en-US" sz="1000" b="1" spc="100" kern="0" dirty="0">
                <a:solidFill>
                  <a:srgbClr val="32436B"/>
                </a:solidFill>
                <a:latin typeface="Calibri" pitchFamily="34" charset="0"/>
                <a:ea typeface="Calibri" pitchFamily="34" charset="-122"/>
                <a:cs typeface="Calibri" pitchFamily="34" charset="-120"/>
              </a:rPr>
              <a:t>模块四 · 防火墙</a:t>
            </a:r>
            <a:endParaRPr lang="en-US" sz="1000" dirty="0"/>
          </a:p>
        </p:txBody>
      </p:sp>
      <p:sp>
        <p:nvSpPr>
          <p:cNvPr id="3" name="Text 1"/>
          <p:cNvSpPr/>
          <p:nvPr/>
        </p:nvSpPr>
        <p:spPr>
          <a:xfrm>
            <a:off x="6519672" y="320040"/>
            <a:ext cx="5120640" cy="274320"/>
          </a:xfrm>
          <a:prstGeom prst="rect">
            <a:avLst/>
          </a:prstGeom>
          <a:noFill/>
          <a:ln/>
        </p:spPr>
        <p:txBody>
          <a:bodyPr wrap="square" rtlCol="0" anchor="ctr"/>
          <a:lstStyle/>
          <a:p>
            <a:pPr algn="r" indent="0" marL="0">
              <a:buNone/>
            </a:pPr>
            <a:r>
              <a:rPr lang="en-US" sz="1000" dirty="0">
                <a:solidFill>
                  <a:srgbClr val="5B6270"/>
                </a:solidFill>
                <a:latin typeface="Calibri" pitchFamily="34" charset="0"/>
                <a:ea typeface="Calibri" pitchFamily="34" charset="-122"/>
                <a:cs typeface="Calibri" pitchFamily="34" charset="-120"/>
              </a:rPr>
              <a:t>课后场景思考 · 二</a:t>
            </a:r>
            <a:endParaRPr lang="en-US" sz="1000" dirty="0"/>
          </a:p>
        </p:txBody>
      </p:sp>
      <p:sp>
        <p:nvSpPr>
          <p:cNvPr id="4" name="Shape 2"/>
          <p:cNvSpPr/>
          <p:nvPr/>
        </p:nvSpPr>
        <p:spPr>
          <a:xfrm>
            <a:off x="548640" y="658368"/>
            <a:ext cx="11091672" cy="0"/>
          </a:xfrm>
          <a:prstGeom prst="line">
            <a:avLst/>
          </a:prstGeom>
          <a:noFill/>
          <a:ln w="12700">
            <a:solidFill>
              <a:srgbClr val="E3E7EF"/>
            </a:solidFill>
            <a:prstDash val="solid"/>
          </a:ln>
        </p:spPr>
      </p:sp>
      <p:sp>
        <p:nvSpPr>
          <p:cNvPr id="5" name="Text 3"/>
          <p:cNvSpPr/>
          <p:nvPr/>
        </p:nvSpPr>
        <p:spPr>
          <a:xfrm>
            <a:off x="548640" y="841248"/>
            <a:ext cx="11091672" cy="640080"/>
          </a:xfrm>
          <a:prstGeom prst="rect">
            <a:avLst/>
          </a:prstGeom>
          <a:noFill/>
          <a:ln/>
        </p:spPr>
        <p:txBody>
          <a:bodyPr wrap="square" rtlCol="0" anchor="ctr"/>
          <a:lstStyle/>
          <a:p>
            <a:pPr indent="0" marL="0">
              <a:buNone/>
            </a:pPr>
            <a:r>
              <a:rPr lang="en-US" sz="2700" b="1" dirty="0">
                <a:solidFill>
                  <a:srgbClr val="1B2A4A"/>
                </a:solidFill>
                <a:latin typeface="Cambria" pitchFamily="34" charset="0"/>
                <a:ea typeface="Cambria" pitchFamily="34" charset="-122"/>
                <a:cs typeface="Cambria" pitchFamily="34" charset="-120"/>
              </a:rPr>
              <a:t>综合场景：以下两题边界更模糊，请审慎作答</a:t>
            </a:r>
            <a:endParaRPr lang="en-US" sz="2700" dirty="0"/>
          </a:p>
        </p:txBody>
      </p:sp>
      <p:sp>
        <p:nvSpPr>
          <p:cNvPr id="6" name="Text 4"/>
          <p:cNvSpPr/>
          <p:nvPr/>
        </p:nvSpPr>
        <p:spPr>
          <a:xfrm>
            <a:off x="548640" y="1481328"/>
            <a:ext cx="10881360" cy="502920"/>
          </a:xfrm>
          <a:prstGeom prst="rect">
            <a:avLst/>
          </a:prstGeom>
          <a:noFill/>
          <a:ln/>
        </p:spPr>
        <p:txBody>
          <a:bodyPr wrap="square" rtlCol="0" anchor="ctr"/>
          <a:lstStyle/>
          <a:p>
            <a:pPr indent="0" marL="0">
              <a:lnSpc>
                <a:spcPct val="122000"/>
              </a:lnSpc>
              <a:buNone/>
            </a:pPr>
            <a:r>
              <a:rPr lang="en-US" sz="1180" i="1" dirty="0">
                <a:solidFill>
                  <a:srgbClr val="5B6270"/>
                </a:solidFill>
                <a:latin typeface="Calibri" pitchFamily="34" charset="0"/>
                <a:ea typeface="Calibri" pitchFamily="34" charset="-122"/>
                <a:cs typeface="Calibri" pitchFamily="34" charset="-120"/>
              </a:rPr>
              <a:t>以下场景刻意设计为容易产生「听起来对、实际上偏差」的回答，请结合本讲全部理论框架作答，而非套用单一结论。</a:t>
            </a:r>
            <a:endParaRPr lang="en-US" sz="1180" dirty="0"/>
          </a:p>
        </p:txBody>
      </p:sp>
      <p:sp>
        <p:nvSpPr>
          <p:cNvPr id="7" name="Text 5"/>
          <p:cNvSpPr/>
          <p:nvPr/>
        </p:nvSpPr>
        <p:spPr>
          <a:xfrm>
            <a:off x="548640" y="21488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〔场景四〕</a:t>
            </a:r>
            <a:endParaRPr lang="en-US" sz="1100" dirty="0"/>
          </a:p>
        </p:txBody>
      </p:sp>
      <p:sp>
        <p:nvSpPr>
          <p:cNvPr id="8" name="Text 6"/>
          <p:cNvSpPr/>
          <p:nvPr/>
        </p:nvSpPr>
        <p:spPr>
          <a:xfrm>
            <a:off x="548640" y="24780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团队的防火墙已经运行了三个月，需求通过正式流程提交的比例从20%提升到了75%。但仍然有25%的需求来自两个Fab厂长级别的人物，他们表示「我们知道你们有流程，但有些情况确实是紧急的，没时间走流程」。你如何判断和应对这个情况？</a:t>
            </a:r>
            <a:endParaRPr lang="en-US" sz="1230" dirty="0"/>
          </a:p>
        </p:txBody>
      </p:sp>
      <p:sp>
        <p:nvSpPr>
          <p:cNvPr id="9" name="Text 7"/>
          <p:cNvSpPr/>
          <p:nvPr/>
        </p:nvSpPr>
        <p:spPr>
          <a:xfrm>
            <a:off x="548640" y="3749040"/>
            <a:ext cx="2377440" cy="274320"/>
          </a:xfrm>
          <a:prstGeom prst="rect">
            <a:avLst/>
          </a:prstGeom>
          <a:noFill/>
          <a:ln/>
        </p:spPr>
        <p:txBody>
          <a:bodyPr wrap="square" rtlCol="0" anchor="ctr"/>
          <a:lstStyle/>
          <a:p>
            <a:pPr indent="0" marL="0">
              <a:buNone/>
            </a:pPr>
            <a:r>
              <a:rPr lang="en-US" sz="1100" b="1" dirty="0">
                <a:solidFill>
                  <a:srgbClr val="9C5536"/>
                </a:solidFill>
                <a:latin typeface="Calibri" pitchFamily="34" charset="0"/>
                <a:ea typeface="Calibri" pitchFamily="34" charset="-122"/>
                <a:cs typeface="Calibri" pitchFamily="34" charset="-120"/>
              </a:rPr>
              <a:t>〔场景五〕</a:t>
            </a:r>
            <a:endParaRPr lang="en-US" sz="1100" dirty="0"/>
          </a:p>
        </p:txBody>
      </p:sp>
      <p:sp>
        <p:nvSpPr>
          <p:cNvPr id="10" name="Text 8"/>
          <p:cNvSpPr/>
          <p:nvPr/>
        </p:nvSpPr>
        <p:spPr>
          <a:xfrm>
            <a:off x="548640" y="4078224"/>
            <a:ext cx="10881360" cy="1005840"/>
          </a:xfrm>
          <a:prstGeom prst="rect">
            <a:avLst/>
          </a:prstGeom>
          <a:noFill/>
          <a:ln/>
        </p:spPr>
        <p:txBody>
          <a:bodyPr wrap="square" rtlCol="0" anchor="ctr"/>
          <a:lstStyle/>
          <a:p>
            <a:pPr indent="0" marL="0">
              <a:lnSpc>
                <a:spcPct val="128000"/>
              </a:lnSpc>
              <a:buNone/>
            </a:pPr>
            <a:r>
              <a:rPr lang="en-US" sz="1230" dirty="0">
                <a:solidFill>
                  <a:srgbClr val="2B2F36"/>
                </a:solidFill>
                <a:latin typeface="Calibri" pitchFamily="34" charset="0"/>
                <a:ea typeface="Calibri" pitchFamily="34" charset="-122"/>
                <a:cs typeface="Calibri" pitchFamily="34" charset="-120"/>
              </a:rPr>
              <a:t>你的防火墙三步话术执行得很好，但你发现，经过三步话术引导后，对方确实去提单了，但提单后平均需要两周才能得到评估结果和上线计划。对方开始反映「走流程比直接找你还慢」，对防火墙的支持度开始下降。这说明了什么？你应该如何应对？</a:t>
            </a:r>
            <a:endParaRPr lang="en-US" sz="1230" dirty="0"/>
          </a:p>
        </p:txBody>
      </p:sp>
      <p:sp>
        <p:nvSpPr>
          <p:cNvPr id="11" name="Shape 9"/>
          <p:cNvSpPr/>
          <p:nvPr/>
        </p:nvSpPr>
        <p:spPr>
          <a:xfrm>
            <a:off x="548640" y="5440680"/>
            <a:ext cx="10881360" cy="0"/>
          </a:xfrm>
          <a:prstGeom prst="line">
            <a:avLst/>
          </a:prstGeom>
          <a:noFill/>
          <a:ln w="12700">
            <a:solidFill>
              <a:srgbClr val="E3E7EF"/>
            </a:solidFill>
            <a:prstDash val="solid"/>
          </a:ln>
        </p:spPr>
      </p:sp>
      <p:sp>
        <p:nvSpPr>
          <p:cNvPr id="12" name="Text 10"/>
          <p:cNvSpPr/>
          <p:nvPr/>
        </p:nvSpPr>
        <p:spPr>
          <a:xfrm>
            <a:off x="548640" y="5559552"/>
            <a:ext cx="10881360" cy="320040"/>
          </a:xfrm>
          <a:prstGeom prst="rect">
            <a:avLst/>
          </a:prstGeom>
          <a:noFill/>
          <a:ln/>
        </p:spPr>
        <p:txBody>
          <a:bodyPr wrap="square" rtlCol="0" anchor="ctr"/>
          <a:lstStyle/>
          <a:p>
            <a:pPr indent="0" marL="0">
              <a:buNone/>
            </a:pPr>
            <a:r>
              <a:rPr lang="en-US" sz="1150" dirty="0">
                <a:solidFill>
                  <a:srgbClr val="5B6270"/>
                </a:solidFill>
                <a:latin typeface="Calibri" pitchFamily="34" charset="0"/>
                <a:ea typeface="Calibri" pitchFamily="34" charset="-122"/>
                <a:cs typeface="Calibri" pitchFamily="34" charset="-120"/>
              </a:rPr>
              <a:t>提交方式：与场景一至三合并为一份书面材料，于下次课程开始前提交。</a:t>
            </a:r>
            <a:endParaRPr lang="en-US" sz="1150" dirty="0"/>
          </a:p>
        </p:txBody>
      </p:sp>
      <p:sp>
        <p:nvSpPr>
          <p:cNvPr id="13" name="Shape 11"/>
          <p:cNvSpPr/>
          <p:nvPr/>
        </p:nvSpPr>
        <p:spPr>
          <a:xfrm>
            <a:off x="548640" y="6446520"/>
            <a:ext cx="11091672" cy="0"/>
          </a:xfrm>
          <a:prstGeom prst="line">
            <a:avLst/>
          </a:prstGeom>
          <a:noFill/>
          <a:ln w="9525">
            <a:solidFill>
              <a:srgbClr val="C7CDDB"/>
            </a:solidFill>
            <a:prstDash val="solid"/>
          </a:ln>
        </p:spPr>
      </p:sp>
      <p:sp>
        <p:nvSpPr>
          <p:cNvPr id="14" name="Text 12"/>
          <p:cNvSpPr/>
          <p:nvPr/>
        </p:nvSpPr>
        <p:spPr>
          <a:xfrm>
            <a:off x="548640" y="6492240"/>
            <a:ext cx="7315200" cy="274320"/>
          </a:xfrm>
          <a:prstGeom prst="rect">
            <a:avLst/>
          </a:prstGeom>
          <a:noFill/>
          <a:ln/>
        </p:spPr>
        <p:txBody>
          <a:bodyPr wrap="square" rtlCol="0" anchor="ctr"/>
          <a:lstStyle/>
          <a:p>
            <a:pPr indent="0" marL="0">
              <a:buNone/>
            </a:pPr>
            <a:r>
              <a:rPr lang="en-US" sz="900" i="1" dirty="0">
                <a:solidFill>
                  <a:srgbClr val="5B6270"/>
                </a:solidFill>
                <a:latin typeface="Calibri" pitchFamily="34" charset="0"/>
                <a:ea typeface="Calibri" pitchFamily="34" charset="-122"/>
                <a:cs typeface="Calibri" pitchFamily="34" charset="-120"/>
              </a:rPr>
              <a:t>课后场景思考 · 二</a:t>
            </a:r>
            <a:endParaRPr lang="en-US" sz="900" dirty="0"/>
          </a:p>
        </p:txBody>
      </p:sp>
      <p:sp>
        <p:nvSpPr>
          <p:cNvPr id="15" name="Text 13"/>
          <p:cNvSpPr/>
          <p:nvPr/>
        </p:nvSpPr>
        <p:spPr>
          <a:xfrm>
            <a:off x="10515600" y="6492240"/>
            <a:ext cx="1124712" cy="274320"/>
          </a:xfrm>
          <a:prstGeom prst="rect">
            <a:avLst/>
          </a:prstGeom>
          <a:noFill/>
          <a:ln/>
        </p:spPr>
        <p:txBody>
          <a:bodyPr wrap="square" rtlCol="0" anchor="ctr"/>
          <a:lstStyle/>
          <a:p>
            <a:pPr algn="r" indent="0" marL="0">
              <a:buNone/>
            </a:pPr>
            <a:r>
              <a:rPr lang="en-US" sz="900" dirty="0">
                <a:solidFill>
                  <a:srgbClr val="5B6270"/>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防火墙：挡住口头需求 · 理论精读版</dc:title>
  <dc:subject>PptxGenJS Presentation</dc:subject>
  <dc:creator>PptxGenJS</dc:creator>
  <cp:lastModifiedBy>PptxGenJS</cp:lastModifiedBy>
  <cp:revision>1</cp:revision>
  <dcterms:created xsi:type="dcterms:W3CDTF">2026-06-19T07:12:31Z</dcterms:created>
  <dcterms:modified xsi:type="dcterms:W3CDTF">2026-06-19T07:12:31Z</dcterms:modified>
</cp:coreProperties>
</file>