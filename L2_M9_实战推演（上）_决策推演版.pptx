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练习不提供标准答案，旨在让学员独立完整地走一遍决策链。教师可参考正文中对应的决策点和陷阱节点，重点关注学员是否能：区分「等不起」和「可以等」的请求、判断战略表述的模糊边界、保持仲裁标准的一致性、动态判断该亲自下场还是该交还、完整执行对外承担与对内追溯的双重动作、以及在复盘场景中正确选择给方法而非给答案。</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1005840"/>
            <a:ext cx="10515600" cy="365760"/>
          </a:xfrm>
          <a:prstGeom prst="rect">
            <a:avLst/>
          </a:prstGeom>
          <a:noFill/>
          <a:ln/>
        </p:spPr>
        <p:txBody>
          <a:bodyPr wrap="square" lIns="0" tIns="0" rIns="0" bIns="0" rtlCol="0" anchor="ctr"/>
          <a:lstStyle/>
          <a:p>
            <a:pPr indent="0" marL="0">
              <a:buNone/>
            </a:pPr>
            <a:r>
              <a:rPr lang="en-US" sz="1400" b="1" spc="200" kern="0" dirty="0">
                <a:solidFill>
                  <a:srgbClr val="9C5536"/>
                </a:solidFill>
                <a:latin typeface="Calibri" pitchFamily="34" charset="0"/>
                <a:ea typeface="Calibri" pitchFamily="34" charset="-122"/>
                <a:cs typeface="Calibri" pitchFamily="34" charset="-120"/>
              </a:rPr>
              <a:t>CIM管理者培训体系 · 层级二 · 部门经理</a:t>
            </a:r>
            <a:endParaRPr lang="en-US" sz="1400" dirty="0"/>
          </a:p>
        </p:txBody>
      </p:sp>
      <p:sp>
        <p:nvSpPr>
          <p:cNvPr id="3" name="Text 1"/>
          <p:cNvSpPr/>
          <p:nvPr/>
        </p:nvSpPr>
        <p:spPr>
          <a:xfrm>
            <a:off x="822960" y="1417320"/>
            <a:ext cx="3657600" cy="457200"/>
          </a:xfrm>
          <a:prstGeom prst="rect">
            <a:avLst/>
          </a:prstGeom>
          <a:noFill/>
          <a:ln/>
        </p:spPr>
        <p:txBody>
          <a:bodyPr wrap="square" lIns="0" tIns="0" rIns="0" bIns="0" rtlCol="0" anchor="ctr"/>
          <a:lstStyle/>
          <a:p>
            <a:pPr indent="0" marL="0">
              <a:buNone/>
            </a:pPr>
            <a:r>
              <a:rPr lang="en-US" sz="2000" dirty="0">
                <a:solidFill>
                  <a:srgbClr val="7C7F84"/>
                </a:solidFill>
                <a:latin typeface="Cambria" pitchFamily="34" charset="0"/>
                <a:ea typeface="Cambria" pitchFamily="34" charset="-122"/>
                <a:cs typeface="Cambria" pitchFamily="34" charset="-120"/>
              </a:rPr>
              <a:t>M9</a:t>
            </a:r>
            <a:endParaRPr lang="en-US" sz="2000" dirty="0"/>
          </a:p>
        </p:txBody>
      </p:sp>
      <p:sp>
        <p:nvSpPr>
          <p:cNvPr id="4" name="Text 2"/>
          <p:cNvSpPr/>
          <p:nvPr/>
        </p:nvSpPr>
        <p:spPr>
          <a:xfrm>
            <a:off x="822960" y="2286000"/>
            <a:ext cx="10515600" cy="1097280"/>
          </a:xfrm>
          <a:prstGeom prst="rect">
            <a:avLst/>
          </a:prstGeom>
          <a:noFill/>
          <a:ln/>
        </p:spPr>
        <p:txBody>
          <a:bodyPr wrap="square" lIns="0" tIns="0" rIns="0" bIns="0" rtlCol="0" anchor="ctr"/>
          <a:lstStyle/>
          <a:p>
            <a:pPr indent="0" marL="0">
              <a:buNone/>
            </a:pPr>
            <a:r>
              <a:rPr lang="en-US" sz="4800" b="1" dirty="0">
                <a:solidFill>
                  <a:srgbClr val="1B2A4A"/>
                </a:solidFill>
                <a:latin typeface="Cambria" pitchFamily="34" charset="0"/>
                <a:ea typeface="Cambria" pitchFamily="34" charset="-122"/>
                <a:cs typeface="Cambria" pitchFamily="34" charset="-120"/>
              </a:rPr>
              <a:t>实战推演（上）</a:t>
            </a:r>
            <a:endParaRPr lang="en-US" sz="4800" dirty="0"/>
          </a:p>
        </p:txBody>
      </p:sp>
      <p:sp>
        <p:nvSpPr>
          <p:cNvPr id="5" name="Text 3"/>
          <p:cNvSpPr/>
          <p:nvPr/>
        </p:nvSpPr>
        <p:spPr>
          <a:xfrm>
            <a:off x="822960" y="3429000"/>
            <a:ext cx="10515600" cy="548640"/>
          </a:xfrm>
          <a:prstGeom prst="rect">
            <a:avLst/>
          </a:prstGeom>
          <a:noFill/>
          <a:ln/>
        </p:spPr>
        <p:txBody>
          <a:bodyPr wrap="square" lIns="0" tIns="0" rIns="0" bIns="0" rtlCol="0" anchor="ctr"/>
          <a:lstStyle/>
          <a:p>
            <a:pPr indent="0" marL="0">
              <a:buNone/>
            </a:pPr>
            <a:r>
              <a:rPr lang="en-US" sz="2200" i="1" dirty="0">
                <a:solidFill>
                  <a:srgbClr val="9C5536"/>
                </a:solidFill>
                <a:latin typeface="Cambria" pitchFamily="34" charset="0"/>
                <a:ea typeface="Cambria" pitchFamily="34" charset="-122"/>
                <a:cs typeface="Cambria" pitchFamily="34" charset="-120"/>
              </a:rPr>
              <a:t>一场跨部门危机里的连续决策</a:t>
            </a:r>
            <a:endParaRPr lang="en-US" sz="2200" dirty="0"/>
          </a:p>
        </p:txBody>
      </p:sp>
      <p:sp>
        <p:nvSpPr>
          <p:cNvPr id="6" name="Shape 4"/>
          <p:cNvSpPr/>
          <p:nvPr/>
        </p:nvSpPr>
        <p:spPr>
          <a:xfrm>
            <a:off x="822960" y="4343400"/>
            <a:ext cx="7863840" cy="914400"/>
          </a:xfrm>
          <a:prstGeom prst="roundRect">
            <a:avLst>
              <a:gd name="adj" fmla="val 8000"/>
            </a:avLst>
          </a:prstGeom>
          <a:solidFill>
            <a:srgbClr val="EEF1F6"/>
          </a:solidFill>
          <a:ln/>
          <a:effectLst>
            <a:outerShdw sx="100000" sy="100000" kx="0" ky="0" algn="bl" rotWithShape="0" blurRad="101600" dist="38100" dir="5400000">
              <a:srgbClr val="1B2A4A">
                <a:alpha val="10000"/>
              </a:srgbClr>
            </a:outerShdw>
          </a:effectLst>
        </p:spPr>
      </p:sp>
      <p:sp>
        <p:nvSpPr>
          <p:cNvPr id="7" name="Text 5"/>
          <p:cNvSpPr/>
          <p:nvPr/>
        </p:nvSpPr>
        <p:spPr>
          <a:xfrm>
            <a:off x="1143000" y="4343400"/>
            <a:ext cx="7223760" cy="914400"/>
          </a:xfrm>
          <a:prstGeom prst="rect">
            <a:avLst/>
          </a:prstGeom>
          <a:noFill/>
          <a:ln/>
        </p:spPr>
        <p:txBody>
          <a:bodyPr wrap="square" lIns="0" tIns="0" rIns="0" bIns="0" rtlCol="0" anchor="ctr"/>
          <a:lstStyle/>
          <a:p>
            <a:pPr algn="l" indent="0" marL="0">
              <a:buNone/>
            </a:pPr>
            <a:r>
              <a:rPr lang="en-US" sz="1500" i="1" dirty="0">
                <a:solidFill>
                  <a:srgbClr val="1B2A4A"/>
                </a:solidFill>
                <a:latin typeface="Cambria" pitchFamily="34" charset="0"/>
                <a:ea typeface="Cambria" pitchFamily="34" charset="-122"/>
                <a:cs typeface="Cambria" pitchFamily="34" charset="-120"/>
              </a:rPr>
              <a:t>综合运用M1-M7框架的连续决策链推演</a:t>
            </a:r>
            <a:endParaRPr lang="en-US" sz="15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 / 17</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场景设定</a:t>
            </a:r>
            <a:endParaRPr lang="en-US" sz="1250" dirty="0"/>
          </a:p>
        </p:txBody>
      </p:sp>
      <p:sp>
        <p:nvSpPr>
          <p:cNvPr id="3" name="Text 1"/>
          <p:cNvSpPr/>
          <p:nvPr/>
        </p:nvSpPr>
        <p:spPr>
          <a:xfrm>
            <a:off x="548640" y="722376"/>
            <a:ext cx="11064240" cy="64008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在你正式进入这个场景之前</a:t>
            </a:r>
            <a:endParaRPr lang="en-US" sz="2600" dirty="0"/>
          </a:p>
        </p:txBody>
      </p:sp>
      <p:sp>
        <p:nvSpPr>
          <p:cNvPr id="4" name="Shape 2"/>
          <p:cNvSpPr/>
          <p:nvPr/>
        </p:nvSpPr>
        <p:spPr>
          <a:xfrm>
            <a:off x="548640" y="1554480"/>
            <a:ext cx="11064240" cy="1143000"/>
          </a:xfrm>
          <a:prstGeom prst="roundRect">
            <a:avLst>
              <a:gd name="adj" fmla="val 6400"/>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719072"/>
            <a:ext cx="18288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人物</a:t>
            </a:r>
            <a:endParaRPr lang="en-US" sz="1100" dirty="0"/>
          </a:p>
        </p:txBody>
      </p:sp>
      <p:sp>
        <p:nvSpPr>
          <p:cNvPr id="6" name="Text 4"/>
          <p:cNvSpPr/>
          <p:nvPr/>
        </p:nvSpPr>
        <p:spPr>
          <a:xfrm>
            <a:off x="868680" y="1975104"/>
            <a:ext cx="10424160" cy="594360"/>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是老陈，CIM部门经理，带四位主管——老吴（产线CIM运维组组长，从初任主管一路成长起来，如今已能独立带队完成系统性优化升级）、林工（系统集成组组长）、王科（设备对接组组长）、张工（数据分析组组长）。</a:t>
            </a:r>
            <a:endParaRPr lang="en-US" sz="1250" dirty="0"/>
          </a:p>
        </p:txBody>
      </p:sp>
      <p:sp>
        <p:nvSpPr>
          <p:cNvPr id="7" name="Shape 5"/>
          <p:cNvSpPr/>
          <p:nvPr/>
        </p:nvSpPr>
        <p:spPr>
          <a:xfrm>
            <a:off x="548640" y="2862072"/>
            <a:ext cx="11064240" cy="777240"/>
          </a:xfrm>
          <a:prstGeom prst="roundRect">
            <a:avLst>
              <a:gd name="adj" fmla="val 9412"/>
            </a:avLst>
          </a:prstGeom>
          <a:solidFill>
            <a:srgbClr val="F5EEEA"/>
          </a:solidFill>
          <a:ln/>
          <a:effectLst>
            <a:outerShdw sx="100000" sy="100000" kx="0" ky="0" algn="bl" rotWithShape="0" blurRad="101600" dist="38100" dir="5400000">
              <a:srgbClr val="1B2A4A">
                <a:alpha val="10000"/>
              </a:srgbClr>
            </a:outerShdw>
          </a:effectLst>
        </p:spPr>
      </p:sp>
      <p:sp>
        <p:nvSpPr>
          <p:cNvPr id="8" name="Text 6"/>
          <p:cNvSpPr/>
          <p:nvPr/>
        </p:nvSpPr>
        <p:spPr>
          <a:xfrm>
            <a:off x="868680" y="3026664"/>
            <a:ext cx="18288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时间起点</a:t>
            </a:r>
            <a:endParaRPr lang="en-US" sz="1100" dirty="0"/>
          </a:p>
        </p:txBody>
      </p:sp>
      <p:sp>
        <p:nvSpPr>
          <p:cNvPr id="9" name="Text 7"/>
          <p:cNvSpPr/>
          <p:nvPr/>
        </p:nvSpPr>
        <p:spPr>
          <a:xfrm>
            <a:off x="868680" y="3282696"/>
            <a:ext cx="10424160" cy="228600"/>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周一上午九点，你刚开完部门周会。</a:t>
            </a:r>
            <a:endParaRPr lang="en-US" sz="1250" dirty="0"/>
          </a:p>
        </p:txBody>
      </p:sp>
      <p:sp>
        <p:nvSpPr>
          <p:cNvPr id="10" name="Shape 8"/>
          <p:cNvSpPr/>
          <p:nvPr/>
        </p:nvSpPr>
        <p:spPr>
          <a:xfrm>
            <a:off x="548640" y="3803904"/>
            <a:ext cx="11064240" cy="777240"/>
          </a:xfrm>
          <a:prstGeom prst="roundRect">
            <a:avLst>
              <a:gd name="adj" fmla="val 9412"/>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968496"/>
            <a:ext cx="18288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当下处境</a:t>
            </a:r>
            <a:endParaRPr lang="en-US" sz="1100" dirty="0"/>
          </a:p>
        </p:txBody>
      </p:sp>
      <p:sp>
        <p:nvSpPr>
          <p:cNvPr id="12" name="Text 10"/>
          <p:cNvSpPr/>
          <p:nvPr/>
        </p:nvSpPr>
        <p:spPr>
          <a:xfrm>
            <a:off x="868680" y="4224528"/>
            <a:ext cx="10424160" cy="228600"/>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三件事同时压在你桌上——制造部反复催促一个良率分析需求，工艺部反馈一个产线柔性改造的资源诉求，你的上级昨天临时下达了一条战略指示「强化关键设备的预测性维护能力」，但表述简短，没有展开。</a:t>
            </a:r>
            <a:endParaRPr lang="en-US" sz="1250" dirty="0"/>
          </a:p>
        </p:txBody>
      </p:sp>
      <p:sp>
        <p:nvSpPr>
          <p:cNvPr id="13" name="Text 11"/>
          <p:cNvSpPr/>
          <p:nvPr/>
        </p:nvSpPr>
        <p:spPr>
          <a:xfrm>
            <a:off x="548640" y="4837176"/>
            <a:ext cx="11064240" cy="548640"/>
          </a:xfrm>
          <a:prstGeom prst="rect">
            <a:avLst/>
          </a:prstGeom>
          <a:noFill/>
          <a:ln/>
        </p:spPr>
        <p:txBody>
          <a:bodyPr wrap="square" lIns="0" tIns="0" rIns="0" bIns="0" rtlCol="0" anchor="ctr"/>
          <a:lstStyle/>
          <a:p>
            <a:pPr indent="0" marL="0">
              <a:buNone/>
            </a:pPr>
            <a:r>
              <a:rPr lang="en-US" sz="1300" i="1" dirty="0">
                <a:solidFill>
                  <a:srgbClr val="7C7F84"/>
                </a:solidFill>
                <a:latin typeface="Cambria" pitchFamily="34" charset="0"/>
                <a:ea typeface="Cambria" pitchFamily="34" charset="-122"/>
                <a:cs typeface="Cambria" pitchFamily="34" charset="-120"/>
              </a:rPr>
              <a:t>接下来的内容会按时间推进，在每个关键节点呈现一个决策点，请先做出你的判断，再看推演结果和对应的理论回扣。</a:t>
            </a:r>
            <a:endParaRPr lang="en-US" sz="1300" dirty="0"/>
          </a:p>
        </p:txBody>
      </p:sp>
      <p:sp>
        <p:nvSpPr>
          <p:cNvPr id="14" name="Text 12"/>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5" name="Text 13"/>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2 / 17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1  ·  对应 M5《需求仲裁》</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三个需求，你只有三天产能窗口</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良率分析需求看起来最紧急（制造部反复催促），资源诉求次之，战略指示最模糊但级别最高。你只有这周三天的产能窗口可以协调。</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你要不要先把这三个需求平均分配一点资源，让每个提需求的人都先安心？</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你没有选择平均分配，而是用紧急度、影响范围、不响应代价三个维度给三个需求打了分，最终决定优先支持良率分析需求，向工艺部和上级分别说明了排序依据和后续窗口。</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平均分配看似公平，实则会让所有需求都达不到最低有效投入阈值，显性化的排序标准才是负责任的仲裁方式。</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3 / 17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2  ·  对应 M1《管理杠杆率》边界</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报警响起的那一刻</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周一下午两点，老吴负责的产线核心设备突然报警停机，初步判断和近期一次调度逻辑优化有关，产线在制品价值较高，且原因暂不明确。</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你要不要放下手头的需求仲裁工作，亲自冲到现场？</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你判断这次属于信息不完整、后果可能不可逆的真正危机，第一时间赶到现场，但同时把良率分析需求的后续协调明确委托给了张工临时代为跟进。</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杠杆率思维本身有边界，真正的危机情境需要暂时搁置它，但即使亲自下场，仍要把可以委托的部分明确交出去，而不是全盘扛在自己身上。</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4 / 17</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陷阱节点 1  ·  M2《拒绝越级》反例</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电话那头是林工团队的小赵</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现场排查进行到一半，林工团队的一位工程师小赵，因为林工正在出差联系不上，直接拨通了你的电话，请你给出技术处理指令。</a:t>
            </a:r>
            <a:endParaRPr lang="en-US" sz="1200" dirty="0"/>
          </a:p>
        </p:txBody>
      </p:sp>
      <p:sp>
        <p:nvSpPr>
          <p:cNvPr id="7" name="Shape 5"/>
          <p:cNvSpPr/>
          <p:nvPr/>
        </p:nvSpPr>
        <p:spPr>
          <a:xfrm>
            <a:off x="548640" y="2432304"/>
            <a:ext cx="11064240" cy="777240"/>
          </a:xfrm>
          <a:prstGeom prst="roundRect">
            <a:avLst>
              <a:gd name="adj" fmla="val 9412"/>
            </a:avLst>
          </a:prstGeom>
          <a:solidFill>
            <a:srgbClr val="F5EEEA"/>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现场气氛紧张，你会怎么回应小赵？</a:t>
            </a:r>
            <a:endParaRPr lang="en-US" sz="1250" dirty="0"/>
          </a:p>
        </p:txBody>
      </p:sp>
      <p:sp>
        <p:nvSpPr>
          <p:cNvPr id="10" name="Shape 8"/>
          <p:cNvSpPr/>
          <p:nvPr/>
        </p:nvSpPr>
        <p:spPr>
          <a:xfrm>
            <a:off x="548640" y="3355848"/>
            <a:ext cx="11064240" cy="1417320"/>
          </a:xfrm>
          <a:prstGeom prst="roundRect">
            <a:avLst>
              <a:gd name="adj" fmla="val 5161"/>
            </a:avLst>
          </a:prstGeom>
          <a:solidFill>
            <a:srgbClr val="F6F1E6"/>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8A6D1F"/>
                </a:solidFill>
                <a:latin typeface="Calibri" pitchFamily="34" charset="0"/>
                <a:ea typeface="Calibri" pitchFamily="34" charset="-122"/>
                <a:cs typeface="Calibri" pitchFamily="34" charset="-120"/>
              </a:rPr>
              <a:t>推演（陷阱）</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觉得「都火烧眉毛了哪还顾得上流程」，直接给了小赵明确指令。后续复盘时你才意识到，这次小赵的问题其实并不紧急到无法等待——你完全来得及先说一句「我马上联系林工，他十分钟内给你回电」，但图省事跳过了。</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危机现场容易让人误判每一次请求都等不起，但越级请求本身的紧迫程度需要单独判断，不能因为大环境紧张就默认所有请求都该亲自接住。</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5 / 17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3  ·  对照陷阱节点1，M2《拒绝越级》正例</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电话又响了，这次是小刘</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两小时后，王科团队的一位工程师小刘，同样因为王科暂时不在场，试图直接联系你确认一个非紧急的设备参数问题。</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这次你会怎么处理？</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你先接住了小刘的情绪，告诉他「这个问题我同步给王科，他二十分钟内联系你」，事后单独和王科说明了情况。</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同样是危机现场，这次你正确判断了这个请求并不属于「等不起」的范畴，完整执行了拒绝越级的三步动作，没有重蹈刚才的覆辙。</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6 / 17</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4  ·  对应 M6《战略对齐》边界</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一条模糊指示，突然有了用武之地</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排查过程中，你意识到这次设备故障，可能和上级那条含糊的「强化关键设备预测性维护能力」的战略指示存在关联——如果现在直接调配资源上马一套预测性维护方案，看起来正好能回应这条指示。</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你要不要趁现在，按自己的理解直接推进这套方案？</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你没有自信地直接推进，而是判断这条战略指示表述过于简略、资源调配影响重大，主动联系上级确认了真实意图——发现上级真正想要的是优先覆盖另外两条更老旧的产线，而不是刚出问题的这条新产线。</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战略表述存在明显模糊空间且资源影响重大时，主动确认比自信推进更负责任，避免了一次方向性的资源错配。</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7 / 17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5  ·  对应 M5《需求仲裁》延续</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又一个想插队的需求</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设备故障处理进行到第二天，工艺部因为这次停机，临时又提出一个新的紧急资源诉求，希望插队处理。</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你要不要把这个新需求直接插到队列最前面？</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你没有简单插队处理，而是把这个新需求重新纳入打分排序，发现它的紧急度确实高于此前排在第二位的资源诉求，于是调整了顺序并向所有相关方重新说明了依据。</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仲裁标准一旦建立就应该持续适用，临时插队会破坏整个排序系统的可信度，新需求应该被纳入同一套标准重新评估，而不是另开特例。</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8 / 17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6  ·  对照决策点2，M1《管理杠杆率》边界</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设备修好了，但还有十几个小时的验证工作</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设备物理修复后，后续还有十几个小时的系统验证和参数回归工作。</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你要不要继续亲自盯着，还是把验证工作交还给老吴？</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你判断最紧迫、信息最不全的阶段已经过去，主动把后续系统验证工作交还给老吴主导，自己回去处理被搁置的部门需求仲裁收尾工作，但保持随时可联系。</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危机有该亲自下场的窗口，也有该交还回去的窗口，杠杆率的边界判断是动态的，不是单次决定后就一直亲自盯到底。</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9 / 17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7  ·  对应 M7《背黑锅》</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根因找到了，是三周前那次优化埋下的隐患</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设备故障在三十六小时后修复，复盘发现根本原因是老吴团队三周前主导的批次调度逻辑优化埋下了隐患——一个边界条件没有被充分测试。这次事故造成了不小的产能损失，跨部门和上级都在等一个说法。</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你要不要把这个责任完全推给老吴的团队，还是由你来承担？</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你第一时间向上级和跨部门承担了这次事故的责任，同时私下和老吴一起追溯了具体的技术原因，确认这是一次诚实的测试覆盖不足，而不是故意违规操作。</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管理责任本来就该由经理承担，下属的具体失误只是表面症状，对外承担责任的同时私下追溯真实原因，两者缺一不可。</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10 / 17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陷阱节点 2  ·  M4《给方法》反例</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复盘会上，你已经连续工作了三十多个小时</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复盘会上，老吴尝试分析这次边界条件遗漏的根本原因，但分析得还不够透彻。会议时间有限，你已经连续工作了三十多个小时。</a:t>
            </a:r>
            <a:endParaRPr lang="en-US" sz="1200" dirty="0"/>
          </a:p>
        </p:txBody>
      </p:sp>
      <p:sp>
        <p:nvSpPr>
          <p:cNvPr id="7" name="Shape 5"/>
          <p:cNvSpPr/>
          <p:nvPr/>
        </p:nvSpPr>
        <p:spPr>
          <a:xfrm>
            <a:off x="548640" y="2432304"/>
            <a:ext cx="11064240" cy="777240"/>
          </a:xfrm>
          <a:prstGeom prst="roundRect">
            <a:avLst>
              <a:gd name="adj" fmla="val 9412"/>
            </a:avLst>
          </a:prstGeom>
          <a:solidFill>
            <a:srgbClr val="F5EEEA"/>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你会怎么帮老吴把这次复盘做扎实？</a:t>
            </a:r>
            <a:endParaRPr lang="en-US" sz="1250" dirty="0"/>
          </a:p>
        </p:txBody>
      </p:sp>
      <p:sp>
        <p:nvSpPr>
          <p:cNvPr id="10" name="Shape 8"/>
          <p:cNvSpPr/>
          <p:nvPr/>
        </p:nvSpPr>
        <p:spPr>
          <a:xfrm>
            <a:off x="548640" y="3355848"/>
            <a:ext cx="11064240" cy="1417320"/>
          </a:xfrm>
          <a:prstGeom prst="roundRect">
            <a:avLst>
              <a:gd name="adj" fmla="val 5161"/>
            </a:avLst>
          </a:prstGeom>
          <a:solidFill>
            <a:srgbClr val="F6F1E6"/>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8A6D1F"/>
                </a:solidFill>
                <a:latin typeface="Calibri" pitchFamily="34" charset="0"/>
                <a:ea typeface="Calibri" pitchFamily="34" charset="-122"/>
                <a:cs typeface="Calibri" pitchFamily="34" charset="-120"/>
              </a:rPr>
              <a:t>推演（陷阱）</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图快，直接告诉老吴问题出在哪个具体参数、该怎么改，老吴点头说懂了，会议很快结束。但你心里清楚，这次复盘其实是有时间空间的——危机已经解决，不是真正的紧急时刻，你却下意识地用了「给答案」的方式处理，而不是引导老吴自己走一遍判断路径。</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给方法的边界判断不该只看经理有没有时间，而要看这次情境是不是真的等不起，复盘场景本来有充足的容错空间，却被你当成了紧急场景处理。</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11 / 17</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1B2A4A"/>
                </a:solidFill>
                <a:latin typeface="Calibri" pitchFamily="34" charset="0"/>
                <a:ea typeface="Calibri" pitchFamily="34" charset="-122"/>
                <a:cs typeface="Calibri" pitchFamily="34" charset="-120"/>
              </a:rPr>
              <a:t>决策点 8  ·  对照陷阱节点2，M4《给方法》正例</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100" b="1" dirty="0">
                <a:solidFill>
                  <a:srgbClr val="1B2A4A"/>
                </a:solidFill>
                <a:latin typeface="Cambria" pitchFamily="34" charset="0"/>
                <a:ea typeface="Cambria" pitchFamily="34" charset="-122"/>
                <a:cs typeface="Cambria" pitchFamily="34" charset="-120"/>
              </a:rPr>
              <a:t>会议结束后，你把老吴叫了回来</a:t>
            </a:r>
            <a:endParaRPr lang="en-US" sz="2100" dirty="0"/>
          </a:p>
        </p:txBody>
      </p:sp>
      <p:sp>
        <p:nvSpPr>
          <p:cNvPr id="4" name="Shape 2"/>
          <p:cNvSpPr/>
          <p:nvPr/>
        </p:nvSpPr>
        <p:spPr>
          <a:xfrm>
            <a:off x="548640" y="1417320"/>
            <a:ext cx="11064240" cy="868680"/>
          </a:xfrm>
          <a:prstGeom prst="roundRect">
            <a:avLst>
              <a:gd name="adj" fmla="val 8421"/>
            </a:avLst>
          </a:prstGeom>
          <a:solidFill>
            <a:srgbClr val="FFFFFF"/>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527048"/>
            <a:ext cx="10424160" cy="256032"/>
          </a:xfrm>
          <a:prstGeom prst="rect">
            <a:avLst/>
          </a:prstGeom>
          <a:noFill/>
          <a:ln/>
        </p:spPr>
        <p:txBody>
          <a:bodyPr wrap="square" lIns="0" tIns="0" rIns="0" bIns="0" rtlCol="0" anchor="ctr"/>
          <a:lstStyle/>
          <a:p>
            <a:pPr indent="0" marL="0">
              <a:buNone/>
            </a:pPr>
            <a:r>
              <a:rPr lang="en-US" sz="1050" b="1" spc="100" kern="0" dirty="0">
                <a:solidFill>
                  <a:srgbClr val="7C7F84"/>
                </a:solidFill>
                <a:latin typeface="Calibri" pitchFamily="34" charset="0"/>
                <a:ea typeface="Calibri" pitchFamily="34" charset="-122"/>
                <a:cs typeface="Calibri" pitchFamily="34" charset="-120"/>
              </a:rPr>
              <a:t>事件</a:t>
            </a:r>
            <a:endParaRPr lang="en-US" sz="1050" dirty="0"/>
          </a:p>
        </p:txBody>
      </p:sp>
      <p:sp>
        <p:nvSpPr>
          <p:cNvPr id="6" name="Text 4"/>
          <p:cNvSpPr/>
          <p:nvPr/>
        </p:nvSpPr>
        <p:spPr>
          <a:xfrm>
            <a:off x="868680" y="1801368"/>
            <a:ext cx="10424160" cy="48463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会议结束后，你意识到刚才图快了，重新把老吴叫回来。</a:t>
            </a:r>
            <a:endParaRPr lang="en-US" sz="1200" dirty="0"/>
          </a:p>
        </p:txBody>
      </p:sp>
      <p:sp>
        <p:nvSpPr>
          <p:cNvPr id="7" name="Shape 5"/>
          <p:cNvSpPr/>
          <p:nvPr/>
        </p:nvSpPr>
        <p:spPr>
          <a:xfrm>
            <a:off x="548640" y="2432304"/>
            <a:ext cx="11064240" cy="777240"/>
          </a:xfrm>
          <a:prstGeom prst="roundRect">
            <a:avLst>
              <a:gd name="adj" fmla="val 9412"/>
            </a:avLst>
          </a:prstGeom>
          <a:solidFill>
            <a:srgbClr val="EEF1F6"/>
          </a:solidFill>
          <a:ln/>
          <a:effectLst>
            <a:outerShdw sx="100000" sy="100000" kx="0" ky="0" algn="bl" rotWithShape="0" blurRad="101600" dist="38100" dir="5400000">
              <a:srgbClr val="1B2A4A">
                <a:alpha val="10000"/>
              </a:srgbClr>
            </a:outerShdw>
          </a:effectLst>
        </p:spPr>
      </p:sp>
      <p:sp>
        <p:nvSpPr>
          <p:cNvPr id="8" name="Text 6"/>
          <p:cNvSpPr/>
          <p:nvPr/>
        </p:nvSpPr>
        <p:spPr>
          <a:xfrm>
            <a:off x="868680" y="2542032"/>
            <a:ext cx="10424160" cy="256032"/>
          </a:xfrm>
          <a:prstGeom prst="rect">
            <a:avLst/>
          </a:prstGeom>
          <a:noFill/>
          <a:ln/>
        </p:spPr>
        <p:txBody>
          <a:bodyPr wrap="square" lIns="0" tIns="0" rIns="0" bIns="0" rtlCol="0" anchor="ctr"/>
          <a:lstStyle/>
          <a:p>
            <a:pPr indent="0" marL="0">
              <a:buNone/>
            </a:pPr>
            <a:r>
              <a:rPr lang="en-US" sz="1050" b="1" spc="100" kern="0" dirty="0">
                <a:solidFill>
                  <a:srgbClr val="1B2A4A"/>
                </a:solidFill>
                <a:latin typeface="Calibri" pitchFamily="34" charset="0"/>
                <a:ea typeface="Calibri" pitchFamily="34" charset="-122"/>
                <a:cs typeface="Calibri" pitchFamily="34" charset="-120"/>
              </a:rPr>
              <a:t>决策点</a:t>
            </a:r>
            <a:endParaRPr lang="en-US" sz="1050" dirty="0"/>
          </a:p>
        </p:txBody>
      </p:sp>
      <p:sp>
        <p:nvSpPr>
          <p:cNvPr id="9" name="Text 7"/>
          <p:cNvSpPr/>
          <p:nvPr/>
        </p:nvSpPr>
        <p:spPr>
          <a:xfrm>
            <a:off x="868680" y="2816352"/>
            <a:ext cx="10424160" cy="393192"/>
          </a:xfrm>
          <a:prstGeom prst="rect">
            <a:avLst/>
          </a:prstGeom>
          <a:noFill/>
          <a:ln/>
        </p:spPr>
        <p:txBody>
          <a:bodyPr wrap="square" lIns="0" tIns="0" rIns="0" bIns="0" rtlCol="0" anchor="t"/>
          <a:lstStyle/>
          <a:p>
            <a:pPr indent="0" marL="0">
              <a:lnSpc>
                <a:spcPct val="122000"/>
              </a:lnSpc>
              <a:buNone/>
            </a:pPr>
            <a:r>
              <a:rPr lang="en-US" sz="1250" dirty="0">
                <a:solidFill>
                  <a:srgbClr val="33363B"/>
                </a:solidFill>
                <a:latin typeface="Calibri" pitchFamily="34" charset="0"/>
                <a:ea typeface="Calibri" pitchFamily="34" charset="-122"/>
                <a:cs typeface="Calibri" pitchFamily="34" charset="-120"/>
              </a:rPr>
              <a:t>这次你会怎么处理？</a:t>
            </a:r>
            <a:endParaRPr lang="en-US" sz="1250" dirty="0"/>
          </a:p>
        </p:txBody>
      </p:sp>
      <p:sp>
        <p:nvSpPr>
          <p:cNvPr id="10" name="Shape 8"/>
          <p:cNvSpPr/>
          <p:nvPr/>
        </p:nvSpPr>
        <p:spPr>
          <a:xfrm>
            <a:off x="548640" y="3355848"/>
            <a:ext cx="11064240" cy="1417320"/>
          </a:xfrm>
          <a:prstGeom prst="roundRect">
            <a:avLst>
              <a:gd name="adj" fmla="val 5161"/>
            </a:avLst>
          </a:prstGeom>
          <a:solidFill>
            <a:srgbClr val="EEF2EE"/>
          </a:solidFill>
          <a:ln/>
          <a:effectLst>
            <a:outerShdw sx="100000" sy="100000" kx="0" ky="0" algn="bl" rotWithShape="0" blurRad="101600" dist="38100" dir="5400000">
              <a:srgbClr val="1B2A4A">
                <a:alpha val="10000"/>
              </a:srgbClr>
            </a:outerShdw>
          </a:effectLst>
        </p:spPr>
      </p:sp>
      <p:sp>
        <p:nvSpPr>
          <p:cNvPr id="11" name="Text 9"/>
          <p:cNvSpPr/>
          <p:nvPr/>
        </p:nvSpPr>
        <p:spPr>
          <a:xfrm>
            <a:off x="868680" y="3465576"/>
            <a:ext cx="10424160" cy="256032"/>
          </a:xfrm>
          <a:prstGeom prst="rect">
            <a:avLst/>
          </a:prstGeom>
          <a:noFill/>
          <a:ln/>
        </p:spPr>
        <p:txBody>
          <a:bodyPr wrap="square" lIns="0" tIns="0" rIns="0" bIns="0" rtlCol="0" anchor="ctr"/>
          <a:lstStyle/>
          <a:p>
            <a:pPr indent="0" marL="0">
              <a:buNone/>
            </a:pPr>
            <a:r>
              <a:rPr lang="en-US" sz="1050" b="1" spc="100" kern="0" dirty="0">
                <a:solidFill>
                  <a:srgbClr val="4F6F52"/>
                </a:solidFill>
                <a:latin typeface="Calibri" pitchFamily="34" charset="0"/>
                <a:ea typeface="Calibri" pitchFamily="34" charset="-122"/>
                <a:cs typeface="Calibri" pitchFamily="34" charset="-120"/>
              </a:rPr>
              <a:t>推演</a:t>
            </a:r>
            <a:endParaRPr lang="en-US" sz="1050" dirty="0"/>
          </a:p>
        </p:txBody>
      </p:sp>
      <p:sp>
        <p:nvSpPr>
          <p:cNvPr id="12" name="Text 10"/>
          <p:cNvSpPr/>
          <p:nvPr/>
        </p:nvSpPr>
        <p:spPr>
          <a:xfrm>
            <a:off x="868680" y="3739896"/>
            <a:ext cx="10424160" cy="1033272"/>
          </a:xfrm>
          <a:prstGeom prst="rect">
            <a:avLst/>
          </a:prstGeom>
          <a:noFill/>
          <a:ln/>
        </p:spPr>
        <p:txBody>
          <a:bodyPr wrap="square" lIns="0" tIns="0" rIns="0" bIns="0" rtlCol="0" anchor="t"/>
          <a:lstStyle/>
          <a:p>
            <a:pPr indent="0" marL="0">
              <a:lnSpc>
                <a:spcPct val="122000"/>
              </a:lnSpc>
              <a:buNone/>
            </a:pPr>
            <a:r>
              <a:rPr lang="en-US" sz="1200" dirty="0">
                <a:solidFill>
                  <a:srgbClr val="33363B"/>
                </a:solidFill>
                <a:latin typeface="Calibri" pitchFamily="34" charset="0"/>
                <a:ea typeface="Calibri" pitchFamily="34" charset="-122"/>
                <a:cs typeface="Calibri" pitchFamily="34" charset="-120"/>
              </a:rPr>
              <a:t>你没有重复刚才的做法，而是把自己判断这类边界条件遗漏问题的三条标准拆解给老吴，让他用这三条标准重新分析一遍这次的具体案例，自己得出结论。</a:t>
            </a:r>
            <a:endParaRPr lang="en-US" sz="1200" dirty="0"/>
          </a:p>
        </p:txBody>
      </p:sp>
      <p:sp>
        <p:nvSpPr>
          <p:cNvPr id="13" name="Text 11"/>
          <p:cNvSpPr/>
          <p:nvPr/>
        </p:nvSpPr>
        <p:spPr>
          <a:xfrm>
            <a:off x="548640" y="4919472"/>
            <a:ext cx="1828800" cy="256032"/>
          </a:xfrm>
          <a:prstGeom prst="rect">
            <a:avLst/>
          </a:prstGeom>
          <a:noFill/>
          <a:ln/>
        </p:spPr>
        <p:txBody>
          <a:bodyPr wrap="square" lIns="0" tIns="0" rIns="0" bIns="0" rtlCol="0" anchor="ctr"/>
          <a:lstStyle/>
          <a:p>
            <a:pPr indent="0" marL="0">
              <a:buNone/>
            </a:pPr>
            <a:r>
              <a:rPr lang="en-US" sz="1050" b="1" spc="100" kern="0" dirty="0">
                <a:solidFill>
                  <a:srgbClr val="9C5536"/>
                </a:solidFill>
                <a:latin typeface="Calibri" pitchFamily="34" charset="0"/>
                <a:ea typeface="Calibri" pitchFamily="34" charset="-122"/>
                <a:cs typeface="Calibri" pitchFamily="34" charset="-120"/>
              </a:rPr>
              <a:t>理论回扣</a:t>
            </a:r>
            <a:endParaRPr lang="en-US" sz="1050" dirty="0"/>
          </a:p>
        </p:txBody>
      </p:sp>
      <p:sp>
        <p:nvSpPr>
          <p:cNvPr id="14" name="Text 12"/>
          <p:cNvSpPr/>
          <p:nvPr/>
        </p:nvSpPr>
        <p:spPr>
          <a:xfrm>
            <a:off x="548640" y="5175504"/>
            <a:ext cx="11064240" cy="502920"/>
          </a:xfrm>
          <a:prstGeom prst="rect">
            <a:avLst/>
          </a:prstGeom>
          <a:noFill/>
          <a:ln/>
        </p:spPr>
        <p:txBody>
          <a:bodyPr wrap="square" lIns="0" tIns="0" rIns="0" bIns="0" rtlCol="0" anchor="t"/>
          <a:lstStyle/>
          <a:p>
            <a:pPr indent="0" marL="0">
              <a:lnSpc>
                <a:spcPct val="115000"/>
              </a:lnSpc>
              <a:buNone/>
            </a:pPr>
            <a:r>
              <a:rPr lang="en-US" sz="1200" i="1" dirty="0">
                <a:solidFill>
                  <a:srgbClr val="1B2A4A"/>
                </a:solidFill>
                <a:latin typeface="Cambria" pitchFamily="34" charset="0"/>
                <a:ea typeface="Cambria" pitchFamily="34" charset="-122"/>
                <a:cs typeface="Cambria" pitchFamily="34" charset="-120"/>
              </a:rPr>
              <a:t>同一个问题，你这次正确执行了拆解决策路径和真实案例验证两步，把这次复盘真正变成了老吴能力成长的机会，而不只是一次问题的修复。</a:t>
            </a:r>
            <a:endParaRPr lang="en-US" sz="1200" dirty="0"/>
          </a:p>
        </p:txBody>
      </p:sp>
      <p:sp>
        <p:nvSpPr>
          <p:cNvPr id="15" name="Text 1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6" name="Text 1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12 / 17</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尾声</a:t>
            </a:r>
            <a:endParaRPr lang="en-US" sz="1250" dirty="0"/>
          </a:p>
        </p:txBody>
      </p:sp>
      <p:sp>
        <p:nvSpPr>
          <p:cNvPr id="3" name="Text 1"/>
          <p:cNvSpPr/>
          <p:nvPr/>
        </p:nvSpPr>
        <p:spPr>
          <a:xfrm>
            <a:off x="548640" y="722376"/>
            <a:ext cx="11064240" cy="64008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危机结束后的部门周会</a:t>
            </a:r>
            <a:endParaRPr lang="en-US" sz="2600" dirty="0"/>
          </a:p>
        </p:txBody>
      </p:sp>
      <p:sp>
        <p:nvSpPr>
          <p:cNvPr id="4" name="Shape 2"/>
          <p:cNvSpPr/>
          <p:nvPr/>
        </p:nvSpPr>
        <p:spPr>
          <a:xfrm>
            <a:off x="548640" y="1645920"/>
            <a:ext cx="11064240" cy="2103120"/>
          </a:xfrm>
          <a:prstGeom prst="roundRect">
            <a:avLst>
              <a:gd name="adj" fmla="val 3478"/>
            </a:avLst>
          </a:prstGeom>
          <a:solidFill>
            <a:srgbClr val="EEF1F6"/>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828800"/>
            <a:ext cx="10424160" cy="1737360"/>
          </a:xfrm>
          <a:prstGeom prst="rect">
            <a:avLst/>
          </a:prstGeom>
          <a:noFill/>
          <a:ln/>
        </p:spPr>
        <p:txBody>
          <a:bodyPr wrap="square" lIns="0" tIns="0" rIns="0" bIns="0" rtlCol="0" anchor="t"/>
          <a:lstStyle/>
          <a:p>
            <a:pPr indent="0" marL="0">
              <a:lnSpc>
                <a:spcPct val="135000"/>
              </a:lnSpc>
              <a:buNone/>
            </a:pPr>
            <a:r>
              <a:rPr lang="en-US" sz="1400" dirty="0">
                <a:solidFill>
                  <a:srgbClr val="33363B"/>
                </a:solidFill>
                <a:latin typeface="Calibri" pitchFamily="34" charset="0"/>
                <a:ea typeface="Calibri" pitchFamily="34" charset="-122"/>
                <a:cs typeface="Calibri" pitchFamily="34" charset="-120"/>
              </a:rPr>
              <a:t>一周后的部门周会上，你没有自己向上级和跨部门做这次事故的复盘汇报，而是让老吴站上去讲——老吴讲清楚了根本原因、整改措施和后续的预防机制，会后多位跨部门同事都对老吴的处理能力印象深刻。</a:t>
            </a:r>
            <a:endParaRPr lang="en-US" sz="1400" dirty="0"/>
          </a:p>
        </p:txBody>
      </p:sp>
      <p:sp>
        <p:nvSpPr>
          <p:cNvPr id="6" name="Text 4"/>
          <p:cNvSpPr/>
          <p:nvPr/>
        </p:nvSpPr>
        <p:spPr>
          <a:xfrm>
            <a:off x="548640" y="4023360"/>
            <a:ext cx="18288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理论回扣</a:t>
            </a:r>
            <a:endParaRPr lang="en-US" sz="1100" dirty="0"/>
          </a:p>
        </p:txBody>
      </p:sp>
      <p:sp>
        <p:nvSpPr>
          <p:cNvPr id="7" name="Text 5"/>
          <p:cNvSpPr/>
          <p:nvPr/>
        </p:nvSpPr>
        <p:spPr>
          <a:xfrm>
            <a:off x="548640" y="4315968"/>
            <a:ext cx="11064240" cy="1280160"/>
          </a:xfrm>
          <a:prstGeom prst="rect">
            <a:avLst/>
          </a:prstGeom>
          <a:noFill/>
          <a:ln/>
        </p:spPr>
        <p:txBody>
          <a:bodyPr wrap="square" lIns="0" tIns="0" rIns="0" bIns="0" rtlCol="0" anchor="t"/>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这个决定悄悄埋下了 M3《给舞台》的种子——你本可以自己讲得更快更准，但把这次曝光机会留给了真正经历这次事件、也真正从中成长的人。这条线，会在下一讲《实战推演（下）》里继续展开。</a:t>
            </a:r>
            <a:endParaRPr lang="en-US" sz="1400" dirty="0"/>
          </a:p>
        </p:txBody>
      </p:sp>
      <p:sp>
        <p:nvSpPr>
          <p:cNvPr id="8" name="Text 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9" name="Text 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13 / 17</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决策链回顾</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这场危机里，你一共做了几次关键判断</a:t>
            </a:r>
            <a:endParaRPr lang="en-US" sz="2400" dirty="0"/>
          </a:p>
        </p:txBody>
      </p:sp>
      <p:sp>
        <p:nvSpPr>
          <p:cNvPr id="4" name="Text 2"/>
          <p:cNvSpPr/>
          <p:nvPr/>
        </p:nvSpPr>
        <p:spPr>
          <a:xfrm>
            <a:off x="548640" y="1371600"/>
            <a:ext cx="11064240" cy="365760"/>
          </a:xfrm>
          <a:prstGeom prst="rect">
            <a:avLst/>
          </a:prstGeom>
          <a:noFill/>
          <a:ln/>
        </p:spPr>
        <p:txBody>
          <a:bodyPr wrap="square" lIns="0" tIns="0" rIns="0" bIns="0" rtlCol="0" anchor="ctr"/>
          <a:lstStyle/>
          <a:p>
            <a:pPr indent="0" marL="0">
              <a:buNone/>
            </a:pPr>
            <a:r>
              <a:rPr lang="en-US" sz="1300" i="1" dirty="0">
                <a:solidFill>
                  <a:srgbClr val="7C7F84"/>
                </a:solidFill>
                <a:latin typeface="Calibri" pitchFamily="34" charset="0"/>
                <a:ea typeface="Calibri" pitchFamily="34" charset="-122"/>
                <a:cs typeface="Calibri" pitchFamily="34" charset="-120"/>
              </a:rPr>
              <a:t>48小时内，8个决策点 + 2个陷阱节点</a:t>
            </a:r>
            <a:endParaRPr lang="en-US" sz="1300" dirty="0"/>
          </a:p>
        </p:txBody>
      </p:sp>
      <p:sp>
        <p:nvSpPr>
          <p:cNvPr id="5" name="Shape 3"/>
          <p:cNvSpPr/>
          <p:nvPr/>
        </p:nvSpPr>
        <p:spPr>
          <a:xfrm>
            <a:off x="548640" y="187452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6" name="Shape 4"/>
          <p:cNvSpPr/>
          <p:nvPr/>
        </p:nvSpPr>
        <p:spPr>
          <a:xfrm>
            <a:off x="731520" y="2084832"/>
            <a:ext cx="1554480" cy="292608"/>
          </a:xfrm>
          <a:prstGeom prst="roundRect">
            <a:avLst>
              <a:gd name="adj" fmla="val 18750"/>
            </a:avLst>
          </a:prstGeom>
          <a:solidFill>
            <a:srgbClr val="1B2A4A"/>
          </a:solidFill>
          <a:ln/>
        </p:spPr>
      </p:sp>
      <p:sp>
        <p:nvSpPr>
          <p:cNvPr id="7" name="Text 5"/>
          <p:cNvSpPr/>
          <p:nvPr/>
        </p:nvSpPr>
        <p:spPr>
          <a:xfrm>
            <a:off x="731520" y="208483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1</a:t>
            </a:r>
            <a:endParaRPr lang="en-US" sz="1050" dirty="0"/>
          </a:p>
        </p:txBody>
      </p:sp>
      <p:sp>
        <p:nvSpPr>
          <p:cNvPr id="8" name="Text 6"/>
          <p:cNvSpPr/>
          <p:nvPr/>
        </p:nvSpPr>
        <p:spPr>
          <a:xfrm>
            <a:off x="2468880" y="187452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M5 需求仲裁</a:t>
            </a:r>
            <a:endParaRPr lang="en-US" sz="1300" dirty="0"/>
          </a:p>
        </p:txBody>
      </p:sp>
      <p:sp>
        <p:nvSpPr>
          <p:cNvPr id="9" name="Shape 7"/>
          <p:cNvSpPr/>
          <p:nvPr/>
        </p:nvSpPr>
        <p:spPr>
          <a:xfrm>
            <a:off x="548640" y="269748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10" name="Shape 8"/>
          <p:cNvSpPr/>
          <p:nvPr/>
        </p:nvSpPr>
        <p:spPr>
          <a:xfrm>
            <a:off x="731520" y="2907792"/>
            <a:ext cx="1554480" cy="292608"/>
          </a:xfrm>
          <a:prstGeom prst="roundRect">
            <a:avLst>
              <a:gd name="adj" fmla="val 18750"/>
            </a:avLst>
          </a:prstGeom>
          <a:solidFill>
            <a:srgbClr val="1B2A4A"/>
          </a:solidFill>
          <a:ln/>
        </p:spPr>
      </p:sp>
      <p:sp>
        <p:nvSpPr>
          <p:cNvPr id="11" name="Text 9"/>
          <p:cNvSpPr/>
          <p:nvPr/>
        </p:nvSpPr>
        <p:spPr>
          <a:xfrm>
            <a:off x="731520" y="290779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2</a:t>
            </a:r>
            <a:endParaRPr lang="en-US" sz="1050" dirty="0"/>
          </a:p>
        </p:txBody>
      </p:sp>
      <p:sp>
        <p:nvSpPr>
          <p:cNvPr id="12" name="Text 10"/>
          <p:cNvSpPr/>
          <p:nvPr/>
        </p:nvSpPr>
        <p:spPr>
          <a:xfrm>
            <a:off x="2468880" y="269748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M1 杠杆率边界（下场）</a:t>
            </a:r>
            <a:endParaRPr lang="en-US" sz="1300" dirty="0"/>
          </a:p>
        </p:txBody>
      </p:sp>
      <p:sp>
        <p:nvSpPr>
          <p:cNvPr id="13" name="Shape 11"/>
          <p:cNvSpPr/>
          <p:nvPr/>
        </p:nvSpPr>
        <p:spPr>
          <a:xfrm>
            <a:off x="548640" y="3520440"/>
            <a:ext cx="5440680" cy="713232"/>
          </a:xfrm>
          <a:prstGeom prst="roundRect">
            <a:avLst>
              <a:gd name="adj" fmla="val 10256"/>
            </a:avLst>
          </a:prstGeom>
          <a:solidFill>
            <a:srgbClr val="F5EEEA"/>
          </a:solidFill>
          <a:ln/>
          <a:effectLst>
            <a:outerShdw sx="100000" sy="100000" kx="0" ky="0" algn="bl" rotWithShape="0" blurRad="101600" dist="38100" dir="5400000">
              <a:srgbClr val="1B2A4A">
                <a:alpha val="10000"/>
              </a:srgbClr>
            </a:outerShdw>
          </a:effectLst>
        </p:spPr>
      </p:sp>
      <p:sp>
        <p:nvSpPr>
          <p:cNvPr id="14" name="Shape 12"/>
          <p:cNvSpPr/>
          <p:nvPr/>
        </p:nvSpPr>
        <p:spPr>
          <a:xfrm>
            <a:off x="731520" y="3730752"/>
            <a:ext cx="1554480" cy="292608"/>
          </a:xfrm>
          <a:prstGeom prst="roundRect">
            <a:avLst>
              <a:gd name="adj" fmla="val 18750"/>
            </a:avLst>
          </a:prstGeom>
          <a:solidFill>
            <a:srgbClr val="9C5536"/>
          </a:solidFill>
          <a:ln/>
        </p:spPr>
      </p:sp>
      <p:sp>
        <p:nvSpPr>
          <p:cNvPr id="15" name="Text 13"/>
          <p:cNvSpPr/>
          <p:nvPr/>
        </p:nvSpPr>
        <p:spPr>
          <a:xfrm>
            <a:off x="731520" y="373075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陷阱节点 1</a:t>
            </a:r>
            <a:endParaRPr lang="en-US" sz="1050" dirty="0"/>
          </a:p>
        </p:txBody>
      </p:sp>
      <p:sp>
        <p:nvSpPr>
          <p:cNvPr id="16" name="Text 14"/>
          <p:cNvSpPr/>
          <p:nvPr/>
        </p:nvSpPr>
        <p:spPr>
          <a:xfrm>
            <a:off x="2468880" y="352044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M2 拒绝越级（反例）</a:t>
            </a:r>
            <a:endParaRPr lang="en-US" sz="1300" dirty="0"/>
          </a:p>
        </p:txBody>
      </p:sp>
      <p:sp>
        <p:nvSpPr>
          <p:cNvPr id="17" name="Shape 15"/>
          <p:cNvSpPr/>
          <p:nvPr/>
        </p:nvSpPr>
        <p:spPr>
          <a:xfrm>
            <a:off x="548640" y="434340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18" name="Shape 16"/>
          <p:cNvSpPr/>
          <p:nvPr/>
        </p:nvSpPr>
        <p:spPr>
          <a:xfrm>
            <a:off x="731520" y="4553712"/>
            <a:ext cx="1554480" cy="292608"/>
          </a:xfrm>
          <a:prstGeom prst="roundRect">
            <a:avLst>
              <a:gd name="adj" fmla="val 18750"/>
            </a:avLst>
          </a:prstGeom>
          <a:solidFill>
            <a:srgbClr val="1B2A4A"/>
          </a:solidFill>
          <a:ln/>
        </p:spPr>
      </p:sp>
      <p:sp>
        <p:nvSpPr>
          <p:cNvPr id="19" name="Text 17"/>
          <p:cNvSpPr/>
          <p:nvPr/>
        </p:nvSpPr>
        <p:spPr>
          <a:xfrm>
            <a:off x="731520" y="455371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3</a:t>
            </a:r>
            <a:endParaRPr lang="en-US" sz="1050" dirty="0"/>
          </a:p>
        </p:txBody>
      </p:sp>
      <p:sp>
        <p:nvSpPr>
          <p:cNvPr id="20" name="Text 18"/>
          <p:cNvSpPr/>
          <p:nvPr/>
        </p:nvSpPr>
        <p:spPr>
          <a:xfrm>
            <a:off x="2468880" y="434340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M2 拒绝越级（正例）</a:t>
            </a:r>
            <a:endParaRPr lang="en-US" sz="1300" dirty="0"/>
          </a:p>
        </p:txBody>
      </p:sp>
      <p:sp>
        <p:nvSpPr>
          <p:cNvPr id="21" name="Shape 19"/>
          <p:cNvSpPr/>
          <p:nvPr/>
        </p:nvSpPr>
        <p:spPr>
          <a:xfrm>
            <a:off x="548640" y="516636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22" name="Shape 20"/>
          <p:cNvSpPr/>
          <p:nvPr/>
        </p:nvSpPr>
        <p:spPr>
          <a:xfrm>
            <a:off x="731520" y="5376672"/>
            <a:ext cx="1554480" cy="292608"/>
          </a:xfrm>
          <a:prstGeom prst="roundRect">
            <a:avLst>
              <a:gd name="adj" fmla="val 18750"/>
            </a:avLst>
          </a:prstGeom>
          <a:solidFill>
            <a:srgbClr val="1B2A4A"/>
          </a:solidFill>
          <a:ln/>
        </p:spPr>
      </p:sp>
      <p:sp>
        <p:nvSpPr>
          <p:cNvPr id="23" name="Text 21"/>
          <p:cNvSpPr/>
          <p:nvPr/>
        </p:nvSpPr>
        <p:spPr>
          <a:xfrm>
            <a:off x="731520" y="537667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4</a:t>
            </a:r>
            <a:endParaRPr lang="en-US" sz="1050" dirty="0"/>
          </a:p>
        </p:txBody>
      </p:sp>
      <p:sp>
        <p:nvSpPr>
          <p:cNvPr id="24" name="Text 22"/>
          <p:cNvSpPr/>
          <p:nvPr/>
        </p:nvSpPr>
        <p:spPr>
          <a:xfrm>
            <a:off x="2468880" y="516636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M6 战略对齐边界</a:t>
            </a:r>
            <a:endParaRPr lang="en-US" sz="1300" dirty="0"/>
          </a:p>
        </p:txBody>
      </p:sp>
      <p:sp>
        <p:nvSpPr>
          <p:cNvPr id="25" name="Shape 23"/>
          <p:cNvSpPr/>
          <p:nvPr/>
        </p:nvSpPr>
        <p:spPr>
          <a:xfrm>
            <a:off x="6172200" y="187452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26" name="Shape 24"/>
          <p:cNvSpPr/>
          <p:nvPr/>
        </p:nvSpPr>
        <p:spPr>
          <a:xfrm>
            <a:off x="6355080" y="2084832"/>
            <a:ext cx="1554480" cy="292608"/>
          </a:xfrm>
          <a:prstGeom prst="roundRect">
            <a:avLst>
              <a:gd name="adj" fmla="val 18750"/>
            </a:avLst>
          </a:prstGeom>
          <a:solidFill>
            <a:srgbClr val="1B2A4A"/>
          </a:solidFill>
          <a:ln/>
        </p:spPr>
      </p:sp>
      <p:sp>
        <p:nvSpPr>
          <p:cNvPr id="27" name="Text 25"/>
          <p:cNvSpPr/>
          <p:nvPr/>
        </p:nvSpPr>
        <p:spPr>
          <a:xfrm>
            <a:off x="6355080" y="208483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5</a:t>
            </a:r>
            <a:endParaRPr lang="en-US" sz="1050" dirty="0"/>
          </a:p>
        </p:txBody>
      </p:sp>
      <p:sp>
        <p:nvSpPr>
          <p:cNvPr id="28" name="Text 26"/>
          <p:cNvSpPr/>
          <p:nvPr/>
        </p:nvSpPr>
        <p:spPr>
          <a:xfrm>
            <a:off x="8092440" y="187452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M5 需求仲裁延续</a:t>
            </a:r>
            <a:endParaRPr lang="en-US" sz="1300" dirty="0"/>
          </a:p>
        </p:txBody>
      </p:sp>
      <p:sp>
        <p:nvSpPr>
          <p:cNvPr id="29" name="Shape 27"/>
          <p:cNvSpPr/>
          <p:nvPr/>
        </p:nvSpPr>
        <p:spPr>
          <a:xfrm>
            <a:off x="6172200" y="269748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30" name="Shape 28"/>
          <p:cNvSpPr/>
          <p:nvPr/>
        </p:nvSpPr>
        <p:spPr>
          <a:xfrm>
            <a:off x="6355080" y="2907792"/>
            <a:ext cx="1554480" cy="292608"/>
          </a:xfrm>
          <a:prstGeom prst="roundRect">
            <a:avLst>
              <a:gd name="adj" fmla="val 18750"/>
            </a:avLst>
          </a:prstGeom>
          <a:solidFill>
            <a:srgbClr val="1B2A4A"/>
          </a:solidFill>
          <a:ln/>
        </p:spPr>
      </p:sp>
      <p:sp>
        <p:nvSpPr>
          <p:cNvPr id="31" name="Text 29"/>
          <p:cNvSpPr/>
          <p:nvPr/>
        </p:nvSpPr>
        <p:spPr>
          <a:xfrm>
            <a:off x="6355080" y="290779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6</a:t>
            </a:r>
            <a:endParaRPr lang="en-US" sz="1050" dirty="0"/>
          </a:p>
        </p:txBody>
      </p:sp>
      <p:sp>
        <p:nvSpPr>
          <p:cNvPr id="32" name="Text 30"/>
          <p:cNvSpPr/>
          <p:nvPr/>
        </p:nvSpPr>
        <p:spPr>
          <a:xfrm>
            <a:off x="8092440" y="269748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M1 杠杆率边界（交还）</a:t>
            </a:r>
            <a:endParaRPr lang="en-US" sz="1300" dirty="0"/>
          </a:p>
        </p:txBody>
      </p:sp>
      <p:sp>
        <p:nvSpPr>
          <p:cNvPr id="33" name="Shape 31"/>
          <p:cNvSpPr/>
          <p:nvPr/>
        </p:nvSpPr>
        <p:spPr>
          <a:xfrm>
            <a:off x="6172200" y="352044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34" name="Shape 32"/>
          <p:cNvSpPr/>
          <p:nvPr/>
        </p:nvSpPr>
        <p:spPr>
          <a:xfrm>
            <a:off x="6355080" y="3730752"/>
            <a:ext cx="1554480" cy="292608"/>
          </a:xfrm>
          <a:prstGeom prst="roundRect">
            <a:avLst>
              <a:gd name="adj" fmla="val 18750"/>
            </a:avLst>
          </a:prstGeom>
          <a:solidFill>
            <a:srgbClr val="1B2A4A"/>
          </a:solidFill>
          <a:ln/>
        </p:spPr>
      </p:sp>
      <p:sp>
        <p:nvSpPr>
          <p:cNvPr id="35" name="Text 33"/>
          <p:cNvSpPr/>
          <p:nvPr/>
        </p:nvSpPr>
        <p:spPr>
          <a:xfrm>
            <a:off x="6355080" y="373075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7</a:t>
            </a:r>
            <a:endParaRPr lang="en-US" sz="1050" dirty="0"/>
          </a:p>
        </p:txBody>
      </p:sp>
      <p:sp>
        <p:nvSpPr>
          <p:cNvPr id="36" name="Text 34"/>
          <p:cNvSpPr/>
          <p:nvPr/>
        </p:nvSpPr>
        <p:spPr>
          <a:xfrm>
            <a:off x="8092440" y="352044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M7 背黑锅</a:t>
            </a:r>
            <a:endParaRPr lang="en-US" sz="1300" dirty="0"/>
          </a:p>
        </p:txBody>
      </p:sp>
      <p:sp>
        <p:nvSpPr>
          <p:cNvPr id="37" name="Shape 35"/>
          <p:cNvSpPr/>
          <p:nvPr/>
        </p:nvSpPr>
        <p:spPr>
          <a:xfrm>
            <a:off x="6172200" y="4343400"/>
            <a:ext cx="5440680" cy="713232"/>
          </a:xfrm>
          <a:prstGeom prst="roundRect">
            <a:avLst>
              <a:gd name="adj" fmla="val 10256"/>
            </a:avLst>
          </a:prstGeom>
          <a:solidFill>
            <a:srgbClr val="F5EEEA"/>
          </a:solidFill>
          <a:ln/>
          <a:effectLst>
            <a:outerShdw sx="100000" sy="100000" kx="0" ky="0" algn="bl" rotWithShape="0" blurRad="101600" dist="38100" dir="5400000">
              <a:srgbClr val="1B2A4A">
                <a:alpha val="10000"/>
              </a:srgbClr>
            </a:outerShdw>
          </a:effectLst>
        </p:spPr>
      </p:sp>
      <p:sp>
        <p:nvSpPr>
          <p:cNvPr id="38" name="Shape 36"/>
          <p:cNvSpPr/>
          <p:nvPr/>
        </p:nvSpPr>
        <p:spPr>
          <a:xfrm>
            <a:off x="6355080" y="4553712"/>
            <a:ext cx="1554480" cy="292608"/>
          </a:xfrm>
          <a:prstGeom prst="roundRect">
            <a:avLst>
              <a:gd name="adj" fmla="val 18750"/>
            </a:avLst>
          </a:prstGeom>
          <a:solidFill>
            <a:srgbClr val="9C5536"/>
          </a:solidFill>
          <a:ln/>
        </p:spPr>
      </p:sp>
      <p:sp>
        <p:nvSpPr>
          <p:cNvPr id="39" name="Text 37"/>
          <p:cNvSpPr/>
          <p:nvPr/>
        </p:nvSpPr>
        <p:spPr>
          <a:xfrm>
            <a:off x="6355080" y="455371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陷阱节点 2</a:t>
            </a:r>
            <a:endParaRPr lang="en-US" sz="1050" dirty="0"/>
          </a:p>
        </p:txBody>
      </p:sp>
      <p:sp>
        <p:nvSpPr>
          <p:cNvPr id="40" name="Text 38"/>
          <p:cNvSpPr/>
          <p:nvPr/>
        </p:nvSpPr>
        <p:spPr>
          <a:xfrm>
            <a:off x="8092440" y="434340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M4 给方法（反例）</a:t>
            </a:r>
            <a:endParaRPr lang="en-US" sz="1300" dirty="0"/>
          </a:p>
        </p:txBody>
      </p:sp>
      <p:sp>
        <p:nvSpPr>
          <p:cNvPr id="41" name="Shape 39"/>
          <p:cNvSpPr/>
          <p:nvPr/>
        </p:nvSpPr>
        <p:spPr>
          <a:xfrm>
            <a:off x="6172200" y="5166360"/>
            <a:ext cx="5440680" cy="713232"/>
          </a:xfrm>
          <a:prstGeom prst="roundRect">
            <a:avLst>
              <a:gd name="adj" fmla="val 10256"/>
            </a:avLst>
          </a:prstGeom>
          <a:solidFill>
            <a:srgbClr val="EEF1F6"/>
          </a:solidFill>
          <a:ln/>
          <a:effectLst>
            <a:outerShdw sx="100000" sy="100000" kx="0" ky="0" algn="bl" rotWithShape="0" blurRad="101600" dist="38100" dir="5400000">
              <a:srgbClr val="1B2A4A">
                <a:alpha val="10000"/>
              </a:srgbClr>
            </a:outerShdw>
          </a:effectLst>
        </p:spPr>
      </p:sp>
      <p:sp>
        <p:nvSpPr>
          <p:cNvPr id="42" name="Shape 40"/>
          <p:cNvSpPr/>
          <p:nvPr/>
        </p:nvSpPr>
        <p:spPr>
          <a:xfrm>
            <a:off x="6355080" y="5376672"/>
            <a:ext cx="1554480" cy="292608"/>
          </a:xfrm>
          <a:prstGeom prst="roundRect">
            <a:avLst>
              <a:gd name="adj" fmla="val 18750"/>
            </a:avLst>
          </a:prstGeom>
          <a:solidFill>
            <a:srgbClr val="1B2A4A"/>
          </a:solidFill>
          <a:ln/>
        </p:spPr>
      </p:sp>
      <p:sp>
        <p:nvSpPr>
          <p:cNvPr id="43" name="Text 41"/>
          <p:cNvSpPr/>
          <p:nvPr/>
        </p:nvSpPr>
        <p:spPr>
          <a:xfrm>
            <a:off x="6355080" y="5376672"/>
            <a:ext cx="1554480" cy="29260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决策点 8</a:t>
            </a:r>
            <a:endParaRPr lang="en-US" sz="1050" dirty="0"/>
          </a:p>
        </p:txBody>
      </p:sp>
      <p:sp>
        <p:nvSpPr>
          <p:cNvPr id="44" name="Text 42"/>
          <p:cNvSpPr/>
          <p:nvPr/>
        </p:nvSpPr>
        <p:spPr>
          <a:xfrm>
            <a:off x="8092440" y="5166360"/>
            <a:ext cx="3337560" cy="713232"/>
          </a:xfrm>
          <a:prstGeom prst="rect">
            <a:avLst/>
          </a:prstGeom>
          <a:noFill/>
          <a:ln/>
        </p:spPr>
        <p:txBody>
          <a:bodyPr wrap="square" lIns="0" tIns="0" rIns="0" bIns="0" rtlCol="0" anchor="ctr"/>
          <a:lstStyle/>
          <a:p>
            <a:pPr indent="0" marL="0">
              <a:buNone/>
            </a:pPr>
            <a:r>
              <a:rPr lang="en-US" sz="1300" b="1" dirty="0">
                <a:solidFill>
                  <a:srgbClr val="1B2A4A"/>
                </a:solidFill>
                <a:latin typeface="Cambria" pitchFamily="34" charset="0"/>
                <a:ea typeface="Cambria" pitchFamily="34" charset="-122"/>
                <a:cs typeface="Cambria" pitchFamily="34" charset="-120"/>
              </a:rPr>
              <a:t>M4 给方法（正例）</a:t>
            </a:r>
            <a:endParaRPr lang="en-US" sz="1300" dirty="0"/>
          </a:p>
        </p:txBody>
      </p:sp>
      <p:sp>
        <p:nvSpPr>
          <p:cNvPr id="45" name="Text 43"/>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46" name="Text 44"/>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14 / 17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总结</a:t>
            </a:r>
            <a:endParaRPr lang="en-US" sz="1250" dirty="0"/>
          </a:p>
        </p:txBody>
      </p:sp>
      <p:sp>
        <p:nvSpPr>
          <p:cNvPr id="3" name="Text 1"/>
          <p:cNvSpPr/>
          <p:nvPr/>
        </p:nvSpPr>
        <p:spPr>
          <a:xfrm>
            <a:off x="548640" y="722376"/>
            <a:ext cx="11064240" cy="868680"/>
          </a:xfrm>
          <a:prstGeom prst="rect">
            <a:avLst/>
          </a:prstGeom>
          <a:noFill/>
          <a:ln/>
        </p:spPr>
        <p:txBody>
          <a:bodyPr wrap="square" lIns="0" tIns="0" rIns="0" bIns="0" rtlCol="0" anchor="ctr"/>
          <a:lstStyle/>
          <a:p>
            <a:pPr indent="0" marL="0">
              <a:buNone/>
            </a:pPr>
            <a:r>
              <a:rPr lang="en-US" sz="2200" b="1" dirty="0">
                <a:solidFill>
                  <a:srgbClr val="1B2A4A"/>
                </a:solidFill>
                <a:latin typeface="Cambria" pitchFamily="34" charset="0"/>
                <a:ea typeface="Cambria" pitchFamily="34" charset="-122"/>
                <a:cs typeface="Cambria" pitchFamily="34" charset="-120"/>
              </a:rPr>
              <a:t>一次危机，检验的不是知识，是知识能不能在压力下还保持完整</a:t>
            </a:r>
            <a:endParaRPr lang="en-US" sz="2200" dirty="0"/>
          </a:p>
        </p:txBody>
      </p:sp>
      <p:sp>
        <p:nvSpPr>
          <p:cNvPr id="4" name="Text 2"/>
          <p:cNvSpPr/>
          <p:nvPr/>
        </p:nvSpPr>
        <p:spPr>
          <a:xfrm>
            <a:off x="548640" y="1783080"/>
            <a:ext cx="11064240" cy="1828800"/>
          </a:xfrm>
          <a:prstGeom prst="rect">
            <a:avLst/>
          </a:prstGeom>
          <a:noFill/>
          <a:ln/>
        </p:spPr>
        <p:txBody>
          <a:bodyPr wrap="square" lIns="0" tIns="0" rIns="0" bIns="0" rtlCol="0" anchor="t"/>
          <a:lstStyle/>
          <a:p>
            <a:pPr indent="0" marL="0">
              <a:lnSpc>
                <a:spcPct val="135000"/>
              </a:lnSpc>
              <a:buNone/>
            </a:pPr>
            <a:r>
              <a:rPr lang="en-US" sz="1350" dirty="0">
                <a:solidFill>
                  <a:srgbClr val="33363B"/>
                </a:solidFill>
                <a:latin typeface="Calibri" pitchFamily="34" charset="0"/>
                <a:ea typeface="Calibri" pitchFamily="34" charset="-122"/>
                <a:cs typeface="Calibri" pitchFamily="34" charset="-120"/>
              </a:rPr>
              <a:t>这场48小时的危机里，你用到的每一个框架都不是孤立的知识点——它们在压力下互相纠缠、互相竞争你的注意力，而两次陷阱节点也说明，即使是已经熟练掌握的框架，在高压环境下依然可能被简化、被跳过。真正的管理能力，不是记住了多少框架，而是在压力最大的时候，依然能保持框架之间清晰的边界。</a:t>
            </a:r>
            <a:endParaRPr lang="en-US" sz="1350" dirty="0"/>
          </a:p>
        </p:txBody>
      </p:sp>
      <p:sp>
        <p:nvSpPr>
          <p:cNvPr id="5" name="Shape 3"/>
          <p:cNvSpPr/>
          <p:nvPr/>
        </p:nvSpPr>
        <p:spPr>
          <a:xfrm>
            <a:off x="548640" y="3931920"/>
            <a:ext cx="11064240" cy="1188720"/>
          </a:xfrm>
          <a:prstGeom prst="roundRect">
            <a:avLst>
              <a:gd name="adj" fmla="val 6154"/>
            </a:avLst>
          </a:prstGeom>
          <a:solidFill>
            <a:srgbClr val="1B2A4A"/>
          </a:solidFill>
          <a:ln/>
          <a:effectLst>
            <a:outerShdw sx="100000" sy="100000" kx="0" ky="0" algn="bl" rotWithShape="0" blurRad="101600" dist="38100" dir="5400000">
              <a:srgbClr val="1B2A4A">
                <a:alpha val="10000"/>
              </a:srgbClr>
            </a:outerShdw>
          </a:effectLst>
        </p:spPr>
      </p:sp>
      <p:sp>
        <p:nvSpPr>
          <p:cNvPr id="6" name="Text 4"/>
          <p:cNvSpPr/>
          <p:nvPr/>
        </p:nvSpPr>
        <p:spPr>
          <a:xfrm>
            <a:off x="868680" y="3931920"/>
            <a:ext cx="10424160" cy="1188720"/>
          </a:xfrm>
          <a:prstGeom prst="rect">
            <a:avLst/>
          </a:prstGeom>
          <a:noFill/>
          <a:ln/>
        </p:spPr>
        <p:txBody>
          <a:bodyPr wrap="square" lIns="0" tIns="0" rIns="0" bIns="0" rtlCol="0" anchor="ctr"/>
          <a:lstStyle/>
          <a:p>
            <a:pPr algn="ctr" indent="0" marL="0">
              <a:buNone/>
            </a:pPr>
            <a:r>
              <a:rPr lang="en-US" sz="1900" i="1" dirty="0">
                <a:solidFill>
                  <a:srgbClr val="FFFFFF"/>
                </a:solidFill>
                <a:latin typeface="Cambria" pitchFamily="34" charset="0"/>
                <a:ea typeface="Cambria" pitchFamily="34" charset="-122"/>
                <a:cs typeface="Cambria" pitchFamily="34" charset="-120"/>
              </a:rPr>
              <a:t>危机考验的不是你懂多少道理，而是你在最累的时候，还分不分得清这一刻该用哪一条。</a:t>
            </a:r>
            <a:endParaRPr lang="en-US" sz="1900" dirty="0"/>
          </a:p>
        </p:txBody>
      </p:sp>
      <p:sp>
        <p:nvSpPr>
          <p:cNvPr id="7" name="Text 5"/>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8" name="Text 6"/>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15 / 17</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课后作业 · 场景设定</a:t>
            </a:r>
            <a:endParaRPr lang="en-US" sz="1250" dirty="0"/>
          </a:p>
        </p:txBody>
      </p:sp>
      <p:sp>
        <p:nvSpPr>
          <p:cNvPr id="3" name="Text 1"/>
          <p:cNvSpPr/>
          <p:nvPr/>
        </p:nvSpPr>
        <p:spPr>
          <a:xfrm>
            <a:off x="548640" y="722376"/>
            <a:ext cx="11064240" cy="640080"/>
          </a:xfrm>
          <a:prstGeom prst="rect">
            <a:avLst/>
          </a:prstGeom>
          <a:noFill/>
          <a:ln/>
        </p:spPr>
        <p:txBody>
          <a:bodyPr wrap="square" lIns="0" tIns="0" rIns="0" bIns="0" rtlCol="0" anchor="ctr"/>
          <a:lstStyle/>
          <a:p>
            <a:pPr indent="0" marL="0">
              <a:buNone/>
            </a:pPr>
            <a:r>
              <a:rPr lang="en-US" sz="2600" b="1" dirty="0">
                <a:solidFill>
                  <a:srgbClr val="1B2A4A"/>
                </a:solidFill>
                <a:latin typeface="Cambria" pitchFamily="34" charset="0"/>
                <a:ea typeface="Cambria" pitchFamily="34" charset="-122"/>
                <a:cs typeface="Cambria" pitchFamily="34" charset="-120"/>
              </a:rPr>
              <a:t>换一条产线，同样的48小时</a:t>
            </a:r>
            <a:endParaRPr lang="en-US" sz="2600" dirty="0"/>
          </a:p>
        </p:txBody>
      </p:sp>
      <p:sp>
        <p:nvSpPr>
          <p:cNvPr id="4" name="Shape 2"/>
          <p:cNvSpPr/>
          <p:nvPr/>
        </p:nvSpPr>
        <p:spPr>
          <a:xfrm>
            <a:off x="548640" y="1645920"/>
            <a:ext cx="11064240" cy="1645920"/>
          </a:xfrm>
          <a:prstGeom prst="roundRect">
            <a:avLst>
              <a:gd name="adj" fmla="val 4444"/>
            </a:avLst>
          </a:prstGeom>
          <a:solidFill>
            <a:srgbClr val="EEF2EE"/>
          </a:solidFill>
          <a:ln/>
          <a:effectLst>
            <a:outerShdw sx="100000" sy="100000" kx="0" ky="0" algn="bl" rotWithShape="0" blurRad="101600" dist="38100" dir="5400000">
              <a:srgbClr val="1B2A4A">
                <a:alpha val="10000"/>
              </a:srgbClr>
            </a:outerShdw>
          </a:effectLst>
        </p:spPr>
      </p:sp>
      <p:sp>
        <p:nvSpPr>
          <p:cNvPr id="5" name="Text 3"/>
          <p:cNvSpPr/>
          <p:nvPr/>
        </p:nvSpPr>
        <p:spPr>
          <a:xfrm>
            <a:off x="868680" y="1801368"/>
            <a:ext cx="1828800" cy="274320"/>
          </a:xfrm>
          <a:prstGeom prst="rect">
            <a:avLst/>
          </a:prstGeom>
          <a:noFill/>
          <a:ln/>
        </p:spPr>
        <p:txBody>
          <a:bodyPr wrap="square" lIns="0" tIns="0" rIns="0" bIns="0" rtlCol="0" anchor="ctr"/>
          <a:lstStyle/>
          <a:p>
            <a:pPr indent="0" marL="0">
              <a:buNone/>
            </a:pPr>
            <a:r>
              <a:rPr lang="en-US" sz="1100" b="1" spc="100" kern="0" dirty="0">
                <a:solidFill>
                  <a:srgbClr val="4F6F52"/>
                </a:solidFill>
                <a:latin typeface="Calibri" pitchFamily="34" charset="0"/>
                <a:ea typeface="Calibri" pitchFamily="34" charset="-122"/>
                <a:cs typeface="Calibri" pitchFamily="34" charset="-120"/>
              </a:rPr>
              <a:t>场景</a:t>
            </a:r>
            <a:endParaRPr lang="en-US" sz="1100" dirty="0"/>
          </a:p>
        </p:txBody>
      </p:sp>
      <p:sp>
        <p:nvSpPr>
          <p:cNvPr id="6" name="Text 4"/>
          <p:cNvSpPr/>
          <p:nvPr/>
        </p:nvSpPr>
        <p:spPr>
          <a:xfrm>
            <a:off x="868680" y="2075688"/>
            <a:ext cx="10424160" cy="1097280"/>
          </a:xfrm>
          <a:prstGeom prst="rect">
            <a:avLst/>
          </a:prstGeom>
          <a:noFill/>
          <a:ln/>
        </p:spPr>
        <p:txBody>
          <a:bodyPr wrap="square" lIns="0" tIns="0" rIns="0" bIns="0" rtlCol="0" anchor="t"/>
          <a:lstStyle/>
          <a:p>
            <a:pPr indent="0" marL="0">
              <a:lnSpc>
                <a:spcPct val="130000"/>
              </a:lnSpc>
              <a:buNone/>
            </a:pPr>
            <a:r>
              <a:rPr lang="en-US" sz="1350" dirty="0">
                <a:solidFill>
                  <a:srgbClr val="33363B"/>
                </a:solidFill>
                <a:latin typeface="Calibri" pitchFamily="34" charset="0"/>
                <a:ea typeface="Calibri" pitchFamily="34" charset="-122"/>
                <a:cs typeface="Calibri" pitchFamily="34" charset="-120"/>
              </a:rPr>
              <a:t>这次轮到你独立走一遍完整的决策链。背景与正文相似但参数不同——王科负责的另一条产线出现良率异常，叠加另一组跨部门资源冲突，以及一条更紧迫的战略指示。时间窗口同样压缩在48小时内。</a:t>
            </a:r>
            <a:endParaRPr lang="en-US" sz="1350" dirty="0"/>
          </a:p>
        </p:txBody>
      </p:sp>
      <p:sp>
        <p:nvSpPr>
          <p:cNvPr id="7" name="Text 5"/>
          <p:cNvSpPr/>
          <p:nvPr/>
        </p:nvSpPr>
        <p:spPr>
          <a:xfrm>
            <a:off x="548640" y="3520440"/>
            <a:ext cx="1828800" cy="274320"/>
          </a:xfrm>
          <a:prstGeom prst="rect">
            <a:avLst/>
          </a:prstGeom>
          <a:noFill/>
          <a:ln/>
        </p:spPr>
        <p:txBody>
          <a:bodyPr wrap="square" lIns="0" tIns="0" rIns="0" bIns="0" rtlCol="0" anchor="ctr"/>
          <a:lstStyle/>
          <a:p>
            <a:pPr indent="0" marL="0">
              <a:buNone/>
            </a:pPr>
            <a:r>
              <a:rPr lang="en-US" sz="1100" b="1" spc="100" kern="0" dirty="0">
                <a:solidFill>
                  <a:srgbClr val="9C5536"/>
                </a:solidFill>
                <a:latin typeface="Calibri" pitchFamily="34" charset="0"/>
                <a:ea typeface="Calibri" pitchFamily="34" charset="-122"/>
                <a:cs typeface="Calibri" pitchFamily="34" charset="-120"/>
              </a:rPr>
              <a:t>要求</a:t>
            </a:r>
            <a:endParaRPr lang="en-US" sz="1100" dirty="0"/>
          </a:p>
        </p:txBody>
      </p:sp>
      <p:sp>
        <p:nvSpPr>
          <p:cNvPr id="8" name="Text 6"/>
          <p:cNvSpPr/>
          <p:nvPr/>
        </p:nvSpPr>
        <p:spPr>
          <a:xfrm>
            <a:off x="548640" y="3813048"/>
            <a:ext cx="11064240" cy="914400"/>
          </a:xfrm>
          <a:prstGeom prst="rect">
            <a:avLst/>
          </a:prstGeom>
          <a:noFill/>
          <a:ln/>
        </p:spPr>
        <p:txBody>
          <a:bodyPr wrap="square" lIns="0" tIns="0" rIns="0" bIns="0" rtlCol="0" anchor="t"/>
          <a:lstStyle/>
          <a:p>
            <a:pPr indent="0" marL="0">
              <a:lnSpc>
                <a:spcPct val="130000"/>
              </a:lnSpc>
              <a:buNone/>
            </a:pPr>
            <a:r>
              <a:rPr lang="en-US" sz="1400" i="1" dirty="0">
                <a:solidFill>
                  <a:srgbClr val="1B2A4A"/>
                </a:solidFill>
                <a:latin typeface="Cambria" pitchFamily="34" charset="0"/>
                <a:ea typeface="Cambria" pitchFamily="34" charset="-122"/>
                <a:cs typeface="Cambria" pitchFamily="34" charset="-120"/>
              </a:rPr>
              <a:t>请按照场景推进的顺序，为以下关键节点写下你的判断和依据，再对照M1-M7的具体框架检验自己的判断是否站得住脚。</a:t>
            </a:r>
            <a:endParaRPr lang="en-US" sz="1400" dirty="0"/>
          </a:p>
        </p:txBody>
      </p:sp>
      <p:sp>
        <p:nvSpPr>
          <p:cNvPr id="9" name="Text 7"/>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10" name="Text 8"/>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16 / 17</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0789920" cy="292608"/>
          </a:xfrm>
          <a:prstGeom prst="rect">
            <a:avLst/>
          </a:prstGeom>
          <a:noFill/>
          <a:ln/>
        </p:spPr>
        <p:txBody>
          <a:bodyPr wrap="square" lIns="0" tIns="0" rIns="0" bIns="0" rtlCol="0" anchor="ctr"/>
          <a:lstStyle/>
          <a:p>
            <a:pPr indent="0" marL="0">
              <a:buNone/>
            </a:pPr>
            <a:r>
              <a:rPr lang="en-US" sz="1250" b="1" spc="150" kern="0" dirty="0">
                <a:solidFill>
                  <a:srgbClr val="9C5536"/>
                </a:solidFill>
                <a:latin typeface="Calibri" pitchFamily="34" charset="0"/>
                <a:ea typeface="Calibri" pitchFamily="34" charset="-122"/>
                <a:cs typeface="Calibri" pitchFamily="34" charset="-120"/>
              </a:rPr>
              <a:t>课后作业 · 练习要求</a:t>
            </a:r>
            <a:endParaRPr lang="en-US" sz="1250" dirty="0"/>
          </a:p>
        </p:txBody>
      </p:sp>
      <p:sp>
        <p:nvSpPr>
          <p:cNvPr id="3" name="Text 1"/>
          <p:cNvSpPr/>
          <p:nvPr/>
        </p:nvSpPr>
        <p:spPr>
          <a:xfrm>
            <a:off x="548640" y="722376"/>
            <a:ext cx="11064240" cy="548640"/>
          </a:xfrm>
          <a:prstGeom prst="rect">
            <a:avLst/>
          </a:prstGeom>
          <a:noFill/>
          <a:ln/>
        </p:spPr>
        <p:txBody>
          <a:bodyPr wrap="square" lIns="0" tIns="0" rIns="0" bIns="0" rtlCol="0" anchor="ctr"/>
          <a:lstStyle/>
          <a:p>
            <a:pPr indent="0" marL="0">
              <a:buNone/>
            </a:pPr>
            <a:r>
              <a:rPr lang="en-US" sz="2400" b="1" dirty="0">
                <a:solidFill>
                  <a:srgbClr val="1B2A4A"/>
                </a:solidFill>
                <a:latin typeface="Cambria" pitchFamily="34" charset="0"/>
                <a:ea typeface="Cambria" pitchFamily="34" charset="-122"/>
                <a:cs typeface="Cambria" pitchFamily="34" charset="-120"/>
              </a:rPr>
              <a:t>你需要做出判断的六个节点</a:t>
            </a:r>
            <a:endParaRPr lang="en-US" sz="2400" dirty="0"/>
          </a:p>
        </p:txBody>
      </p:sp>
      <p:sp>
        <p:nvSpPr>
          <p:cNvPr id="4" name="Shape 2"/>
          <p:cNvSpPr/>
          <p:nvPr/>
        </p:nvSpPr>
        <p:spPr>
          <a:xfrm>
            <a:off x="548640" y="1508760"/>
            <a:ext cx="11064240" cy="716280"/>
          </a:xfrm>
          <a:prstGeom prst="roundRect">
            <a:avLst>
              <a:gd name="adj" fmla="val 10213"/>
            </a:avLst>
          </a:prstGeom>
          <a:solidFill>
            <a:srgbClr val="FFFFFF"/>
          </a:solidFill>
          <a:ln/>
          <a:effectLst>
            <a:outerShdw sx="100000" sy="100000" kx="0" ky="0" algn="bl" rotWithShape="0" blurRad="101600" dist="38100" dir="5400000">
              <a:srgbClr val="1B2A4A">
                <a:alpha val="10000"/>
              </a:srgbClr>
            </a:outerShdw>
          </a:effectLst>
        </p:spPr>
      </p:sp>
      <p:sp>
        <p:nvSpPr>
          <p:cNvPr id="5" name="Shape 3"/>
          <p:cNvSpPr/>
          <p:nvPr/>
        </p:nvSpPr>
        <p:spPr>
          <a:xfrm>
            <a:off x="777240" y="1684020"/>
            <a:ext cx="365760" cy="365760"/>
          </a:xfrm>
          <a:prstGeom prst="ellipse">
            <a:avLst/>
          </a:prstGeom>
          <a:solidFill>
            <a:srgbClr val="1B2A4A"/>
          </a:solidFill>
          <a:ln/>
        </p:spPr>
      </p:sp>
      <p:sp>
        <p:nvSpPr>
          <p:cNvPr id="6" name="Text 4"/>
          <p:cNvSpPr/>
          <p:nvPr/>
        </p:nvSpPr>
        <p:spPr>
          <a:xfrm>
            <a:off x="777240" y="16840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325880" y="1508760"/>
            <a:ext cx="9966960" cy="716280"/>
          </a:xfrm>
          <a:prstGeom prst="rect">
            <a:avLst/>
          </a:prstGeom>
          <a:noFill/>
          <a:ln/>
        </p:spPr>
        <p:txBody>
          <a:bodyPr wrap="square" lIns="0" tIns="0" rIns="0" bIns="0" rtlCol="0" anchor="ctr"/>
          <a:lstStyle/>
          <a:p>
            <a:pPr indent="0" marL="0">
              <a:lnSpc>
                <a:spcPct val="118000"/>
              </a:lnSpc>
              <a:buNone/>
            </a:pPr>
            <a:r>
              <a:rPr lang="en-US" sz="1250" dirty="0">
                <a:solidFill>
                  <a:srgbClr val="33363B"/>
                </a:solidFill>
                <a:latin typeface="Calibri" pitchFamily="34" charset="0"/>
                <a:ea typeface="Calibri" pitchFamily="34" charset="-122"/>
                <a:cs typeface="Calibri" pitchFamily="34" charset="-120"/>
              </a:rPr>
              <a:t>良率异常爆发时，你是否该立刻亲自介入？判断标准是什么？</a:t>
            </a:r>
            <a:endParaRPr lang="en-US" sz="1250" dirty="0"/>
          </a:p>
        </p:txBody>
      </p:sp>
      <p:sp>
        <p:nvSpPr>
          <p:cNvPr id="8" name="Shape 6"/>
          <p:cNvSpPr/>
          <p:nvPr/>
        </p:nvSpPr>
        <p:spPr>
          <a:xfrm>
            <a:off x="548640" y="2316480"/>
            <a:ext cx="11064240" cy="716280"/>
          </a:xfrm>
          <a:prstGeom prst="roundRect">
            <a:avLst>
              <a:gd name="adj" fmla="val 10213"/>
            </a:avLst>
          </a:prstGeom>
          <a:solidFill>
            <a:srgbClr val="FFFFFF"/>
          </a:solidFill>
          <a:ln/>
          <a:effectLst>
            <a:outerShdw sx="100000" sy="100000" kx="0" ky="0" algn="bl" rotWithShape="0" blurRad="101600" dist="38100" dir="5400000">
              <a:srgbClr val="1B2A4A">
                <a:alpha val="10000"/>
              </a:srgbClr>
            </a:outerShdw>
          </a:effectLst>
        </p:spPr>
      </p:sp>
      <p:sp>
        <p:nvSpPr>
          <p:cNvPr id="9" name="Shape 7"/>
          <p:cNvSpPr/>
          <p:nvPr/>
        </p:nvSpPr>
        <p:spPr>
          <a:xfrm>
            <a:off x="777240" y="2491740"/>
            <a:ext cx="365760" cy="365760"/>
          </a:xfrm>
          <a:prstGeom prst="ellipse">
            <a:avLst/>
          </a:prstGeom>
          <a:solidFill>
            <a:srgbClr val="1B2A4A"/>
          </a:solidFill>
          <a:ln/>
        </p:spPr>
      </p:sp>
      <p:sp>
        <p:nvSpPr>
          <p:cNvPr id="10" name="Text 8"/>
          <p:cNvSpPr/>
          <p:nvPr/>
        </p:nvSpPr>
        <p:spPr>
          <a:xfrm>
            <a:off x="777240" y="249174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1" name="Text 9"/>
          <p:cNvSpPr/>
          <p:nvPr/>
        </p:nvSpPr>
        <p:spPr>
          <a:xfrm>
            <a:off x="1325880" y="2316480"/>
            <a:ext cx="9966960" cy="716280"/>
          </a:xfrm>
          <a:prstGeom prst="rect">
            <a:avLst/>
          </a:prstGeom>
          <a:noFill/>
          <a:ln/>
        </p:spPr>
        <p:txBody>
          <a:bodyPr wrap="square" lIns="0" tIns="0" rIns="0" bIns="0" rtlCol="0" anchor="ctr"/>
          <a:lstStyle/>
          <a:p>
            <a:pPr indent="0" marL="0">
              <a:lnSpc>
                <a:spcPct val="118000"/>
              </a:lnSpc>
              <a:buNone/>
            </a:pPr>
            <a:r>
              <a:rPr lang="en-US" sz="1250" dirty="0">
                <a:solidFill>
                  <a:srgbClr val="33363B"/>
                </a:solidFill>
                <a:latin typeface="Calibri" pitchFamily="34" charset="0"/>
                <a:ea typeface="Calibri" pitchFamily="34" charset="-122"/>
                <a:cs typeface="Calibri" pitchFamily="34" charset="-120"/>
              </a:rPr>
              <a:t>处理过程中，一位下属的下属试图越级找你，你会怎么回应？</a:t>
            </a:r>
            <a:endParaRPr lang="en-US" sz="1250" dirty="0"/>
          </a:p>
        </p:txBody>
      </p:sp>
      <p:sp>
        <p:nvSpPr>
          <p:cNvPr id="12" name="Shape 10"/>
          <p:cNvSpPr/>
          <p:nvPr/>
        </p:nvSpPr>
        <p:spPr>
          <a:xfrm>
            <a:off x="548640" y="3124200"/>
            <a:ext cx="11064240" cy="716280"/>
          </a:xfrm>
          <a:prstGeom prst="roundRect">
            <a:avLst>
              <a:gd name="adj" fmla="val 10213"/>
            </a:avLst>
          </a:prstGeom>
          <a:solidFill>
            <a:srgbClr val="FFFFFF"/>
          </a:solidFill>
          <a:ln/>
          <a:effectLst>
            <a:outerShdw sx="100000" sy="100000" kx="0" ky="0" algn="bl" rotWithShape="0" blurRad="101600" dist="38100" dir="5400000">
              <a:srgbClr val="1B2A4A">
                <a:alpha val="10000"/>
              </a:srgbClr>
            </a:outerShdw>
          </a:effectLst>
        </p:spPr>
      </p:sp>
      <p:sp>
        <p:nvSpPr>
          <p:cNvPr id="13" name="Shape 11"/>
          <p:cNvSpPr/>
          <p:nvPr/>
        </p:nvSpPr>
        <p:spPr>
          <a:xfrm>
            <a:off x="777240" y="3299460"/>
            <a:ext cx="365760" cy="365760"/>
          </a:xfrm>
          <a:prstGeom prst="ellipse">
            <a:avLst/>
          </a:prstGeom>
          <a:solidFill>
            <a:srgbClr val="1B2A4A"/>
          </a:solidFill>
          <a:ln/>
        </p:spPr>
      </p:sp>
      <p:sp>
        <p:nvSpPr>
          <p:cNvPr id="14" name="Text 12"/>
          <p:cNvSpPr/>
          <p:nvPr/>
        </p:nvSpPr>
        <p:spPr>
          <a:xfrm>
            <a:off x="777240" y="329946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p:nvPr/>
        </p:nvSpPr>
        <p:spPr>
          <a:xfrm>
            <a:off x="1325880" y="3124200"/>
            <a:ext cx="9966960" cy="716280"/>
          </a:xfrm>
          <a:prstGeom prst="rect">
            <a:avLst/>
          </a:prstGeom>
          <a:noFill/>
          <a:ln/>
        </p:spPr>
        <p:txBody>
          <a:bodyPr wrap="square" lIns="0" tIns="0" rIns="0" bIns="0" rtlCol="0" anchor="ctr"/>
          <a:lstStyle/>
          <a:p>
            <a:pPr indent="0" marL="0">
              <a:lnSpc>
                <a:spcPct val="118000"/>
              </a:lnSpc>
              <a:buNone/>
            </a:pPr>
            <a:r>
              <a:rPr lang="en-US" sz="1250" dirty="0">
                <a:solidFill>
                  <a:srgbClr val="33363B"/>
                </a:solidFill>
                <a:latin typeface="Calibri" pitchFamily="34" charset="0"/>
                <a:ea typeface="Calibri" pitchFamily="34" charset="-122"/>
                <a:cs typeface="Calibri" pitchFamily="34" charset="-120"/>
              </a:rPr>
              <a:t>一条新的战略指示和当前危机产生关联，你要不要按自己的理解直接推进？</a:t>
            </a:r>
            <a:endParaRPr lang="en-US" sz="1250" dirty="0"/>
          </a:p>
        </p:txBody>
      </p:sp>
      <p:sp>
        <p:nvSpPr>
          <p:cNvPr id="16" name="Shape 14"/>
          <p:cNvSpPr/>
          <p:nvPr/>
        </p:nvSpPr>
        <p:spPr>
          <a:xfrm>
            <a:off x="548640" y="3931920"/>
            <a:ext cx="11064240" cy="716280"/>
          </a:xfrm>
          <a:prstGeom prst="roundRect">
            <a:avLst>
              <a:gd name="adj" fmla="val 10213"/>
            </a:avLst>
          </a:prstGeom>
          <a:solidFill>
            <a:srgbClr val="FFFFFF"/>
          </a:solidFill>
          <a:ln/>
          <a:effectLst>
            <a:outerShdw sx="100000" sy="100000" kx="0" ky="0" algn="bl" rotWithShape="0" blurRad="101600" dist="38100" dir="5400000">
              <a:srgbClr val="1B2A4A">
                <a:alpha val="10000"/>
              </a:srgbClr>
            </a:outerShdw>
          </a:effectLst>
        </p:spPr>
      </p:sp>
      <p:sp>
        <p:nvSpPr>
          <p:cNvPr id="17" name="Shape 15"/>
          <p:cNvSpPr/>
          <p:nvPr/>
        </p:nvSpPr>
        <p:spPr>
          <a:xfrm>
            <a:off x="777240" y="4107180"/>
            <a:ext cx="365760" cy="365760"/>
          </a:xfrm>
          <a:prstGeom prst="ellipse">
            <a:avLst/>
          </a:prstGeom>
          <a:solidFill>
            <a:srgbClr val="1B2A4A"/>
          </a:solidFill>
          <a:ln/>
        </p:spPr>
      </p:sp>
      <p:sp>
        <p:nvSpPr>
          <p:cNvPr id="18" name="Text 16"/>
          <p:cNvSpPr/>
          <p:nvPr/>
        </p:nvSpPr>
        <p:spPr>
          <a:xfrm>
            <a:off x="777240" y="410718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p:nvPr/>
        </p:nvSpPr>
        <p:spPr>
          <a:xfrm>
            <a:off x="1325880" y="3931920"/>
            <a:ext cx="9966960" cy="716280"/>
          </a:xfrm>
          <a:prstGeom prst="rect">
            <a:avLst/>
          </a:prstGeom>
          <a:noFill/>
          <a:ln/>
        </p:spPr>
        <p:txBody>
          <a:bodyPr wrap="square" lIns="0" tIns="0" rIns="0" bIns="0" rtlCol="0" anchor="ctr"/>
          <a:lstStyle/>
          <a:p>
            <a:pPr indent="0" marL="0">
              <a:lnSpc>
                <a:spcPct val="118000"/>
              </a:lnSpc>
              <a:buNone/>
            </a:pPr>
            <a:r>
              <a:rPr lang="en-US" sz="1250" dirty="0">
                <a:solidFill>
                  <a:srgbClr val="33363B"/>
                </a:solidFill>
                <a:latin typeface="Calibri" pitchFamily="34" charset="0"/>
                <a:ea typeface="Calibri" pitchFamily="34" charset="-122"/>
                <a:cs typeface="Calibri" pitchFamily="34" charset="-120"/>
              </a:rPr>
              <a:t>危机处理中段，又有新的跨部门需求要求插队，你会怎么处理？</a:t>
            </a:r>
            <a:endParaRPr lang="en-US" sz="1250" dirty="0"/>
          </a:p>
        </p:txBody>
      </p:sp>
      <p:sp>
        <p:nvSpPr>
          <p:cNvPr id="20" name="Shape 18"/>
          <p:cNvSpPr/>
          <p:nvPr/>
        </p:nvSpPr>
        <p:spPr>
          <a:xfrm>
            <a:off x="548640" y="4739640"/>
            <a:ext cx="11064240" cy="716280"/>
          </a:xfrm>
          <a:prstGeom prst="roundRect">
            <a:avLst>
              <a:gd name="adj" fmla="val 10213"/>
            </a:avLst>
          </a:prstGeom>
          <a:solidFill>
            <a:srgbClr val="FFFFFF"/>
          </a:solidFill>
          <a:ln/>
          <a:effectLst>
            <a:outerShdw sx="100000" sy="100000" kx="0" ky="0" algn="bl" rotWithShape="0" blurRad="101600" dist="38100" dir="5400000">
              <a:srgbClr val="1B2A4A">
                <a:alpha val="10000"/>
              </a:srgbClr>
            </a:outerShdw>
          </a:effectLst>
        </p:spPr>
      </p:sp>
      <p:sp>
        <p:nvSpPr>
          <p:cNvPr id="21" name="Shape 19"/>
          <p:cNvSpPr/>
          <p:nvPr/>
        </p:nvSpPr>
        <p:spPr>
          <a:xfrm>
            <a:off x="777240" y="4914900"/>
            <a:ext cx="365760" cy="365760"/>
          </a:xfrm>
          <a:prstGeom prst="ellipse">
            <a:avLst/>
          </a:prstGeom>
          <a:solidFill>
            <a:srgbClr val="1B2A4A"/>
          </a:solidFill>
          <a:ln/>
        </p:spPr>
      </p:sp>
      <p:sp>
        <p:nvSpPr>
          <p:cNvPr id="22" name="Text 20"/>
          <p:cNvSpPr/>
          <p:nvPr/>
        </p:nvSpPr>
        <p:spPr>
          <a:xfrm>
            <a:off x="777240" y="491490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3" name="Text 21"/>
          <p:cNvSpPr/>
          <p:nvPr/>
        </p:nvSpPr>
        <p:spPr>
          <a:xfrm>
            <a:off x="1325880" y="4739640"/>
            <a:ext cx="9966960" cy="716280"/>
          </a:xfrm>
          <a:prstGeom prst="rect">
            <a:avLst/>
          </a:prstGeom>
          <a:noFill/>
          <a:ln/>
        </p:spPr>
        <p:txBody>
          <a:bodyPr wrap="square" lIns="0" tIns="0" rIns="0" bIns="0" rtlCol="0" anchor="ctr"/>
          <a:lstStyle/>
          <a:p>
            <a:pPr indent="0" marL="0">
              <a:lnSpc>
                <a:spcPct val="118000"/>
              </a:lnSpc>
              <a:buNone/>
            </a:pPr>
            <a:r>
              <a:rPr lang="en-US" sz="1250" dirty="0">
                <a:solidFill>
                  <a:srgbClr val="33363B"/>
                </a:solidFill>
                <a:latin typeface="Calibri" pitchFamily="34" charset="0"/>
                <a:ea typeface="Calibri" pitchFamily="34" charset="-122"/>
                <a:cs typeface="Calibri" pitchFamily="34" charset="-120"/>
              </a:rPr>
              <a:t>危机平息后，复盘发现根因是某主管团队的疏漏，你会怎么对内对外处理？</a:t>
            </a:r>
            <a:endParaRPr lang="en-US" sz="1250" dirty="0"/>
          </a:p>
        </p:txBody>
      </p:sp>
      <p:sp>
        <p:nvSpPr>
          <p:cNvPr id="24" name="Shape 22"/>
          <p:cNvSpPr/>
          <p:nvPr/>
        </p:nvSpPr>
        <p:spPr>
          <a:xfrm>
            <a:off x="548640" y="5547360"/>
            <a:ext cx="11064240" cy="716280"/>
          </a:xfrm>
          <a:prstGeom prst="roundRect">
            <a:avLst>
              <a:gd name="adj" fmla="val 10213"/>
            </a:avLst>
          </a:prstGeom>
          <a:solidFill>
            <a:srgbClr val="FFFFFF"/>
          </a:solidFill>
          <a:ln/>
          <a:effectLst>
            <a:outerShdw sx="100000" sy="100000" kx="0" ky="0" algn="bl" rotWithShape="0" blurRad="101600" dist="38100" dir="5400000">
              <a:srgbClr val="1B2A4A">
                <a:alpha val="10000"/>
              </a:srgbClr>
            </a:outerShdw>
          </a:effectLst>
        </p:spPr>
      </p:sp>
      <p:sp>
        <p:nvSpPr>
          <p:cNvPr id="25" name="Shape 23"/>
          <p:cNvSpPr/>
          <p:nvPr/>
        </p:nvSpPr>
        <p:spPr>
          <a:xfrm>
            <a:off x="777240" y="5722620"/>
            <a:ext cx="365760" cy="365760"/>
          </a:xfrm>
          <a:prstGeom prst="ellipse">
            <a:avLst/>
          </a:prstGeom>
          <a:solidFill>
            <a:srgbClr val="1B2A4A"/>
          </a:solidFill>
          <a:ln/>
        </p:spPr>
      </p:sp>
      <p:sp>
        <p:nvSpPr>
          <p:cNvPr id="26" name="Text 24"/>
          <p:cNvSpPr/>
          <p:nvPr/>
        </p:nvSpPr>
        <p:spPr>
          <a:xfrm>
            <a:off x="777240" y="5722620"/>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6</a:t>
            </a:r>
            <a:endParaRPr lang="en-US" sz="1500" dirty="0"/>
          </a:p>
        </p:txBody>
      </p:sp>
      <p:sp>
        <p:nvSpPr>
          <p:cNvPr id="27" name="Text 25"/>
          <p:cNvSpPr/>
          <p:nvPr/>
        </p:nvSpPr>
        <p:spPr>
          <a:xfrm>
            <a:off x="1325880" y="5547360"/>
            <a:ext cx="9966960" cy="716280"/>
          </a:xfrm>
          <a:prstGeom prst="rect">
            <a:avLst/>
          </a:prstGeom>
          <a:noFill/>
          <a:ln/>
        </p:spPr>
        <p:txBody>
          <a:bodyPr wrap="square" lIns="0" tIns="0" rIns="0" bIns="0" rtlCol="0" anchor="ctr"/>
          <a:lstStyle/>
          <a:p>
            <a:pPr indent="0" marL="0">
              <a:lnSpc>
                <a:spcPct val="118000"/>
              </a:lnSpc>
              <a:buNone/>
            </a:pPr>
            <a:r>
              <a:rPr lang="en-US" sz="1250" dirty="0">
                <a:solidFill>
                  <a:srgbClr val="33363B"/>
                </a:solidFill>
                <a:latin typeface="Calibri" pitchFamily="34" charset="0"/>
                <a:ea typeface="Calibri" pitchFamily="34" charset="-122"/>
                <a:cs typeface="Calibri" pitchFamily="34" charset="-120"/>
              </a:rPr>
              <a:t>复盘会议上，你是直接给出问题答案，还是引导对方自己找到答案？</a:t>
            </a:r>
            <a:endParaRPr lang="en-US" sz="1250" dirty="0"/>
          </a:p>
        </p:txBody>
      </p:sp>
      <p:sp>
        <p:nvSpPr>
          <p:cNvPr id="29" name="Text 26"/>
          <p:cNvSpPr/>
          <p:nvPr/>
        </p:nvSpPr>
        <p:spPr>
          <a:xfrm>
            <a:off x="548640" y="6473952"/>
            <a:ext cx="8229600" cy="274320"/>
          </a:xfrm>
          <a:prstGeom prst="rect">
            <a:avLst/>
          </a:prstGeom>
          <a:noFill/>
          <a:ln/>
        </p:spPr>
        <p:txBody>
          <a:bodyPr wrap="square" lIns="0" tIns="0" rIns="0" bIns="0" rtlCol="0" anchor="ctr"/>
          <a:lstStyle/>
          <a:p>
            <a:pPr algn="l" indent="0" marL="0">
              <a:buNone/>
            </a:pPr>
            <a:r>
              <a:rPr lang="en-US" sz="900" dirty="0">
                <a:solidFill>
                  <a:srgbClr val="7C7F84"/>
                </a:solidFill>
                <a:latin typeface="Calibri" pitchFamily="34" charset="0"/>
                <a:ea typeface="Calibri" pitchFamily="34" charset="-122"/>
                <a:cs typeface="Calibri" pitchFamily="34" charset="-120"/>
              </a:rPr>
              <a:t>CIM管理者培训体系 · 层级二 · 部门经理  ·  M9 实战推演（上）</a:t>
            </a:r>
            <a:endParaRPr lang="en-US" sz="900" dirty="0"/>
          </a:p>
        </p:txBody>
      </p:sp>
      <p:sp>
        <p:nvSpPr>
          <p:cNvPr id="30" name="Text 27"/>
          <p:cNvSpPr/>
          <p:nvPr/>
        </p:nvSpPr>
        <p:spPr>
          <a:xfrm>
            <a:off x="10698480" y="6473952"/>
            <a:ext cx="914400" cy="274320"/>
          </a:xfrm>
          <a:prstGeom prst="rect">
            <a:avLst/>
          </a:prstGeom>
          <a:noFill/>
          <a:ln/>
        </p:spPr>
        <p:txBody>
          <a:bodyPr wrap="square" lIns="0" tIns="0" rIns="0" bIns="0" rtlCol="0" anchor="ctr"/>
          <a:lstStyle/>
          <a:p>
            <a:pPr algn="r" indent="0" marL="0">
              <a:buNone/>
            </a:pPr>
            <a:r>
              <a:rPr lang="en-US" sz="900" dirty="0">
                <a:solidFill>
                  <a:srgbClr val="7C7F84"/>
                </a:solidFill>
                <a:latin typeface="Calibri" pitchFamily="34" charset="0"/>
                <a:ea typeface="Calibri" pitchFamily="34" charset="-122"/>
                <a:cs typeface="Calibri" pitchFamily="34" charset="-120"/>
              </a:rPr>
              <a:t>17 / 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M9 实战推演（上）</dc:title>
  <dc:subject>PptxGenJS Presentation</dc:subject>
  <dc:creator>CIM管理者培训体系</dc:creator>
  <cp:lastModifiedBy>CIM管理者培训体系</cp:lastModifiedBy>
  <cp:revision>1</cp:revision>
  <dcterms:created xsi:type="dcterms:W3CDTF">2026-06-21T09:45:10Z</dcterms:created>
  <dcterms:modified xsi:type="dcterms:W3CDTF">2026-06-21T09:45:10Z</dcterms:modified>
</cp:coreProperties>
</file>